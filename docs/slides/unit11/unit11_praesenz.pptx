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2.svg" ContentType="image/svg"/>
  <Override PartName="/ppt/media/image14.svg" ContentType="image/svg"/>
  <Override PartName="/ppt/media/image1.png" ContentType="image/png"/>
  <Override PartName="/ppt/media/image2.jpeg" ContentType="image/jpeg"/>
  <Override PartName="/ppt/media/image3.png" ContentType="image/png"/>
  <Override PartName="/ppt/media/image4.svg" ContentType="image/svg"/>
  <Override PartName="/ppt/media/image7.png" ContentType="image/png"/>
  <Override PartName="/ppt/media/image11.png" ContentType="image/png"/>
  <Override PartName="/ppt/media/image5.png" ContentType="image/png"/>
  <Override PartName="/ppt/media/image6.svg" ContentType="image/svg"/>
  <Override PartName="/ppt/media/image9.png" ContentType="image/png"/>
  <Override PartName="/ppt/media/image10.svg" ContentType="image/svg"/>
  <Override PartName="/ppt/media/image13.png" ContentType="image/png"/>
  <Override PartName="/ppt/media/image8.svg" ContentType="image/svg"/>
  <Override PartName="/ppt/slides/_rels/slide7.xml.rels" ContentType="application/vnd.openxmlformats-package.relationships+xml"/>
  <Override PartName="/ppt/slides/_rels/slide24.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notesSlides/_rels/notesSlide22.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27.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9.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1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10.xml" ContentType="application/vnd.openxmlformats-officedocument.presentationml.notesSlide+xml"/>
  <Override PartName="/ppt/notesSlides/notesSlide34.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11.xml" ContentType="application/vnd.openxmlformats-officedocument.presentationml.notesSlide+xml"/>
  <Override PartName="/ppt/notesSlides/notesSlide35.xml" ContentType="application/vnd.openxmlformats-officedocument.presentationml.notesSlide+xml"/>
  <Override PartName="/ppt/notesSlides/notesSlide12.xml" ContentType="application/vnd.openxmlformats-officedocument.presentationml.notesSlide+xml"/>
  <Override PartName="/ppt/notesSlides/notesSlide36.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9" r:id="rId17"/>
    <p:sldMasterId id="2147483681"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notesMaster" Target="notesMasters/notesMaster1.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de-DE" sz="1800" spc="-1" strike="noStrike">
                <a:solidFill>
                  <a:schemeClr val="dk1"/>
                </a:solidFill>
                <a:latin typeface="Noto Sans"/>
              </a:rPr>
              <a:t>Click to move the slide</a:t>
            </a:r>
            <a:endParaRPr b="0" lang="de-DE" sz="1800" spc="-1" strike="noStrike">
              <a:solidFill>
                <a:schemeClr val="dk1"/>
              </a:solidFill>
              <a:latin typeface="Noto Sans"/>
            </a:endParaRP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8" name="PlaceHolder 4"/>
          <p:cNvSpPr>
            <a:spLocks noGrp="1"/>
          </p:cNvSpPr>
          <p:nvPr>
            <p:ph type="dt" idx="25"/>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9" name="PlaceHolder 5"/>
          <p:cNvSpPr>
            <a:spLocks noGrp="1"/>
          </p:cNvSpPr>
          <p:nvPr>
            <p:ph type="ftr" idx="26"/>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6"/>
          <p:cNvSpPr>
            <a:spLocks noGrp="1"/>
          </p:cNvSpPr>
          <p:nvPr>
            <p:ph type="sldNum" idx="27"/>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F6E7E62C-BC14-4227-97B5-DB494C6FF696}"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PlaceHolder 1"/>
          <p:cNvSpPr>
            <a:spLocks noGrp="1"/>
          </p:cNvSpPr>
          <p:nvPr>
            <p:ph type="sldImg"/>
          </p:nvPr>
        </p:nvSpPr>
        <p:spPr>
          <a:xfrm>
            <a:off x="216000" y="812520"/>
            <a:ext cx="7127280" cy="4008960"/>
          </a:xfrm>
          <a:prstGeom prst="rect">
            <a:avLst/>
          </a:prstGeom>
          <a:ln w="0">
            <a:noFill/>
          </a:ln>
        </p:spPr>
      </p:sp>
      <p:sp>
        <p:nvSpPr>
          <p:cNvPr id="66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Titelfolie vor dem Einstieg zeigen.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Titelfolie beim Ankommen zeigen. Die Sitzung ist für 90 Minuten mit 100–150 Bachelor- und Lehramtsstudierenden ausgelegt. Vorbereitendes Lesen wird nicht vorausgesetzt. QGIS 3.40 und das vollständig entpackte Marburger Übungspaket müssen vor Sitzungsbeginn verfügbar sein. Alle Studierenden bearbeiten denselben Kernpfad. Die Folien unterscheiden bewusst Nachweis, Punktgeometrie und Verbreitung.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216000" y="812520"/>
            <a:ext cx="7127280" cy="4008960"/>
          </a:xfrm>
          <a:prstGeom prst="rect">
            <a:avLst/>
          </a:prstGeom>
          <a:ln w="0">
            <a:noFill/>
          </a:ln>
        </p:spPr>
      </p:sp>
      <p:sp>
        <p:nvSpPr>
          <p:cNvPr id="66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0–10 (10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VOR DEM TERMIN: Den gesamten Platzhalter durch die aktuelle JiTT-Auswertung zu Unit 10 ersetzen. Bei Bedarf die Folie duplizieren. Nur tatsächliche, zusammengefasste und anonymisierte Rückmeldungen einsetzen. Die gesamte Phase dauert zehn Minuten. Verständnisfragen zu Datenmodellen, Layern, Datenquellen oder CRS klären.</a:t>
            </a:r>
            <a:endParaRPr b="0" lang="en-US"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Img"/>
          </p:nvPr>
        </p:nvSpPr>
        <p:spPr>
          <a:xfrm>
            <a:off x="216000" y="812520"/>
            <a:ext cx="7127280" cy="4008960"/>
          </a:xfrm>
          <a:prstGeom prst="rect">
            <a:avLst/>
          </a:prstGeom>
          <a:ln w="0">
            <a:noFill/>
          </a:ln>
        </p:spPr>
      </p:sp>
      <p:sp>
        <p:nvSpPr>
          <p:cNvPr id="66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10–11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roten Faden ankündigen: Bedeutung von Punktdaten klären, den dokumentierten GBIF-Snapshot als CSV importieren, eine begründete Qualitätsregel anwenden und das Ergebnis reproduzierbar exportieren.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https://geomoer.github.io/moer-bsc-geodaten/unit11/unit11-00_overview.html</a:t>
            </a:r>
            <a:endParaRPr b="0" lang="en-US"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PlaceHolder 1"/>
          <p:cNvSpPr>
            <a:spLocks noGrp="1"/>
          </p:cNvSpPr>
          <p:nvPr>
            <p:ph type="sldImg"/>
          </p:nvPr>
        </p:nvSpPr>
        <p:spPr>
          <a:xfrm>
            <a:off x="216000" y="812520"/>
            <a:ext cx="7127280" cy="4008960"/>
          </a:xfrm>
          <a:prstGeom prst="rect">
            <a:avLst/>
          </a:prstGeom>
          <a:ln w="0">
            <a:noFill/>
          </a:ln>
        </p:spPr>
      </p:sp>
      <p:sp>
        <p:nvSpPr>
          <p:cNvPr id="66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11–14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vier Ebenen nacheinander benennen. Der sichtbare Kreis auf der Karte ist nicht die räumliche Ausdehnung des Tiers. Die Unsicherheit beschreibt die Lageangabe, nicht das Streifgebiet. Diese Trennung später beim Import wieder aufnehmen.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https://geomoer.github.io/moer-bsc-geodaten/unit11/unit11-01_punktdaten.html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assets/images/unit11/punkt-beobachtung-unsicherheit.svg</a:t>
            </a:r>
            <a:endParaRPr b="0" lang="en-US"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216000" y="812520"/>
            <a:ext cx="7127280" cy="4008960"/>
          </a:xfrm>
          <a:prstGeom prst="rect">
            <a:avLst/>
          </a:prstGeom>
          <a:ln w="0">
            <a:noFill/>
          </a:ln>
        </p:spPr>
      </p:sp>
      <p:sp>
        <p:nvSpPr>
          <p:cNvPr id="6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14–17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Kurze Nachbarschaftsfrage: Was könnte eine Tabellenzeile repräsentieren? Danach die Ebenen aufdecken. Ein Occurrence Record dokumentiert einen Nachweis. Mehrere Records können dasselbe Individuum, denselben Ort oder verschiedene Ereignisse betreffen.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https://geomoer.github.io/moer-bsc-geodaten/unit11/unit11-01_punktdaten.html</a:t>
            </a:r>
            <a:endParaRPr b="0" lang="en-US"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sldImg"/>
          </p:nvPr>
        </p:nvSpPr>
        <p:spPr>
          <a:xfrm>
            <a:off x="216000" y="812520"/>
            <a:ext cx="7127280" cy="4008960"/>
          </a:xfrm>
          <a:prstGeom prst="rect">
            <a:avLst/>
          </a:prstGeom>
          <a:ln w="0">
            <a:noFill/>
          </a:ln>
        </p:spPr>
      </p:sp>
      <p:sp>
        <p:nvSpPr>
          <p:cNvPr id="67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17–20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Zuerst nur die Grafik lesen lassen. A und B besitzen dieselben Koordinaten, aber verschiedene Daten. Sie überlagern sich in der Karte, bleiben jedoch zwei Records. Daraus folgt: gleiche Koordinaten sind kein ausreichender Grund zum Löschen.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https://geomoer.github.io/moer-bsc-geodaten/unit11/unit11-01_punktdaten.html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assets/images/unit11/beobachtungen-gleicher-ort.svg</a:t>
            </a:r>
            <a:endParaRPr b="0" lang="en-US"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PlaceHolder 1"/>
          <p:cNvSpPr>
            <a:spLocks noGrp="1"/>
          </p:cNvSpPr>
          <p:nvPr>
            <p:ph type="sldImg"/>
          </p:nvPr>
        </p:nvSpPr>
        <p:spPr>
          <a:xfrm>
            <a:off x="216000" y="812520"/>
            <a:ext cx="7127280" cy="4008960"/>
          </a:xfrm>
          <a:prstGeom prst="rect">
            <a:avLst/>
          </a:prstGeom>
          <a:ln w="0">
            <a:noFill/>
          </a:ln>
        </p:spPr>
      </p:sp>
      <p:sp>
        <p:nvSpPr>
          <p:cNvPr id="67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20–22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GBIF als internationale Dateninfrastruktur und Aggregator erklären. Der Record kann auf Beobachtung, Beleg, Probe oder anderer Grundlage beruhen. Das Feld basisOfRecord muss gelesen werden. GBIF bleibt nicht automatisch die ursprüngliche Quelle.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https://geomoer.github.io/moer-bsc-geodaten/unit11/unit11-02_gbif.html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https://www.gbif.org/</a:t>
            </a:r>
            <a:endParaRPr b="0" lang="en-US"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216000" y="812520"/>
            <a:ext cx="7127280" cy="4008960"/>
          </a:xfrm>
          <a:prstGeom prst="rect">
            <a:avLst/>
          </a:prstGeom>
          <a:ln w="0">
            <a:noFill/>
          </a:ln>
        </p:spPr>
      </p:sp>
      <p:sp>
        <p:nvSpPr>
          <p:cNvPr id="67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22–23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sechs Gruppen kurz anreißen. Nicht alle GBIF-Spalten im Plenum erklären. Für den Praxisweg sind Kennung, Taxon, Zeitpunkt, Koordinaten, Unsicherheit, Herkunft und Prüfhinweise zentral.</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https://geomoer.github.io/moer-bsc-geodaten/unit11/unit11-02_gbif.html</a:t>
            </a:r>
            <a:endParaRPr b="0" lang="en-US"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Img"/>
          </p:nvPr>
        </p:nvSpPr>
        <p:spPr>
          <a:xfrm>
            <a:off x="216000" y="812520"/>
            <a:ext cx="7127280" cy="4008960"/>
          </a:xfrm>
          <a:prstGeom prst="rect">
            <a:avLst/>
          </a:prstGeom>
          <a:ln w="0">
            <a:noFill/>
          </a:ln>
        </p:spPr>
      </p:sp>
      <p:sp>
        <p:nvSpPr>
          <p:cNvPr id="67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22–23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30 Sekunden zu zweit: Die Aussage bewerten. Danach Handzeichen für „belegt“, „nicht belegt“ oder „unsicher“. Noch nicht ausführlich auflösen; die Aussage am Ende mit dem Qualitätslayer erneut aufgreifen.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https://geomoer.github.io/moer-bsc-geodaten/unit11/unit11-01_punktdaten.html</a:t>
            </a:r>
            <a:endParaRPr b="0" lang="en-US"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PlaceHolder 1"/>
          <p:cNvSpPr>
            <a:spLocks noGrp="1"/>
          </p:cNvSpPr>
          <p:nvPr>
            <p:ph type="sldImg"/>
          </p:nvPr>
        </p:nvSpPr>
        <p:spPr>
          <a:xfrm>
            <a:off x="216000" y="812520"/>
            <a:ext cx="7127280" cy="4008960"/>
          </a:xfrm>
          <a:prstGeom prst="rect">
            <a:avLst/>
          </a:prstGeom>
          <a:ln w="0">
            <a:noFill/>
          </a:ln>
        </p:spPr>
      </p:sp>
      <p:sp>
        <p:nvSpPr>
          <p:cNvPr id="67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22–23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Knapp auflösen: Die Punkte belegen Records in der gewählten Auswahl. Fehlende Punkte können fehlende Beobachtung oder fehlende Meldung bedeuten. Die genauere Formulierung folgt in Minute 83. Diese Folie höchstens 30 Sekunden zeigen.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https://geomoer.github.io/moer-bsc-geodaten/unit11/unit11-01_punktdaten.html</a:t>
            </a:r>
            <a:endParaRPr b="0" lang="en-US"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216000" y="812520"/>
            <a:ext cx="7127280" cy="4008960"/>
          </a:xfrm>
          <a:prstGeom prst="rect">
            <a:avLst/>
          </a:prstGeom>
          <a:ln w="0">
            <a:noFill/>
          </a:ln>
        </p:spPr>
      </p:sp>
      <p:sp>
        <p:nvSpPr>
          <p:cNvPr id="68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23–26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QGIS öffnen lassen und vier Elemente per Handzeichen oder Zuruf wiederholen: Browser, Layerfenster, Kartenfenster und Projekt-CRS. Die Abbildung stammt aus Unit 10. Keine vollständige Wiederholung der Oberfläche.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https://geomoer.github.io/moer-bsc-geodaten/material/qgis-kernpfade.html#unit11</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assets/images/unit10/qgis-oberflaeche.svg</a:t>
            </a:r>
            <a:endParaRPr b="0" lang="en-US"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216000" y="812520"/>
            <a:ext cx="7127280" cy="4008960"/>
          </a:xfrm>
          <a:prstGeom prst="rect">
            <a:avLst/>
          </a:prstGeom>
          <a:ln w="0">
            <a:noFill/>
          </a:ln>
        </p:spPr>
      </p:sp>
      <p:sp>
        <p:nvSpPr>
          <p:cNvPr id="68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26–28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Alle führen die drei Schritte gleichzeitig aus. Wenn ein Pfad scheitert, Paketordner prüfen und nicht frei im Dateisystem suchen lassen. Das Untersuchungsgebiet ist ein didaktisches Rechteck und keine Verwaltungsgrenze.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https://geomoer.github.io/moer-bsc-geodaten/material/qgis-kernpfade.html#unit11</a:t>
            </a:r>
            <a:endParaRPr b="0" lang="en-US" sz="20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sldImg"/>
          </p:nvPr>
        </p:nvSpPr>
        <p:spPr>
          <a:xfrm>
            <a:off x="216000" y="812520"/>
            <a:ext cx="7127280" cy="4008960"/>
          </a:xfrm>
          <a:prstGeom prst="rect">
            <a:avLst/>
          </a:prstGeom>
          <a:ln w="0">
            <a:noFill/>
          </a:ln>
        </p:spPr>
      </p:sp>
      <p:sp>
        <p:nvSpPr>
          <p:cNvPr id="68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28–30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Ablauf von links nach rechts lesen. Der Kurs nutzt einen dokumentierten API-Snapshot ohne eigenen Download-DOI. Der DOI 10.15468/uc1apo gehört zum Quelldatensatz NABU|naturgucker. Eine eigene GBIF-Occurrence-Auswahl würde einen separaten DOI erhalten.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https://geomoer.github.io/moer-bsc-geodaten/unit11/unit11-02_gbif.html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assets/images/unit11/gbif-workflow.svg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https://doi.org/10.15468/uc1apo</a:t>
            </a:r>
            <a:endParaRPr b="0" lang="en-US" sz="20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216000" y="812520"/>
            <a:ext cx="7127280" cy="4008960"/>
          </a:xfrm>
          <a:prstGeom prst="rect">
            <a:avLst/>
          </a:prstGeom>
          <a:ln w="0">
            <a:noFill/>
          </a:ln>
        </p:spPr>
      </p:sp>
      <p:sp>
        <p:nvSpPr>
          <p:cNvPr id="6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30–33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Datei nicht in einer Tabellenkalkulation speichern oder verändern. Gemeinsam Kopfzeile und erste Zeile lesen. Die leere occurrenceID ist zulässig; gbifID dient als Kennung. Koordinaten liegen in Dezimalgrad vor. CSV und CSVT bleiben nebeneinander.</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216000" y="812520"/>
            <a:ext cx="7127280" cy="4008960"/>
          </a:xfrm>
          <a:prstGeom prst="rect">
            <a:avLst/>
          </a:prstGeom>
          <a:ln w="0">
            <a:noFill/>
          </a:ln>
        </p:spPr>
      </p:sp>
      <p:sp>
        <p:nvSpPr>
          <p:cNvPr id="68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33–37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Dialog am Beamer schrittweise zeigen und genug Zeit zum Nachvollziehen lassen. Die Abbildung entspricht dem Kursweg. Wichtig: x und y nicht vertauschen; das Geometrie-CRS beschreibt die Koordinaten in der Datei.</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assets/images/unit11/qgis-csv-import.svg</a:t>
            </a:r>
            <a:endParaRPr b="0" lang="en-US"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sldImg"/>
          </p:nvPr>
        </p:nvSpPr>
        <p:spPr>
          <a:xfrm>
            <a:off x="216000" y="812520"/>
            <a:ext cx="7127280" cy="4008960"/>
          </a:xfrm>
          <a:prstGeom prst="rect">
            <a:avLst/>
          </a:prstGeom>
          <a:ln w="0">
            <a:noFill/>
          </a:ln>
        </p:spPr>
      </p:sp>
      <p:sp>
        <p:nvSpPr>
          <p:cNvPr id="69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37–40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vier Angaben per Zuruf kontrollieren. EPSG:4326 ist das CRS der Eingangskoordinaten; das Projekt bleibt EPSG:25832. QGIS transformiert die Anzeige zunächst dynamisch. Den temporären Layer gbif_feuersalamander_raw nennen.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sldImg"/>
          </p:nvPr>
        </p:nvSpPr>
        <p:spPr>
          <a:xfrm>
            <a:off x="216000" y="812520"/>
            <a:ext cx="7127280" cy="4008960"/>
          </a:xfrm>
          <a:prstGeom prst="rect">
            <a:avLst/>
          </a:prstGeom>
          <a:ln w="0">
            <a:noFill/>
          </a:ln>
        </p:spPr>
      </p:sp>
      <p:sp>
        <p:nvSpPr>
          <p:cNvPr id="69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40–43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Nicht sofort weiterarbeiten. Zuerst Anzahl, Lage und Attribute kontrollieren. Erwartet werden 79 Records innerhalb beziehungsweise nahe dem Untersuchungsrechteck. Bei Punkten im Meer oder außerhalb Europas zuerst x/y und EPSG:4326 prüfen.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216000" y="812520"/>
            <a:ext cx="7127280" cy="4008960"/>
          </a:xfrm>
          <a:prstGeom prst="rect">
            <a:avLst/>
          </a:prstGeom>
          <a:ln w="0">
            <a:noFill/>
          </a:ln>
        </p:spPr>
      </p:sp>
      <p:sp>
        <p:nvSpPr>
          <p:cNvPr id="69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43–47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Grafik erneut fachlich lesen: Der gespeicherte Punkt ist eine Lageangabe. Der Unsicherheitsbereich beschreibt, wo der tatsächliche Ort im Rahmen der Angabe liegen kann. Er ist weder Symbolgröße noch Lebensraum. 0 m wird für die Kursauswahl nicht als belastbare Angabe akzeptiert.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https://geomoer.github.io/moer-bsc-geodaten/unit11/unit11-02_gbif.html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assets/images/unit11/punkt-beobachtung-unsicherheit.svg</a:t>
            </a:r>
            <a:endParaRPr b="0" lang="en-US" sz="20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sldImg"/>
          </p:nvPr>
        </p:nvSpPr>
        <p:spPr>
          <a:xfrm>
            <a:off x="216000" y="812520"/>
            <a:ext cx="7127280" cy="4008960"/>
          </a:xfrm>
          <a:prstGeom prst="rect">
            <a:avLst/>
          </a:prstGeom>
          <a:ln w="0">
            <a:noFill/>
          </a:ln>
        </p:spPr>
      </p:sp>
      <p:sp>
        <p:nvSpPr>
          <p:cNvPr id="69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47–51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Grenzwerte sind keine universellen Naturgesetze. Für die kleinräumige Kursaufgabe wird eine dokumentierte, positive Unsicherheit bis 100 m verlangt. Andere Fragestellungen können eine andere Schwelle erfordern. Die Originaldaten werden nicht gelöscht.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sldImg"/>
          </p:nvPr>
        </p:nvSpPr>
        <p:spPr>
          <a:xfrm>
            <a:off x="216000" y="812520"/>
            <a:ext cx="7127280" cy="4008960"/>
          </a:xfrm>
          <a:prstGeom prst="rect">
            <a:avLst/>
          </a:prstGeom>
          <a:ln w="0">
            <a:noFill/>
          </a:ln>
        </p:spPr>
      </p:sp>
      <p:sp>
        <p:nvSpPr>
          <p:cNvPr id="69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51–55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Attributtabelle öffnen und „Objekte über Ausdruck wählen“ verwenden. Den Ausdruck genau übernehmen. NULL-Werte erfüllen beide Bedingungen nicht. Die Auswahl bleibt sichtbar und kontrollierbar; noch nichts exportieren.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216000" y="812520"/>
            <a:ext cx="7127280" cy="4008960"/>
          </a:xfrm>
          <a:prstGeom prst="rect">
            <a:avLst/>
          </a:prstGeom>
          <a:ln w="0">
            <a:noFill/>
          </a:ln>
        </p:spPr>
      </p:sp>
      <p:sp>
        <p:nvSpPr>
          <p:cNvPr id="70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55–58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Ergebnis per Handzeichen abfragen, dann zeigen. Bei Abweichung nicht improvisiert weiterexportieren: Feldtyp, Ausdruck und Gesamtzahl prüfen. Im Snapshot besitzen die 23 ausgeschlossenen Records jeweils 250 m Unsicherheit.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sldImg"/>
          </p:nvPr>
        </p:nvSpPr>
        <p:spPr>
          <a:xfrm>
            <a:off x="216000" y="812520"/>
            <a:ext cx="7127280" cy="4008960"/>
          </a:xfrm>
          <a:prstGeom prst="rect">
            <a:avLst/>
          </a:prstGeom>
          <a:ln w="0">
            <a:noFill/>
          </a:ln>
        </p:spPr>
      </p:sp>
      <p:sp>
        <p:nvSpPr>
          <p:cNvPr id="70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58–60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Drei Fehlannahmen vermeiden. GBIF-Issues sind Prüfhinweise und müssen fachlich gelesen werden. Ein fehlender Unsicherheitswert ist nicht 0 m. Ein leerer Issue-Eintrag beweist nicht Fehlerfreiheit.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https://geomoer.github.io/moer-bsc-geodaten/unit11/unit11-02_gbif.html</a:t>
            </a:r>
            <a:endParaRPr b="0" lang="en-US" sz="20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sldImg"/>
          </p:nvPr>
        </p:nvSpPr>
        <p:spPr>
          <a:xfrm>
            <a:off x="216000" y="812520"/>
            <a:ext cx="7127280" cy="4008960"/>
          </a:xfrm>
          <a:prstGeom prst="rect">
            <a:avLst/>
          </a:prstGeom>
          <a:ln w="0">
            <a:noFill/>
          </a:ln>
        </p:spPr>
      </p:sp>
      <p:sp>
        <p:nvSpPr>
          <p:cNvPr id="70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60–62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Je zwei Nachbarinnen oder Nachbarn vergleichen ihren Zustand. In der großen Gruppe nur die drei Kontrollpunkte prüfen. Wer fertig ist, hilft beim Lesen der Werte; keine zusätzliche Analyse beginnen.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216000" y="812520"/>
            <a:ext cx="7127280" cy="4008960"/>
          </a:xfrm>
          <a:prstGeom prst="rect">
            <a:avLst/>
          </a:prstGeom>
          <a:ln w="0">
            <a:noFill/>
          </a:ln>
        </p:spPr>
      </p:sp>
      <p:sp>
        <p:nvSpPr>
          <p:cNvPr id="70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62–64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Klarstellen: Es werden nur ausgewählte Features in einen neuen Layer geschrieben. Der Rohdatenlayer bleibt unverändert und kann die Entscheidung später nachvollziehbar machen.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PlaceHolder 1"/>
          <p:cNvSpPr>
            <a:spLocks noGrp="1"/>
          </p:cNvSpPr>
          <p:nvPr>
            <p:ph type="sldImg"/>
          </p:nvPr>
        </p:nvSpPr>
        <p:spPr>
          <a:xfrm>
            <a:off x="216000" y="812520"/>
            <a:ext cx="7127280" cy="4008960"/>
          </a:xfrm>
          <a:prstGeom prst="rect">
            <a:avLst/>
          </a:prstGeom>
          <a:ln w="0">
            <a:noFill/>
          </a:ln>
        </p:spPr>
      </p:sp>
      <p:sp>
        <p:nvSpPr>
          <p:cNvPr id="70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64–68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Rechtsklick auf den Rohdatenlayer: Exportieren → Ausgewählte Objekte speichern als. Den Haken für nur ausgewählte Objekte kontrollieren. Die Datei im Ordner data_output erzeugen; Layername exakt gbif_checked.</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https://geomoer.github.io/moer-bsc-geodaten/material/qgis-kernpfade.html#unit11</a:t>
            </a:r>
            <a:endParaRPr b="0" lang="en-US" sz="20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sldImg"/>
          </p:nvPr>
        </p:nvSpPr>
        <p:spPr>
          <a:xfrm>
            <a:off x="216000" y="812520"/>
            <a:ext cx="7127280" cy="4008960"/>
          </a:xfrm>
          <a:prstGeom prst="rect">
            <a:avLst/>
          </a:prstGeom>
          <a:ln w="0">
            <a:noFill/>
          </a:ln>
        </p:spPr>
      </p:sp>
      <p:sp>
        <p:nvSpPr>
          <p:cNvPr id="71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68–71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An Unit 09 anknüpfen: Die Eingangszahlen werden als EPSG:4326 interpretiert. Beim Export nach EPSG:25832 berechnet QGIS neue Koordinaten. Nur ein anderes CRS zuzuweisen wäre falsch. Das Projekt-CRS allein ändert die gespeicherten Quelldaten nicht.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216000" y="812520"/>
            <a:ext cx="7127280" cy="4008960"/>
          </a:xfrm>
          <a:prstGeom prst="rect">
            <a:avLst/>
          </a:prstGeom>
          <a:ln w="0">
            <a:noFill/>
          </a:ln>
        </p:spPr>
      </p:sp>
      <p:sp>
        <p:nvSpPr>
          <p:cNvPr id="71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71–75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neu erzeugten Layer aus dem Browser laden, den temporären Rohdatenlayer deaktivieren und das Projekt speichern. Erwartet werden 56 Punkte. Wenn Export scheitert, den Ersatzlayer ersatz/unit11_results.gpkg · gbif_checked laden und den Fehler dokumentieren.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https://geomoer.github.io/moer-bsc-geodaten/material/qgis-kernpfade.html#unit11</a:t>
            </a:r>
            <a:endParaRPr b="0" lang="en-US" sz="20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Img"/>
          </p:nvPr>
        </p:nvSpPr>
        <p:spPr>
          <a:xfrm>
            <a:off x="216000" y="812520"/>
            <a:ext cx="7127280" cy="4008960"/>
          </a:xfrm>
          <a:prstGeom prst="rect">
            <a:avLst/>
          </a:prstGeom>
          <a:ln w="0">
            <a:noFill/>
          </a:ln>
        </p:spPr>
      </p:sp>
      <p:sp>
        <p:nvSpPr>
          <p:cNvPr id="71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75–78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Gruppe nennt die Angaben, die eine andere Person zum Nachvollziehen braucht. Anschließend die Liste zeigen. Der Datensatz-DOI ist nicht als eigener GBIF-Download-DOI auszugeben.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https://geomoer.github.io/moer-bsc-geodaten/unit11/unit11-03_punkte_qgis.html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https://doi.org/10.15468/uc1apo</a:t>
            </a:r>
            <a:endParaRPr b="0" lang="en-US" sz="20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sldImg"/>
          </p:nvPr>
        </p:nvSpPr>
        <p:spPr>
          <a:xfrm>
            <a:off x="216000" y="812520"/>
            <a:ext cx="7127280" cy="4008960"/>
          </a:xfrm>
          <a:prstGeom prst="rect">
            <a:avLst/>
          </a:prstGeom>
          <a:ln w="0">
            <a:noFill/>
          </a:ln>
        </p:spPr>
      </p:sp>
      <p:sp>
        <p:nvSpPr>
          <p:cNvPr id="71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78–81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beiden Suchsituationen vergleichen lassen. Das Gedankenexperiment isoliert den Einfluss des Suchaufwands; in realen Daten sind unentdeckte Vorkommen unbekannt. Eine hohe Punktdichte kann häufiges Vorkommen, gute Zugänglichkeit oder aktive Meldung widerspiegeln.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https://geomoer.github.io/moer-bsc-geodaten/unit11/unit11-02_gbif.html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assets/images/unit11/beobachtungsbias.svg</a:t>
            </a:r>
            <a:endParaRPr b="0" lang="en-US" sz="20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216000" y="812520"/>
            <a:ext cx="7127280" cy="4008960"/>
          </a:xfrm>
          <a:prstGeom prst="rect">
            <a:avLst/>
          </a:prstGeom>
          <a:ln w="0">
            <a:noFill/>
          </a:ln>
        </p:spPr>
      </p:sp>
      <p:sp>
        <p:nvSpPr>
          <p:cNvPr id="71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81–83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Noch einmal 45 Sekunden zu zweit formulieren lassen: Was ist an der Aussage zu stark? Danach zwei bis drei Vorschläge hören. Die Qualitätsauswahl verbessert die dokumentierte Lagegenauigkeit, erzeugt aber keine systematische Verbreitungserhebung.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https://geomoer.github.io/moer-bsc-geodaten/unit11/unit11-02_gbif.html</a:t>
            </a:r>
            <a:endParaRPr b="0" lang="en-US" sz="20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216000" y="812520"/>
            <a:ext cx="7127280" cy="4008960"/>
          </a:xfrm>
          <a:prstGeom prst="rect">
            <a:avLst/>
          </a:prstGeom>
          <a:ln w="0">
            <a:noFill/>
          </a:ln>
        </p:spPr>
      </p:sp>
      <p:sp>
        <p:nvSpPr>
          <p:cNvPr id="72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83–85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Formulierung laut lesen. Auf die drei Einschränkungen hinweisen: dokumentierte Records, konkreter Datenausschnitt und angewandte Qualitätsregel. Fehlende Punkte dürfen ohne dokumentierte Suche und Erfassungswahrscheinlichkeit nicht als Abwesenheit interpretiert werden.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https://geomoer.github.io/moer-bsc-geodaten/unit11/unit11-02_gbif.html</a:t>
            </a:r>
            <a:endParaRPr b="0" lang="en-US" sz="2000" spc="-1" strike="noStrike">
              <a:solidFill>
                <a:srgbClr val="000000"/>
              </a:solidFill>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216000" y="812520"/>
            <a:ext cx="7127280" cy="4008960"/>
          </a:xfrm>
          <a:prstGeom prst="rect">
            <a:avLst/>
          </a:prstGeom>
          <a:ln w="0">
            <a:noFill/>
          </a:ln>
        </p:spPr>
      </p:sp>
      <p:sp>
        <p:nvSpPr>
          <p:cNvPr id="7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85–88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Genau eine der drei Fragen auswählen und sichtbar markieren. Zwei Minuten einzeln schreiben lassen, anschließend höchstens eine knappe Antwort einsammeln. Nicht alle drei Fragen bearbeiten lassen.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https://geomoer.github.io/moer-bsc-geodaten/unit11/unit11-00_overview.html</a:t>
            </a:r>
            <a:endParaRPr b="0" lang="en-US" sz="2000" spc="-1" strike="noStrike">
              <a:solidFill>
                <a:srgbClr val="000000"/>
              </a:solidFill>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216000" y="812520"/>
            <a:ext cx="7127280" cy="4008960"/>
          </a:xfrm>
          <a:prstGeom prst="rect">
            <a:avLst/>
          </a:prstGeom>
          <a:ln w="0">
            <a:noFill/>
          </a:ln>
        </p:spPr>
      </p:sp>
      <p:sp>
        <p:nvSpPr>
          <p:cNvPr id="72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88–90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die JiTT-Aufgabe als verbindliche Nachbereitung nennen. Fragen, Frist und endgültiger Link stehen in ILIAS. Der Link auf der Kursseite ist noch ein sichtbarer Platzhalter; keinen Wert erfinden. Kurz ankündigen, dass gbif_checked in Unit 12 weiterverwendet wird.</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https://geomoer.github.io/moer-bsc-geodaten/unit11/unit11-04_assignment.html</a:t>
            </a:r>
            <a:endParaRPr b="0" lang="en-US" sz="2000" spc="-1" strike="noStrike">
              <a:solidFill>
                <a:srgbClr val="000000"/>
              </a:solidFill>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sldImg"/>
          </p:nvPr>
        </p:nvSpPr>
        <p:spPr>
          <a:xfrm>
            <a:off x="216000" y="812520"/>
            <a:ext cx="7127280" cy="4008960"/>
          </a:xfrm>
          <a:prstGeom prst="rect">
            <a:avLst/>
          </a:prstGeom>
          <a:ln w="0">
            <a:noFill/>
          </a:ln>
        </p:spPr>
      </p:sp>
      <p:sp>
        <p:nvSpPr>
          <p:cNvPr id="72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Rückfragen verwenden. Die Tabelle ist keine zusätzliche Pflichtphase. Zeigen, dass technische Felder jeweils eine fachliche Prüffrage unterstützen.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https://geomoer.github.io/moer-bsc-geodaten/unit11/unit11-02_gbif.html</a:t>
            </a:r>
            <a:endParaRPr b="0" lang="en-US" sz="2000" spc="-1" strike="noStrike">
              <a:solidFill>
                <a:srgbClr val="000000"/>
              </a:solidFill>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sldImg"/>
          </p:nvPr>
        </p:nvSpPr>
        <p:spPr>
          <a:xfrm>
            <a:off x="216000" y="812520"/>
            <a:ext cx="7127280" cy="4008960"/>
          </a:xfrm>
          <a:prstGeom prst="rect">
            <a:avLst/>
          </a:prstGeom>
          <a:ln w="0">
            <a:noFill/>
          </a:ln>
        </p:spPr>
      </p:sp>
      <p:sp>
        <p:nvSpPr>
          <p:cNvPr id="72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Bedarf zeigen. Die Folie dokumentiert Kursseiten, Softwaredokumentation und Datenquelle. Die Live-Erreichbarkeit externer Seiten ist für den Präsenzkern nicht erforderlich.</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https://geomoer.github.io/moer-bsc-geodaten/unit11/unit11-00_overview.html</a:t>
            </a:r>
            <a:endParaRPr b="0" lang="en-US" sz="2000" spc="-1" strike="noStrike">
              <a:solidFill>
                <a:srgbClr val="000000"/>
              </a:solidFill>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216000" y="812520"/>
            <a:ext cx="7127280" cy="4008960"/>
          </a:xfrm>
          <a:prstGeom prst="rect">
            <a:avLst/>
          </a:prstGeom>
          <a:ln w="0">
            <a:noFill/>
          </a:ln>
        </p:spPr>
      </p:sp>
      <p:sp>
        <p:nvSpPr>
          <p:cNvPr id="73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Abschluss nach der Nachbereitung; kein zusätzlicher Zeitblock.</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Sitzung mit dieser Folie beenden. Die Abschlussgestaltung nutzt den Kontakt-Master der universitären Vorlage sowie das originale Foto-/Kartenmotiv aus der FB19-Titelseite.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2 Bilder">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81F19B3E-D75B-4196-8A97-F40665DD6497}"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ei Titel und zwei Inhalt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0143A8A9-0DCC-47DF-8000-FBEC191423CB}"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ditori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C0304C7-FEA1-49A1-A058-AAAE918A3736}"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spTree>
      <p:nvGrpSpPr>
        <p:cNvPr id="1" name=""/>
        <p:cNvGrpSpPr/>
        <p:nvPr/>
      </p:nvGrpSpPr>
      <p:grpSpPr>
        <a:xfrm>
          <a:off x="0" y="0"/>
          <a:ext cx="0" cy="0"/>
          <a:chOff x="0" y="0"/>
          <a:chExt cx="0" cy="0"/>
        </a:xfrm>
      </p:grpSpPr>
      <p:sp>
        <p:nvSpPr>
          <p:cNvPr id="25"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A250B4C0-54A8-4F16-A969-B286A2C644E9}"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ollbild">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
        <p:nvSpPr>
          <p:cNvPr id="3" name="PlaceHolder 2"/>
          <p:cNvSpPr>
            <a:spLocks noGrp="1"/>
          </p:cNvSpPr>
          <p:nvPr>
            <p:ph type="sldNum" idx="10"/>
          </p:nvPr>
        </p:nvSpPr>
        <p:spPr/>
        <p:txBody>
          <a:bodyPr/>
          <a:p>
            <a:fld id="{3C21CAB8-B3D3-4356-95D9-61804DD59398}"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A6C9B114-E895-4250-B2A6-CB955A535B3D}"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mit Bild">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A">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B">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Agenda">
    <p:spTree>
      <p:nvGrpSpPr>
        <p:cNvPr id="1" name=""/>
        <p:cNvGrpSpPr/>
        <p:nvPr/>
      </p:nvGrpSpPr>
      <p:grpSpPr>
        <a:xfrm>
          <a:off x="0" y="0"/>
          <a:ext cx="0" cy="0"/>
          <a:chOff x="0" y="0"/>
          <a:chExt cx="0" cy="0"/>
        </a:xfrm>
      </p:grpSpPr>
      <p:sp>
        <p:nvSpPr>
          <p:cNvPr id="54"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5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61E31CDB-F9CB-4787-BBFF-FE3D5756B433}"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Kapiteltrenner">
    <p:spTree>
      <p:nvGrpSpPr>
        <p:cNvPr id="1" name=""/>
        <p:cNvGrpSpPr/>
        <p:nvPr/>
      </p:nvGrpSpPr>
      <p:grpSpPr>
        <a:xfrm>
          <a:off x="0" y="0"/>
          <a:ext cx="0" cy="0"/>
          <a:chOff x="0" y="0"/>
          <a:chExt cx="0" cy="0"/>
        </a:xfrm>
      </p:grpSpPr>
      <p:sp>
        <p:nvSpPr>
          <p:cNvPr id="6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15"/>
          </p:nvPr>
        </p:nvSpPr>
        <p:spPr/>
        <p:txBody>
          <a:bodyPr/>
          <a:p>
            <a:r>
              <a:t>Footer</a:t>
            </a:r>
          </a:p>
        </p:txBody>
      </p:sp>
      <p:sp>
        <p:nvSpPr>
          <p:cNvPr id="4" name="PlaceHolder 3"/>
          <p:cNvSpPr>
            <a:spLocks noGrp="1"/>
          </p:cNvSpPr>
          <p:nvPr>
            <p:ph type="sldNum" idx="16"/>
          </p:nvPr>
        </p:nvSpPr>
        <p:spPr/>
        <p:txBody>
          <a:bodyPr/>
          <a:p>
            <a:fld id="{4AD3495E-C7AD-4425-A814-FB24EC5358BD}"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trenner mit Bild">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C7A8302C-612F-4A80-8179-AC6988A506F9}"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spTree>
      <p:nvGrpSpPr>
        <p:cNvPr id="1" name=""/>
        <p:cNvGrpSpPr/>
        <p:nvPr/>
      </p:nvGrpSpPr>
      <p:grpSpPr>
        <a:xfrm>
          <a:off x="0" y="0"/>
          <a:ext cx="0" cy="0"/>
          <a:chOff x="0" y="0"/>
          <a:chExt cx="0" cy="0"/>
        </a:xfrm>
      </p:grpSpPr>
      <p:sp>
        <p:nvSpPr>
          <p:cNvPr id="7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ED51945C-31B0-4ECA-A86A-577181617F52}"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Inhal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7FA3EE6B-5A7D-4262-A53C-2743FF5D1E8C}"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zwei Inhalte">
    <p:spTree>
      <p:nvGrpSpPr>
        <p:cNvPr id="1" name=""/>
        <p:cNvGrpSpPr/>
        <p:nvPr/>
      </p:nvGrpSpPr>
      <p:grpSpPr>
        <a:xfrm>
          <a:off x="0" y="0"/>
          <a:ext cx="0" cy="0"/>
          <a:chOff x="0" y="0"/>
          <a:chExt cx="0" cy="0"/>
        </a:xfrm>
      </p:grpSpPr>
      <p:sp>
        <p:nvSpPr>
          <p:cNvPr id="77"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21"/>
          </p:nvPr>
        </p:nvSpPr>
        <p:spPr/>
        <p:txBody>
          <a:bodyPr/>
          <a:p>
            <a:r>
              <a:t>Footer</a:t>
            </a:r>
          </a:p>
        </p:txBody>
      </p:sp>
      <p:sp>
        <p:nvSpPr>
          <p:cNvPr id="5" name="PlaceHolder 4"/>
          <p:cNvSpPr>
            <a:spLocks noGrp="1"/>
          </p:cNvSpPr>
          <p:nvPr>
            <p:ph type="sldNum" idx="22"/>
          </p:nvPr>
        </p:nvSpPr>
        <p:spPr/>
        <p:txBody>
          <a:bodyPr/>
          <a:p>
            <a:fld id="{B3CBA23C-1825-4DA4-92CD-0097DE7D863F}"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Inhalt und Bild">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0FB62126-749D-4EB7-BAC8-0F278509E489}"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7.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762440" y="2187000"/>
            <a:ext cx="6662520" cy="200376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1" name="PlaceHolder 2"/>
          <p:cNvSpPr>
            <a:spLocks noGrp="1"/>
          </p:cNvSpPr>
          <p:nvPr>
            <p:ph type="body"/>
          </p:nvPr>
        </p:nvSpPr>
        <p:spPr>
          <a:xfrm>
            <a:off x="4762440" y="5524560"/>
            <a:ext cx="66625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2" name="Freihandform: Form 11"/>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4" name="PlaceHolder 2"/>
          <p:cNvSpPr>
            <a:spLocks noGrp="1"/>
          </p:cNvSpPr>
          <p:nvPr>
            <p:ph type="body"/>
          </p:nvPr>
        </p:nvSpPr>
        <p:spPr>
          <a:xfrm>
            <a:off x="7551360" y="333360"/>
            <a:ext cx="4305240" cy="58320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5" name="PlaceHolder 3"/>
          <p:cNvSpPr>
            <a:spLocks noGrp="1"/>
          </p:cNvSpPr>
          <p:nvPr>
            <p:ph type="body"/>
          </p:nvPr>
        </p:nvSpPr>
        <p:spPr>
          <a:xfrm>
            <a:off x="766800" y="1665360"/>
            <a:ext cx="6228000" cy="450036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 name="PlaceHolder 4"/>
          <p:cNvSpPr>
            <a:spLocks noGrp="1"/>
          </p:cNvSpPr>
          <p:nvPr>
            <p:ph type="ftr" idx="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 name="PlaceHolder 5">
            <a:extLst>
              <a:ext uri="{C183D7F6-B498-43B3-948B-1728B52AA6E4}">
                <adec:decorative xmlns:adec="http://schemas.microsoft.com/office/drawing/2017/decorative" val="1"/>
              </a:ext>
            </a:extLst>
          </p:cNvPr>
          <p:cNvSpPr>
            <a:spLocks noGrp="1"/>
          </p:cNvSpPr>
          <p:nvPr>
            <p:ph type="sldNum" idx="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918579BF-7804-492F-B6F3-97ECBD613E38}"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 name="PlaceHolder 6"/>
          <p:cNvSpPr>
            <a:spLocks noGrp="1"/>
          </p:cNvSpPr>
          <p:nvPr>
            <p:ph type="body"/>
          </p:nvPr>
        </p:nvSpPr>
        <p:spPr>
          <a:xfrm rot="16200000">
            <a:off x="87746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9" name="PlaceHolder 7"/>
          <p:cNvSpPr>
            <a:spLocks noGrp="1"/>
          </p:cNvSpPr>
          <p:nvPr>
            <p:ph type="body"/>
          </p:nvPr>
        </p:nvSpPr>
        <p:spPr>
          <a:xfrm rot="16200000">
            <a:off x="4577400" y="3748320"/>
            <a:ext cx="450036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66800" y="333360"/>
            <a:ext cx="34617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1" name="PlaceHolder 2"/>
          <p:cNvSpPr>
            <a:spLocks noGrp="1"/>
          </p:cNvSpPr>
          <p:nvPr>
            <p:ph type="body"/>
          </p:nvPr>
        </p:nvSpPr>
        <p:spPr>
          <a:xfrm>
            <a:off x="766800" y="1665360"/>
            <a:ext cx="34617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2" name="PlaceHolder 3"/>
          <p:cNvSpPr>
            <a:spLocks noGrp="1"/>
          </p:cNvSpPr>
          <p:nvPr>
            <p:ph type="body"/>
          </p:nvPr>
        </p:nvSpPr>
        <p:spPr>
          <a:xfrm>
            <a:off x="4660560" y="333360"/>
            <a:ext cx="6764400" cy="899640"/>
          </a:xfrm>
          <a:prstGeom prst="rect">
            <a:avLst/>
          </a:prstGeom>
          <a:noFill/>
          <a:ln w="0">
            <a:noFill/>
          </a:ln>
        </p:spPr>
        <p:txBody>
          <a:bodyPr lIns="0" rIns="0" tIns="0" bIns="0" anchor="t">
            <a:noAutofit/>
          </a:bodyPr>
          <a:p>
            <a:pPr indent="0" defTabSz="914400">
              <a:lnSpc>
                <a:spcPct val="110000"/>
              </a:lnSpc>
              <a:buNone/>
              <a:tabLst>
                <a:tab algn="l" pos="0"/>
              </a:tabLst>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3" name="PlaceHolder 4"/>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4" name="PlaceHolder 5"/>
          <p:cNvSpPr>
            <a:spLocks noGrp="1"/>
          </p:cNvSpPr>
          <p:nvPr>
            <p:ph type="ftr" idx="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15" name="PlaceHolder 6">
            <a:extLst>
              <a:ext uri="{C183D7F6-B498-43B3-948B-1728B52AA6E4}">
                <adec:decorative xmlns:adec="http://schemas.microsoft.com/office/drawing/2017/decorative" val="1"/>
              </a:ext>
            </a:extLst>
          </p:cNvPr>
          <p:cNvSpPr>
            <a:spLocks noGrp="1"/>
          </p:cNvSpPr>
          <p:nvPr>
            <p:ph type="sldNum" idx="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C6D689A4-86C8-4D41-B644-79E827E971E4}"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66800" y="1665360"/>
            <a:ext cx="3461760" cy="123012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7" name="PlaceHolder 2"/>
          <p:cNvSpPr>
            <a:spLocks noGrp="1"/>
          </p:cNvSpPr>
          <p:nvPr>
            <p:ph type="body"/>
          </p:nvPr>
        </p:nvSpPr>
        <p:spPr>
          <a:xfrm>
            <a:off x="766800" y="2968560"/>
            <a:ext cx="3461760" cy="319680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100" spc="-1" strike="noStrike">
                <a:solidFill>
                  <a:schemeClr val="dk1"/>
                </a:solidFill>
                <a:latin typeface="Noto Sans"/>
              </a:rPr>
              <a:t>Mastertextformat bearbeiten</a:t>
            </a:r>
            <a:endParaRPr b="0" lang="de-DE" sz="11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100" spc="-1" strike="noStrike">
                <a:solidFill>
                  <a:schemeClr val="dk1"/>
                </a:solidFill>
                <a:latin typeface="Noto Sans"/>
              </a:rPr>
              <a:t>Zweite Ebene</a:t>
            </a:r>
            <a:endParaRPr b="0" lang="de-DE" sz="11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100" spc="-1" strike="noStrike">
                <a:solidFill>
                  <a:schemeClr val="dk1"/>
                </a:solidFill>
                <a:latin typeface="Noto Sans"/>
              </a:rPr>
              <a:t>Dritte Ebene</a:t>
            </a:r>
            <a:endParaRPr b="0" lang="de-DE" sz="11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100" spc="-1" strike="noStrike">
                <a:solidFill>
                  <a:schemeClr val="dk1"/>
                </a:solidFill>
                <a:latin typeface="Noto Sans"/>
              </a:rPr>
              <a:t>Vierte Ebene</a:t>
            </a:r>
            <a:endParaRPr b="0" lang="de-DE" sz="11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100" spc="-1" strike="noStrike">
                <a:solidFill>
                  <a:schemeClr val="dk1"/>
                </a:solidFill>
                <a:latin typeface="Noto Sans"/>
              </a:rPr>
              <a:t>Fünfte Ebene</a:t>
            </a:r>
            <a:endParaRPr b="0" lang="de-DE" sz="1100" spc="-1" strike="noStrike">
              <a:solidFill>
                <a:schemeClr val="dk1"/>
              </a:solidFill>
              <a:latin typeface="Noto Sans"/>
            </a:endParaRPr>
          </a:p>
        </p:txBody>
      </p:sp>
      <p:sp>
        <p:nvSpPr>
          <p:cNvPr id="18" name="PlaceHolder 3"/>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9" name="PlaceHolder 4"/>
          <p:cNvSpPr>
            <a:spLocks noGrp="1"/>
          </p:cNvSpPr>
          <p:nvPr>
            <p:ph type="ftr" idx="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0" name="PlaceHolder 5">
            <a:extLst>
              <a:ext uri="{C183D7F6-B498-43B3-948B-1728B52AA6E4}">
                <adec:decorative xmlns:adec="http://schemas.microsoft.com/office/drawing/2017/decorative" val="1"/>
              </a:ext>
            </a:extLst>
          </p:cNvPr>
          <p:cNvSpPr>
            <a:spLocks noGrp="1"/>
          </p:cNvSpPr>
          <p:nvPr>
            <p:ph type="sldNum" idx="6"/>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02809BC5-5F23-41B0-B6A2-C6EC54BAF8E9}"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22" name="PlaceHolder 2"/>
          <p:cNvSpPr>
            <a:spLocks noGrp="1"/>
          </p:cNvSpPr>
          <p:nvPr>
            <p:ph type="ftr" idx="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3" name="PlaceHolder 3">
            <a:extLst>
              <a:ext uri="{C183D7F6-B498-43B3-948B-1728B52AA6E4}">
                <adec:decorative xmlns:adec="http://schemas.microsoft.com/office/drawing/2017/decorative" val="1"/>
              </a:ext>
            </a:extLst>
          </p:cNvPr>
          <p:cNvSpPr>
            <a:spLocks noGrp="1"/>
          </p:cNvSpPr>
          <p:nvPr>
            <p:ph type="sldNum" idx="8"/>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FCBADE73-C24A-42B0-BE1C-0A359507E506}"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4"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27" name="PlaceHolder 2"/>
          <p:cNvSpPr>
            <a:spLocks noGrp="1"/>
          </p:cNvSpPr>
          <p:nvPr>
            <p:ph type="ftr" idx="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8" name="PlaceHolder 3">
            <a:extLst>
              <a:ext uri="{C183D7F6-B498-43B3-948B-1728B52AA6E4}">
                <adec:decorative xmlns:adec="http://schemas.microsoft.com/office/drawing/2017/decorative" val="1"/>
              </a:ext>
            </a:extLst>
          </p:cNvPr>
          <p:cNvSpPr>
            <a:spLocks noGrp="1"/>
          </p:cNvSpPr>
          <p:nvPr>
            <p:ph type="sldNum" idx="1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98698C52-1471-431B-A933-DEC7FD56EDB9}"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9"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0" name="PlaceHolder 5"/>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de-DE" sz="1800" spc="-1" strike="noStrike">
                <a:solidFill>
                  <a:schemeClr val="dk1"/>
                </a:solidFill>
                <a:latin typeface="Noto Sans"/>
              </a:rPr>
              <a:t>Click to edit the title text format</a:t>
            </a: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32" name="PlaceHolder 2">
            <a:extLst>
              <a:ext uri="{C183D7F6-B498-43B3-948B-1728B52AA6E4}">
                <adec:decorative xmlns:adec="http://schemas.microsoft.com/office/drawing/2017/decorative" val="1"/>
              </a:ext>
            </a:extLst>
          </p:cNvPr>
          <p:cNvSpPr>
            <a:spLocks noGrp="1"/>
          </p:cNvSpPr>
          <p:nvPr>
            <p:ph type="sldNum" idx="1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BACFF41F-5DE2-434D-A228-36E5084C5A99}"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34800" y="339120"/>
            <a:ext cx="6164640" cy="6150240"/>
          </a:xfrm>
          <a:prstGeom prst="rect">
            <a:avLst/>
          </a:prstGeom>
          <a:solidFill>
            <a:schemeClr val="accent4"/>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4" name="Freihandform: Form 3"/>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37" name="PlaceHolder 2"/>
          <p:cNvSpPr>
            <a:spLocks noGrp="1"/>
          </p:cNvSpPr>
          <p:nvPr>
            <p:ph type="title"/>
          </p:nvPr>
        </p:nvSpPr>
        <p:spPr>
          <a:xfrm>
            <a:off x="334800" y="339120"/>
            <a:ext cx="6164640" cy="6150240"/>
          </a:xfrm>
          <a:prstGeom prst="rect">
            <a:avLst/>
          </a:prstGeom>
          <a:solidFill>
            <a:schemeClr val="accent2"/>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8" name="PlaceHolder 3"/>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9" name="PlaceHolder 4"/>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056000" y="2187000"/>
            <a:ext cx="4368600" cy="259812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41" name="PlaceHolder 2"/>
          <p:cNvSpPr>
            <a:spLocks noGrp="1"/>
          </p:cNvSpPr>
          <p:nvPr>
            <p:ph type="body"/>
          </p:nvPr>
        </p:nvSpPr>
        <p:spPr>
          <a:xfrm>
            <a:off x="7056000" y="5524560"/>
            <a:ext cx="436860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42" name="PlaceHolder 3"/>
          <p:cNvSpPr>
            <a:spLocks noGrp="1"/>
          </p:cNvSpPr>
          <p:nvPr>
            <p:ph type="body"/>
          </p:nvPr>
        </p:nvSpPr>
        <p:spPr>
          <a:xfrm>
            <a:off x="334800" y="339120"/>
            <a:ext cx="6164640" cy="61502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ffffff"/>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3" name="PlaceHolder 4"/>
          <p:cNvSpPr>
            <a:spLocks noGrp="1"/>
          </p:cNvSpPr>
          <p:nvPr>
            <p:ph type="body"/>
          </p:nvPr>
        </p:nvSpPr>
        <p:spPr>
          <a:xfrm>
            <a:off x="334800" y="6489720"/>
            <a:ext cx="11521800" cy="367920"/>
          </a:xfrm>
          <a:prstGeom prst="rect">
            <a:avLst/>
          </a:prstGeom>
          <a:noFill/>
          <a:ln w="0">
            <a:noFill/>
          </a:ln>
        </p:spPr>
        <p:txBody>
          <a:bodyPr lIns="0" rIns="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4" name="Freihandform: Form 5"/>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6" name="PlaceHolder 2"/>
          <p:cNvSpPr>
            <a:spLocks noGrp="1"/>
          </p:cNvSpPr>
          <p:nvPr>
            <p:ph type="title"/>
          </p:nvPr>
        </p:nvSpPr>
        <p:spPr>
          <a:xfrm>
            <a:off x="334800" y="339120"/>
            <a:ext cx="6164640" cy="6150240"/>
          </a:xfrm>
          <a:prstGeom prst="rect">
            <a:avLst/>
          </a:prstGeom>
          <a:solidFill>
            <a:schemeClr val="lt1"/>
          </a:solidFill>
          <a:ln w="0">
            <a:noFill/>
          </a:ln>
        </p:spPr>
        <p:txBody>
          <a:bodyPr lIns="288000" rIns="0" tIns="1944000" bIns="0" anchor="t">
            <a:noAutofit/>
          </a:bodyPr>
          <a:p>
            <a:pPr indent="0" defTabSz="914400">
              <a:lnSpc>
                <a:spcPct val="100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47" name="PlaceHolder 3"/>
          <p:cNvSpPr>
            <a:spLocks noGrp="1"/>
          </p:cNvSpPr>
          <p:nvPr>
            <p:ph type="body"/>
          </p:nvPr>
        </p:nvSpPr>
        <p:spPr>
          <a:xfrm>
            <a:off x="642600" y="5391000"/>
            <a:ext cx="54529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accent1"/>
                </a:solidFill>
                <a:latin typeface="Noto Sans"/>
              </a:rPr>
              <a:t>Mastertextformat bearbeiten</a:t>
            </a:r>
            <a:endParaRPr b="0" lang="de-DE" sz="1200" spc="-1" strike="noStrike">
              <a:solidFill>
                <a:schemeClr val="dk1"/>
              </a:solidFill>
              <a:latin typeface="Noto Sans"/>
            </a:endParaRPr>
          </a:p>
        </p:txBody>
      </p:sp>
      <p:sp>
        <p:nvSpPr>
          <p:cNvPr id="48"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9" name="PlaceHolder 5"/>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51"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358920" indent="-358920" defTabSz="914400">
              <a:lnSpc>
                <a:spcPct val="120000"/>
              </a:lnSpc>
              <a:buClr>
                <a:srgbClr val="000000"/>
              </a:buClr>
              <a:buFont typeface="Noto Sans"/>
              <a:buAutoNum type="arabicPeriod"/>
            </a:pPr>
            <a:r>
              <a:rPr b="0" lang="de-DE" sz="2000" spc="-1" strike="noStrike">
                <a:solidFill>
                  <a:schemeClr val="dk1"/>
                </a:solidFill>
                <a:latin typeface="Noto Sans"/>
              </a:rPr>
              <a:t>Mastertextformat bearbeiten</a:t>
            </a:r>
            <a:endParaRPr b="0" lang="de-DE" sz="2000" spc="-1" strike="noStrike">
              <a:solidFill>
                <a:schemeClr val="dk1"/>
              </a:solidFill>
              <a:latin typeface="Noto Sans"/>
            </a:endParaRPr>
          </a:p>
          <a:p>
            <a:pPr lvl="1" marL="541440" indent="-182520" defTabSz="914400">
              <a:lnSpc>
                <a:spcPct val="120000"/>
              </a:lnSpc>
              <a:buClr>
                <a:srgbClr val="000000"/>
              </a:buClr>
              <a:buFont typeface="Noto Sans"/>
              <a:buChar char="‒"/>
            </a:pPr>
            <a:r>
              <a:rPr b="0" lang="de-DE" sz="2000" spc="-1" strike="noStrike">
                <a:solidFill>
                  <a:schemeClr val="dk1"/>
                </a:solidFill>
                <a:latin typeface="Noto Sans"/>
              </a:rPr>
              <a:t>Zweite Ebene</a:t>
            </a:r>
            <a:endParaRPr b="0" lang="de-DE" sz="2000" spc="-1" strike="noStrike">
              <a:solidFill>
                <a:schemeClr val="dk1"/>
              </a:solidFill>
              <a:latin typeface="Noto Sans"/>
            </a:endParaRPr>
          </a:p>
          <a:p>
            <a:pPr lvl="2" marL="716040" indent="-174600" defTabSz="914400">
              <a:lnSpc>
                <a:spcPct val="120000"/>
              </a:lnSpc>
              <a:buClr>
                <a:srgbClr val="000000"/>
              </a:buClr>
              <a:buFont typeface="Noto Sans"/>
              <a:buChar char="‒"/>
            </a:pPr>
            <a:r>
              <a:rPr b="0" lang="de-DE" sz="2000" spc="-1" strike="noStrike">
                <a:solidFill>
                  <a:schemeClr val="dk1"/>
                </a:solidFill>
                <a:latin typeface="Noto Sans"/>
              </a:rPr>
              <a:t>Dritte Ebene</a:t>
            </a:r>
            <a:endParaRPr b="0" lang="de-DE" sz="2000" spc="-1" strike="noStrike">
              <a:solidFill>
                <a:schemeClr val="dk1"/>
              </a:solidFill>
              <a:latin typeface="Noto Sans"/>
            </a:endParaRPr>
          </a:p>
          <a:p>
            <a:pPr lvl="3" marL="898560" indent="-181080" defTabSz="914400">
              <a:lnSpc>
                <a:spcPct val="120000"/>
              </a:lnSpc>
              <a:buClr>
                <a:srgbClr val="000000"/>
              </a:buClr>
              <a:buFont typeface="Noto Sans"/>
              <a:buChar char="‒"/>
            </a:pPr>
            <a:r>
              <a:rPr b="0" lang="de-DE" sz="2000" spc="-1" strike="noStrike">
                <a:solidFill>
                  <a:schemeClr val="dk1"/>
                </a:solidFill>
                <a:latin typeface="Noto Sans"/>
              </a:rPr>
              <a:t>Vierte Ebene</a:t>
            </a:r>
            <a:endParaRPr b="0" lang="de-DE" sz="2000" spc="-1" strike="noStrike">
              <a:solidFill>
                <a:schemeClr val="dk1"/>
              </a:solidFill>
              <a:latin typeface="Noto Sans"/>
            </a:endParaRPr>
          </a:p>
          <a:p>
            <a:pPr lvl="4" marL="1074600" indent="-176040" defTabSz="914400">
              <a:lnSpc>
                <a:spcPct val="120000"/>
              </a:lnSpc>
              <a:buClr>
                <a:srgbClr val="000000"/>
              </a:buClr>
              <a:buFont typeface="Noto Sans"/>
              <a:buChar char="‒"/>
            </a:pPr>
            <a:r>
              <a:rPr b="0" lang="de-DE" sz="2000" spc="-1" strike="noStrike">
                <a:solidFill>
                  <a:schemeClr val="dk1"/>
                </a:solidFill>
                <a:latin typeface="Noto Sans"/>
              </a:rPr>
              <a:t>Fünfte Ebene</a:t>
            </a:r>
            <a:endParaRPr b="0" lang="de-DE" sz="2000" spc="-1" strike="noStrike">
              <a:solidFill>
                <a:schemeClr val="dk1"/>
              </a:solidFill>
              <a:latin typeface="Noto Sans"/>
            </a:endParaRPr>
          </a:p>
        </p:txBody>
      </p:sp>
      <p:sp>
        <p:nvSpPr>
          <p:cNvPr id="52" name="PlaceHolder 3"/>
          <p:cNvSpPr>
            <a:spLocks noGrp="1"/>
          </p:cNvSpPr>
          <p:nvPr>
            <p:ph type="ftr" idx="1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53" name="PlaceHolder 4">
            <a:extLst>
              <a:ext uri="{C183D7F6-B498-43B3-948B-1728B52AA6E4}">
                <adec:decorative xmlns:adec="http://schemas.microsoft.com/office/drawing/2017/decorative" val="1"/>
              </a:ext>
            </a:extLst>
          </p:cNvPr>
          <p:cNvSpPr>
            <a:spLocks noGrp="1"/>
          </p:cNvSpPr>
          <p:nvPr>
            <p:ph type="sldNum" idx="1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0CFFBD4B-E801-401C-8840-F0801F933785}"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66800" y="798120"/>
            <a:ext cx="1065816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lt1"/>
                </a:solidFill>
                <a:latin typeface="Noto Sans"/>
              </a:rPr>
              <a:t>Mastertitelformat bearbeiten</a:t>
            </a:r>
            <a:endParaRPr b="0" lang="de-DE" sz="3600" spc="-1" strike="noStrike">
              <a:solidFill>
                <a:schemeClr val="dk1"/>
              </a:solidFill>
              <a:latin typeface="Noto Sans"/>
            </a:endParaRPr>
          </a:p>
        </p:txBody>
      </p:sp>
      <p:sp>
        <p:nvSpPr>
          <p:cNvPr id="57" name="PlaceHolder 2"/>
          <p:cNvSpPr>
            <a:spLocks noGrp="1"/>
          </p:cNvSpPr>
          <p:nvPr>
            <p:ph type="ftr" idx="1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lt1"/>
                </a:solidFill>
                <a:latin typeface="Noto Sans"/>
              </a:defRPr>
            </a:lvl1pPr>
          </a:lstStyle>
          <a:p>
            <a:pPr indent="0" defTabSz="914400">
              <a:lnSpc>
                <a:spcPct val="100000"/>
              </a:lnSpc>
              <a:buNone/>
            </a:pPr>
            <a:r>
              <a:rPr b="0" lang="de-DE" sz="800" spc="-1" strike="noStrike">
                <a:solidFill>
                  <a:schemeClr val="lt1"/>
                </a:solidFill>
                <a:latin typeface="Noto Sans"/>
              </a:rPr>
              <a:t>&lt;footer&gt;</a:t>
            </a:r>
            <a:endParaRPr b="0" lang="en-US" sz="800" spc="-1" strike="noStrike">
              <a:solidFill>
                <a:srgbClr val="ffffff"/>
              </a:solidFill>
              <a:latin typeface="Times New Roman"/>
            </a:endParaRPr>
          </a:p>
        </p:txBody>
      </p:sp>
      <p:sp>
        <p:nvSpPr>
          <p:cNvPr id="58" name="PlaceHolder 3">
            <a:extLst>
              <a:ext uri="{C183D7F6-B498-43B3-948B-1728B52AA6E4}">
                <adec:decorative xmlns:adec="http://schemas.microsoft.com/office/drawing/2017/decorative" val="1"/>
              </a:ext>
            </a:extLst>
          </p:cNvPr>
          <p:cNvSpPr>
            <a:spLocks noGrp="1"/>
          </p:cNvSpPr>
          <p:nvPr>
            <p:ph type="sldNum" idx="16"/>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318E774A-CFF0-4256-9335-743FE9FC6D4A}" type="slidenum">
              <a:rPr b="0" lang="de-DE" sz="800" spc="-1" strike="noStrike">
                <a:solidFill>
                  <a:schemeClr val="lt1"/>
                </a:solidFill>
                <a:latin typeface="Noto Sans"/>
              </a:rPr>
              <a:t>&lt;number&gt;</a:t>
            </a:fld>
            <a:endParaRPr b="0" lang="en-US" sz="800" spc="-1" strike="noStrike">
              <a:solidFill>
                <a:srgbClr val="ffffff"/>
              </a:solidFill>
              <a:latin typeface="Times New Roman"/>
            </a:endParaRPr>
          </a:p>
        </p:txBody>
      </p:sp>
      <p:sp>
        <p:nvSpPr>
          <p:cNvPr id="59"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body"/>
          </p:nvPr>
        </p:nvSpPr>
        <p:spPr>
          <a:xfrm>
            <a:off x="5616000" y="0"/>
            <a:ext cx="6575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2" name="PlaceHolder 2"/>
          <p:cNvSpPr>
            <a:spLocks noGrp="1"/>
          </p:cNvSpPr>
          <p:nvPr>
            <p:ph type="title"/>
          </p:nvPr>
        </p:nvSpPr>
        <p:spPr>
          <a:xfrm>
            <a:off x="766800" y="798120"/>
            <a:ext cx="451368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63" name="PlaceHolder 3"/>
          <p:cNvSpPr>
            <a:spLocks noGrp="1"/>
          </p:cNvSpPr>
          <p:nvPr>
            <p:ph type="ftr" idx="1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4" name="PlaceHolder 4">
            <a:extLst>
              <a:ext uri="{C183D7F6-B498-43B3-948B-1728B52AA6E4}">
                <adec:decorative xmlns:adec="http://schemas.microsoft.com/office/drawing/2017/decorative" val="1"/>
              </a:ext>
            </a:extLst>
          </p:cNvPr>
          <p:cNvSpPr>
            <a:spLocks noGrp="1"/>
          </p:cNvSpPr>
          <p:nvPr>
            <p:ph type="sldNum" idx="18"/>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7D85B79A-F95C-4A6C-AD7D-04ABBE6F2768}" type="slidenum">
              <a:rPr b="0" lang="de-DE" sz="800" spc="-1" strike="noStrike">
                <a:solidFill>
                  <a:schemeClr val="lt1"/>
                </a:solidFill>
                <a:latin typeface="Noto Sans"/>
              </a:rPr>
              <a:t>&lt;number&gt;</a:t>
            </a:fld>
            <a:endParaRPr b="0" lang="en-US" sz="800" spc="-1" strike="noStrike">
              <a:solidFill>
                <a:srgbClr val="000000"/>
              </a:solidFill>
              <a:latin typeface="Times New Roman"/>
            </a:endParaRPr>
          </a:p>
        </p:txBody>
      </p:sp>
      <p:sp>
        <p:nvSpPr>
          <p:cNvPr id="65" name="PlaceHolder 5"/>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67"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68" name="PlaceHolder 3"/>
          <p:cNvSpPr>
            <a:spLocks noGrp="1"/>
          </p:cNvSpPr>
          <p:nvPr>
            <p:ph type="ftr" idx="1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9" name="PlaceHolder 4">
            <a:extLst>
              <a:ext uri="{C183D7F6-B498-43B3-948B-1728B52AA6E4}">
                <adec:decorative xmlns:adec="http://schemas.microsoft.com/office/drawing/2017/decorative" val="1"/>
              </a:ext>
            </a:extLst>
          </p:cNvPr>
          <p:cNvSpPr>
            <a:spLocks noGrp="1"/>
          </p:cNvSpPr>
          <p:nvPr>
            <p:ph type="sldNum" idx="2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74C2560D-E206-43E0-B75B-2030D8E55C89}"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 id="2147483678"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73"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4" name="PlaceHolder 3"/>
          <p:cNvSpPr>
            <a:spLocks noGrp="1"/>
          </p:cNvSpPr>
          <p:nvPr>
            <p:ph type="body"/>
          </p:nvPr>
        </p:nvSpPr>
        <p:spPr>
          <a:xfrm>
            <a:off x="631188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5" name="PlaceHolder 4"/>
          <p:cNvSpPr>
            <a:spLocks noGrp="1"/>
          </p:cNvSpPr>
          <p:nvPr>
            <p:ph type="ftr" idx="2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6" name="PlaceHolder 5">
            <a:extLst>
              <a:ext uri="{C183D7F6-B498-43B3-948B-1728B52AA6E4}">
                <adec:decorative xmlns:adec="http://schemas.microsoft.com/office/drawing/2017/decorative" val="1"/>
              </a:ext>
            </a:extLst>
          </p:cNvPr>
          <p:cNvSpPr>
            <a:spLocks noGrp="1"/>
          </p:cNvSpPr>
          <p:nvPr>
            <p:ph type="sldNum" idx="2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57CE5088-A10D-4C55-A054-1B1C48267D66}"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0"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80"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81" name="PlaceHolder 3"/>
          <p:cNvSpPr>
            <a:spLocks noGrp="1"/>
          </p:cNvSpPr>
          <p:nvPr>
            <p:ph type="body"/>
          </p:nvPr>
        </p:nvSpPr>
        <p:spPr>
          <a:xfrm>
            <a:off x="6537960" y="333360"/>
            <a:ext cx="5318640" cy="52974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82" name="PlaceHolder 4"/>
          <p:cNvSpPr>
            <a:spLocks noGrp="1"/>
          </p:cNvSpPr>
          <p:nvPr>
            <p:ph type="ftr" idx="2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83" name="PlaceHolder 5">
            <a:extLst>
              <a:ext uri="{C183D7F6-B498-43B3-948B-1728B52AA6E4}">
                <adec:decorative xmlns:adec="http://schemas.microsoft.com/office/drawing/2017/decorative" val="1"/>
              </a:ext>
            </a:extLst>
          </p:cNvPr>
          <p:cNvSpPr>
            <a:spLocks noGrp="1"/>
          </p:cNvSpPr>
          <p:nvPr>
            <p:ph type="sldNum" idx="2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4D356E32-D7D1-4E47-BAB1-AFA35107D64B}"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4" name="PlaceHolder 6"/>
          <p:cNvSpPr>
            <a:spLocks noGrp="1"/>
          </p:cNvSpPr>
          <p:nvPr>
            <p:ph type="body"/>
          </p:nvPr>
        </p:nvSpPr>
        <p:spPr>
          <a:xfrm rot="16200000">
            <a:off x="9041760" y="2816280"/>
            <a:ext cx="52948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82"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6.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16.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16.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16.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slideLayout" Target="../slideLayouts/slideLayout16.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6.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16.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svg"/><Relationship Id="rId3" Type="http://schemas.openxmlformats.org/officeDocument/2006/relationships/slideLayout" Target="../slideLayouts/slideLayout16.xml"/><Relationship Id="rId4"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hyperlink" Target="https://geomoer.github.io/moer-bsc-geodaten/unit11/unit11-00_overview.html" TargetMode="External"/><Relationship Id="rId2" Type="http://schemas.openxmlformats.org/officeDocument/2006/relationships/hyperlink" Target="https://geomoer.github.io/moer-bsc-geodaten/unit11/unit11-01_punktdaten.html" TargetMode="External"/><Relationship Id="rId3" Type="http://schemas.openxmlformats.org/officeDocument/2006/relationships/hyperlink" Target="https://geomoer.github.io/moer-bsc-geodaten/unit11/unit11-02_gbif.html" TargetMode="External"/><Relationship Id="rId4" Type="http://schemas.openxmlformats.org/officeDocument/2006/relationships/hyperlink" Target="https://geomoer.github.io/moer-bsc-geodaten/unit11/unit11-03_punkte_qgis.html" TargetMode="External"/><Relationship Id="rId5" Type="http://schemas.openxmlformats.org/officeDocument/2006/relationships/hyperlink" Target="https://docs.qgis.org/3.40/en/docs/user_manual/" TargetMode="External"/><Relationship Id="rId6" Type="http://schemas.openxmlformats.org/officeDocument/2006/relationships/hyperlink" Target="https://doi.org/10.15468/uc1apo" TargetMode="External"/><Relationship Id="rId7" Type="http://schemas.openxmlformats.org/officeDocument/2006/relationships/slideLayout" Target="../slideLayouts/slideLayout16.xml"/><Relationship Id="rId8"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3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 descr=""/>
          <p:cNvPicPr/>
          <p:nvPr/>
        </p:nvPicPr>
        <p:blipFill>
          <a:blip r:embed="rId1"/>
          <a:stretch/>
        </p:blipFill>
        <p:spPr>
          <a:xfrm>
            <a:off x="335160" y="2666880"/>
            <a:ext cx="4107240" cy="1407240"/>
          </a:xfrm>
          <a:prstGeom prst="rect">
            <a:avLst/>
          </a:prstGeom>
          <a:ln w="0">
            <a:noFill/>
          </a:ln>
        </p:spPr>
      </p:pic>
      <p:sp>
        <p:nvSpPr>
          <p:cNvPr id="92" name=""/>
          <p:cNvSpPr txBox="1"/>
          <p:nvPr/>
        </p:nvSpPr>
        <p:spPr>
          <a:xfrm>
            <a:off x="4762440" y="2171880"/>
            <a:ext cx="6477120" cy="2286000"/>
          </a:xfrm>
          <a:prstGeom prst="rect">
            <a:avLst/>
          </a:prstGeom>
          <a:noFill/>
          <a:ln w="0">
            <a:noFill/>
          </a:ln>
        </p:spPr>
        <p:txBody>
          <a:bodyPr lIns="0" rIns="0" tIns="0" bIns="0" anchor="t">
            <a:noAutofit/>
          </a:bodyPr>
          <a:p>
            <a:r>
              <a:rPr b="0" lang="en-US" sz="4140" spc="-1" strike="noStrike">
                <a:solidFill>
                  <a:srgbClr val="ffffff"/>
                </a:solidFill>
                <a:latin typeface="Noto Sans"/>
              </a:rPr>
              <a:t>Punktdaten, GBIF</a:t>
            </a:r>
            <a:endParaRPr b="0" lang="en-US" sz="4140" spc="-1" strike="noStrike">
              <a:solidFill>
                <a:srgbClr val="ffffff"/>
              </a:solidFill>
              <a:latin typeface="Arial"/>
            </a:endParaRPr>
          </a:p>
          <a:p>
            <a:r>
              <a:rPr b="0" lang="en-US" sz="4140" spc="-1" strike="noStrike">
                <a:solidFill>
                  <a:srgbClr val="ffffff"/>
                </a:solidFill>
                <a:latin typeface="Noto Sans"/>
              </a:rPr>
              <a:t>und Datenqualität</a:t>
            </a:r>
            <a:endParaRPr b="0" lang="en-US" sz="4140" spc="-1" strike="noStrike">
              <a:solidFill>
                <a:srgbClr val="ffffff"/>
              </a:solidFill>
              <a:latin typeface="Arial"/>
            </a:endParaRPr>
          </a:p>
        </p:txBody>
      </p:sp>
      <p:sp>
        <p:nvSpPr>
          <p:cNvPr id="93" name=""/>
          <p:cNvSpPr txBox="1"/>
          <p:nvPr/>
        </p:nvSpPr>
        <p:spPr>
          <a:xfrm>
            <a:off x="4762440" y="4678560"/>
            <a:ext cx="6400800" cy="533520"/>
          </a:xfrm>
          <a:prstGeom prst="rect">
            <a:avLst/>
          </a:prstGeom>
          <a:noFill/>
          <a:ln w="0">
            <a:noFill/>
          </a:ln>
        </p:spPr>
        <p:txBody>
          <a:bodyPr lIns="0" rIns="0" tIns="0" bIns="0" anchor="t">
            <a:noAutofit/>
          </a:bodyPr>
          <a:p>
            <a:r>
              <a:rPr b="0" lang="en-US" sz="2630" spc="-1" strike="noStrike">
                <a:solidFill>
                  <a:srgbClr val="ffffff"/>
                </a:solidFill>
                <a:latin typeface="Noto Sans"/>
              </a:rPr>
              <a:t>Unit 11</a:t>
            </a:r>
            <a:endParaRPr b="0" lang="en-US" sz="2630" spc="-1" strike="noStrike">
              <a:solidFill>
                <a:srgbClr val="ffffff"/>
              </a:solidFill>
              <a:latin typeface="Arial"/>
            </a:endParaRPr>
          </a:p>
        </p:txBody>
      </p:sp>
      <p:sp>
        <p:nvSpPr>
          <p:cNvPr id="94" name=""/>
          <p:cNvSpPr txBox="1"/>
          <p:nvPr/>
        </p:nvSpPr>
        <p:spPr>
          <a:xfrm>
            <a:off x="4762440" y="5669280"/>
            <a:ext cx="6400800" cy="762120"/>
          </a:xfrm>
          <a:prstGeom prst="rect">
            <a:avLst/>
          </a:prstGeom>
          <a:noFill/>
          <a:ln w="0">
            <a:noFill/>
          </a:ln>
        </p:spPr>
        <p:txBody>
          <a:bodyPr lIns="0" rIns="0" tIns="0" bIns="0" anchor="t">
            <a:noAutofit/>
          </a:bodyPr>
          <a:p>
            <a:r>
              <a:rPr b="0" lang="en-US" sz="1790" spc="-1" strike="noStrike">
                <a:solidFill>
                  <a:srgbClr val="ffffff"/>
                </a:solidFill>
                <a:latin typeface="Noto Sans"/>
              </a:rPr>
              <a:t>Fachbereich 19 · Geographie</a:t>
            </a:r>
            <a:endParaRPr b="0" lang="en-US" sz="1790" spc="-1" strike="noStrike">
              <a:solidFill>
                <a:srgbClr val="ffffff"/>
              </a:solidFill>
              <a:latin typeface="Arial"/>
            </a:endParaRPr>
          </a:p>
          <a:p>
            <a:r>
              <a:rPr b="0" lang="en-US" sz="1790" spc="-1" strike="noStrike">
                <a:solidFill>
                  <a:srgbClr val="ffffff"/>
                </a:solidFill>
                <a:latin typeface="Noto Sans"/>
              </a:rPr>
              <a:t>Philipps-Universität Marburg</a:t>
            </a:r>
            <a:endParaRPr b="0" lang="en-US" sz="17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JiTT · Rückblick auf Unit 10</a:t>
            </a:r>
            <a:endParaRPr b="0" lang="en-US" sz="3190" spc="-1" strike="noStrike">
              <a:solidFill>
                <a:srgbClr val="000000"/>
              </a:solidFill>
              <a:latin typeface="Arial"/>
            </a:endParaRPr>
          </a:p>
        </p:txBody>
      </p:sp>
      <p:sp>
        <p:nvSpPr>
          <p:cNvPr id="9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PLATZHALTER · VOLLSTÄNDIG AUSTAUSCHBAR</a:t>
            </a:r>
            <a:endParaRPr b="0" lang="en-US" sz="1130" spc="-1" strike="noStrike">
              <a:solidFill>
                <a:srgbClr val="000000"/>
              </a:solidFill>
              <a:latin typeface="Arial"/>
            </a:endParaRPr>
          </a:p>
        </p:txBody>
      </p:sp>
      <p:sp>
        <p:nvSpPr>
          <p:cNvPr id="9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9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a:t>
            </a:r>
            <a:endParaRPr b="0" lang="en-US" sz="939" spc="-1" strike="noStrike">
              <a:solidFill>
                <a:srgbClr val="000000"/>
              </a:solidFill>
              <a:latin typeface="Arial"/>
            </a:endParaRPr>
          </a:p>
        </p:txBody>
      </p:sp>
      <p:sp>
        <p:nvSpPr>
          <p:cNvPr id="99" name="JiTT – vollständigen Block ersetzen"/>
          <p:cNvSpPr/>
          <p:nvPr/>
        </p:nvSpPr>
        <p:spPr>
          <a:xfrm>
            <a:off x="762120" y="1806120"/>
            <a:ext cx="10668240" cy="415296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00" name=""/>
          <p:cNvSpPr txBox="1"/>
          <p:nvPr/>
        </p:nvSpPr>
        <p:spPr>
          <a:xfrm>
            <a:off x="1371600" y="3276720"/>
            <a:ext cx="9448920" cy="990720"/>
          </a:xfrm>
          <a:prstGeom prst="rect">
            <a:avLst/>
          </a:prstGeom>
          <a:noFill/>
          <a:ln w="0">
            <a:noFill/>
          </a:ln>
        </p:spPr>
        <p:txBody>
          <a:bodyPr lIns="0" rIns="0" tIns="0" bIns="0" anchor="t">
            <a:noAutofit/>
          </a:bodyPr>
          <a:p>
            <a:pPr algn="ctr"/>
            <a:r>
              <a:rPr b="0" lang="en-US" sz="3570" spc="-1" strike="noStrike">
                <a:solidFill>
                  <a:srgbClr val="004899"/>
                </a:solidFill>
                <a:latin typeface="Noto Sans"/>
              </a:rPr>
              <a:t>[Hier den vollständigen</a:t>
            </a:r>
            <a:endParaRPr b="0" lang="en-US" sz="3570" spc="-1" strike="noStrike">
              <a:solidFill>
                <a:srgbClr val="000000"/>
              </a:solidFill>
              <a:latin typeface="Arial"/>
            </a:endParaRPr>
          </a:p>
          <a:p>
            <a:pPr algn="ctr"/>
            <a:r>
              <a:rPr b="0" lang="en-US" sz="3570" spc="-1" strike="noStrike">
                <a:solidFill>
                  <a:srgbClr val="004899"/>
                </a:solidFill>
                <a:latin typeface="Noto Sans"/>
              </a:rPr>
              <a:t>JiTT-Block einfügen]</a:t>
            </a:r>
            <a:endParaRPr b="0" lang="en-US" sz="35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Vom Nachweis zum geprüften Punktlayer</a:t>
            </a:r>
            <a:endParaRPr b="0" lang="en-US" sz="3190" spc="-1" strike="noStrike">
              <a:solidFill>
                <a:srgbClr val="000000"/>
              </a:solidFill>
              <a:latin typeface="Arial"/>
            </a:endParaRPr>
          </a:p>
        </p:txBody>
      </p:sp>
      <p:sp>
        <p:nvSpPr>
          <p:cNvPr id="10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UNIT 11 · ORIENTIERUNG</a:t>
            </a:r>
            <a:endParaRPr b="0" lang="en-US" sz="1130" spc="-1" strike="noStrike">
              <a:solidFill>
                <a:srgbClr val="000000"/>
              </a:solidFill>
              <a:latin typeface="Arial"/>
            </a:endParaRPr>
          </a:p>
        </p:txBody>
      </p:sp>
      <p:sp>
        <p:nvSpPr>
          <p:cNvPr id="10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10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a:t>
            </a:r>
            <a:endParaRPr b="0" lang="en-US" sz="939" spc="-1" strike="noStrike">
              <a:solidFill>
                <a:srgbClr val="000000"/>
              </a:solidFill>
              <a:latin typeface="Arial"/>
            </a:endParaRPr>
          </a:p>
        </p:txBody>
      </p:sp>
      <p:pic>
        <p:nvPicPr>
          <p:cNvPr id="105" name="" descr=""/>
          <p:cNvPicPr/>
          <p:nvPr/>
        </p:nvPicPr>
        <p:blipFill>
          <a:blip r:embed="rId1"/>
          <a:stretch/>
        </p:blipFill>
        <p:spPr>
          <a:xfrm>
            <a:off x="647640" y="1714680"/>
            <a:ext cx="10896840" cy="1816200"/>
          </a:xfrm>
          <a:prstGeom prst="rect">
            <a:avLst/>
          </a:prstGeom>
          <a:ln w="0">
            <a:noFill/>
          </a:ln>
        </p:spPr>
      </p:pic>
      <p:sp>
        <p:nvSpPr>
          <p:cNvPr id="106" name=""/>
          <p:cNvSpPr/>
          <p:nvPr/>
        </p:nvSpPr>
        <p:spPr>
          <a:xfrm>
            <a:off x="64764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07" name=""/>
          <p:cNvSpPr/>
          <p:nvPr/>
        </p:nvSpPr>
        <p:spPr>
          <a:xfrm>
            <a:off x="64764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08" name=""/>
          <p:cNvSpPr txBox="1"/>
          <p:nvPr/>
        </p:nvSpPr>
        <p:spPr>
          <a:xfrm>
            <a:off x="85356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Nachweis lesen</a:t>
            </a:r>
            <a:endParaRPr b="0" lang="en-US" sz="2540" spc="-1" strike="noStrike">
              <a:solidFill>
                <a:srgbClr val="000000"/>
              </a:solidFill>
              <a:latin typeface="Arial"/>
            </a:endParaRPr>
          </a:p>
        </p:txBody>
      </p:sp>
      <p:sp>
        <p:nvSpPr>
          <p:cNvPr id="109" name=""/>
          <p:cNvSpPr txBox="1"/>
          <p:nvPr/>
        </p:nvSpPr>
        <p:spPr>
          <a:xfrm>
            <a:off x="85356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Record, Position und</a:t>
            </a:r>
            <a:endParaRPr b="0" lang="en-US" sz="2070" spc="-1" strike="noStrike">
              <a:solidFill>
                <a:srgbClr val="000000"/>
              </a:solidFill>
              <a:latin typeface="Arial"/>
            </a:endParaRPr>
          </a:p>
          <a:p>
            <a:r>
              <a:rPr b="0" lang="en-US" sz="2070" spc="-1" strike="noStrike">
                <a:solidFill>
                  <a:srgbClr val="000000"/>
                </a:solidFill>
                <a:latin typeface="Noto Sans"/>
              </a:rPr>
              <a:t>Unsicherheit trennen</a:t>
            </a:r>
            <a:endParaRPr b="0" lang="en-US" sz="2070" spc="-1" strike="noStrike">
              <a:solidFill>
                <a:srgbClr val="000000"/>
              </a:solidFill>
              <a:latin typeface="Arial"/>
            </a:endParaRPr>
          </a:p>
        </p:txBody>
      </p:sp>
      <p:sp>
        <p:nvSpPr>
          <p:cNvPr id="110" name=""/>
          <p:cNvSpPr/>
          <p:nvPr/>
        </p:nvSpPr>
        <p:spPr>
          <a:xfrm>
            <a:off x="434340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1" name=""/>
          <p:cNvSpPr/>
          <p:nvPr/>
        </p:nvSpPr>
        <p:spPr>
          <a:xfrm>
            <a:off x="434340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2" name=""/>
          <p:cNvSpPr txBox="1"/>
          <p:nvPr/>
        </p:nvSpPr>
        <p:spPr>
          <a:xfrm>
            <a:off x="454932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Qualität prüfen</a:t>
            </a:r>
            <a:endParaRPr b="0" lang="en-US" sz="2540" spc="-1" strike="noStrike">
              <a:solidFill>
                <a:srgbClr val="000000"/>
              </a:solidFill>
              <a:latin typeface="Arial"/>
            </a:endParaRPr>
          </a:p>
        </p:txBody>
      </p:sp>
      <p:sp>
        <p:nvSpPr>
          <p:cNvPr id="113" name=""/>
          <p:cNvSpPr txBox="1"/>
          <p:nvPr/>
        </p:nvSpPr>
        <p:spPr>
          <a:xfrm>
            <a:off x="454932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Regel anwenden und</a:t>
            </a:r>
            <a:endParaRPr b="0" lang="en-US" sz="2070" spc="-1" strike="noStrike">
              <a:solidFill>
                <a:srgbClr val="000000"/>
              </a:solidFill>
              <a:latin typeface="Arial"/>
            </a:endParaRPr>
          </a:p>
          <a:p>
            <a:r>
              <a:rPr b="0" lang="en-US" sz="2070" spc="-1" strike="noStrike">
                <a:solidFill>
                  <a:srgbClr val="000000"/>
                </a:solidFill>
                <a:latin typeface="Noto Sans"/>
              </a:rPr>
              <a:t>Ausnahmen dokumentieren</a:t>
            </a:r>
            <a:endParaRPr b="0" lang="en-US" sz="2070" spc="-1" strike="noStrike">
              <a:solidFill>
                <a:srgbClr val="000000"/>
              </a:solidFill>
              <a:latin typeface="Arial"/>
            </a:endParaRPr>
          </a:p>
        </p:txBody>
      </p:sp>
      <p:sp>
        <p:nvSpPr>
          <p:cNvPr id="114" name=""/>
          <p:cNvSpPr/>
          <p:nvPr/>
        </p:nvSpPr>
        <p:spPr>
          <a:xfrm>
            <a:off x="803916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5" name=""/>
          <p:cNvSpPr/>
          <p:nvPr/>
        </p:nvSpPr>
        <p:spPr>
          <a:xfrm>
            <a:off x="803916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6" name=""/>
          <p:cNvSpPr txBox="1"/>
          <p:nvPr/>
        </p:nvSpPr>
        <p:spPr>
          <a:xfrm>
            <a:off x="824508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Ergebnis sichern</a:t>
            </a:r>
            <a:endParaRPr b="0" lang="en-US" sz="2540" spc="-1" strike="noStrike">
              <a:solidFill>
                <a:srgbClr val="000000"/>
              </a:solidFill>
              <a:latin typeface="Arial"/>
            </a:endParaRPr>
          </a:p>
        </p:txBody>
      </p:sp>
      <p:sp>
        <p:nvSpPr>
          <p:cNvPr id="117" name=""/>
          <p:cNvSpPr txBox="1"/>
          <p:nvPr/>
        </p:nvSpPr>
        <p:spPr>
          <a:xfrm>
            <a:off x="824508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56 Punkte exportieren</a:t>
            </a:r>
            <a:endParaRPr b="0" lang="en-US" sz="2070" spc="-1" strike="noStrike">
              <a:solidFill>
                <a:srgbClr val="000000"/>
              </a:solidFill>
              <a:latin typeface="Arial"/>
            </a:endParaRPr>
          </a:p>
          <a:p>
            <a:r>
              <a:rPr b="0" lang="en-US" sz="2070" spc="-1" strike="noStrike">
                <a:solidFill>
                  <a:srgbClr val="000000"/>
                </a:solidFill>
                <a:latin typeface="Noto Sans"/>
              </a:rPr>
              <a:t>und dokumentieren</a:t>
            </a:r>
            <a:endParaRPr b="0" lang="en-US" sz="2070" spc="-1" strike="noStrike">
              <a:solidFill>
                <a:srgbClr val="000000"/>
              </a:solidFill>
              <a:latin typeface="Arial"/>
            </a:endParaRPr>
          </a:p>
        </p:txBody>
      </p:sp>
      <p:sp>
        <p:nvSpPr>
          <p:cNvPr id="11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9"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Verbindliches Ergebnis: unit11_results.gpkg · Layer gbif_checked</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 Punkt ist eine Repräsentation</a:t>
            </a:r>
            <a:endParaRPr b="0" lang="en-US" sz="3190" spc="-1" strike="noStrike">
              <a:solidFill>
                <a:srgbClr val="000000"/>
              </a:solidFill>
              <a:latin typeface="Arial"/>
            </a:endParaRPr>
          </a:p>
        </p:txBody>
      </p:sp>
      <p:sp>
        <p:nvSpPr>
          <p:cNvPr id="12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PUNKTDATEN · BEGRIFFE TRENNEN</a:t>
            </a:r>
            <a:endParaRPr b="0" lang="en-US" sz="1130" spc="-1" strike="noStrike">
              <a:solidFill>
                <a:srgbClr val="000000"/>
              </a:solidFill>
              <a:latin typeface="Arial"/>
            </a:endParaRPr>
          </a:p>
        </p:txBody>
      </p:sp>
      <p:sp>
        <p:nvSpPr>
          <p:cNvPr id="12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12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4</a:t>
            </a:r>
            <a:endParaRPr b="0" lang="en-US" sz="939" spc="-1" strike="noStrike">
              <a:solidFill>
                <a:srgbClr val="000000"/>
              </a:solidFill>
              <a:latin typeface="Arial"/>
            </a:endParaRPr>
          </a:p>
        </p:txBody>
      </p:sp>
      <p:pic>
        <p:nvPicPr>
          <p:cNvPr id="124" name="" descr="Ein Nachweis enthält Art, Zeitpunkt, Koordinate und Herkunft. Ein Punkt repräsentiert die gemeldete Koordinate; ein gestrichelter Kreis kennzeichnet separat ihre angegebene räumliche Unsicherheit. Zwei unterschiedlich große Symbole ändern weder die Koordinate noch deren Genauigkeit."/>
          <p:cNvPicPr/>
          <p:nvPr/>
        </p:nvPicPr>
        <p:blipFill>
          <a:blip r:embed="rId1">
            <a:extLst>
              <a:ext uri="{96DAC541-7B7A-43D3-8B79-37D633B846F1}">
                <asvg:svgBlip xmlns:asvg="http://schemas.microsoft.com/office/drawing/2016/SVG/main" r:embed="rId2"/>
              </a:ext>
            </a:extLst>
          </a:blip>
          <a:stretch/>
        </p:blipFill>
        <p:spPr>
          <a:xfrm>
            <a:off x="3695760" y="1638360"/>
            <a:ext cx="3924360" cy="4377960"/>
          </a:xfrm>
          <a:prstGeom prst="rect">
            <a:avLst/>
          </a:prstGeom>
          <a:ln w="0">
            <a:noFill/>
          </a:ln>
        </p:spPr>
      </p:pic>
      <p:sp>
        <p:nvSpPr>
          <p:cNvPr id="125" name=""/>
          <p:cNvSpPr txBox="1"/>
          <p:nvPr/>
        </p:nvSpPr>
        <p:spPr>
          <a:xfrm>
            <a:off x="8496360" y="2133720"/>
            <a:ext cx="2666880" cy="1828800"/>
          </a:xfrm>
          <a:prstGeom prst="rect">
            <a:avLst/>
          </a:prstGeom>
          <a:noFill/>
          <a:ln w="0">
            <a:noFill/>
          </a:ln>
        </p:spPr>
        <p:txBody>
          <a:bodyPr lIns="0" rIns="0" tIns="0" bIns="0" anchor="t">
            <a:noAutofit/>
          </a:bodyPr>
          <a:p>
            <a:pPr algn="ctr"/>
            <a:r>
              <a:rPr b="1" lang="en-US" sz="2720" spc="-1" strike="noStrike">
                <a:solidFill>
                  <a:srgbClr val="004899"/>
                </a:solidFill>
                <a:latin typeface="Noto Sans"/>
              </a:rPr>
              <a:t>Beobachtung</a:t>
            </a:r>
            <a:endParaRPr b="0" lang="en-US" sz="2720" spc="-1" strike="noStrike">
              <a:solidFill>
                <a:srgbClr val="000000"/>
              </a:solidFill>
              <a:latin typeface="Arial"/>
            </a:endParaRPr>
          </a:p>
          <a:p>
            <a:pPr algn="ctr"/>
            <a:r>
              <a:rPr b="1" lang="en-US" sz="2720" spc="-1" strike="noStrike">
                <a:solidFill>
                  <a:srgbClr val="004899"/>
                </a:solidFill>
                <a:latin typeface="Noto Sans"/>
              </a:rPr>
              <a:t>≠ </a:t>
            </a:r>
            <a:r>
              <a:rPr b="1" lang="en-US" sz="2720" spc="-1" strike="noStrike">
                <a:solidFill>
                  <a:srgbClr val="004899"/>
                </a:solidFill>
                <a:latin typeface="Noto Sans"/>
              </a:rPr>
              <a:t>Koordinate</a:t>
            </a:r>
            <a:endParaRPr b="0" lang="en-US" sz="2720" spc="-1" strike="noStrike">
              <a:solidFill>
                <a:srgbClr val="000000"/>
              </a:solidFill>
              <a:latin typeface="Arial"/>
            </a:endParaRPr>
          </a:p>
          <a:p>
            <a:pPr algn="ctr"/>
            <a:r>
              <a:rPr b="1" lang="en-US" sz="2720" spc="-1" strike="noStrike">
                <a:solidFill>
                  <a:srgbClr val="004899"/>
                </a:solidFill>
                <a:latin typeface="Noto Sans"/>
              </a:rPr>
              <a:t>≠ </a:t>
            </a:r>
            <a:r>
              <a:rPr b="1" lang="en-US" sz="2720" spc="-1" strike="noStrike">
                <a:solidFill>
                  <a:srgbClr val="004899"/>
                </a:solidFill>
                <a:latin typeface="Noto Sans"/>
              </a:rPr>
              <a:t>Punktsymbol</a:t>
            </a:r>
            <a:endParaRPr b="0" lang="en-US" sz="2720" spc="-1" strike="noStrike">
              <a:solidFill>
                <a:srgbClr val="000000"/>
              </a:solidFill>
              <a:latin typeface="Arial"/>
            </a:endParaRPr>
          </a:p>
        </p:txBody>
      </p:sp>
      <p:sp>
        <p:nvSpPr>
          <p:cNvPr id="126" name=""/>
          <p:cNvSpPr txBox="1"/>
          <p:nvPr/>
        </p:nvSpPr>
        <p:spPr>
          <a:xfrm>
            <a:off x="8496360" y="4305240"/>
            <a:ext cx="2666880" cy="952560"/>
          </a:xfrm>
          <a:prstGeom prst="rect">
            <a:avLst/>
          </a:prstGeom>
          <a:noFill/>
          <a:ln w="0">
            <a:noFill/>
          </a:ln>
        </p:spPr>
        <p:txBody>
          <a:bodyPr lIns="0" rIns="0" tIns="0" bIns="0" anchor="t">
            <a:noAutofit/>
          </a:bodyPr>
          <a:p>
            <a:pPr algn="ctr"/>
            <a:r>
              <a:rPr b="1" lang="en-US" sz="2450" spc="-1" strike="noStrike">
                <a:solidFill>
                  <a:srgbClr val="a32123"/>
                </a:solidFill>
                <a:latin typeface="Noto Sans"/>
              </a:rPr>
              <a:t>Unsicherheit</a:t>
            </a:r>
            <a:endParaRPr b="0" lang="en-US" sz="2450" spc="-1" strike="noStrike">
              <a:solidFill>
                <a:srgbClr val="000000"/>
              </a:solidFill>
              <a:latin typeface="Arial"/>
            </a:endParaRPr>
          </a:p>
          <a:p>
            <a:pPr algn="ctr"/>
            <a:r>
              <a:rPr b="1" lang="en-US" sz="2450" spc="-1" strike="noStrike">
                <a:solidFill>
                  <a:srgbClr val="a32123"/>
                </a:solidFill>
                <a:latin typeface="Noto Sans"/>
              </a:rPr>
              <a:t>≠ </a:t>
            </a:r>
            <a:r>
              <a:rPr b="1" lang="en-US" sz="2450" spc="-1" strike="noStrike">
                <a:solidFill>
                  <a:srgbClr val="a32123"/>
                </a:solidFill>
                <a:latin typeface="Noto Sans"/>
              </a:rPr>
              <a:t>Lebensraum</a:t>
            </a:r>
            <a:endParaRPr b="0" lang="en-US" sz="2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 Record ist nicht automatisch ein Tier</a:t>
            </a:r>
            <a:endParaRPr b="0" lang="en-US" sz="3190" spc="-1" strike="noStrike">
              <a:solidFill>
                <a:srgbClr val="000000"/>
              </a:solidFill>
              <a:latin typeface="Arial"/>
            </a:endParaRPr>
          </a:p>
        </p:txBody>
      </p:sp>
      <p:sp>
        <p:nvSpPr>
          <p:cNvPr id="12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PUNKTDATEN · DATENMODELL</a:t>
            </a:r>
            <a:endParaRPr b="0" lang="en-US" sz="1130" spc="-1" strike="noStrike">
              <a:solidFill>
                <a:srgbClr val="000000"/>
              </a:solidFill>
              <a:latin typeface="Arial"/>
            </a:endParaRPr>
          </a:p>
        </p:txBody>
      </p:sp>
      <p:sp>
        <p:nvSpPr>
          <p:cNvPr id="12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13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5</a:t>
            </a:r>
            <a:endParaRPr b="0" lang="en-US" sz="939" spc="-1" strike="noStrike">
              <a:solidFill>
                <a:srgbClr val="000000"/>
              </a:solidFill>
              <a:latin typeface="Arial"/>
            </a:endParaRPr>
          </a:p>
        </p:txBody>
      </p:sp>
      <p:sp>
        <p:nvSpPr>
          <p:cNvPr id="131" name=""/>
          <p:cNvSpPr/>
          <p:nvPr/>
        </p:nvSpPr>
        <p:spPr>
          <a:xfrm>
            <a:off x="647640" y="1981080"/>
            <a:ext cx="251460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2" name=""/>
          <p:cNvSpPr/>
          <p:nvPr/>
        </p:nvSpPr>
        <p:spPr>
          <a:xfrm>
            <a:off x="647640" y="1981080"/>
            <a:ext cx="53280" cy="2514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3" name=""/>
          <p:cNvSpPr txBox="1"/>
          <p:nvPr/>
        </p:nvSpPr>
        <p:spPr>
          <a:xfrm>
            <a:off x="853560" y="2163960"/>
            <a:ext cx="2103120" cy="647640"/>
          </a:xfrm>
          <a:prstGeom prst="rect">
            <a:avLst/>
          </a:prstGeom>
          <a:noFill/>
          <a:ln w="0">
            <a:noFill/>
          </a:ln>
        </p:spPr>
        <p:txBody>
          <a:bodyPr lIns="0" rIns="0" tIns="0" bIns="0" anchor="t">
            <a:noAutofit/>
          </a:bodyPr>
          <a:p>
            <a:r>
              <a:rPr b="1" lang="en-US" sz="2540" spc="-1" strike="noStrike">
                <a:solidFill>
                  <a:srgbClr val="004899"/>
                </a:solidFill>
                <a:latin typeface="Noto Sans"/>
              </a:rPr>
              <a:t>Ereignis</a:t>
            </a:r>
            <a:endParaRPr b="0" lang="en-US" sz="2540" spc="-1" strike="noStrike">
              <a:solidFill>
                <a:srgbClr val="000000"/>
              </a:solidFill>
              <a:latin typeface="Arial"/>
            </a:endParaRPr>
          </a:p>
        </p:txBody>
      </p:sp>
      <p:sp>
        <p:nvSpPr>
          <p:cNvPr id="134" name=""/>
          <p:cNvSpPr txBox="1"/>
          <p:nvPr/>
        </p:nvSpPr>
        <p:spPr>
          <a:xfrm>
            <a:off x="853560" y="2926080"/>
            <a:ext cx="2103120" cy="1432440"/>
          </a:xfrm>
          <a:prstGeom prst="rect">
            <a:avLst/>
          </a:prstGeom>
          <a:noFill/>
          <a:ln w="0">
            <a:noFill/>
          </a:ln>
        </p:spPr>
        <p:txBody>
          <a:bodyPr lIns="0" rIns="0" tIns="0" bIns="0" anchor="t">
            <a:noAutofit/>
          </a:bodyPr>
          <a:p>
            <a:r>
              <a:rPr b="0" lang="en-US" sz="1979" spc="-1" strike="noStrike">
                <a:solidFill>
                  <a:srgbClr val="000000"/>
                </a:solidFill>
                <a:latin typeface="Noto Sans"/>
              </a:rPr>
              <a:t>Ein Organismus wird</a:t>
            </a:r>
            <a:endParaRPr b="0" lang="en-US" sz="1979" spc="-1" strike="noStrike">
              <a:solidFill>
                <a:srgbClr val="000000"/>
              </a:solidFill>
              <a:latin typeface="Arial"/>
            </a:endParaRPr>
          </a:p>
          <a:p>
            <a:r>
              <a:rPr b="0" lang="en-US" sz="1979" spc="-1" strike="noStrike">
                <a:solidFill>
                  <a:srgbClr val="000000"/>
                </a:solidFill>
                <a:latin typeface="Noto Sans"/>
              </a:rPr>
              <a:t>erfasst oder belegt.</a:t>
            </a:r>
            <a:endParaRPr b="0" lang="en-US" sz="1979" spc="-1" strike="noStrike">
              <a:solidFill>
                <a:srgbClr val="000000"/>
              </a:solidFill>
              <a:latin typeface="Arial"/>
            </a:endParaRPr>
          </a:p>
        </p:txBody>
      </p:sp>
      <p:sp>
        <p:nvSpPr>
          <p:cNvPr id="135" name=""/>
          <p:cNvSpPr/>
          <p:nvPr/>
        </p:nvSpPr>
        <p:spPr>
          <a:xfrm>
            <a:off x="3467160" y="1981080"/>
            <a:ext cx="251460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6" name=""/>
          <p:cNvSpPr/>
          <p:nvPr/>
        </p:nvSpPr>
        <p:spPr>
          <a:xfrm>
            <a:off x="3467160" y="1981080"/>
            <a:ext cx="53280" cy="2514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7" name=""/>
          <p:cNvSpPr txBox="1"/>
          <p:nvPr/>
        </p:nvSpPr>
        <p:spPr>
          <a:xfrm>
            <a:off x="3672720" y="2163960"/>
            <a:ext cx="2103120" cy="647640"/>
          </a:xfrm>
          <a:prstGeom prst="rect">
            <a:avLst/>
          </a:prstGeom>
          <a:noFill/>
          <a:ln w="0">
            <a:noFill/>
          </a:ln>
        </p:spPr>
        <p:txBody>
          <a:bodyPr lIns="0" rIns="0" tIns="0" bIns="0" anchor="t">
            <a:noAutofit/>
          </a:bodyPr>
          <a:p>
            <a:r>
              <a:rPr b="1" lang="en-US" sz="2540" spc="-1" strike="noStrike">
                <a:solidFill>
                  <a:srgbClr val="004899"/>
                </a:solidFill>
                <a:latin typeface="Noto Sans"/>
              </a:rPr>
              <a:t>Record</a:t>
            </a:r>
            <a:endParaRPr b="0" lang="en-US" sz="2540" spc="-1" strike="noStrike">
              <a:solidFill>
                <a:srgbClr val="000000"/>
              </a:solidFill>
              <a:latin typeface="Arial"/>
            </a:endParaRPr>
          </a:p>
        </p:txBody>
      </p:sp>
      <p:sp>
        <p:nvSpPr>
          <p:cNvPr id="138" name=""/>
          <p:cNvSpPr txBox="1"/>
          <p:nvPr/>
        </p:nvSpPr>
        <p:spPr>
          <a:xfrm>
            <a:off x="3672720" y="2926080"/>
            <a:ext cx="2103120" cy="1432440"/>
          </a:xfrm>
          <a:prstGeom prst="rect">
            <a:avLst/>
          </a:prstGeom>
          <a:noFill/>
          <a:ln w="0">
            <a:noFill/>
          </a:ln>
        </p:spPr>
        <p:txBody>
          <a:bodyPr lIns="0" rIns="0" tIns="0" bIns="0" anchor="t">
            <a:noAutofit/>
          </a:bodyPr>
          <a:p>
            <a:r>
              <a:rPr b="0" lang="en-US" sz="1979" spc="-1" strike="noStrike">
                <a:solidFill>
                  <a:srgbClr val="000000"/>
                </a:solidFill>
                <a:latin typeface="Noto Sans"/>
              </a:rPr>
              <a:t>Eine Zeile hält Angaben</a:t>
            </a:r>
            <a:endParaRPr b="0" lang="en-US" sz="1979" spc="-1" strike="noStrike">
              <a:solidFill>
                <a:srgbClr val="000000"/>
              </a:solidFill>
              <a:latin typeface="Arial"/>
            </a:endParaRPr>
          </a:p>
          <a:p>
            <a:r>
              <a:rPr b="0" lang="en-US" sz="1979" spc="-1" strike="noStrike">
                <a:solidFill>
                  <a:srgbClr val="000000"/>
                </a:solidFill>
                <a:latin typeface="Noto Sans"/>
              </a:rPr>
              <a:t>zum Nachweis fest.</a:t>
            </a:r>
            <a:endParaRPr b="0" lang="en-US" sz="1979" spc="-1" strike="noStrike">
              <a:solidFill>
                <a:srgbClr val="000000"/>
              </a:solidFill>
              <a:latin typeface="Arial"/>
            </a:endParaRPr>
          </a:p>
        </p:txBody>
      </p:sp>
      <p:sp>
        <p:nvSpPr>
          <p:cNvPr id="139" name=""/>
          <p:cNvSpPr/>
          <p:nvPr/>
        </p:nvSpPr>
        <p:spPr>
          <a:xfrm>
            <a:off x="6286680" y="1981080"/>
            <a:ext cx="251460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0" name=""/>
          <p:cNvSpPr/>
          <p:nvPr/>
        </p:nvSpPr>
        <p:spPr>
          <a:xfrm>
            <a:off x="6286680" y="1981080"/>
            <a:ext cx="53280" cy="2514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41" name=""/>
          <p:cNvSpPr txBox="1"/>
          <p:nvPr/>
        </p:nvSpPr>
        <p:spPr>
          <a:xfrm>
            <a:off x="6492240" y="2163960"/>
            <a:ext cx="2103120" cy="647640"/>
          </a:xfrm>
          <a:prstGeom prst="rect">
            <a:avLst/>
          </a:prstGeom>
          <a:noFill/>
          <a:ln w="0">
            <a:noFill/>
          </a:ln>
        </p:spPr>
        <p:txBody>
          <a:bodyPr lIns="0" rIns="0" tIns="0" bIns="0" anchor="t">
            <a:noAutofit/>
          </a:bodyPr>
          <a:p>
            <a:r>
              <a:rPr b="1" lang="en-US" sz="2540" spc="-1" strike="noStrike">
                <a:solidFill>
                  <a:srgbClr val="004899"/>
                </a:solidFill>
                <a:latin typeface="Noto Sans"/>
              </a:rPr>
              <a:t>Feature</a:t>
            </a:r>
            <a:endParaRPr b="0" lang="en-US" sz="2540" spc="-1" strike="noStrike">
              <a:solidFill>
                <a:srgbClr val="000000"/>
              </a:solidFill>
              <a:latin typeface="Arial"/>
            </a:endParaRPr>
          </a:p>
        </p:txBody>
      </p:sp>
      <p:sp>
        <p:nvSpPr>
          <p:cNvPr id="142" name=""/>
          <p:cNvSpPr txBox="1"/>
          <p:nvPr/>
        </p:nvSpPr>
        <p:spPr>
          <a:xfrm>
            <a:off x="6492240" y="2926080"/>
            <a:ext cx="2103120" cy="1432440"/>
          </a:xfrm>
          <a:prstGeom prst="rect">
            <a:avLst/>
          </a:prstGeom>
          <a:noFill/>
          <a:ln w="0">
            <a:noFill/>
          </a:ln>
        </p:spPr>
        <p:txBody>
          <a:bodyPr lIns="0" rIns="0" tIns="0" bIns="0" anchor="t">
            <a:noAutofit/>
          </a:bodyPr>
          <a:p>
            <a:r>
              <a:rPr b="0" lang="en-US" sz="1979" spc="-1" strike="noStrike">
                <a:solidFill>
                  <a:srgbClr val="000000"/>
                </a:solidFill>
                <a:latin typeface="Noto Sans"/>
              </a:rPr>
              <a:t>Koordinaten werden als</a:t>
            </a:r>
            <a:endParaRPr b="0" lang="en-US" sz="1979" spc="-1" strike="noStrike">
              <a:solidFill>
                <a:srgbClr val="000000"/>
              </a:solidFill>
              <a:latin typeface="Arial"/>
            </a:endParaRPr>
          </a:p>
          <a:p>
            <a:r>
              <a:rPr b="0" lang="en-US" sz="1979" spc="-1" strike="noStrike">
                <a:solidFill>
                  <a:srgbClr val="000000"/>
                </a:solidFill>
                <a:latin typeface="Noto Sans"/>
              </a:rPr>
              <a:t>Geometrie interpretiert.</a:t>
            </a:r>
            <a:endParaRPr b="0" lang="en-US" sz="1979" spc="-1" strike="noStrike">
              <a:solidFill>
                <a:srgbClr val="000000"/>
              </a:solidFill>
              <a:latin typeface="Arial"/>
            </a:endParaRPr>
          </a:p>
        </p:txBody>
      </p:sp>
      <p:sp>
        <p:nvSpPr>
          <p:cNvPr id="143" name=""/>
          <p:cNvSpPr/>
          <p:nvPr/>
        </p:nvSpPr>
        <p:spPr>
          <a:xfrm>
            <a:off x="9105840" y="1981080"/>
            <a:ext cx="251460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4" name=""/>
          <p:cNvSpPr/>
          <p:nvPr/>
        </p:nvSpPr>
        <p:spPr>
          <a:xfrm>
            <a:off x="9105840" y="1981080"/>
            <a:ext cx="53280" cy="2514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45" name=""/>
          <p:cNvSpPr txBox="1"/>
          <p:nvPr/>
        </p:nvSpPr>
        <p:spPr>
          <a:xfrm>
            <a:off x="9311760" y="2163960"/>
            <a:ext cx="2103120" cy="647640"/>
          </a:xfrm>
          <a:prstGeom prst="rect">
            <a:avLst/>
          </a:prstGeom>
          <a:noFill/>
          <a:ln w="0">
            <a:noFill/>
          </a:ln>
        </p:spPr>
        <p:txBody>
          <a:bodyPr lIns="0" rIns="0" tIns="0" bIns="0" anchor="t">
            <a:noAutofit/>
          </a:bodyPr>
          <a:p>
            <a:r>
              <a:rPr b="1" lang="en-US" sz="2540" spc="-1" strike="noStrike">
                <a:solidFill>
                  <a:srgbClr val="004899"/>
                </a:solidFill>
                <a:latin typeface="Noto Sans"/>
              </a:rPr>
              <a:t>Symbol</a:t>
            </a:r>
            <a:endParaRPr b="0" lang="en-US" sz="2540" spc="-1" strike="noStrike">
              <a:solidFill>
                <a:srgbClr val="000000"/>
              </a:solidFill>
              <a:latin typeface="Arial"/>
            </a:endParaRPr>
          </a:p>
        </p:txBody>
      </p:sp>
      <p:sp>
        <p:nvSpPr>
          <p:cNvPr id="146" name=""/>
          <p:cNvSpPr txBox="1"/>
          <p:nvPr/>
        </p:nvSpPr>
        <p:spPr>
          <a:xfrm>
            <a:off x="9311760" y="2926080"/>
            <a:ext cx="2103120" cy="1432440"/>
          </a:xfrm>
          <a:prstGeom prst="rect">
            <a:avLst/>
          </a:prstGeom>
          <a:noFill/>
          <a:ln w="0">
            <a:noFill/>
          </a:ln>
        </p:spPr>
        <p:txBody>
          <a:bodyPr lIns="0" rIns="0" tIns="0" bIns="0" anchor="t">
            <a:noAutofit/>
          </a:bodyPr>
          <a:p>
            <a:r>
              <a:rPr b="0" lang="en-US" sz="1979" spc="-1" strike="noStrike">
                <a:solidFill>
                  <a:srgbClr val="000000"/>
                </a:solidFill>
                <a:latin typeface="Noto Sans"/>
              </a:rPr>
              <a:t>Darstellung mit Farbe</a:t>
            </a:r>
            <a:endParaRPr b="0" lang="en-US" sz="1979" spc="-1" strike="noStrike">
              <a:solidFill>
                <a:srgbClr val="000000"/>
              </a:solidFill>
              <a:latin typeface="Arial"/>
            </a:endParaRPr>
          </a:p>
          <a:p>
            <a:r>
              <a:rPr b="0" lang="en-US" sz="1979" spc="-1" strike="noStrike">
                <a:solidFill>
                  <a:srgbClr val="000000"/>
                </a:solidFill>
                <a:latin typeface="Noto Sans"/>
              </a:rPr>
              <a:t>und sichtbarer Größe.</a:t>
            </a:r>
            <a:endParaRPr b="0" lang="en-US" sz="1979" spc="-1" strike="noStrike">
              <a:solidFill>
                <a:srgbClr val="000000"/>
              </a:solidFill>
              <a:latin typeface="Arial"/>
            </a:endParaRPr>
          </a:p>
        </p:txBody>
      </p:sp>
      <p:sp>
        <p:nvSpPr>
          <p:cNvPr id="14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8"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Prüffrage: Was ist hier gezählt – Individuen, Ereignisse oder Records?</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Drei Records können wie zwei Punkte aussehen</a:t>
            </a:r>
            <a:endParaRPr b="0" lang="en-US" sz="3190" spc="-1" strike="noStrike">
              <a:solidFill>
                <a:srgbClr val="000000"/>
              </a:solidFill>
              <a:latin typeface="Arial"/>
            </a:endParaRPr>
          </a:p>
        </p:txBody>
      </p:sp>
      <p:sp>
        <p:nvSpPr>
          <p:cNvPr id="15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PUNKTDATEN · ÜBERLAGERUNG</a:t>
            </a:r>
            <a:endParaRPr b="0" lang="en-US" sz="1130" spc="-1" strike="noStrike">
              <a:solidFill>
                <a:srgbClr val="000000"/>
              </a:solidFill>
              <a:latin typeface="Arial"/>
            </a:endParaRPr>
          </a:p>
        </p:txBody>
      </p:sp>
      <p:sp>
        <p:nvSpPr>
          <p:cNvPr id="15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15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6</a:t>
            </a:r>
            <a:endParaRPr b="0" lang="en-US" sz="939" spc="-1" strike="noStrike">
              <a:solidFill>
                <a:srgbClr val="000000"/>
              </a:solidFill>
              <a:latin typeface="Arial"/>
            </a:endParaRPr>
          </a:p>
        </p:txBody>
      </p:sp>
      <p:pic>
        <p:nvPicPr>
          <p:cNvPr id="153" name="" descr="Beispielrecords A und B besitzen dieselbe Position, aber unterschiedliche Termine. C liegt an einer zweiten Position. Drei Features können daher als zwei sichtbare Symbole erscheinen."/>
          <p:cNvPicPr/>
          <p:nvPr/>
        </p:nvPicPr>
        <p:blipFill>
          <a:blip r:embed="rId1">
            <a:extLst>
              <a:ext uri="{96DAC541-7B7A-43D3-8B79-37D633B846F1}">
                <asvg:svgBlip xmlns:asvg="http://schemas.microsoft.com/office/drawing/2016/SVG/main" r:embed="rId2"/>
              </a:ext>
            </a:extLst>
          </a:blip>
          <a:stretch/>
        </p:blipFill>
        <p:spPr>
          <a:xfrm>
            <a:off x="3276720" y="1638360"/>
            <a:ext cx="3772080" cy="4420080"/>
          </a:xfrm>
          <a:prstGeom prst="rect">
            <a:avLst/>
          </a:prstGeom>
          <a:ln w="0">
            <a:noFill/>
          </a:ln>
        </p:spPr>
      </p:pic>
      <p:sp>
        <p:nvSpPr>
          <p:cNvPr id="154" name=""/>
          <p:cNvSpPr/>
          <p:nvPr/>
        </p:nvSpPr>
        <p:spPr>
          <a:xfrm>
            <a:off x="7543800" y="2133720"/>
            <a:ext cx="3581280" cy="13334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55" name=""/>
          <p:cNvSpPr/>
          <p:nvPr/>
        </p:nvSpPr>
        <p:spPr>
          <a:xfrm>
            <a:off x="7543800" y="2133720"/>
            <a:ext cx="53280" cy="13334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56" name=""/>
          <p:cNvSpPr txBox="1"/>
          <p:nvPr/>
        </p:nvSpPr>
        <p:spPr>
          <a:xfrm>
            <a:off x="7749720" y="2316600"/>
            <a:ext cx="3169800" cy="647640"/>
          </a:xfrm>
          <a:prstGeom prst="rect">
            <a:avLst/>
          </a:prstGeom>
          <a:noFill/>
          <a:ln w="0">
            <a:noFill/>
          </a:ln>
        </p:spPr>
        <p:txBody>
          <a:bodyPr lIns="0" rIns="0" tIns="0" bIns="0" anchor="t">
            <a:noAutofit/>
          </a:bodyPr>
          <a:p>
            <a:r>
              <a:rPr b="1" lang="en-US" sz="2540" spc="-1" strike="noStrike">
                <a:solidFill>
                  <a:srgbClr val="004899"/>
                </a:solidFill>
                <a:latin typeface="Noto Sans"/>
              </a:rPr>
              <a:t>Karte</a:t>
            </a:r>
            <a:endParaRPr b="0" lang="en-US" sz="2540" spc="-1" strike="noStrike">
              <a:solidFill>
                <a:srgbClr val="000000"/>
              </a:solidFill>
              <a:latin typeface="Arial"/>
            </a:endParaRPr>
          </a:p>
        </p:txBody>
      </p:sp>
      <p:sp>
        <p:nvSpPr>
          <p:cNvPr id="157" name=""/>
          <p:cNvSpPr txBox="1"/>
          <p:nvPr/>
        </p:nvSpPr>
        <p:spPr>
          <a:xfrm>
            <a:off x="7749720" y="2895480"/>
            <a:ext cx="3169800" cy="434520"/>
          </a:xfrm>
          <a:prstGeom prst="rect">
            <a:avLst/>
          </a:prstGeom>
          <a:noFill/>
          <a:ln w="0">
            <a:noFill/>
          </a:ln>
        </p:spPr>
        <p:txBody>
          <a:bodyPr lIns="0" rIns="0" tIns="0" bIns="0" anchor="t">
            <a:noAutofit/>
          </a:bodyPr>
          <a:p>
            <a:r>
              <a:rPr b="0" lang="en-US" sz="2070" spc="-1" strike="noStrike">
                <a:solidFill>
                  <a:srgbClr val="000000"/>
                </a:solidFill>
                <a:latin typeface="Noto Sans"/>
              </a:rPr>
              <a:t>zwei sichtbare Positionen</a:t>
            </a:r>
            <a:endParaRPr b="0" lang="en-US" sz="2070" spc="-1" strike="noStrike">
              <a:solidFill>
                <a:srgbClr val="000000"/>
              </a:solidFill>
              <a:latin typeface="Arial"/>
            </a:endParaRPr>
          </a:p>
        </p:txBody>
      </p:sp>
      <p:sp>
        <p:nvSpPr>
          <p:cNvPr id="158" name=""/>
          <p:cNvSpPr/>
          <p:nvPr/>
        </p:nvSpPr>
        <p:spPr>
          <a:xfrm>
            <a:off x="7543800" y="3809880"/>
            <a:ext cx="3581280" cy="13334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59" name=""/>
          <p:cNvSpPr/>
          <p:nvPr/>
        </p:nvSpPr>
        <p:spPr>
          <a:xfrm>
            <a:off x="7543800" y="3809880"/>
            <a:ext cx="53280" cy="133344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60" name=""/>
          <p:cNvSpPr txBox="1"/>
          <p:nvPr/>
        </p:nvSpPr>
        <p:spPr>
          <a:xfrm>
            <a:off x="7749720" y="3992760"/>
            <a:ext cx="3169800" cy="647640"/>
          </a:xfrm>
          <a:prstGeom prst="rect">
            <a:avLst/>
          </a:prstGeom>
          <a:noFill/>
          <a:ln w="0">
            <a:noFill/>
          </a:ln>
        </p:spPr>
        <p:txBody>
          <a:bodyPr lIns="0" rIns="0" tIns="0" bIns="0" anchor="t">
            <a:noAutofit/>
          </a:bodyPr>
          <a:p>
            <a:r>
              <a:rPr b="1" lang="en-US" sz="2540" spc="-1" strike="noStrike">
                <a:solidFill>
                  <a:srgbClr val="a32123"/>
                </a:solidFill>
                <a:latin typeface="Noto Sans"/>
              </a:rPr>
              <a:t>Tabelle</a:t>
            </a:r>
            <a:endParaRPr b="0" lang="en-US" sz="2540" spc="-1" strike="noStrike">
              <a:solidFill>
                <a:srgbClr val="000000"/>
              </a:solidFill>
              <a:latin typeface="Arial"/>
            </a:endParaRPr>
          </a:p>
        </p:txBody>
      </p:sp>
      <p:sp>
        <p:nvSpPr>
          <p:cNvPr id="161" name=""/>
          <p:cNvSpPr txBox="1"/>
          <p:nvPr/>
        </p:nvSpPr>
        <p:spPr>
          <a:xfrm>
            <a:off x="7749720" y="4572000"/>
            <a:ext cx="3169800" cy="434520"/>
          </a:xfrm>
          <a:prstGeom prst="rect">
            <a:avLst/>
          </a:prstGeom>
          <a:noFill/>
          <a:ln w="0">
            <a:noFill/>
          </a:ln>
        </p:spPr>
        <p:txBody>
          <a:bodyPr lIns="0" rIns="0" tIns="0" bIns="0" anchor="t">
            <a:noAutofit/>
          </a:bodyPr>
          <a:p>
            <a:r>
              <a:rPr b="0" lang="en-US" sz="2070" spc="-1" strike="noStrike">
                <a:solidFill>
                  <a:srgbClr val="000000"/>
                </a:solidFill>
                <a:latin typeface="Noto Sans"/>
              </a:rPr>
              <a:t>drei unterscheidbare Records</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Was dokumentiert ein GBIF Occurrence Record?</a:t>
            </a:r>
            <a:endParaRPr b="0" lang="en-US" sz="3190" spc="-1" strike="noStrike">
              <a:solidFill>
                <a:srgbClr val="000000"/>
              </a:solidFill>
              <a:latin typeface="Arial"/>
            </a:endParaRPr>
          </a:p>
        </p:txBody>
      </p:sp>
      <p:sp>
        <p:nvSpPr>
          <p:cNvPr id="16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GBIF · BEDEUTUNG</a:t>
            </a:r>
            <a:endParaRPr b="0" lang="en-US" sz="1130" spc="-1" strike="noStrike">
              <a:solidFill>
                <a:srgbClr val="000000"/>
              </a:solidFill>
              <a:latin typeface="Arial"/>
            </a:endParaRPr>
          </a:p>
        </p:txBody>
      </p:sp>
      <p:sp>
        <p:nvSpPr>
          <p:cNvPr id="16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16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7</a:t>
            </a:r>
            <a:endParaRPr b="0" lang="en-US" sz="939" spc="-1" strike="noStrike">
              <a:solidFill>
                <a:srgbClr val="000000"/>
              </a:solidFill>
              <a:latin typeface="Arial"/>
            </a:endParaRPr>
          </a:p>
        </p:txBody>
      </p:sp>
      <p:sp>
        <p:nvSpPr>
          <p:cNvPr id="166" name=""/>
          <p:cNvSpPr/>
          <p:nvPr/>
        </p:nvSpPr>
        <p:spPr>
          <a:xfrm>
            <a:off x="647640" y="1866960"/>
            <a:ext cx="2949120" cy="7088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67" name=""/>
          <p:cNvSpPr txBox="1"/>
          <p:nvPr/>
        </p:nvSpPr>
        <p:spPr>
          <a:xfrm>
            <a:off x="784800" y="1996560"/>
            <a:ext cx="2697480" cy="579240"/>
          </a:xfrm>
          <a:prstGeom prst="rect">
            <a:avLst/>
          </a:prstGeom>
          <a:noFill/>
          <a:ln w="0">
            <a:noFill/>
          </a:ln>
        </p:spPr>
        <p:txBody>
          <a:bodyPr lIns="0" rIns="0" tIns="0" bIns="0" anchor="t">
            <a:noAutofit/>
          </a:bodyPr>
          <a:p>
            <a:r>
              <a:rPr b="1" lang="en-US" sz="2160" spc="-1" strike="noStrike">
                <a:solidFill>
                  <a:srgbClr val="ffffff"/>
                </a:solidFill>
                <a:latin typeface="Noto Sans"/>
              </a:rPr>
              <a:t>Ebene</a:t>
            </a:r>
            <a:endParaRPr b="0" lang="en-US" sz="2160" spc="-1" strike="noStrike">
              <a:solidFill>
                <a:srgbClr val="000000"/>
              </a:solidFill>
              <a:latin typeface="Arial"/>
            </a:endParaRPr>
          </a:p>
        </p:txBody>
      </p:sp>
      <p:sp>
        <p:nvSpPr>
          <p:cNvPr id="168" name=""/>
          <p:cNvSpPr/>
          <p:nvPr/>
        </p:nvSpPr>
        <p:spPr>
          <a:xfrm>
            <a:off x="3619440" y="1866960"/>
            <a:ext cx="7902000" cy="7088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69" name=""/>
          <p:cNvSpPr txBox="1"/>
          <p:nvPr/>
        </p:nvSpPr>
        <p:spPr>
          <a:xfrm>
            <a:off x="3756600" y="1996560"/>
            <a:ext cx="7650720" cy="579240"/>
          </a:xfrm>
          <a:prstGeom prst="rect">
            <a:avLst/>
          </a:prstGeom>
          <a:noFill/>
          <a:ln w="0">
            <a:noFill/>
          </a:ln>
        </p:spPr>
        <p:txBody>
          <a:bodyPr lIns="0" rIns="0" tIns="0" bIns="0" anchor="t">
            <a:noAutofit/>
          </a:bodyPr>
          <a:p>
            <a:r>
              <a:rPr b="1" lang="en-US" sz="2160" spc="-1" strike="noStrike">
                <a:solidFill>
                  <a:srgbClr val="ffffff"/>
                </a:solidFill>
                <a:latin typeface="Noto Sans"/>
              </a:rPr>
              <a:t>Frage</a:t>
            </a:r>
            <a:endParaRPr b="0" lang="en-US" sz="2160" spc="-1" strike="noStrike">
              <a:solidFill>
                <a:srgbClr val="000000"/>
              </a:solidFill>
              <a:latin typeface="Arial"/>
            </a:endParaRPr>
          </a:p>
        </p:txBody>
      </p:sp>
      <p:sp>
        <p:nvSpPr>
          <p:cNvPr id="170" name=""/>
          <p:cNvSpPr/>
          <p:nvPr/>
        </p:nvSpPr>
        <p:spPr>
          <a:xfrm>
            <a:off x="647640" y="2598480"/>
            <a:ext cx="2949120" cy="708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1" name=""/>
          <p:cNvSpPr txBox="1"/>
          <p:nvPr/>
        </p:nvSpPr>
        <p:spPr>
          <a:xfrm>
            <a:off x="784800" y="2728080"/>
            <a:ext cx="2697480" cy="579240"/>
          </a:xfrm>
          <a:prstGeom prst="rect">
            <a:avLst/>
          </a:prstGeom>
          <a:noFill/>
          <a:ln w="0">
            <a:noFill/>
          </a:ln>
        </p:spPr>
        <p:txBody>
          <a:bodyPr lIns="0" rIns="0" tIns="0" bIns="0" anchor="t">
            <a:noAutofit/>
          </a:bodyPr>
          <a:p>
            <a:r>
              <a:rPr b="0" lang="en-US" sz="2160" spc="-1" strike="noStrike">
                <a:solidFill>
                  <a:srgbClr val="000000"/>
                </a:solidFill>
                <a:latin typeface="Noto Sans"/>
              </a:rPr>
              <a:t>Record</a:t>
            </a:r>
            <a:endParaRPr b="0" lang="en-US" sz="2160" spc="-1" strike="noStrike">
              <a:solidFill>
                <a:srgbClr val="000000"/>
              </a:solidFill>
              <a:latin typeface="Arial"/>
            </a:endParaRPr>
          </a:p>
        </p:txBody>
      </p:sp>
      <p:sp>
        <p:nvSpPr>
          <p:cNvPr id="172" name=""/>
          <p:cNvSpPr/>
          <p:nvPr/>
        </p:nvSpPr>
        <p:spPr>
          <a:xfrm>
            <a:off x="3619440" y="2598480"/>
            <a:ext cx="7902000" cy="708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3" name=""/>
          <p:cNvSpPr txBox="1"/>
          <p:nvPr/>
        </p:nvSpPr>
        <p:spPr>
          <a:xfrm>
            <a:off x="3756600" y="2728080"/>
            <a:ext cx="7650720" cy="579240"/>
          </a:xfrm>
          <a:prstGeom prst="rect">
            <a:avLst/>
          </a:prstGeom>
          <a:noFill/>
          <a:ln w="0">
            <a:noFill/>
          </a:ln>
        </p:spPr>
        <p:txBody>
          <a:bodyPr lIns="0" rIns="0" tIns="0" bIns="0" anchor="t">
            <a:noAutofit/>
          </a:bodyPr>
          <a:p>
            <a:r>
              <a:rPr b="0" lang="en-US" sz="2160" spc="-1" strike="noStrike">
                <a:solidFill>
                  <a:srgbClr val="000000"/>
                </a:solidFill>
                <a:latin typeface="Noto Sans"/>
              </a:rPr>
              <a:t>Welcher Nachweis wird dokumentiert?</a:t>
            </a:r>
            <a:endParaRPr b="0" lang="en-US" sz="2160" spc="-1" strike="noStrike">
              <a:solidFill>
                <a:srgbClr val="000000"/>
              </a:solidFill>
              <a:latin typeface="Arial"/>
            </a:endParaRPr>
          </a:p>
        </p:txBody>
      </p:sp>
      <p:sp>
        <p:nvSpPr>
          <p:cNvPr id="174" name=""/>
          <p:cNvSpPr/>
          <p:nvPr/>
        </p:nvSpPr>
        <p:spPr>
          <a:xfrm>
            <a:off x="647640" y="3330000"/>
            <a:ext cx="2949120" cy="708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5" name=""/>
          <p:cNvSpPr txBox="1"/>
          <p:nvPr/>
        </p:nvSpPr>
        <p:spPr>
          <a:xfrm>
            <a:off x="784800" y="3459600"/>
            <a:ext cx="2697480" cy="579240"/>
          </a:xfrm>
          <a:prstGeom prst="rect">
            <a:avLst/>
          </a:prstGeom>
          <a:noFill/>
          <a:ln w="0">
            <a:noFill/>
          </a:ln>
        </p:spPr>
        <p:txBody>
          <a:bodyPr lIns="0" rIns="0" tIns="0" bIns="0" anchor="t">
            <a:noAutofit/>
          </a:bodyPr>
          <a:p>
            <a:r>
              <a:rPr b="0" lang="en-US" sz="2160" spc="-1" strike="noStrike">
                <a:solidFill>
                  <a:srgbClr val="000000"/>
                </a:solidFill>
                <a:latin typeface="Noto Sans"/>
              </a:rPr>
              <a:t>Datensatz</a:t>
            </a:r>
            <a:endParaRPr b="0" lang="en-US" sz="2160" spc="-1" strike="noStrike">
              <a:solidFill>
                <a:srgbClr val="000000"/>
              </a:solidFill>
              <a:latin typeface="Arial"/>
            </a:endParaRPr>
          </a:p>
        </p:txBody>
      </p:sp>
      <p:sp>
        <p:nvSpPr>
          <p:cNvPr id="176" name=""/>
          <p:cNvSpPr/>
          <p:nvPr/>
        </p:nvSpPr>
        <p:spPr>
          <a:xfrm>
            <a:off x="3619440" y="3330000"/>
            <a:ext cx="7902000" cy="708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7" name=""/>
          <p:cNvSpPr txBox="1"/>
          <p:nvPr/>
        </p:nvSpPr>
        <p:spPr>
          <a:xfrm>
            <a:off x="3756600" y="3459600"/>
            <a:ext cx="7650720" cy="579240"/>
          </a:xfrm>
          <a:prstGeom prst="rect">
            <a:avLst/>
          </a:prstGeom>
          <a:noFill/>
          <a:ln w="0">
            <a:noFill/>
          </a:ln>
        </p:spPr>
        <p:txBody>
          <a:bodyPr lIns="0" rIns="0" tIns="0" bIns="0" anchor="t">
            <a:noAutofit/>
          </a:bodyPr>
          <a:p>
            <a:r>
              <a:rPr b="0" lang="en-US" sz="2160" spc="-1" strike="noStrike">
                <a:solidFill>
                  <a:srgbClr val="000000"/>
                </a:solidFill>
                <a:latin typeface="Noto Sans"/>
              </a:rPr>
              <a:t>Zu welcher Veröffentlichung gehört er?</a:t>
            </a:r>
            <a:endParaRPr b="0" lang="en-US" sz="2160" spc="-1" strike="noStrike">
              <a:solidFill>
                <a:srgbClr val="000000"/>
              </a:solidFill>
              <a:latin typeface="Arial"/>
            </a:endParaRPr>
          </a:p>
        </p:txBody>
      </p:sp>
      <p:sp>
        <p:nvSpPr>
          <p:cNvPr id="178" name=""/>
          <p:cNvSpPr/>
          <p:nvPr/>
        </p:nvSpPr>
        <p:spPr>
          <a:xfrm>
            <a:off x="647640" y="4061520"/>
            <a:ext cx="2949120" cy="708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9" name=""/>
          <p:cNvSpPr txBox="1"/>
          <p:nvPr/>
        </p:nvSpPr>
        <p:spPr>
          <a:xfrm>
            <a:off x="784800" y="4191120"/>
            <a:ext cx="2697480" cy="579240"/>
          </a:xfrm>
          <a:prstGeom prst="rect">
            <a:avLst/>
          </a:prstGeom>
          <a:noFill/>
          <a:ln w="0">
            <a:noFill/>
          </a:ln>
        </p:spPr>
        <p:txBody>
          <a:bodyPr lIns="0" rIns="0" tIns="0" bIns="0" anchor="t">
            <a:noAutofit/>
          </a:bodyPr>
          <a:p>
            <a:r>
              <a:rPr b="0" lang="en-US" sz="2160" spc="-1" strike="noStrike">
                <a:solidFill>
                  <a:srgbClr val="000000"/>
                </a:solidFill>
                <a:latin typeface="Noto Sans"/>
              </a:rPr>
              <a:t>Herausgeber</a:t>
            </a:r>
            <a:endParaRPr b="0" lang="en-US" sz="2160" spc="-1" strike="noStrike">
              <a:solidFill>
                <a:srgbClr val="000000"/>
              </a:solidFill>
              <a:latin typeface="Arial"/>
            </a:endParaRPr>
          </a:p>
        </p:txBody>
      </p:sp>
      <p:sp>
        <p:nvSpPr>
          <p:cNvPr id="180" name=""/>
          <p:cNvSpPr/>
          <p:nvPr/>
        </p:nvSpPr>
        <p:spPr>
          <a:xfrm>
            <a:off x="3619440" y="4061520"/>
            <a:ext cx="7902000" cy="708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1" name=""/>
          <p:cNvSpPr txBox="1"/>
          <p:nvPr/>
        </p:nvSpPr>
        <p:spPr>
          <a:xfrm>
            <a:off x="3756600" y="4191120"/>
            <a:ext cx="7650720" cy="579240"/>
          </a:xfrm>
          <a:prstGeom prst="rect">
            <a:avLst/>
          </a:prstGeom>
          <a:noFill/>
          <a:ln w="0">
            <a:noFill/>
          </a:ln>
        </p:spPr>
        <p:txBody>
          <a:bodyPr lIns="0" rIns="0" tIns="0" bIns="0" anchor="t">
            <a:noAutofit/>
          </a:bodyPr>
          <a:p>
            <a:r>
              <a:rPr b="0" lang="en-US" sz="2160" spc="-1" strike="noStrike">
                <a:solidFill>
                  <a:srgbClr val="000000"/>
                </a:solidFill>
                <a:latin typeface="Noto Sans"/>
              </a:rPr>
              <a:t>Wer stellte die Daten bereit?</a:t>
            </a:r>
            <a:endParaRPr b="0" lang="en-US" sz="2160" spc="-1" strike="noStrike">
              <a:solidFill>
                <a:srgbClr val="000000"/>
              </a:solidFill>
              <a:latin typeface="Arial"/>
            </a:endParaRPr>
          </a:p>
        </p:txBody>
      </p:sp>
      <p:sp>
        <p:nvSpPr>
          <p:cNvPr id="182" name=""/>
          <p:cNvSpPr/>
          <p:nvPr/>
        </p:nvSpPr>
        <p:spPr>
          <a:xfrm>
            <a:off x="647640" y="4793040"/>
            <a:ext cx="2949120" cy="708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3" name=""/>
          <p:cNvSpPr txBox="1"/>
          <p:nvPr/>
        </p:nvSpPr>
        <p:spPr>
          <a:xfrm>
            <a:off x="784800" y="4922640"/>
            <a:ext cx="2697480" cy="579240"/>
          </a:xfrm>
          <a:prstGeom prst="rect">
            <a:avLst/>
          </a:prstGeom>
          <a:noFill/>
          <a:ln w="0">
            <a:noFill/>
          </a:ln>
        </p:spPr>
        <p:txBody>
          <a:bodyPr lIns="0" rIns="0" tIns="0" bIns="0" anchor="t">
            <a:noAutofit/>
          </a:bodyPr>
          <a:p>
            <a:r>
              <a:rPr b="0" lang="en-US" sz="2160" spc="-1" strike="noStrike">
                <a:solidFill>
                  <a:srgbClr val="000000"/>
                </a:solidFill>
                <a:latin typeface="Noto Sans"/>
              </a:rPr>
              <a:t>GBIF</a:t>
            </a:r>
            <a:endParaRPr b="0" lang="en-US" sz="2160" spc="-1" strike="noStrike">
              <a:solidFill>
                <a:srgbClr val="000000"/>
              </a:solidFill>
              <a:latin typeface="Arial"/>
            </a:endParaRPr>
          </a:p>
        </p:txBody>
      </p:sp>
      <p:sp>
        <p:nvSpPr>
          <p:cNvPr id="184" name=""/>
          <p:cNvSpPr/>
          <p:nvPr/>
        </p:nvSpPr>
        <p:spPr>
          <a:xfrm>
            <a:off x="3619440" y="4793040"/>
            <a:ext cx="7902000" cy="708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5" name=""/>
          <p:cNvSpPr txBox="1"/>
          <p:nvPr/>
        </p:nvSpPr>
        <p:spPr>
          <a:xfrm>
            <a:off x="3756600" y="4922640"/>
            <a:ext cx="7650720" cy="579240"/>
          </a:xfrm>
          <a:prstGeom prst="rect">
            <a:avLst/>
          </a:prstGeom>
          <a:noFill/>
          <a:ln w="0">
            <a:noFill/>
          </a:ln>
        </p:spPr>
        <p:txBody>
          <a:bodyPr lIns="0" rIns="0" tIns="0" bIns="0" anchor="t">
            <a:noAutofit/>
          </a:bodyPr>
          <a:p>
            <a:r>
              <a:rPr b="0" lang="en-US" sz="2160" spc="-1" strike="noStrike">
                <a:solidFill>
                  <a:srgbClr val="000000"/>
                </a:solidFill>
                <a:latin typeface="Noto Sans"/>
              </a:rPr>
              <a:t>Wie wurde der Record vereinheitlicht und auffindbar?</a:t>
            </a:r>
            <a:endParaRPr b="0" lang="en-US" sz="2160" spc="-1" strike="noStrike">
              <a:solidFill>
                <a:srgbClr val="000000"/>
              </a:solidFill>
              <a:latin typeface="Arial"/>
            </a:endParaRPr>
          </a:p>
        </p:txBody>
      </p:sp>
      <p:sp>
        <p:nvSpPr>
          <p:cNvPr id="18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7"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Occurrence ist weiter als „direkte Beobachtung eines lebenden Tiers“.</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Welche Felder brauchen wir heute?</a:t>
            </a:r>
            <a:endParaRPr b="0" lang="en-US" sz="3190" spc="-1" strike="noStrike">
              <a:solidFill>
                <a:srgbClr val="000000"/>
              </a:solidFill>
              <a:latin typeface="Arial"/>
            </a:endParaRPr>
          </a:p>
        </p:txBody>
      </p:sp>
      <p:sp>
        <p:nvSpPr>
          <p:cNvPr id="18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GBIF · RECORD LESEN</a:t>
            </a:r>
            <a:endParaRPr b="0" lang="en-US" sz="1130" spc="-1" strike="noStrike">
              <a:solidFill>
                <a:srgbClr val="000000"/>
              </a:solidFill>
              <a:latin typeface="Arial"/>
            </a:endParaRPr>
          </a:p>
        </p:txBody>
      </p:sp>
      <p:sp>
        <p:nvSpPr>
          <p:cNvPr id="19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19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8</a:t>
            </a:r>
            <a:endParaRPr b="0" lang="en-US" sz="939" spc="-1" strike="noStrike">
              <a:solidFill>
                <a:srgbClr val="000000"/>
              </a:solidFill>
              <a:latin typeface="Arial"/>
            </a:endParaRPr>
          </a:p>
        </p:txBody>
      </p:sp>
      <p:sp>
        <p:nvSpPr>
          <p:cNvPr id="192" name=""/>
          <p:cNvSpPr/>
          <p:nvPr/>
        </p:nvSpPr>
        <p:spPr>
          <a:xfrm>
            <a:off x="647640" y="1866960"/>
            <a:ext cx="3505320" cy="1447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3" name=""/>
          <p:cNvSpPr/>
          <p:nvPr/>
        </p:nvSpPr>
        <p:spPr>
          <a:xfrm>
            <a:off x="647640" y="1866960"/>
            <a:ext cx="53280" cy="14479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94" name=""/>
          <p:cNvSpPr txBox="1"/>
          <p:nvPr/>
        </p:nvSpPr>
        <p:spPr>
          <a:xfrm>
            <a:off x="853560" y="204984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Kennung</a:t>
            </a:r>
            <a:endParaRPr b="0" lang="en-US" sz="2540" spc="-1" strike="noStrike">
              <a:solidFill>
                <a:srgbClr val="000000"/>
              </a:solidFill>
              <a:latin typeface="Arial"/>
            </a:endParaRPr>
          </a:p>
        </p:txBody>
      </p:sp>
      <p:sp>
        <p:nvSpPr>
          <p:cNvPr id="195" name=""/>
          <p:cNvSpPr txBox="1"/>
          <p:nvPr/>
        </p:nvSpPr>
        <p:spPr>
          <a:xfrm>
            <a:off x="853560" y="2629080"/>
            <a:ext cx="3093840" cy="548640"/>
          </a:xfrm>
          <a:prstGeom prst="rect">
            <a:avLst/>
          </a:prstGeom>
          <a:noFill/>
          <a:ln w="0">
            <a:noFill/>
          </a:ln>
        </p:spPr>
        <p:txBody>
          <a:bodyPr lIns="0" rIns="0" tIns="0" bIns="0" anchor="t">
            <a:noAutofit/>
          </a:bodyPr>
          <a:p>
            <a:r>
              <a:rPr b="0" lang="en-US" sz="1979" spc="-1" strike="noStrike">
                <a:solidFill>
                  <a:srgbClr val="000000"/>
                </a:solidFill>
                <a:latin typeface="Noto Sans"/>
              </a:rPr>
              <a:t>gbifID</a:t>
            </a:r>
            <a:endParaRPr b="0" lang="en-US" sz="1979" spc="-1" strike="noStrike">
              <a:solidFill>
                <a:srgbClr val="000000"/>
              </a:solidFill>
              <a:latin typeface="Arial"/>
            </a:endParaRPr>
          </a:p>
        </p:txBody>
      </p:sp>
      <p:sp>
        <p:nvSpPr>
          <p:cNvPr id="196" name=""/>
          <p:cNvSpPr/>
          <p:nvPr/>
        </p:nvSpPr>
        <p:spPr>
          <a:xfrm>
            <a:off x="4381560" y="1866960"/>
            <a:ext cx="3505320" cy="1447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7" name=""/>
          <p:cNvSpPr/>
          <p:nvPr/>
        </p:nvSpPr>
        <p:spPr>
          <a:xfrm>
            <a:off x="4381560" y="1866960"/>
            <a:ext cx="53280" cy="14479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98" name=""/>
          <p:cNvSpPr txBox="1"/>
          <p:nvPr/>
        </p:nvSpPr>
        <p:spPr>
          <a:xfrm>
            <a:off x="4587120" y="204984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Taxon</a:t>
            </a:r>
            <a:endParaRPr b="0" lang="en-US" sz="2540" spc="-1" strike="noStrike">
              <a:solidFill>
                <a:srgbClr val="000000"/>
              </a:solidFill>
              <a:latin typeface="Arial"/>
            </a:endParaRPr>
          </a:p>
        </p:txBody>
      </p:sp>
      <p:sp>
        <p:nvSpPr>
          <p:cNvPr id="199" name=""/>
          <p:cNvSpPr txBox="1"/>
          <p:nvPr/>
        </p:nvSpPr>
        <p:spPr>
          <a:xfrm>
            <a:off x="4587120" y="2629080"/>
            <a:ext cx="3093840" cy="548640"/>
          </a:xfrm>
          <a:prstGeom prst="rect">
            <a:avLst/>
          </a:prstGeom>
          <a:noFill/>
          <a:ln w="0">
            <a:noFill/>
          </a:ln>
        </p:spPr>
        <p:txBody>
          <a:bodyPr lIns="0" rIns="0" tIns="0" bIns="0" anchor="t">
            <a:noAutofit/>
          </a:bodyPr>
          <a:p>
            <a:r>
              <a:rPr b="0" lang="en-US" sz="1979" spc="-1" strike="noStrike">
                <a:solidFill>
                  <a:srgbClr val="000000"/>
                </a:solidFill>
                <a:latin typeface="Noto Sans"/>
              </a:rPr>
              <a:t>species</a:t>
            </a:r>
            <a:endParaRPr b="0" lang="en-US" sz="1979" spc="-1" strike="noStrike">
              <a:solidFill>
                <a:srgbClr val="000000"/>
              </a:solidFill>
              <a:latin typeface="Arial"/>
            </a:endParaRPr>
          </a:p>
        </p:txBody>
      </p:sp>
      <p:sp>
        <p:nvSpPr>
          <p:cNvPr id="200" name=""/>
          <p:cNvSpPr/>
          <p:nvPr/>
        </p:nvSpPr>
        <p:spPr>
          <a:xfrm>
            <a:off x="8115480" y="1866960"/>
            <a:ext cx="3505320" cy="1447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1" name=""/>
          <p:cNvSpPr/>
          <p:nvPr/>
        </p:nvSpPr>
        <p:spPr>
          <a:xfrm>
            <a:off x="8115480" y="1866960"/>
            <a:ext cx="53280" cy="14479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02" name=""/>
          <p:cNvSpPr txBox="1"/>
          <p:nvPr/>
        </p:nvSpPr>
        <p:spPr>
          <a:xfrm>
            <a:off x="8321040" y="204984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Grundlage</a:t>
            </a:r>
            <a:endParaRPr b="0" lang="en-US" sz="2540" spc="-1" strike="noStrike">
              <a:solidFill>
                <a:srgbClr val="000000"/>
              </a:solidFill>
              <a:latin typeface="Arial"/>
            </a:endParaRPr>
          </a:p>
        </p:txBody>
      </p:sp>
      <p:sp>
        <p:nvSpPr>
          <p:cNvPr id="203" name=""/>
          <p:cNvSpPr txBox="1"/>
          <p:nvPr/>
        </p:nvSpPr>
        <p:spPr>
          <a:xfrm>
            <a:off x="8321040" y="2629080"/>
            <a:ext cx="3093840" cy="548640"/>
          </a:xfrm>
          <a:prstGeom prst="rect">
            <a:avLst/>
          </a:prstGeom>
          <a:noFill/>
          <a:ln w="0">
            <a:noFill/>
          </a:ln>
        </p:spPr>
        <p:txBody>
          <a:bodyPr lIns="0" rIns="0" tIns="0" bIns="0" anchor="t">
            <a:noAutofit/>
          </a:bodyPr>
          <a:p>
            <a:r>
              <a:rPr b="0" lang="en-US" sz="1979" spc="-1" strike="noStrike">
                <a:solidFill>
                  <a:srgbClr val="000000"/>
                </a:solidFill>
                <a:latin typeface="Noto Sans"/>
              </a:rPr>
              <a:t>basisOfRecord</a:t>
            </a:r>
            <a:endParaRPr b="0" lang="en-US" sz="1979" spc="-1" strike="noStrike">
              <a:solidFill>
                <a:srgbClr val="000000"/>
              </a:solidFill>
              <a:latin typeface="Arial"/>
            </a:endParaRPr>
          </a:p>
        </p:txBody>
      </p:sp>
      <p:sp>
        <p:nvSpPr>
          <p:cNvPr id="204" name=""/>
          <p:cNvSpPr/>
          <p:nvPr/>
        </p:nvSpPr>
        <p:spPr>
          <a:xfrm>
            <a:off x="647640" y="3657600"/>
            <a:ext cx="3505320" cy="1447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5" name=""/>
          <p:cNvSpPr/>
          <p:nvPr/>
        </p:nvSpPr>
        <p:spPr>
          <a:xfrm>
            <a:off x="647640" y="3657600"/>
            <a:ext cx="53280" cy="14479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06" name=""/>
          <p:cNvSpPr txBox="1"/>
          <p:nvPr/>
        </p:nvSpPr>
        <p:spPr>
          <a:xfrm>
            <a:off x="853560" y="384048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Zeit</a:t>
            </a:r>
            <a:endParaRPr b="0" lang="en-US" sz="2540" spc="-1" strike="noStrike">
              <a:solidFill>
                <a:srgbClr val="000000"/>
              </a:solidFill>
              <a:latin typeface="Arial"/>
            </a:endParaRPr>
          </a:p>
        </p:txBody>
      </p:sp>
      <p:sp>
        <p:nvSpPr>
          <p:cNvPr id="207" name=""/>
          <p:cNvSpPr txBox="1"/>
          <p:nvPr/>
        </p:nvSpPr>
        <p:spPr>
          <a:xfrm>
            <a:off x="853560" y="4419720"/>
            <a:ext cx="3093840" cy="548640"/>
          </a:xfrm>
          <a:prstGeom prst="rect">
            <a:avLst/>
          </a:prstGeom>
          <a:noFill/>
          <a:ln w="0">
            <a:noFill/>
          </a:ln>
        </p:spPr>
        <p:txBody>
          <a:bodyPr lIns="0" rIns="0" tIns="0" bIns="0" anchor="t">
            <a:noAutofit/>
          </a:bodyPr>
          <a:p>
            <a:r>
              <a:rPr b="0" lang="en-US" sz="1979" spc="-1" strike="noStrike">
                <a:solidFill>
                  <a:srgbClr val="000000"/>
                </a:solidFill>
                <a:latin typeface="Noto Sans"/>
              </a:rPr>
              <a:t>eventDate</a:t>
            </a:r>
            <a:endParaRPr b="0" lang="en-US" sz="1979" spc="-1" strike="noStrike">
              <a:solidFill>
                <a:srgbClr val="000000"/>
              </a:solidFill>
              <a:latin typeface="Arial"/>
            </a:endParaRPr>
          </a:p>
        </p:txBody>
      </p:sp>
      <p:sp>
        <p:nvSpPr>
          <p:cNvPr id="208" name=""/>
          <p:cNvSpPr/>
          <p:nvPr/>
        </p:nvSpPr>
        <p:spPr>
          <a:xfrm>
            <a:off x="4381560" y="3657600"/>
            <a:ext cx="3505320" cy="1447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9" name=""/>
          <p:cNvSpPr/>
          <p:nvPr/>
        </p:nvSpPr>
        <p:spPr>
          <a:xfrm>
            <a:off x="4381560" y="3657600"/>
            <a:ext cx="53280" cy="14479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10" name=""/>
          <p:cNvSpPr txBox="1"/>
          <p:nvPr/>
        </p:nvSpPr>
        <p:spPr>
          <a:xfrm>
            <a:off x="4587120" y="384048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Ort</a:t>
            </a:r>
            <a:endParaRPr b="0" lang="en-US" sz="2540" spc="-1" strike="noStrike">
              <a:solidFill>
                <a:srgbClr val="000000"/>
              </a:solidFill>
              <a:latin typeface="Arial"/>
            </a:endParaRPr>
          </a:p>
        </p:txBody>
      </p:sp>
      <p:sp>
        <p:nvSpPr>
          <p:cNvPr id="211" name=""/>
          <p:cNvSpPr txBox="1"/>
          <p:nvPr/>
        </p:nvSpPr>
        <p:spPr>
          <a:xfrm>
            <a:off x="4587120" y="4419720"/>
            <a:ext cx="3093840" cy="548640"/>
          </a:xfrm>
          <a:prstGeom prst="rect">
            <a:avLst/>
          </a:prstGeom>
          <a:noFill/>
          <a:ln w="0">
            <a:noFill/>
          </a:ln>
        </p:spPr>
        <p:txBody>
          <a:bodyPr lIns="0" rIns="0" tIns="0" bIns="0" anchor="t">
            <a:noAutofit/>
          </a:bodyPr>
          <a:p>
            <a:r>
              <a:rPr b="0" lang="en-US" sz="1979" spc="-1" strike="noStrike">
                <a:solidFill>
                  <a:srgbClr val="000000"/>
                </a:solidFill>
                <a:latin typeface="Noto Sans"/>
              </a:rPr>
              <a:t>decimalLongitude</a:t>
            </a:r>
            <a:endParaRPr b="0" lang="en-US" sz="1979" spc="-1" strike="noStrike">
              <a:solidFill>
                <a:srgbClr val="000000"/>
              </a:solidFill>
              <a:latin typeface="Arial"/>
            </a:endParaRPr>
          </a:p>
          <a:p>
            <a:r>
              <a:rPr b="0" lang="en-US" sz="1979" spc="-1" strike="noStrike">
                <a:solidFill>
                  <a:srgbClr val="000000"/>
                </a:solidFill>
                <a:latin typeface="Noto Sans"/>
              </a:rPr>
              <a:t>decimalLatitude</a:t>
            </a:r>
            <a:endParaRPr b="0" lang="en-US" sz="1979" spc="-1" strike="noStrike">
              <a:solidFill>
                <a:srgbClr val="000000"/>
              </a:solidFill>
              <a:latin typeface="Arial"/>
            </a:endParaRPr>
          </a:p>
        </p:txBody>
      </p:sp>
      <p:sp>
        <p:nvSpPr>
          <p:cNvPr id="212" name=""/>
          <p:cNvSpPr/>
          <p:nvPr/>
        </p:nvSpPr>
        <p:spPr>
          <a:xfrm>
            <a:off x="8115480" y="3657600"/>
            <a:ext cx="3505320" cy="1447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3" name=""/>
          <p:cNvSpPr/>
          <p:nvPr/>
        </p:nvSpPr>
        <p:spPr>
          <a:xfrm>
            <a:off x="8115480" y="3657600"/>
            <a:ext cx="53280" cy="144792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14" name=""/>
          <p:cNvSpPr txBox="1"/>
          <p:nvPr/>
        </p:nvSpPr>
        <p:spPr>
          <a:xfrm>
            <a:off x="8321040" y="3840480"/>
            <a:ext cx="3093840" cy="647640"/>
          </a:xfrm>
          <a:prstGeom prst="rect">
            <a:avLst/>
          </a:prstGeom>
          <a:noFill/>
          <a:ln w="0">
            <a:noFill/>
          </a:ln>
        </p:spPr>
        <p:txBody>
          <a:bodyPr lIns="0" rIns="0" tIns="0" bIns="0" anchor="t">
            <a:noAutofit/>
          </a:bodyPr>
          <a:p>
            <a:r>
              <a:rPr b="1" lang="en-US" sz="2540" spc="-1" strike="noStrike">
                <a:solidFill>
                  <a:srgbClr val="a32123"/>
                </a:solidFill>
                <a:latin typeface="Noto Sans"/>
              </a:rPr>
              <a:t>Qualität</a:t>
            </a:r>
            <a:endParaRPr b="0" lang="en-US" sz="2540" spc="-1" strike="noStrike">
              <a:solidFill>
                <a:srgbClr val="000000"/>
              </a:solidFill>
              <a:latin typeface="Arial"/>
            </a:endParaRPr>
          </a:p>
        </p:txBody>
      </p:sp>
      <p:sp>
        <p:nvSpPr>
          <p:cNvPr id="215" name=""/>
          <p:cNvSpPr txBox="1"/>
          <p:nvPr/>
        </p:nvSpPr>
        <p:spPr>
          <a:xfrm>
            <a:off x="8321040" y="4419720"/>
            <a:ext cx="3093840" cy="548640"/>
          </a:xfrm>
          <a:prstGeom prst="rect">
            <a:avLst/>
          </a:prstGeom>
          <a:noFill/>
          <a:ln w="0">
            <a:noFill/>
          </a:ln>
        </p:spPr>
        <p:txBody>
          <a:bodyPr lIns="0" rIns="0" tIns="0" bIns="0" anchor="t">
            <a:noAutofit/>
          </a:bodyPr>
          <a:p>
            <a:r>
              <a:rPr b="0" lang="en-US" sz="1979" spc="-1" strike="noStrike">
                <a:solidFill>
                  <a:srgbClr val="000000"/>
                </a:solidFill>
                <a:latin typeface="Noto Sans"/>
              </a:rPr>
              <a:t>coordinateUncertaintyInMeters</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Kurz prüfen: Was zeigt eine Punktkarte?</a:t>
            </a:r>
            <a:endParaRPr b="0" lang="en-US" sz="3190" spc="-1" strike="noStrike">
              <a:solidFill>
                <a:srgbClr val="000000"/>
              </a:solidFill>
              <a:latin typeface="Arial"/>
            </a:endParaRPr>
          </a:p>
        </p:txBody>
      </p:sp>
      <p:sp>
        <p:nvSpPr>
          <p:cNvPr id="21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PUNKTDATEN · NACHBARSCHAFTSGESPRÄCH</a:t>
            </a:r>
            <a:endParaRPr b="0" lang="en-US" sz="1130" spc="-1" strike="noStrike">
              <a:solidFill>
                <a:srgbClr val="000000"/>
              </a:solidFill>
              <a:latin typeface="Arial"/>
            </a:endParaRPr>
          </a:p>
        </p:txBody>
      </p:sp>
      <p:sp>
        <p:nvSpPr>
          <p:cNvPr id="21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21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9</a:t>
            </a:r>
            <a:endParaRPr b="0" lang="en-US" sz="939" spc="-1" strike="noStrike">
              <a:solidFill>
                <a:srgbClr val="000000"/>
              </a:solidFill>
              <a:latin typeface="Arial"/>
            </a:endParaRPr>
          </a:p>
        </p:txBody>
      </p:sp>
      <p:sp>
        <p:nvSpPr>
          <p:cNvPr id="220" name=""/>
          <p:cNvSpPr txBox="1"/>
          <p:nvPr/>
        </p:nvSpPr>
        <p:spPr>
          <a:xfrm>
            <a:off x="1219320" y="1981080"/>
            <a:ext cx="9753840" cy="1447920"/>
          </a:xfrm>
          <a:prstGeom prst="rect">
            <a:avLst/>
          </a:prstGeom>
          <a:noFill/>
          <a:ln w="0">
            <a:noFill/>
          </a:ln>
        </p:spPr>
        <p:txBody>
          <a:bodyPr lIns="0" rIns="0" tIns="0" bIns="0" anchor="t">
            <a:noAutofit/>
          </a:bodyPr>
          <a:p>
            <a:pPr algn="ctr"/>
            <a:r>
              <a:rPr b="1" lang="en-US" sz="3480" spc="-1" strike="noStrike">
                <a:solidFill>
                  <a:srgbClr val="000000"/>
                </a:solidFill>
                <a:latin typeface="Noto Sans"/>
              </a:rPr>
              <a:t>„</a:t>
            </a:r>
            <a:r>
              <a:rPr b="1" lang="en-US" sz="3480" spc="-1" strike="noStrike">
                <a:solidFill>
                  <a:srgbClr val="000000"/>
                </a:solidFill>
                <a:latin typeface="Noto Sans"/>
              </a:rPr>
              <a:t>In Bereichen ohne Punkte kommt der</a:t>
            </a:r>
            <a:endParaRPr b="0" lang="en-US" sz="3480" spc="-1" strike="noStrike">
              <a:solidFill>
                <a:srgbClr val="000000"/>
              </a:solidFill>
              <a:latin typeface="Arial"/>
            </a:endParaRPr>
          </a:p>
          <a:p>
            <a:pPr algn="ctr"/>
            <a:r>
              <a:rPr b="1" lang="en-US" sz="3480" spc="-1" strike="noStrike">
                <a:solidFill>
                  <a:srgbClr val="000000"/>
                </a:solidFill>
                <a:latin typeface="Noto Sans"/>
              </a:rPr>
              <a:t>Feuersalamander nicht vor.“</a:t>
            </a:r>
            <a:endParaRPr b="0" lang="en-US" sz="3480" spc="-1" strike="noStrike">
              <a:solidFill>
                <a:srgbClr val="000000"/>
              </a:solidFill>
              <a:latin typeface="Arial"/>
            </a:endParaRPr>
          </a:p>
        </p:txBody>
      </p:sp>
      <p:sp>
        <p:nvSpPr>
          <p:cNvPr id="221" name=""/>
          <p:cNvSpPr/>
          <p:nvPr/>
        </p:nvSpPr>
        <p:spPr>
          <a:xfrm>
            <a:off x="647640" y="4572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2" name=""/>
          <p:cNvSpPr txBox="1"/>
          <p:nvPr/>
        </p:nvSpPr>
        <p:spPr>
          <a:xfrm>
            <a:off x="838080" y="4678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Belegt · nicht belegt · unsicher? Begründen Sie mit einem Satz.</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Die Karte zeigt dokumentierte Nachweise</a:t>
            </a:r>
            <a:endParaRPr b="0" lang="en-US" sz="3190" spc="-1" strike="noStrike">
              <a:solidFill>
                <a:srgbClr val="000000"/>
              </a:solidFill>
              <a:latin typeface="Arial"/>
            </a:endParaRPr>
          </a:p>
        </p:txBody>
      </p:sp>
      <p:sp>
        <p:nvSpPr>
          <p:cNvPr id="22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PUNKTDATEN · ZWISCHENFAZIT</a:t>
            </a:r>
            <a:endParaRPr b="0" lang="en-US" sz="1130" spc="-1" strike="noStrike">
              <a:solidFill>
                <a:srgbClr val="000000"/>
              </a:solidFill>
              <a:latin typeface="Arial"/>
            </a:endParaRPr>
          </a:p>
        </p:txBody>
      </p:sp>
      <p:sp>
        <p:nvSpPr>
          <p:cNvPr id="22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22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10</a:t>
            </a:r>
            <a:endParaRPr b="0" lang="en-US" sz="939" spc="-1" strike="noStrike">
              <a:solidFill>
                <a:srgbClr val="000000"/>
              </a:solidFill>
              <a:latin typeface="Arial"/>
            </a:endParaRPr>
          </a:p>
        </p:txBody>
      </p:sp>
      <p:sp>
        <p:nvSpPr>
          <p:cNvPr id="227" name=""/>
          <p:cNvSpPr txBox="1"/>
          <p:nvPr/>
        </p:nvSpPr>
        <p:spPr>
          <a:xfrm>
            <a:off x="1143000" y="2133720"/>
            <a:ext cx="9906120" cy="762120"/>
          </a:xfrm>
          <a:prstGeom prst="rect">
            <a:avLst/>
          </a:prstGeom>
          <a:noFill/>
          <a:ln w="0">
            <a:noFill/>
          </a:ln>
        </p:spPr>
        <p:txBody>
          <a:bodyPr lIns="0" rIns="0" tIns="0" bIns="0" anchor="t">
            <a:noAutofit/>
          </a:bodyPr>
          <a:p>
            <a:pPr algn="ctr"/>
            <a:r>
              <a:rPr b="1" lang="en-US" sz="2910" spc="-1" strike="noStrike">
                <a:solidFill>
                  <a:srgbClr val="004899"/>
                </a:solidFill>
                <a:latin typeface="Noto Sans"/>
              </a:rPr>
              <a:t>Punkte vorhanden</a:t>
            </a:r>
            <a:endParaRPr b="0" lang="en-US" sz="2910" spc="-1" strike="noStrike">
              <a:solidFill>
                <a:srgbClr val="000000"/>
              </a:solidFill>
              <a:latin typeface="Arial"/>
            </a:endParaRPr>
          </a:p>
        </p:txBody>
      </p:sp>
      <p:sp>
        <p:nvSpPr>
          <p:cNvPr id="228" name=""/>
          <p:cNvSpPr txBox="1"/>
          <p:nvPr/>
        </p:nvSpPr>
        <p:spPr>
          <a:xfrm>
            <a:off x="1143000" y="2971800"/>
            <a:ext cx="9906120" cy="533520"/>
          </a:xfrm>
          <a:prstGeom prst="rect">
            <a:avLst/>
          </a:prstGeom>
          <a:noFill/>
          <a:ln w="0">
            <a:noFill/>
          </a:ln>
        </p:spPr>
        <p:txBody>
          <a:bodyPr lIns="0" rIns="0" tIns="0" bIns="0" anchor="t">
            <a:noAutofit/>
          </a:bodyPr>
          <a:p>
            <a:pPr algn="ctr"/>
            <a:r>
              <a:rPr b="0" lang="en-US" sz="2630" spc="-1" strike="noStrike">
                <a:solidFill>
                  <a:srgbClr val="000000"/>
                </a:solidFill>
                <a:latin typeface="Noto Sans"/>
              </a:rPr>
              <a:t>→ </a:t>
            </a:r>
            <a:r>
              <a:rPr b="0" lang="en-US" sz="2630" spc="-1" strike="noStrike">
                <a:solidFill>
                  <a:srgbClr val="000000"/>
                </a:solidFill>
                <a:latin typeface="Noto Sans"/>
              </a:rPr>
              <a:t>dokumentierte Nachweise im Datenausschnitt</a:t>
            </a:r>
            <a:endParaRPr b="0" lang="en-US" sz="2630" spc="-1" strike="noStrike">
              <a:solidFill>
                <a:srgbClr val="000000"/>
              </a:solidFill>
              <a:latin typeface="Arial"/>
            </a:endParaRPr>
          </a:p>
        </p:txBody>
      </p:sp>
      <p:sp>
        <p:nvSpPr>
          <p:cNvPr id="229" name=""/>
          <p:cNvSpPr/>
          <p:nvPr/>
        </p:nvSpPr>
        <p:spPr>
          <a:xfrm>
            <a:off x="1981080" y="3809880"/>
            <a:ext cx="8229960" cy="0"/>
          </a:xfrm>
          <a:prstGeom prst="line">
            <a:avLst/>
          </a:prstGeom>
          <a:ln w="25200">
            <a:solidFill>
              <a:srgbClr val="a6d9e2"/>
            </a:solidFill>
            <a:round/>
          </a:ln>
        </p:spPr>
        <p:style>
          <a:lnRef idx="0"/>
          <a:fillRef idx="0"/>
          <a:effectRef idx="0"/>
          <a:fontRef idx="minor"/>
        </p:style>
        <p:txBody>
          <a:bodyPr lIns="102600" rIns="102600" tIns="-57600" bIns="-57600" anchor="ctr" anchorCtr="1">
            <a:noAutofit/>
          </a:bodyPr>
          <a:p>
            <a:endParaRPr b="0" lang="en-US" sz="1800" spc="-1" strike="noStrike">
              <a:solidFill>
                <a:srgbClr val="000000"/>
              </a:solidFill>
              <a:latin typeface="Arial"/>
            </a:endParaRPr>
          </a:p>
        </p:txBody>
      </p:sp>
      <p:sp>
        <p:nvSpPr>
          <p:cNvPr id="230" name=""/>
          <p:cNvSpPr txBox="1"/>
          <p:nvPr/>
        </p:nvSpPr>
        <p:spPr>
          <a:xfrm>
            <a:off x="1143000" y="4229280"/>
            <a:ext cx="9906120" cy="762120"/>
          </a:xfrm>
          <a:prstGeom prst="rect">
            <a:avLst/>
          </a:prstGeom>
          <a:noFill/>
          <a:ln w="0">
            <a:noFill/>
          </a:ln>
        </p:spPr>
        <p:txBody>
          <a:bodyPr lIns="0" rIns="0" tIns="0" bIns="0" anchor="t">
            <a:noAutofit/>
          </a:bodyPr>
          <a:p>
            <a:pPr algn="ctr"/>
            <a:r>
              <a:rPr b="1" lang="en-US" sz="2910" spc="-1" strike="noStrike">
                <a:solidFill>
                  <a:srgbClr val="a32123"/>
                </a:solidFill>
                <a:latin typeface="Noto Sans"/>
              </a:rPr>
              <a:t>Keine Punkte vorhanden</a:t>
            </a:r>
            <a:endParaRPr b="0" lang="en-US" sz="2910" spc="-1" strike="noStrike">
              <a:solidFill>
                <a:srgbClr val="000000"/>
              </a:solidFill>
              <a:latin typeface="Arial"/>
            </a:endParaRPr>
          </a:p>
        </p:txBody>
      </p:sp>
      <p:sp>
        <p:nvSpPr>
          <p:cNvPr id="231" name=""/>
          <p:cNvSpPr txBox="1"/>
          <p:nvPr/>
        </p:nvSpPr>
        <p:spPr>
          <a:xfrm>
            <a:off x="1143000" y="5067360"/>
            <a:ext cx="9906120" cy="533520"/>
          </a:xfrm>
          <a:prstGeom prst="rect">
            <a:avLst/>
          </a:prstGeom>
          <a:noFill/>
          <a:ln w="0">
            <a:noFill/>
          </a:ln>
        </p:spPr>
        <p:txBody>
          <a:bodyPr lIns="0" rIns="0" tIns="0" bIns="0" anchor="t">
            <a:noAutofit/>
          </a:bodyPr>
          <a:p>
            <a:pPr algn="ctr"/>
            <a:r>
              <a:rPr b="0" lang="en-US" sz="2630" spc="-1" strike="noStrike">
                <a:solidFill>
                  <a:srgbClr val="000000"/>
                </a:solidFill>
                <a:latin typeface="Noto Sans"/>
              </a:rPr>
              <a:t>↛ </a:t>
            </a:r>
            <a:r>
              <a:rPr b="0" lang="en-US" sz="2630" spc="-1" strike="noStrike">
                <a:solidFill>
                  <a:srgbClr val="000000"/>
                </a:solidFill>
                <a:latin typeface="Noto Sans"/>
              </a:rPr>
              <a:t>automatisch Abwesenheit der Art</a:t>
            </a:r>
            <a:endParaRPr b="0" lang="en-US" sz="26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QGIS-Wiedereinstieg nach der Pause</a:t>
            </a:r>
            <a:endParaRPr b="0" lang="en-US" sz="3190" spc="-1" strike="noStrike">
              <a:solidFill>
                <a:srgbClr val="000000"/>
              </a:solidFill>
              <a:latin typeface="Arial"/>
            </a:endParaRPr>
          </a:p>
        </p:txBody>
      </p:sp>
      <p:sp>
        <p:nvSpPr>
          <p:cNvPr id="23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OBERFLÄCHE</a:t>
            </a:r>
            <a:endParaRPr b="0" lang="en-US" sz="1130" spc="-1" strike="noStrike">
              <a:solidFill>
                <a:srgbClr val="000000"/>
              </a:solidFill>
              <a:latin typeface="Arial"/>
            </a:endParaRPr>
          </a:p>
        </p:txBody>
      </p:sp>
      <p:sp>
        <p:nvSpPr>
          <p:cNvPr id="23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23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11</a:t>
            </a:r>
            <a:endParaRPr b="0" lang="en-US" sz="939" spc="-1" strike="noStrike">
              <a:solidFill>
                <a:srgbClr val="000000"/>
              </a:solidFill>
              <a:latin typeface="Arial"/>
            </a:endParaRPr>
          </a:p>
        </p:txBody>
      </p:sp>
      <p:pic>
        <p:nvPicPr>
          <p:cNvPr id="236" name="" descr="Eine vereinfachte Programmoberfläche zeigt Menü und Werkzeugleisten, Browser, Layer-Bereich, Kartenansicht und Statusleiste."/>
          <p:cNvPicPr/>
          <p:nvPr/>
        </p:nvPicPr>
        <p:blipFill>
          <a:blip r:embed="rId1">
            <a:extLst>
              <a:ext uri="{96DAC541-7B7A-43D3-8B79-37D633B846F1}">
                <asvg:svgBlip xmlns:asvg="http://schemas.microsoft.com/office/drawing/2016/SVG/main" r:embed="rId2"/>
              </a:ext>
            </a:extLst>
          </a:blip>
          <a:stretch/>
        </p:blipFill>
        <p:spPr>
          <a:xfrm>
            <a:off x="2286000" y="1638360"/>
            <a:ext cx="7620120" cy="43434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Projekt anlegen und Basis laden</a:t>
            </a:r>
            <a:endParaRPr b="0" lang="en-US" sz="3190" spc="-1" strike="noStrike">
              <a:solidFill>
                <a:srgbClr val="000000"/>
              </a:solidFill>
              <a:latin typeface="Arial"/>
            </a:endParaRPr>
          </a:p>
        </p:txBody>
      </p:sp>
      <p:sp>
        <p:nvSpPr>
          <p:cNvPr id="23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STARTZUSTAND</a:t>
            </a:r>
            <a:endParaRPr b="0" lang="en-US" sz="1130" spc="-1" strike="noStrike">
              <a:solidFill>
                <a:srgbClr val="000000"/>
              </a:solidFill>
              <a:latin typeface="Arial"/>
            </a:endParaRPr>
          </a:p>
        </p:txBody>
      </p:sp>
      <p:sp>
        <p:nvSpPr>
          <p:cNvPr id="23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24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12</a:t>
            </a:r>
            <a:endParaRPr b="0" lang="en-US" sz="939" spc="-1" strike="noStrike">
              <a:solidFill>
                <a:srgbClr val="000000"/>
              </a:solidFill>
              <a:latin typeface="Arial"/>
            </a:endParaRPr>
          </a:p>
        </p:txBody>
      </p:sp>
      <p:sp>
        <p:nvSpPr>
          <p:cNvPr id="241" name=""/>
          <p:cNvSpPr/>
          <p:nvPr/>
        </p:nvSpPr>
        <p:spPr>
          <a:xfrm>
            <a:off x="647640" y="190512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2" name=""/>
          <p:cNvSpPr txBox="1"/>
          <p:nvPr/>
        </p:nvSpPr>
        <p:spPr>
          <a:xfrm>
            <a:off x="647640" y="196596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243" name=""/>
          <p:cNvSpPr txBox="1"/>
          <p:nvPr/>
        </p:nvSpPr>
        <p:spPr>
          <a:xfrm>
            <a:off x="1371600" y="190512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Projekt speichern</a:t>
            </a:r>
            <a:endParaRPr b="0" lang="en-US" sz="2720" spc="-1" strike="noStrike">
              <a:solidFill>
                <a:srgbClr val="000000"/>
              </a:solidFill>
              <a:latin typeface="Arial"/>
            </a:endParaRPr>
          </a:p>
        </p:txBody>
      </p:sp>
      <p:sp>
        <p:nvSpPr>
          <p:cNvPr id="244" name=""/>
          <p:cNvSpPr txBox="1"/>
          <p:nvPr/>
        </p:nvSpPr>
        <p:spPr>
          <a:xfrm>
            <a:off x="1371600" y="237744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Als unit11_punktdaten.qgz im eigenen Arbeitsordner.</a:t>
            </a:r>
            <a:endParaRPr b="0" lang="en-US" sz="2260" spc="-1" strike="noStrike">
              <a:solidFill>
                <a:srgbClr val="000000"/>
              </a:solidFill>
              <a:latin typeface="Arial"/>
            </a:endParaRPr>
          </a:p>
        </p:txBody>
      </p:sp>
      <p:sp>
        <p:nvSpPr>
          <p:cNvPr id="245" name=""/>
          <p:cNvSpPr/>
          <p:nvPr/>
        </p:nvSpPr>
        <p:spPr>
          <a:xfrm>
            <a:off x="647640" y="320040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6" name=""/>
          <p:cNvSpPr txBox="1"/>
          <p:nvPr/>
        </p:nvSpPr>
        <p:spPr>
          <a:xfrm>
            <a:off x="647640" y="32612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247" name=""/>
          <p:cNvSpPr txBox="1"/>
          <p:nvPr/>
        </p:nvSpPr>
        <p:spPr>
          <a:xfrm>
            <a:off x="1371600" y="320040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Projekt-CRS setzen</a:t>
            </a:r>
            <a:endParaRPr b="0" lang="en-US" sz="2720" spc="-1" strike="noStrike">
              <a:solidFill>
                <a:srgbClr val="000000"/>
              </a:solidFill>
              <a:latin typeface="Arial"/>
            </a:endParaRPr>
          </a:p>
        </p:txBody>
      </p:sp>
      <p:sp>
        <p:nvSpPr>
          <p:cNvPr id="248" name=""/>
          <p:cNvSpPr txBox="1"/>
          <p:nvPr/>
        </p:nvSpPr>
        <p:spPr>
          <a:xfrm>
            <a:off x="1371600" y="36727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EPSG:25832 · ETRS89 / UTM zone 32N.</a:t>
            </a:r>
            <a:endParaRPr b="0" lang="en-US" sz="2260" spc="-1" strike="noStrike">
              <a:solidFill>
                <a:srgbClr val="000000"/>
              </a:solidFill>
              <a:latin typeface="Arial"/>
            </a:endParaRPr>
          </a:p>
        </p:txBody>
      </p:sp>
      <p:sp>
        <p:nvSpPr>
          <p:cNvPr id="249" name=""/>
          <p:cNvSpPr/>
          <p:nvPr/>
        </p:nvSpPr>
        <p:spPr>
          <a:xfrm>
            <a:off x="647640" y="44956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50" name=""/>
          <p:cNvSpPr txBox="1"/>
          <p:nvPr/>
        </p:nvSpPr>
        <p:spPr>
          <a:xfrm>
            <a:off x="647640" y="45568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251" name=""/>
          <p:cNvSpPr txBox="1"/>
          <p:nvPr/>
        </p:nvSpPr>
        <p:spPr>
          <a:xfrm>
            <a:off x="1371600" y="44956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Basis laden</a:t>
            </a:r>
            <a:endParaRPr b="0" lang="en-US" sz="2720" spc="-1" strike="noStrike">
              <a:solidFill>
                <a:srgbClr val="000000"/>
              </a:solidFill>
              <a:latin typeface="Arial"/>
            </a:endParaRPr>
          </a:p>
        </p:txBody>
      </p:sp>
      <p:sp>
        <p:nvSpPr>
          <p:cNvPr id="252" name=""/>
          <p:cNvSpPr txBox="1"/>
          <p:nvPr/>
        </p:nvSpPr>
        <p:spPr>
          <a:xfrm>
            <a:off x="1371600" y="49683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data_raw/marburg_basis.gpkg · Layer untersuchungsgebiet.</a:t>
            </a:r>
            <a:endParaRPr b="0" lang="en-US" sz="2260" spc="-1" strike="noStrike">
              <a:solidFill>
                <a:srgbClr val="000000"/>
              </a:solidFill>
              <a:latin typeface="Arial"/>
            </a:endParaRPr>
          </a:p>
        </p:txBody>
      </p:sp>
      <p:sp>
        <p:nvSpPr>
          <p:cNvPr id="25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4"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Kontrolle: Projektname sichtbar · EPSG:25832 · Rechteck im Kartenfenster</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Woher kommen die heutigen 79 Records?</a:t>
            </a:r>
            <a:endParaRPr b="0" lang="en-US" sz="3190" spc="-1" strike="noStrike">
              <a:solidFill>
                <a:srgbClr val="000000"/>
              </a:solidFill>
              <a:latin typeface="Arial"/>
            </a:endParaRPr>
          </a:p>
        </p:txBody>
      </p:sp>
      <p:sp>
        <p:nvSpPr>
          <p:cNvPr id="25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GBIF · DOKUMENTIERTER SNAPSHOT</a:t>
            </a:r>
            <a:endParaRPr b="0" lang="en-US" sz="1130" spc="-1" strike="noStrike">
              <a:solidFill>
                <a:srgbClr val="000000"/>
              </a:solidFill>
              <a:latin typeface="Arial"/>
            </a:endParaRPr>
          </a:p>
        </p:txBody>
      </p:sp>
      <p:sp>
        <p:nvSpPr>
          <p:cNvPr id="25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25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13</a:t>
            </a:r>
            <a:endParaRPr b="0" lang="en-US" sz="939" spc="-1" strike="noStrike">
              <a:solidFill>
                <a:srgbClr val="000000"/>
              </a:solidFill>
              <a:latin typeface="Arial"/>
            </a:endParaRPr>
          </a:p>
        </p:txBody>
      </p:sp>
      <p:pic>
        <p:nvPicPr>
          <p:cNvPr id="259" name="" descr="Fünf Schritte führen vom dokumentierten Kurs-Snapshot über Tabellenprüfung, Punktimport und Qualitätsregel zum dokumentierten Ergebnis. Der API-Snapshot hat keinen eigenen Download-DOI; angegeben wird der DOI des Quelldatensatzes. Ein eigener GBIF Occurrence Download mit eigenem DOI ist eine spätere Option."/>
          <p:cNvPicPr/>
          <p:nvPr/>
        </p:nvPicPr>
        <p:blipFill>
          <a:blip r:embed="rId1">
            <a:extLst>
              <a:ext uri="{96DAC541-7B7A-43D3-8B79-37D633B846F1}">
                <asvg:svgBlip xmlns:asvg="http://schemas.microsoft.com/office/drawing/2016/SVG/main" r:embed="rId2"/>
              </a:ext>
            </a:extLst>
          </a:blip>
          <a:stretch/>
        </p:blipFill>
        <p:spPr>
          <a:xfrm>
            <a:off x="2400480" y="1676520"/>
            <a:ext cx="7391520" cy="3474000"/>
          </a:xfrm>
          <a:prstGeom prst="rect">
            <a:avLst/>
          </a:prstGeom>
          <a:ln w="0">
            <a:noFill/>
          </a:ln>
        </p:spPr>
      </p:pic>
      <p:sp>
        <p:nvSpPr>
          <p:cNvPr id="260"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1"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Heute: bereitgestellter Snapshot → Qualitätsregel → dokumentierter Export</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CSV zuerst als Tabelle lesen</a:t>
            </a:r>
            <a:endParaRPr b="0" lang="en-US" sz="3190" spc="-1" strike="noStrike">
              <a:solidFill>
                <a:srgbClr val="000000"/>
              </a:solidFill>
              <a:latin typeface="Arial"/>
            </a:endParaRPr>
          </a:p>
        </p:txBody>
      </p:sp>
      <p:sp>
        <p:nvSpPr>
          <p:cNvPr id="26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IMPORT · STRUKTUR PRÜFEN</a:t>
            </a:r>
            <a:endParaRPr b="0" lang="en-US" sz="1130" spc="-1" strike="noStrike">
              <a:solidFill>
                <a:srgbClr val="000000"/>
              </a:solidFill>
              <a:latin typeface="Arial"/>
            </a:endParaRPr>
          </a:p>
        </p:txBody>
      </p:sp>
      <p:sp>
        <p:nvSpPr>
          <p:cNvPr id="26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26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14</a:t>
            </a:r>
            <a:endParaRPr b="0" lang="en-US" sz="939" spc="-1" strike="noStrike">
              <a:solidFill>
                <a:srgbClr val="000000"/>
              </a:solidFill>
              <a:latin typeface="Arial"/>
            </a:endParaRPr>
          </a:p>
        </p:txBody>
      </p:sp>
      <p:sp>
        <p:nvSpPr>
          <p:cNvPr id="266" name=""/>
          <p:cNvSpPr/>
          <p:nvPr/>
        </p:nvSpPr>
        <p:spPr>
          <a:xfrm>
            <a:off x="647640" y="1676520"/>
            <a:ext cx="3101400" cy="58680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7" name=""/>
          <p:cNvSpPr txBox="1"/>
          <p:nvPr/>
        </p:nvSpPr>
        <p:spPr>
          <a:xfrm>
            <a:off x="784800" y="1806120"/>
            <a:ext cx="2849760" cy="457200"/>
          </a:xfrm>
          <a:prstGeom prst="rect">
            <a:avLst/>
          </a:prstGeom>
          <a:noFill/>
          <a:ln w="0">
            <a:noFill/>
          </a:ln>
        </p:spPr>
        <p:txBody>
          <a:bodyPr lIns="0" rIns="0" tIns="0" bIns="0" anchor="t">
            <a:noAutofit/>
          </a:bodyPr>
          <a:p>
            <a:r>
              <a:rPr b="1" lang="en-US" sz="1879" spc="-1" strike="noStrike">
                <a:solidFill>
                  <a:srgbClr val="ffffff"/>
                </a:solidFill>
                <a:latin typeface="Noto Sans"/>
              </a:rPr>
              <a:t>Feld</a:t>
            </a:r>
            <a:endParaRPr b="0" lang="en-US" sz="1879" spc="-1" strike="noStrike">
              <a:solidFill>
                <a:srgbClr val="000000"/>
              </a:solidFill>
              <a:latin typeface="Arial"/>
            </a:endParaRPr>
          </a:p>
        </p:txBody>
      </p:sp>
      <p:sp>
        <p:nvSpPr>
          <p:cNvPr id="268" name=""/>
          <p:cNvSpPr/>
          <p:nvPr/>
        </p:nvSpPr>
        <p:spPr>
          <a:xfrm>
            <a:off x="3772080" y="1676520"/>
            <a:ext cx="3634920" cy="58680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9" name=""/>
          <p:cNvSpPr txBox="1"/>
          <p:nvPr/>
        </p:nvSpPr>
        <p:spPr>
          <a:xfrm>
            <a:off x="3909240" y="1806120"/>
            <a:ext cx="3383280" cy="457200"/>
          </a:xfrm>
          <a:prstGeom prst="rect">
            <a:avLst/>
          </a:prstGeom>
          <a:noFill/>
          <a:ln w="0">
            <a:noFill/>
          </a:ln>
        </p:spPr>
        <p:txBody>
          <a:bodyPr lIns="0" rIns="0" tIns="0" bIns="0" anchor="t">
            <a:noAutofit/>
          </a:bodyPr>
          <a:p>
            <a:r>
              <a:rPr b="1" lang="en-US" sz="1879" spc="-1" strike="noStrike">
                <a:solidFill>
                  <a:srgbClr val="ffffff"/>
                </a:solidFill>
                <a:latin typeface="Noto Sans"/>
              </a:rPr>
              <a:t>Beispiel</a:t>
            </a:r>
            <a:endParaRPr b="0" lang="en-US" sz="1879" spc="-1" strike="noStrike">
              <a:solidFill>
                <a:srgbClr val="000000"/>
              </a:solidFill>
              <a:latin typeface="Arial"/>
            </a:endParaRPr>
          </a:p>
        </p:txBody>
      </p:sp>
      <p:sp>
        <p:nvSpPr>
          <p:cNvPr id="270" name=""/>
          <p:cNvSpPr/>
          <p:nvPr/>
        </p:nvSpPr>
        <p:spPr>
          <a:xfrm>
            <a:off x="7429680" y="1676520"/>
            <a:ext cx="4092120" cy="58680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71" name=""/>
          <p:cNvSpPr txBox="1"/>
          <p:nvPr/>
        </p:nvSpPr>
        <p:spPr>
          <a:xfrm>
            <a:off x="7566840" y="1806120"/>
            <a:ext cx="3840480" cy="457200"/>
          </a:xfrm>
          <a:prstGeom prst="rect">
            <a:avLst/>
          </a:prstGeom>
          <a:noFill/>
          <a:ln w="0">
            <a:noFill/>
          </a:ln>
        </p:spPr>
        <p:txBody>
          <a:bodyPr lIns="0" rIns="0" tIns="0" bIns="0" anchor="t">
            <a:noAutofit/>
          </a:bodyPr>
          <a:p>
            <a:r>
              <a:rPr b="1" lang="en-US" sz="1879" spc="-1" strike="noStrike">
                <a:solidFill>
                  <a:srgbClr val="ffffff"/>
                </a:solidFill>
                <a:latin typeface="Noto Sans"/>
              </a:rPr>
              <a:t>Bedeutung</a:t>
            </a:r>
            <a:endParaRPr b="0" lang="en-US" sz="1879" spc="-1" strike="noStrike">
              <a:solidFill>
                <a:srgbClr val="000000"/>
              </a:solidFill>
              <a:latin typeface="Arial"/>
            </a:endParaRPr>
          </a:p>
        </p:txBody>
      </p:sp>
      <p:sp>
        <p:nvSpPr>
          <p:cNvPr id="272" name=""/>
          <p:cNvSpPr/>
          <p:nvPr/>
        </p:nvSpPr>
        <p:spPr>
          <a:xfrm>
            <a:off x="647640" y="2286000"/>
            <a:ext cx="310140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3" name=""/>
          <p:cNvSpPr txBox="1"/>
          <p:nvPr/>
        </p:nvSpPr>
        <p:spPr>
          <a:xfrm>
            <a:off x="784800" y="2415600"/>
            <a:ext cx="2849760" cy="457200"/>
          </a:xfrm>
          <a:prstGeom prst="rect">
            <a:avLst/>
          </a:prstGeom>
          <a:noFill/>
          <a:ln w="0">
            <a:noFill/>
          </a:ln>
        </p:spPr>
        <p:txBody>
          <a:bodyPr lIns="0" rIns="0" tIns="0" bIns="0" anchor="t">
            <a:noAutofit/>
          </a:bodyPr>
          <a:p>
            <a:r>
              <a:rPr b="0" lang="en-US" sz="1879" spc="-1" strike="noStrike">
                <a:solidFill>
                  <a:srgbClr val="000000"/>
                </a:solidFill>
                <a:latin typeface="Noto Sans"/>
              </a:rPr>
              <a:t>gbifID</a:t>
            </a:r>
            <a:endParaRPr b="0" lang="en-US" sz="1879" spc="-1" strike="noStrike">
              <a:solidFill>
                <a:srgbClr val="000000"/>
              </a:solidFill>
              <a:latin typeface="Arial"/>
            </a:endParaRPr>
          </a:p>
        </p:txBody>
      </p:sp>
      <p:sp>
        <p:nvSpPr>
          <p:cNvPr id="274" name=""/>
          <p:cNvSpPr/>
          <p:nvPr/>
        </p:nvSpPr>
        <p:spPr>
          <a:xfrm>
            <a:off x="3772080" y="2286000"/>
            <a:ext cx="363492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5" name=""/>
          <p:cNvSpPr txBox="1"/>
          <p:nvPr/>
        </p:nvSpPr>
        <p:spPr>
          <a:xfrm>
            <a:off x="3909240" y="2415600"/>
            <a:ext cx="3383280" cy="457200"/>
          </a:xfrm>
          <a:prstGeom prst="rect">
            <a:avLst/>
          </a:prstGeom>
          <a:noFill/>
          <a:ln w="0">
            <a:noFill/>
          </a:ln>
        </p:spPr>
        <p:txBody>
          <a:bodyPr lIns="0" rIns="0" tIns="0" bIns="0" anchor="t">
            <a:noAutofit/>
          </a:bodyPr>
          <a:p>
            <a:r>
              <a:rPr b="0" lang="en-US" sz="1879" spc="-1" strike="noStrike">
                <a:solidFill>
                  <a:srgbClr val="000000"/>
                </a:solidFill>
                <a:latin typeface="Noto Sans"/>
              </a:rPr>
              <a:t>5012616638</a:t>
            </a:r>
            <a:endParaRPr b="0" lang="en-US" sz="1879" spc="-1" strike="noStrike">
              <a:solidFill>
                <a:srgbClr val="000000"/>
              </a:solidFill>
              <a:latin typeface="Arial"/>
            </a:endParaRPr>
          </a:p>
        </p:txBody>
      </p:sp>
      <p:sp>
        <p:nvSpPr>
          <p:cNvPr id="276" name=""/>
          <p:cNvSpPr/>
          <p:nvPr/>
        </p:nvSpPr>
        <p:spPr>
          <a:xfrm>
            <a:off x="7429680" y="2286000"/>
            <a:ext cx="409212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7" name=""/>
          <p:cNvSpPr txBox="1"/>
          <p:nvPr/>
        </p:nvSpPr>
        <p:spPr>
          <a:xfrm>
            <a:off x="7566840" y="2415600"/>
            <a:ext cx="3840480" cy="457200"/>
          </a:xfrm>
          <a:prstGeom prst="rect">
            <a:avLst/>
          </a:prstGeom>
          <a:noFill/>
          <a:ln w="0">
            <a:noFill/>
          </a:ln>
        </p:spPr>
        <p:txBody>
          <a:bodyPr lIns="0" rIns="0" tIns="0" bIns="0" anchor="t">
            <a:noAutofit/>
          </a:bodyPr>
          <a:p>
            <a:r>
              <a:rPr b="0" lang="en-US" sz="1879" spc="-1" strike="noStrike">
                <a:solidFill>
                  <a:srgbClr val="000000"/>
                </a:solidFill>
                <a:latin typeface="Noto Sans"/>
              </a:rPr>
              <a:t>Kennung</a:t>
            </a:r>
            <a:endParaRPr b="0" lang="en-US" sz="1879" spc="-1" strike="noStrike">
              <a:solidFill>
                <a:srgbClr val="000000"/>
              </a:solidFill>
              <a:latin typeface="Arial"/>
            </a:endParaRPr>
          </a:p>
        </p:txBody>
      </p:sp>
      <p:sp>
        <p:nvSpPr>
          <p:cNvPr id="278" name=""/>
          <p:cNvSpPr/>
          <p:nvPr/>
        </p:nvSpPr>
        <p:spPr>
          <a:xfrm>
            <a:off x="647640" y="2895480"/>
            <a:ext cx="3101400" cy="5868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9" name=""/>
          <p:cNvSpPr txBox="1"/>
          <p:nvPr/>
        </p:nvSpPr>
        <p:spPr>
          <a:xfrm>
            <a:off x="784800" y="3025080"/>
            <a:ext cx="2849760" cy="457200"/>
          </a:xfrm>
          <a:prstGeom prst="rect">
            <a:avLst/>
          </a:prstGeom>
          <a:noFill/>
          <a:ln w="0">
            <a:noFill/>
          </a:ln>
        </p:spPr>
        <p:txBody>
          <a:bodyPr lIns="0" rIns="0" tIns="0" bIns="0" anchor="t">
            <a:noAutofit/>
          </a:bodyPr>
          <a:p>
            <a:r>
              <a:rPr b="0" lang="en-US" sz="1879" spc="-1" strike="noStrike">
                <a:solidFill>
                  <a:srgbClr val="000000"/>
                </a:solidFill>
                <a:latin typeface="Noto Sans"/>
              </a:rPr>
              <a:t>species</a:t>
            </a:r>
            <a:endParaRPr b="0" lang="en-US" sz="1879" spc="-1" strike="noStrike">
              <a:solidFill>
                <a:srgbClr val="000000"/>
              </a:solidFill>
              <a:latin typeface="Arial"/>
            </a:endParaRPr>
          </a:p>
        </p:txBody>
      </p:sp>
      <p:sp>
        <p:nvSpPr>
          <p:cNvPr id="280" name=""/>
          <p:cNvSpPr/>
          <p:nvPr/>
        </p:nvSpPr>
        <p:spPr>
          <a:xfrm>
            <a:off x="3772080" y="2895480"/>
            <a:ext cx="3634920" cy="5868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1" name=""/>
          <p:cNvSpPr txBox="1"/>
          <p:nvPr/>
        </p:nvSpPr>
        <p:spPr>
          <a:xfrm>
            <a:off x="3909240" y="3025080"/>
            <a:ext cx="3383280" cy="457200"/>
          </a:xfrm>
          <a:prstGeom prst="rect">
            <a:avLst/>
          </a:prstGeom>
          <a:noFill/>
          <a:ln w="0">
            <a:noFill/>
          </a:ln>
        </p:spPr>
        <p:txBody>
          <a:bodyPr lIns="0" rIns="0" tIns="0" bIns="0" anchor="t">
            <a:noAutofit/>
          </a:bodyPr>
          <a:p>
            <a:r>
              <a:rPr b="0" lang="en-US" sz="1879" spc="-1" strike="noStrike">
                <a:solidFill>
                  <a:srgbClr val="000000"/>
                </a:solidFill>
                <a:latin typeface="Noto Sans"/>
              </a:rPr>
              <a:t>Salamandra salamandra</a:t>
            </a:r>
            <a:endParaRPr b="0" lang="en-US" sz="1879" spc="-1" strike="noStrike">
              <a:solidFill>
                <a:srgbClr val="000000"/>
              </a:solidFill>
              <a:latin typeface="Arial"/>
            </a:endParaRPr>
          </a:p>
        </p:txBody>
      </p:sp>
      <p:sp>
        <p:nvSpPr>
          <p:cNvPr id="282" name=""/>
          <p:cNvSpPr/>
          <p:nvPr/>
        </p:nvSpPr>
        <p:spPr>
          <a:xfrm>
            <a:off x="7429680" y="2895480"/>
            <a:ext cx="4092120" cy="5868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3" name=""/>
          <p:cNvSpPr txBox="1"/>
          <p:nvPr/>
        </p:nvSpPr>
        <p:spPr>
          <a:xfrm>
            <a:off x="7566840" y="3025080"/>
            <a:ext cx="3840480" cy="457200"/>
          </a:xfrm>
          <a:prstGeom prst="rect">
            <a:avLst/>
          </a:prstGeom>
          <a:noFill/>
          <a:ln w="0">
            <a:noFill/>
          </a:ln>
        </p:spPr>
        <p:txBody>
          <a:bodyPr lIns="0" rIns="0" tIns="0" bIns="0" anchor="t">
            <a:noAutofit/>
          </a:bodyPr>
          <a:p>
            <a:r>
              <a:rPr b="0" lang="en-US" sz="1879" spc="-1" strike="noStrike">
                <a:solidFill>
                  <a:srgbClr val="000000"/>
                </a:solidFill>
                <a:latin typeface="Noto Sans"/>
              </a:rPr>
              <a:t>Art</a:t>
            </a:r>
            <a:endParaRPr b="0" lang="en-US" sz="1879" spc="-1" strike="noStrike">
              <a:solidFill>
                <a:srgbClr val="000000"/>
              </a:solidFill>
              <a:latin typeface="Arial"/>
            </a:endParaRPr>
          </a:p>
        </p:txBody>
      </p:sp>
      <p:sp>
        <p:nvSpPr>
          <p:cNvPr id="284" name=""/>
          <p:cNvSpPr/>
          <p:nvPr/>
        </p:nvSpPr>
        <p:spPr>
          <a:xfrm>
            <a:off x="647640" y="3505320"/>
            <a:ext cx="310140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5" name=""/>
          <p:cNvSpPr txBox="1"/>
          <p:nvPr/>
        </p:nvSpPr>
        <p:spPr>
          <a:xfrm>
            <a:off x="784800" y="3634920"/>
            <a:ext cx="2849760" cy="457200"/>
          </a:xfrm>
          <a:prstGeom prst="rect">
            <a:avLst/>
          </a:prstGeom>
          <a:noFill/>
          <a:ln w="0">
            <a:noFill/>
          </a:ln>
        </p:spPr>
        <p:txBody>
          <a:bodyPr lIns="0" rIns="0" tIns="0" bIns="0" anchor="t">
            <a:noAutofit/>
          </a:bodyPr>
          <a:p>
            <a:r>
              <a:rPr b="0" lang="en-US" sz="1879" spc="-1" strike="noStrike">
                <a:solidFill>
                  <a:srgbClr val="000000"/>
                </a:solidFill>
                <a:latin typeface="Noto Sans"/>
              </a:rPr>
              <a:t>decimalLongitude</a:t>
            </a:r>
            <a:endParaRPr b="0" lang="en-US" sz="1879" spc="-1" strike="noStrike">
              <a:solidFill>
                <a:srgbClr val="000000"/>
              </a:solidFill>
              <a:latin typeface="Arial"/>
            </a:endParaRPr>
          </a:p>
        </p:txBody>
      </p:sp>
      <p:sp>
        <p:nvSpPr>
          <p:cNvPr id="286" name=""/>
          <p:cNvSpPr/>
          <p:nvPr/>
        </p:nvSpPr>
        <p:spPr>
          <a:xfrm>
            <a:off x="3772080" y="3505320"/>
            <a:ext cx="363492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7" name=""/>
          <p:cNvSpPr txBox="1"/>
          <p:nvPr/>
        </p:nvSpPr>
        <p:spPr>
          <a:xfrm>
            <a:off x="3909240" y="3634920"/>
            <a:ext cx="3383280" cy="457200"/>
          </a:xfrm>
          <a:prstGeom prst="rect">
            <a:avLst/>
          </a:prstGeom>
          <a:noFill/>
          <a:ln w="0">
            <a:noFill/>
          </a:ln>
        </p:spPr>
        <p:txBody>
          <a:bodyPr lIns="0" rIns="0" tIns="0" bIns="0" anchor="t">
            <a:noAutofit/>
          </a:bodyPr>
          <a:p>
            <a:r>
              <a:rPr b="0" lang="en-US" sz="1879" spc="-1" strike="noStrike">
                <a:solidFill>
                  <a:srgbClr val="000000"/>
                </a:solidFill>
                <a:latin typeface="Noto Sans"/>
              </a:rPr>
              <a:t>8.817572</a:t>
            </a:r>
            <a:endParaRPr b="0" lang="en-US" sz="1879" spc="-1" strike="noStrike">
              <a:solidFill>
                <a:srgbClr val="000000"/>
              </a:solidFill>
              <a:latin typeface="Arial"/>
            </a:endParaRPr>
          </a:p>
        </p:txBody>
      </p:sp>
      <p:sp>
        <p:nvSpPr>
          <p:cNvPr id="288" name=""/>
          <p:cNvSpPr/>
          <p:nvPr/>
        </p:nvSpPr>
        <p:spPr>
          <a:xfrm>
            <a:off x="7429680" y="3505320"/>
            <a:ext cx="409212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9" name=""/>
          <p:cNvSpPr txBox="1"/>
          <p:nvPr/>
        </p:nvSpPr>
        <p:spPr>
          <a:xfrm>
            <a:off x="7566840" y="3634920"/>
            <a:ext cx="3840480" cy="457200"/>
          </a:xfrm>
          <a:prstGeom prst="rect">
            <a:avLst/>
          </a:prstGeom>
          <a:noFill/>
          <a:ln w="0">
            <a:noFill/>
          </a:ln>
        </p:spPr>
        <p:txBody>
          <a:bodyPr lIns="0" rIns="0" tIns="0" bIns="0" anchor="t">
            <a:noAutofit/>
          </a:bodyPr>
          <a:p>
            <a:r>
              <a:rPr b="0" lang="en-US" sz="1879" spc="-1" strike="noStrike">
                <a:solidFill>
                  <a:srgbClr val="000000"/>
                </a:solidFill>
                <a:latin typeface="Noto Sans"/>
              </a:rPr>
              <a:t>x · Länge</a:t>
            </a:r>
            <a:endParaRPr b="0" lang="en-US" sz="1879" spc="-1" strike="noStrike">
              <a:solidFill>
                <a:srgbClr val="000000"/>
              </a:solidFill>
              <a:latin typeface="Arial"/>
            </a:endParaRPr>
          </a:p>
        </p:txBody>
      </p:sp>
      <p:sp>
        <p:nvSpPr>
          <p:cNvPr id="290" name=""/>
          <p:cNvSpPr/>
          <p:nvPr/>
        </p:nvSpPr>
        <p:spPr>
          <a:xfrm>
            <a:off x="647640" y="4114800"/>
            <a:ext cx="3101400" cy="5868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1" name=""/>
          <p:cNvSpPr txBox="1"/>
          <p:nvPr/>
        </p:nvSpPr>
        <p:spPr>
          <a:xfrm>
            <a:off x="784800" y="4244400"/>
            <a:ext cx="2849760" cy="457200"/>
          </a:xfrm>
          <a:prstGeom prst="rect">
            <a:avLst/>
          </a:prstGeom>
          <a:noFill/>
          <a:ln w="0">
            <a:noFill/>
          </a:ln>
        </p:spPr>
        <p:txBody>
          <a:bodyPr lIns="0" rIns="0" tIns="0" bIns="0" anchor="t">
            <a:noAutofit/>
          </a:bodyPr>
          <a:p>
            <a:r>
              <a:rPr b="0" lang="en-US" sz="1879" spc="-1" strike="noStrike">
                <a:solidFill>
                  <a:srgbClr val="000000"/>
                </a:solidFill>
                <a:latin typeface="Noto Sans"/>
              </a:rPr>
              <a:t>decimalLatitude</a:t>
            </a:r>
            <a:endParaRPr b="0" lang="en-US" sz="1879" spc="-1" strike="noStrike">
              <a:solidFill>
                <a:srgbClr val="000000"/>
              </a:solidFill>
              <a:latin typeface="Arial"/>
            </a:endParaRPr>
          </a:p>
        </p:txBody>
      </p:sp>
      <p:sp>
        <p:nvSpPr>
          <p:cNvPr id="292" name=""/>
          <p:cNvSpPr/>
          <p:nvPr/>
        </p:nvSpPr>
        <p:spPr>
          <a:xfrm>
            <a:off x="3772080" y="4114800"/>
            <a:ext cx="3634920" cy="5868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3" name=""/>
          <p:cNvSpPr txBox="1"/>
          <p:nvPr/>
        </p:nvSpPr>
        <p:spPr>
          <a:xfrm>
            <a:off x="3909240" y="4244400"/>
            <a:ext cx="3383280" cy="457200"/>
          </a:xfrm>
          <a:prstGeom prst="rect">
            <a:avLst/>
          </a:prstGeom>
          <a:noFill/>
          <a:ln w="0">
            <a:noFill/>
          </a:ln>
        </p:spPr>
        <p:txBody>
          <a:bodyPr lIns="0" rIns="0" tIns="0" bIns="0" anchor="t">
            <a:noAutofit/>
          </a:bodyPr>
          <a:p>
            <a:r>
              <a:rPr b="0" lang="en-US" sz="1879" spc="-1" strike="noStrike">
                <a:solidFill>
                  <a:srgbClr val="000000"/>
                </a:solidFill>
                <a:latin typeface="Noto Sans"/>
              </a:rPr>
              <a:t>50.807076</a:t>
            </a:r>
            <a:endParaRPr b="0" lang="en-US" sz="1879" spc="-1" strike="noStrike">
              <a:solidFill>
                <a:srgbClr val="000000"/>
              </a:solidFill>
              <a:latin typeface="Arial"/>
            </a:endParaRPr>
          </a:p>
        </p:txBody>
      </p:sp>
      <p:sp>
        <p:nvSpPr>
          <p:cNvPr id="294" name=""/>
          <p:cNvSpPr/>
          <p:nvPr/>
        </p:nvSpPr>
        <p:spPr>
          <a:xfrm>
            <a:off x="7429680" y="4114800"/>
            <a:ext cx="4092120" cy="58680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5" name=""/>
          <p:cNvSpPr txBox="1"/>
          <p:nvPr/>
        </p:nvSpPr>
        <p:spPr>
          <a:xfrm>
            <a:off x="7566840" y="4244400"/>
            <a:ext cx="3840480" cy="457200"/>
          </a:xfrm>
          <a:prstGeom prst="rect">
            <a:avLst/>
          </a:prstGeom>
          <a:noFill/>
          <a:ln w="0">
            <a:noFill/>
          </a:ln>
        </p:spPr>
        <p:txBody>
          <a:bodyPr lIns="0" rIns="0" tIns="0" bIns="0" anchor="t">
            <a:noAutofit/>
          </a:bodyPr>
          <a:p>
            <a:r>
              <a:rPr b="0" lang="en-US" sz="1879" spc="-1" strike="noStrike">
                <a:solidFill>
                  <a:srgbClr val="000000"/>
                </a:solidFill>
                <a:latin typeface="Noto Sans"/>
              </a:rPr>
              <a:t>y · Breite</a:t>
            </a:r>
            <a:endParaRPr b="0" lang="en-US" sz="1879" spc="-1" strike="noStrike">
              <a:solidFill>
                <a:srgbClr val="000000"/>
              </a:solidFill>
              <a:latin typeface="Arial"/>
            </a:endParaRPr>
          </a:p>
        </p:txBody>
      </p:sp>
      <p:sp>
        <p:nvSpPr>
          <p:cNvPr id="296" name=""/>
          <p:cNvSpPr/>
          <p:nvPr/>
        </p:nvSpPr>
        <p:spPr>
          <a:xfrm>
            <a:off x="647640" y="4724280"/>
            <a:ext cx="310140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7" name=""/>
          <p:cNvSpPr txBox="1"/>
          <p:nvPr/>
        </p:nvSpPr>
        <p:spPr>
          <a:xfrm>
            <a:off x="784800" y="4853880"/>
            <a:ext cx="2849760" cy="457200"/>
          </a:xfrm>
          <a:prstGeom prst="rect">
            <a:avLst/>
          </a:prstGeom>
          <a:noFill/>
          <a:ln w="0">
            <a:noFill/>
          </a:ln>
        </p:spPr>
        <p:txBody>
          <a:bodyPr lIns="0" rIns="0" tIns="0" bIns="0" anchor="t">
            <a:noAutofit/>
          </a:bodyPr>
          <a:p>
            <a:r>
              <a:rPr b="0" lang="en-US" sz="1879" spc="-1" strike="noStrike">
                <a:solidFill>
                  <a:srgbClr val="000000"/>
                </a:solidFill>
                <a:latin typeface="Noto Sans"/>
              </a:rPr>
              <a:t>coordinateUncertainty…</a:t>
            </a:r>
            <a:endParaRPr b="0" lang="en-US" sz="1879" spc="-1" strike="noStrike">
              <a:solidFill>
                <a:srgbClr val="000000"/>
              </a:solidFill>
              <a:latin typeface="Arial"/>
            </a:endParaRPr>
          </a:p>
        </p:txBody>
      </p:sp>
      <p:sp>
        <p:nvSpPr>
          <p:cNvPr id="298" name=""/>
          <p:cNvSpPr/>
          <p:nvPr/>
        </p:nvSpPr>
        <p:spPr>
          <a:xfrm>
            <a:off x="3772080" y="4724280"/>
            <a:ext cx="363492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9" name=""/>
          <p:cNvSpPr txBox="1"/>
          <p:nvPr/>
        </p:nvSpPr>
        <p:spPr>
          <a:xfrm>
            <a:off x="3909240" y="4853880"/>
            <a:ext cx="3383280" cy="457200"/>
          </a:xfrm>
          <a:prstGeom prst="rect">
            <a:avLst/>
          </a:prstGeom>
          <a:noFill/>
          <a:ln w="0">
            <a:noFill/>
          </a:ln>
        </p:spPr>
        <p:txBody>
          <a:bodyPr lIns="0" rIns="0" tIns="0" bIns="0" anchor="t">
            <a:noAutofit/>
          </a:bodyPr>
          <a:p>
            <a:r>
              <a:rPr b="0" lang="en-US" sz="1879" spc="-1" strike="noStrike">
                <a:solidFill>
                  <a:srgbClr val="000000"/>
                </a:solidFill>
                <a:latin typeface="Noto Sans"/>
              </a:rPr>
              <a:t>25.0</a:t>
            </a:r>
            <a:endParaRPr b="0" lang="en-US" sz="1879" spc="-1" strike="noStrike">
              <a:solidFill>
                <a:srgbClr val="000000"/>
              </a:solidFill>
              <a:latin typeface="Arial"/>
            </a:endParaRPr>
          </a:p>
        </p:txBody>
      </p:sp>
      <p:sp>
        <p:nvSpPr>
          <p:cNvPr id="300" name=""/>
          <p:cNvSpPr/>
          <p:nvPr/>
        </p:nvSpPr>
        <p:spPr>
          <a:xfrm>
            <a:off x="7429680" y="4724280"/>
            <a:ext cx="4092120" cy="5868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1" name=""/>
          <p:cNvSpPr txBox="1"/>
          <p:nvPr/>
        </p:nvSpPr>
        <p:spPr>
          <a:xfrm>
            <a:off x="7566840" y="4853880"/>
            <a:ext cx="3840480" cy="457200"/>
          </a:xfrm>
          <a:prstGeom prst="rect">
            <a:avLst/>
          </a:prstGeom>
          <a:noFill/>
          <a:ln w="0">
            <a:noFill/>
          </a:ln>
        </p:spPr>
        <p:txBody>
          <a:bodyPr lIns="0" rIns="0" tIns="0" bIns="0" anchor="t">
            <a:noAutofit/>
          </a:bodyPr>
          <a:p>
            <a:r>
              <a:rPr b="0" lang="en-US" sz="1879" spc="-1" strike="noStrike">
                <a:solidFill>
                  <a:srgbClr val="000000"/>
                </a:solidFill>
                <a:latin typeface="Noto Sans"/>
              </a:rPr>
              <a:t>Unsicherheit in m</a:t>
            </a:r>
            <a:endParaRPr b="0" lang="en-US" sz="1879" spc="-1" strike="noStrike">
              <a:solidFill>
                <a:srgbClr val="000000"/>
              </a:solidFill>
              <a:latin typeface="Arial"/>
            </a:endParaRPr>
          </a:p>
        </p:txBody>
      </p:sp>
      <p:sp>
        <p:nvSpPr>
          <p:cNvPr id="30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3"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Datei: data_raw/gbif_feuersalamander_marburg.csv · 79 Zeilen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Textdatei als Punktlayer importieren</a:t>
            </a:r>
            <a:endParaRPr b="0" lang="en-US" sz="3190" spc="-1" strike="noStrike">
              <a:solidFill>
                <a:srgbClr val="000000"/>
              </a:solidFill>
              <a:latin typeface="Arial"/>
            </a:endParaRPr>
          </a:p>
        </p:txBody>
      </p:sp>
      <p:sp>
        <p:nvSpPr>
          <p:cNvPr id="30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IMPORT · DIALOG</a:t>
            </a:r>
            <a:endParaRPr b="0" lang="en-US" sz="1130" spc="-1" strike="noStrike">
              <a:solidFill>
                <a:srgbClr val="000000"/>
              </a:solidFill>
              <a:latin typeface="Arial"/>
            </a:endParaRPr>
          </a:p>
        </p:txBody>
      </p:sp>
      <p:sp>
        <p:nvSpPr>
          <p:cNvPr id="30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30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15</a:t>
            </a:r>
            <a:endParaRPr b="0" lang="en-US" sz="939" spc="-1" strike="noStrike">
              <a:solidFill>
                <a:srgbClr val="000000"/>
              </a:solidFill>
              <a:latin typeface="Arial"/>
            </a:endParaRPr>
          </a:p>
        </p:txBody>
      </p:sp>
      <p:pic>
        <p:nvPicPr>
          <p:cNvPr id="308" name="" descr="Eine schematische Dialogansicht markiert die verbindlichen Einstellungen: Datei gbif_feuersalamander_marburg.csv, UTF-8, Komma als Trennzeichen, decimalLongitude als x-Feld, decimalLatitude als y-Feld und WGS 84 EPSG 4326 als Geometrie-CRS. Eine Vorschau zeigt zwei reale Zeilen des Kurssnapshots in getrennten Spalten."/>
          <p:cNvPicPr/>
          <p:nvPr/>
        </p:nvPicPr>
        <p:blipFill>
          <a:blip r:embed="rId1">
            <a:extLst>
              <a:ext uri="{96DAC541-7B7A-43D3-8B79-37D633B846F1}">
                <asvg:svgBlip xmlns:asvg="http://schemas.microsoft.com/office/drawing/2016/SVG/main" r:embed="rId2"/>
              </a:ext>
            </a:extLst>
          </a:blip>
          <a:stretch/>
        </p:blipFill>
        <p:spPr>
          <a:xfrm>
            <a:off x="2286000" y="1638360"/>
            <a:ext cx="7620120" cy="434340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Vier Importangaben müssen zusammenpassen</a:t>
            </a:r>
            <a:endParaRPr b="0" lang="en-US" sz="3190" spc="-1" strike="noStrike">
              <a:solidFill>
                <a:srgbClr val="000000"/>
              </a:solidFill>
              <a:latin typeface="Arial"/>
            </a:endParaRPr>
          </a:p>
        </p:txBody>
      </p:sp>
      <p:sp>
        <p:nvSpPr>
          <p:cNvPr id="31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IMPORT · EINSTELLUNGEN</a:t>
            </a:r>
            <a:endParaRPr b="0" lang="en-US" sz="1130" spc="-1" strike="noStrike">
              <a:solidFill>
                <a:srgbClr val="000000"/>
              </a:solidFill>
              <a:latin typeface="Arial"/>
            </a:endParaRPr>
          </a:p>
        </p:txBody>
      </p:sp>
      <p:sp>
        <p:nvSpPr>
          <p:cNvPr id="31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31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16</a:t>
            </a:r>
            <a:endParaRPr b="0" lang="en-US" sz="939" spc="-1" strike="noStrike">
              <a:solidFill>
                <a:srgbClr val="000000"/>
              </a:solidFill>
              <a:latin typeface="Arial"/>
            </a:endParaRPr>
          </a:p>
        </p:txBody>
      </p:sp>
      <p:sp>
        <p:nvSpPr>
          <p:cNvPr id="313" name=""/>
          <p:cNvSpPr/>
          <p:nvPr/>
        </p:nvSpPr>
        <p:spPr>
          <a:xfrm>
            <a:off x="647640" y="1790640"/>
            <a:ext cx="432072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14" name=""/>
          <p:cNvSpPr txBox="1"/>
          <p:nvPr/>
        </p:nvSpPr>
        <p:spPr>
          <a:xfrm>
            <a:off x="784800" y="1920240"/>
            <a:ext cx="4069080" cy="533520"/>
          </a:xfrm>
          <a:prstGeom prst="rect">
            <a:avLst/>
          </a:prstGeom>
          <a:noFill/>
          <a:ln w="0">
            <a:noFill/>
          </a:ln>
        </p:spPr>
        <p:txBody>
          <a:bodyPr lIns="0" rIns="0" tIns="0" bIns="0" anchor="t">
            <a:noAutofit/>
          </a:bodyPr>
          <a:p>
            <a:r>
              <a:rPr b="1" lang="en-US" sz="2160" spc="-1" strike="noStrike">
                <a:solidFill>
                  <a:srgbClr val="ffffff"/>
                </a:solidFill>
                <a:latin typeface="Noto Sans"/>
              </a:rPr>
              <a:t>Angabe</a:t>
            </a:r>
            <a:endParaRPr b="0" lang="en-US" sz="2160" spc="-1" strike="noStrike">
              <a:solidFill>
                <a:srgbClr val="000000"/>
              </a:solidFill>
              <a:latin typeface="Arial"/>
            </a:endParaRPr>
          </a:p>
        </p:txBody>
      </p:sp>
      <p:sp>
        <p:nvSpPr>
          <p:cNvPr id="315" name=""/>
          <p:cNvSpPr/>
          <p:nvPr/>
        </p:nvSpPr>
        <p:spPr>
          <a:xfrm>
            <a:off x="4991040" y="1790640"/>
            <a:ext cx="653040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16" name=""/>
          <p:cNvSpPr txBox="1"/>
          <p:nvPr/>
        </p:nvSpPr>
        <p:spPr>
          <a:xfrm>
            <a:off x="5128200" y="1920240"/>
            <a:ext cx="6279120" cy="533520"/>
          </a:xfrm>
          <a:prstGeom prst="rect">
            <a:avLst/>
          </a:prstGeom>
          <a:noFill/>
          <a:ln w="0">
            <a:noFill/>
          </a:ln>
        </p:spPr>
        <p:txBody>
          <a:bodyPr lIns="0" rIns="0" tIns="0" bIns="0" anchor="t">
            <a:noAutofit/>
          </a:bodyPr>
          <a:p>
            <a:r>
              <a:rPr b="1" lang="en-US" sz="2160" spc="-1" strike="noStrike">
                <a:solidFill>
                  <a:srgbClr val="ffffff"/>
                </a:solidFill>
                <a:latin typeface="Noto Sans"/>
              </a:rPr>
              <a:t>Wert</a:t>
            </a:r>
            <a:endParaRPr b="0" lang="en-US" sz="2160" spc="-1" strike="noStrike">
              <a:solidFill>
                <a:srgbClr val="000000"/>
              </a:solidFill>
              <a:latin typeface="Arial"/>
            </a:endParaRPr>
          </a:p>
        </p:txBody>
      </p:sp>
      <p:sp>
        <p:nvSpPr>
          <p:cNvPr id="317" name=""/>
          <p:cNvSpPr/>
          <p:nvPr/>
        </p:nvSpPr>
        <p:spPr>
          <a:xfrm>
            <a:off x="647640" y="2476440"/>
            <a:ext cx="432072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8" name=""/>
          <p:cNvSpPr txBox="1"/>
          <p:nvPr/>
        </p:nvSpPr>
        <p:spPr>
          <a:xfrm>
            <a:off x="784800" y="2606040"/>
            <a:ext cx="4069080" cy="533520"/>
          </a:xfrm>
          <a:prstGeom prst="rect">
            <a:avLst/>
          </a:prstGeom>
          <a:noFill/>
          <a:ln w="0">
            <a:noFill/>
          </a:ln>
        </p:spPr>
        <p:txBody>
          <a:bodyPr lIns="0" rIns="0" tIns="0" bIns="0" anchor="t">
            <a:noAutofit/>
          </a:bodyPr>
          <a:p>
            <a:r>
              <a:rPr b="0" lang="en-US" sz="2160" spc="-1" strike="noStrike">
                <a:solidFill>
                  <a:srgbClr val="000000"/>
                </a:solidFill>
                <a:latin typeface="Noto Sans"/>
              </a:rPr>
              <a:t>Kodierung / Trennzeichen</a:t>
            </a:r>
            <a:endParaRPr b="0" lang="en-US" sz="2160" spc="-1" strike="noStrike">
              <a:solidFill>
                <a:srgbClr val="000000"/>
              </a:solidFill>
              <a:latin typeface="Arial"/>
            </a:endParaRPr>
          </a:p>
        </p:txBody>
      </p:sp>
      <p:sp>
        <p:nvSpPr>
          <p:cNvPr id="319" name=""/>
          <p:cNvSpPr/>
          <p:nvPr/>
        </p:nvSpPr>
        <p:spPr>
          <a:xfrm>
            <a:off x="4991040" y="2476440"/>
            <a:ext cx="653040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0" name=""/>
          <p:cNvSpPr txBox="1"/>
          <p:nvPr/>
        </p:nvSpPr>
        <p:spPr>
          <a:xfrm>
            <a:off x="5128200" y="2606040"/>
            <a:ext cx="6279120" cy="533520"/>
          </a:xfrm>
          <a:prstGeom prst="rect">
            <a:avLst/>
          </a:prstGeom>
          <a:noFill/>
          <a:ln w="0">
            <a:noFill/>
          </a:ln>
        </p:spPr>
        <p:txBody>
          <a:bodyPr lIns="0" rIns="0" tIns="0" bIns="0" anchor="t">
            <a:noAutofit/>
          </a:bodyPr>
          <a:p>
            <a:r>
              <a:rPr b="0" lang="en-US" sz="2160" spc="-1" strike="noStrike">
                <a:solidFill>
                  <a:srgbClr val="000000"/>
                </a:solidFill>
                <a:latin typeface="Noto Sans"/>
              </a:rPr>
              <a:t>UTF-8 / Komma</a:t>
            </a:r>
            <a:endParaRPr b="0" lang="en-US" sz="2160" spc="-1" strike="noStrike">
              <a:solidFill>
                <a:srgbClr val="000000"/>
              </a:solidFill>
              <a:latin typeface="Arial"/>
            </a:endParaRPr>
          </a:p>
        </p:txBody>
      </p:sp>
      <p:sp>
        <p:nvSpPr>
          <p:cNvPr id="321" name=""/>
          <p:cNvSpPr/>
          <p:nvPr/>
        </p:nvSpPr>
        <p:spPr>
          <a:xfrm>
            <a:off x="647640" y="3162240"/>
            <a:ext cx="432072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2" name=""/>
          <p:cNvSpPr txBox="1"/>
          <p:nvPr/>
        </p:nvSpPr>
        <p:spPr>
          <a:xfrm>
            <a:off x="784800" y="3291840"/>
            <a:ext cx="4069080" cy="533520"/>
          </a:xfrm>
          <a:prstGeom prst="rect">
            <a:avLst/>
          </a:prstGeom>
          <a:noFill/>
          <a:ln w="0">
            <a:noFill/>
          </a:ln>
        </p:spPr>
        <p:txBody>
          <a:bodyPr lIns="0" rIns="0" tIns="0" bIns="0" anchor="t">
            <a:noAutofit/>
          </a:bodyPr>
          <a:p>
            <a:r>
              <a:rPr b="0" lang="en-US" sz="2160" spc="-1" strike="noStrike">
                <a:solidFill>
                  <a:srgbClr val="000000"/>
                </a:solidFill>
                <a:latin typeface="Noto Sans"/>
              </a:rPr>
              <a:t>x-Feld</a:t>
            </a:r>
            <a:endParaRPr b="0" lang="en-US" sz="2160" spc="-1" strike="noStrike">
              <a:solidFill>
                <a:srgbClr val="000000"/>
              </a:solidFill>
              <a:latin typeface="Arial"/>
            </a:endParaRPr>
          </a:p>
        </p:txBody>
      </p:sp>
      <p:sp>
        <p:nvSpPr>
          <p:cNvPr id="323" name=""/>
          <p:cNvSpPr/>
          <p:nvPr/>
        </p:nvSpPr>
        <p:spPr>
          <a:xfrm>
            <a:off x="4991040" y="3162240"/>
            <a:ext cx="653040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4" name=""/>
          <p:cNvSpPr txBox="1"/>
          <p:nvPr/>
        </p:nvSpPr>
        <p:spPr>
          <a:xfrm>
            <a:off x="5128200" y="3291840"/>
            <a:ext cx="6279120" cy="533520"/>
          </a:xfrm>
          <a:prstGeom prst="rect">
            <a:avLst/>
          </a:prstGeom>
          <a:noFill/>
          <a:ln w="0">
            <a:noFill/>
          </a:ln>
        </p:spPr>
        <p:txBody>
          <a:bodyPr lIns="0" rIns="0" tIns="0" bIns="0" anchor="t">
            <a:noAutofit/>
          </a:bodyPr>
          <a:p>
            <a:r>
              <a:rPr b="0" lang="en-US" sz="2160" spc="-1" strike="noStrike">
                <a:solidFill>
                  <a:srgbClr val="000000"/>
                </a:solidFill>
                <a:latin typeface="Noto Sans"/>
              </a:rPr>
              <a:t>decimalLongitude</a:t>
            </a:r>
            <a:endParaRPr b="0" lang="en-US" sz="2160" spc="-1" strike="noStrike">
              <a:solidFill>
                <a:srgbClr val="000000"/>
              </a:solidFill>
              <a:latin typeface="Arial"/>
            </a:endParaRPr>
          </a:p>
        </p:txBody>
      </p:sp>
      <p:sp>
        <p:nvSpPr>
          <p:cNvPr id="325" name=""/>
          <p:cNvSpPr/>
          <p:nvPr/>
        </p:nvSpPr>
        <p:spPr>
          <a:xfrm>
            <a:off x="647640" y="3848040"/>
            <a:ext cx="432072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6" name=""/>
          <p:cNvSpPr txBox="1"/>
          <p:nvPr/>
        </p:nvSpPr>
        <p:spPr>
          <a:xfrm>
            <a:off x="784800" y="3977640"/>
            <a:ext cx="4069080" cy="533520"/>
          </a:xfrm>
          <a:prstGeom prst="rect">
            <a:avLst/>
          </a:prstGeom>
          <a:noFill/>
          <a:ln w="0">
            <a:noFill/>
          </a:ln>
        </p:spPr>
        <p:txBody>
          <a:bodyPr lIns="0" rIns="0" tIns="0" bIns="0" anchor="t">
            <a:noAutofit/>
          </a:bodyPr>
          <a:p>
            <a:r>
              <a:rPr b="0" lang="en-US" sz="2160" spc="-1" strike="noStrike">
                <a:solidFill>
                  <a:srgbClr val="000000"/>
                </a:solidFill>
                <a:latin typeface="Noto Sans"/>
              </a:rPr>
              <a:t>y-Feld</a:t>
            </a:r>
            <a:endParaRPr b="0" lang="en-US" sz="2160" spc="-1" strike="noStrike">
              <a:solidFill>
                <a:srgbClr val="000000"/>
              </a:solidFill>
              <a:latin typeface="Arial"/>
            </a:endParaRPr>
          </a:p>
        </p:txBody>
      </p:sp>
      <p:sp>
        <p:nvSpPr>
          <p:cNvPr id="327" name=""/>
          <p:cNvSpPr/>
          <p:nvPr/>
        </p:nvSpPr>
        <p:spPr>
          <a:xfrm>
            <a:off x="4991040" y="3848040"/>
            <a:ext cx="653040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8" name=""/>
          <p:cNvSpPr txBox="1"/>
          <p:nvPr/>
        </p:nvSpPr>
        <p:spPr>
          <a:xfrm>
            <a:off x="5128200" y="3977640"/>
            <a:ext cx="6279120" cy="533520"/>
          </a:xfrm>
          <a:prstGeom prst="rect">
            <a:avLst/>
          </a:prstGeom>
          <a:noFill/>
          <a:ln w="0">
            <a:noFill/>
          </a:ln>
        </p:spPr>
        <p:txBody>
          <a:bodyPr lIns="0" rIns="0" tIns="0" bIns="0" anchor="t">
            <a:noAutofit/>
          </a:bodyPr>
          <a:p>
            <a:r>
              <a:rPr b="0" lang="en-US" sz="2160" spc="-1" strike="noStrike">
                <a:solidFill>
                  <a:srgbClr val="000000"/>
                </a:solidFill>
                <a:latin typeface="Noto Sans"/>
              </a:rPr>
              <a:t>decimalLatitude</a:t>
            </a:r>
            <a:endParaRPr b="0" lang="en-US" sz="2160" spc="-1" strike="noStrike">
              <a:solidFill>
                <a:srgbClr val="000000"/>
              </a:solidFill>
              <a:latin typeface="Arial"/>
            </a:endParaRPr>
          </a:p>
        </p:txBody>
      </p:sp>
      <p:sp>
        <p:nvSpPr>
          <p:cNvPr id="329" name=""/>
          <p:cNvSpPr/>
          <p:nvPr/>
        </p:nvSpPr>
        <p:spPr>
          <a:xfrm>
            <a:off x="647640" y="4533840"/>
            <a:ext cx="432072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30" name=""/>
          <p:cNvSpPr txBox="1"/>
          <p:nvPr/>
        </p:nvSpPr>
        <p:spPr>
          <a:xfrm>
            <a:off x="784800" y="4663440"/>
            <a:ext cx="4069080" cy="533520"/>
          </a:xfrm>
          <a:prstGeom prst="rect">
            <a:avLst/>
          </a:prstGeom>
          <a:noFill/>
          <a:ln w="0">
            <a:noFill/>
          </a:ln>
        </p:spPr>
        <p:txBody>
          <a:bodyPr lIns="0" rIns="0" tIns="0" bIns="0" anchor="t">
            <a:noAutofit/>
          </a:bodyPr>
          <a:p>
            <a:r>
              <a:rPr b="0" lang="en-US" sz="2160" spc="-1" strike="noStrike">
                <a:solidFill>
                  <a:srgbClr val="000000"/>
                </a:solidFill>
                <a:latin typeface="Noto Sans"/>
              </a:rPr>
              <a:t>Geometrie-CRS</a:t>
            </a:r>
            <a:endParaRPr b="0" lang="en-US" sz="2160" spc="-1" strike="noStrike">
              <a:solidFill>
                <a:srgbClr val="000000"/>
              </a:solidFill>
              <a:latin typeface="Arial"/>
            </a:endParaRPr>
          </a:p>
        </p:txBody>
      </p:sp>
      <p:sp>
        <p:nvSpPr>
          <p:cNvPr id="331" name=""/>
          <p:cNvSpPr/>
          <p:nvPr/>
        </p:nvSpPr>
        <p:spPr>
          <a:xfrm>
            <a:off x="4991040" y="4533840"/>
            <a:ext cx="653040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32" name=""/>
          <p:cNvSpPr txBox="1"/>
          <p:nvPr/>
        </p:nvSpPr>
        <p:spPr>
          <a:xfrm>
            <a:off x="5128200" y="4663440"/>
            <a:ext cx="6279120" cy="533520"/>
          </a:xfrm>
          <a:prstGeom prst="rect">
            <a:avLst/>
          </a:prstGeom>
          <a:noFill/>
          <a:ln w="0">
            <a:noFill/>
          </a:ln>
        </p:spPr>
        <p:txBody>
          <a:bodyPr lIns="0" rIns="0" tIns="0" bIns="0" anchor="t">
            <a:noAutofit/>
          </a:bodyPr>
          <a:p>
            <a:r>
              <a:rPr b="0" lang="en-US" sz="2160" spc="-1" strike="noStrike">
                <a:solidFill>
                  <a:srgbClr val="000000"/>
                </a:solidFill>
                <a:latin typeface="Noto Sans"/>
              </a:rPr>
              <a:t>EPSG:4326 · WGS 84</a:t>
            </a:r>
            <a:endParaRPr b="0" lang="en-US" sz="2160" spc="-1" strike="noStrike">
              <a:solidFill>
                <a:srgbClr val="000000"/>
              </a:solidFill>
              <a:latin typeface="Arial"/>
            </a:endParaRPr>
          </a:p>
        </p:txBody>
      </p:sp>
      <p:sp>
        <p:nvSpPr>
          <p:cNvPr id="33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34"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Import-CRS = Bedeutung der Zahlen · nicht gewünschtes Ausgabe-CRS</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Erstkontrolle nach dem Import</a:t>
            </a:r>
            <a:endParaRPr b="0" lang="en-US" sz="3190" spc="-1" strike="noStrike">
              <a:solidFill>
                <a:srgbClr val="000000"/>
              </a:solidFill>
              <a:latin typeface="Arial"/>
            </a:endParaRPr>
          </a:p>
        </p:txBody>
      </p:sp>
      <p:sp>
        <p:nvSpPr>
          <p:cNvPr id="33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IMPORT · PLAUSIBILITÄT</a:t>
            </a:r>
            <a:endParaRPr b="0" lang="en-US" sz="1130" spc="-1" strike="noStrike">
              <a:solidFill>
                <a:srgbClr val="000000"/>
              </a:solidFill>
              <a:latin typeface="Arial"/>
            </a:endParaRPr>
          </a:p>
        </p:txBody>
      </p:sp>
      <p:sp>
        <p:nvSpPr>
          <p:cNvPr id="33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33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17</a:t>
            </a:r>
            <a:endParaRPr b="0" lang="en-US" sz="939" spc="-1" strike="noStrike">
              <a:solidFill>
                <a:srgbClr val="000000"/>
              </a:solidFill>
              <a:latin typeface="Arial"/>
            </a:endParaRPr>
          </a:p>
        </p:txBody>
      </p:sp>
      <p:sp>
        <p:nvSpPr>
          <p:cNvPr id="339" name=""/>
          <p:cNvSpPr/>
          <p:nvPr/>
        </p:nvSpPr>
        <p:spPr>
          <a:xfrm>
            <a:off x="647640" y="190512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40" name=""/>
          <p:cNvSpPr txBox="1"/>
          <p:nvPr/>
        </p:nvSpPr>
        <p:spPr>
          <a:xfrm>
            <a:off x="647640" y="196596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341" name=""/>
          <p:cNvSpPr txBox="1"/>
          <p:nvPr/>
        </p:nvSpPr>
        <p:spPr>
          <a:xfrm>
            <a:off x="1371600" y="190512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Anzahl</a:t>
            </a:r>
            <a:endParaRPr b="0" lang="en-US" sz="2720" spc="-1" strike="noStrike">
              <a:solidFill>
                <a:srgbClr val="000000"/>
              </a:solidFill>
              <a:latin typeface="Arial"/>
            </a:endParaRPr>
          </a:p>
        </p:txBody>
      </p:sp>
      <p:sp>
        <p:nvSpPr>
          <p:cNvPr id="342" name=""/>
          <p:cNvSpPr txBox="1"/>
          <p:nvPr/>
        </p:nvSpPr>
        <p:spPr>
          <a:xfrm>
            <a:off x="1371600" y="237744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79 Records im Layer gbif_feuersalamander_raw.</a:t>
            </a:r>
            <a:endParaRPr b="0" lang="en-US" sz="2260" spc="-1" strike="noStrike">
              <a:solidFill>
                <a:srgbClr val="000000"/>
              </a:solidFill>
              <a:latin typeface="Arial"/>
            </a:endParaRPr>
          </a:p>
        </p:txBody>
      </p:sp>
      <p:sp>
        <p:nvSpPr>
          <p:cNvPr id="343" name=""/>
          <p:cNvSpPr/>
          <p:nvPr/>
        </p:nvSpPr>
        <p:spPr>
          <a:xfrm>
            <a:off x="647640" y="320040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44" name=""/>
          <p:cNvSpPr txBox="1"/>
          <p:nvPr/>
        </p:nvSpPr>
        <p:spPr>
          <a:xfrm>
            <a:off x="647640" y="32612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345" name=""/>
          <p:cNvSpPr txBox="1"/>
          <p:nvPr/>
        </p:nvSpPr>
        <p:spPr>
          <a:xfrm>
            <a:off x="1371600" y="320040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Lage</a:t>
            </a:r>
            <a:endParaRPr b="0" lang="en-US" sz="2720" spc="-1" strike="noStrike">
              <a:solidFill>
                <a:srgbClr val="000000"/>
              </a:solidFill>
              <a:latin typeface="Arial"/>
            </a:endParaRPr>
          </a:p>
        </p:txBody>
      </p:sp>
      <p:sp>
        <p:nvSpPr>
          <p:cNvPr id="346" name=""/>
          <p:cNvSpPr txBox="1"/>
          <p:nvPr/>
        </p:nvSpPr>
        <p:spPr>
          <a:xfrm>
            <a:off x="1371600" y="36727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Auf Layer zoomen; Punkte liegen im Marburger Ausschnitt.</a:t>
            </a:r>
            <a:endParaRPr b="0" lang="en-US" sz="2260" spc="-1" strike="noStrike">
              <a:solidFill>
                <a:srgbClr val="000000"/>
              </a:solidFill>
              <a:latin typeface="Arial"/>
            </a:endParaRPr>
          </a:p>
        </p:txBody>
      </p:sp>
      <p:sp>
        <p:nvSpPr>
          <p:cNvPr id="347" name=""/>
          <p:cNvSpPr/>
          <p:nvPr/>
        </p:nvSpPr>
        <p:spPr>
          <a:xfrm>
            <a:off x="647640" y="44956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48" name=""/>
          <p:cNvSpPr txBox="1"/>
          <p:nvPr/>
        </p:nvSpPr>
        <p:spPr>
          <a:xfrm>
            <a:off x="647640" y="45568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349" name=""/>
          <p:cNvSpPr txBox="1"/>
          <p:nvPr/>
        </p:nvSpPr>
        <p:spPr>
          <a:xfrm>
            <a:off x="1371600" y="44956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Attribute</a:t>
            </a:r>
            <a:endParaRPr b="0" lang="en-US" sz="2720" spc="-1" strike="noStrike">
              <a:solidFill>
                <a:srgbClr val="000000"/>
              </a:solidFill>
              <a:latin typeface="Arial"/>
            </a:endParaRPr>
          </a:p>
        </p:txBody>
      </p:sp>
      <p:sp>
        <p:nvSpPr>
          <p:cNvPr id="350" name=""/>
          <p:cNvSpPr txBox="1"/>
          <p:nvPr/>
        </p:nvSpPr>
        <p:spPr>
          <a:xfrm>
            <a:off x="1371600" y="49683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gbifID, Art, Koordinaten und Unsicherheit stichprobenartig lesen.</a:t>
            </a:r>
            <a:endParaRPr b="0" lang="en-US" sz="2260" spc="-1" strike="noStrike">
              <a:solidFill>
                <a:srgbClr val="000000"/>
              </a:solidFill>
              <a:latin typeface="Arial"/>
            </a:endParaRPr>
          </a:p>
        </p:txBody>
      </p:sp>
      <p:sp>
        <p:nvSpPr>
          <p:cNvPr id="35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2"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Fehlerbild weit weg? Meist sind x/y vertauscht oder das Import-CRS falsch.</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Was bedeutet Koordinatenunsicherheit?</a:t>
            </a:r>
            <a:endParaRPr b="0" lang="en-US" sz="3190" spc="-1" strike="noStrike">
              <a:solidFill>
                <a:srgbClr val="000000"/>
              </a:solidFill>
              <a:latin typeface="Arial"/>
            </a:endParaRPr>
          </a:p>
        </p:txBody>
      </p:sp>
      <p:sp>
        <p:nvSpPr>
          <p:cNvPr id="35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QUALITÄT · RAUMBEZUG</a:t>
            </a:r>
            <a:endParaRPr b="0" lang="en-US" sz="1130" spc="-1" strike="noStrike">
              <a:solidFill>
                <a:srgbClr val="000000"/>
              </a:solidFill>
              <a:latin typeface="Arial"/>
            </a:endParaRPr>
          </a:p>
        </p:txBody>
      </p:sp>
      <p:sp>
        <p:nvSpPr>
          <p:cNvPr id="35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35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18</a:t>
            </a:r>
            <a:endParaRPr b="0" lang="en-US" sz="939" spc="-1" strike="noStrike">
              <a:solidFill>
                <a:srgbClr val="000000"/>
              </a:solidFill>
              <a:latin typeface="Arial"/>
            </a:endParaRPr>
          </a:p>
        </p:txBody>
      </p:sp>
      <p:pic>
        <p:nvPicPr>
          <p:cNvPr id="357" name="" descr="Ein Nachweis enthält Art, Zeitpunkt, Koordinate und Herkunft. Ein Punkt repräsentiert die gemeldete Koordinate; ein gestrichelter Kreis kennzeichnet separat ihre angegebene räumliche Unsicherheit. Zwei unterschiedlich große Symbole ändern weder die Koordinate noch deren Genauigkeit."/>
          <p:cNvPicPr/>
          <p:nvPr/>
        </p:nvPicPr>
        <p:blipFill>
          <a:blip r:embed="rId1">
            <a:extLst>
              <a:ext uri="{96DAC541-7B7A-43D3-8B79-37D633B846F1}">
                <asvg:svgBlip xmlns:asvg="http://schemas.microsoft.com/office/drawing/2016/SVG/main" r:embed="rId2"/>
              </a:ext>
            </a:extLst>
          </a:blip>
          <a:stretch/>
        </p:blipFill>
        <p:spPr>
          <a:xfrm>
            <a:off x="2133720" y="1638360"/>
            <a:ext cx="3924360" cy="4377960"/>
          </a:xfrm>
          <a:prstGeom prst="rect">
            <a:avLst/>
          </a:prstGeom>
          <a:ln w="0">
            <a:noFill/>
          </a:ln>
        </p:spPr>
      </p:pic>
      <p:sp>
        <p:nvSpPr>
          <p:cNvPr id="358" name=""/>
          <p:cNvSpPr/>
          <p:nvPr/>
        </p:nvSpPr>
        <p:spPr>
          <a:xfrm>
            <a:off x="6858000" y="2171880"/>
            <a:ext cx="4267080" cy="1371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9" name=""/>
          <p:cNvSpPr/>
          <p:nvPr/>
        </p:nvSpPr>
        <p:spPr>
          <a:xfrm>
            <a:off x="6858000" y="2171880"/>
            <a:ext cx="53280" cy="1371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60" name=""/>
          <p:cNvSpPr txBox="1"/>
          <p:nvPr/>
        </p:nvSpPr>
        <p:spPr>
          <a:xfrm>
            <a:off x="7063920" y="2354760"/>
            <a:ext cx="3855600" cy="647640"/>
          </a:xfrm>
          <a:prstGeom prst="rect">
            <a:avLst/>
          </a:prstGeom>
          <a:noFill/>
          <a:ln w="0">
            <a:noFill/>
          </a:ln>
        </p:spPr>
        <p:txBody>
          <a:bodyPr lIns="0" rIns="0" tIns="0" bIns="0" anchor="t">
            <a:noAutofit/>
          </a:bodyPr>
          <a:p>
            <a:r>
              <a:rPr b="1" lang="en-US" sz="2540" spc="-1" strike="noStrike">
                <a:solidFill>
                  <a:srgbClr val="004899"/>
                </a:solidFill>
                <a:latin typeface="Noto Sans"/>
              </a:rPr>
              <a:t>Heute akzeptiert</a:t>
            </a:r>
            <a:endParaRPr b="0" lang="en-US" sz="2540" spc="-1" strike="noStrike">
              <a:solidFill>
                <a:srgbClr val="000000"/>
              </a:solidFill>
              <a:latin typeface="Arial"/>
            </a:endParaRPr>
          </a:p>
        </p:txBody>
      </p:sp>
      <p:sp>
        <p:nvSpPr>
          <p:cNvPr id="361" name=""/>
          <p:cNvSpPr txBox="1"/>
          <p:nvPr/>
        </p:nvSpPr>
        <p:spPr>
          <a:xfrm>
            <a:off x="7063920" y="2933640"/>
            <a:ext cx="3855600" cy="472320"/>
          </a:xfrm>
          <a:prstGeom prst="rect">
            <a:avLst/>
          </a:prstGeom>
          <a:noFill/>
          <a:ln w="0">
            <a:noFill/>
          </a:ln>
        </p:spPr>
        <p:txBody>
          <a:bodyPr lIns="0" rIns="0" tIns="0" bIns="0" anchor="t">
            <a:noAutofit/>
          </a:bodyPr>
          <a:p>
            <a:r>
              <a:rPr b="0" lang="en-US" sz="2350" spc="-1" strike="noStrike">
                <a:solidFill>
                  <a:srgbClr val="000000"/>
                </a:solidFill>
                <a:latin typeface="Noto Sans"/>
              </a:rPr>
              <a:t>&gt; 0 m und ≤ 100 m</a:t>
            </a:r>
            <a:endParaRPr b="0" lang="en-US" sz="2350" spc="-1" strike="noStrike">
              <a:solidFill>
                <a:srgbClr val="000000"/>
              </a:solidFill>
              <a:latin typeface="Arial"/>
            </a:endParaRPr>
          </a:p>
        </p:txBody>
      </p:sp>
      <p:sp>
        <p:nvSpPr>
          <p:cNvPr id="362" name=""/>
          <p:cNvSpPr/>
          <p:nvPr/>
        </p:nvSpPr>
        <p:spPr>
          <a:xfrm>
            <a:off x="6858000" y="3924360"/>
            <a:ext cx="4267080" cy="1371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3" name=""/>
          <p:cNvSpPr/>
          <p:nvPr/>
        </p:nvSpPr>
        <p:spPr>
          <a:xfrm>
            <a:off x="6858000" y="3924360"/>
            <a:ext cx="53280" cy="13716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64" name=""/>
          <p:cNvSpPr txBox="1"/>
          <p:nvPr/>
        </p:nvSpPr>
        <p:spPr>
          <a:xfrm>
            <a:off x="7063920" y="4107240"/>
            <a:ext cx="3855600" cy="647640"/>
          </a:xfrm>
          <a:prstGeom prst="rect">
            <a:avLst/>
          </a:prstGeom>
          <a:noFill/>
          <a:ln w="0">
            <a:noFill/>
          </a:ln>
        </p:spPr>
        <p:txBody>
          <a:bodyPr lIns="0" rIns="0" tIns="0" bIns="0" anchor="t">
            <a:noAutofit/>
          </a:bodyPr>
          <a:p>
            <a:r>
              <a:rPr b="1" lang="en-US" sz="2540" spc="-1" strike="noStrike">
                <a:solidFill>
                  <a:srgbClr val="a32123"/>
                </a:solidFill>
                <a:latin typeface="Noto Sans"/>
              </a:rPr>
              <a:t>Ausgeschlossen</a:t>
            </a:r>
            <a:endParaRPr b="0" lang="en-US" sz="2540" spc="-1" strike="noStrike">
              <a:solidFill>
                <a:srgbClr val="000000"/>
              </a:solidFill>
              <a:latin typeface="Arial"/>
            </a:endParaRPr>
          </a:p>
        </p:txBody>
      </p:sp>
      <p:sp>
        <p:nvSpPr>
          <p:cNvPr id="365" name=""/>
          <p:cNvSpPr txBox="1"/>
          <p:nvPr/>
        </p:nvSpPr>
        <p:spPr>
          <a:xfrm>
            <a:off x="7063920" y="4686480"/>
            <a:ext cx="3855600" cy="472320"/>
          </a:xfrm>
          <a:prstGeom prst="rect">
            <a:avLst/>
          </a:prstGeom>
          <a:noFill/>
          <a:ln w="0">
            <a:noFill/>
          </a:ln>
        </p:spPr>
        <p:txBody>
          <a:bodyPr lIns="0" rIns="0" tIns="0" bIns="0" anchor="t">
            <a:noAutofit/>
          </a:bodyPr>
          <a:p>
            <a:r>
              <a:rPr b="0" lang="en-US" sz="2160" spc="-1" strike="noStrike">
                <a:solidFill>
                  <a:srgbClr val="000000"/>
                </a:solidFill>
                <a:latin typeface="Noto Sans"/>
              </a:rPr>
              <a:t>fehlend, 0 m oder &gt; 100 m</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Eine Qualitätsregel braucht eine Begründung</a:t>
            </a:r>
            <a:endParaRPr b="0" lang="en-US" sz="3190" spc="-1" strike="noStrike">
              <a:solidFill>
                <a:srgbClr val="000000"/>
              </a:solidFill>
              <a:latin typeface="Arial"/>
            </a:endParaRPr>
          </a:p>
        </p:txBody>
      </p:sp>
      <p:sp>
        <p:nvSpPr>
          <p:cNvPr id="36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QUALITÄT · ENTSCHEIDUNG</a:t>
            </a:r>
            <a:endParaRPr b="0" lang="en-US" sz="1130" spc="-1" strike="noStrike">
              <a:solidFill>
                <a:srgbClr val="000000"/>
              </a:solidFill>
              <a:latin typeface="Arial"/>
            </a:endParaRPr>
          </a:p>
        </p:txBody>
      </p:sp>
      <p:sp>
        <p:nvSpPr>
          <p:cNvPr id="36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36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19</a:t>
            </a:r>
            <a:endParaRPr b="0" lang="en-US" sz="939" spc="-1" strike="noStrike">
              <a:solidFill>
                <a:srgbClr val="000000"/>
              </a:solidFill>
              <a:latin typeface="Arial"/>
            </a:endParaRPr>
          </a:p>
        </p:txBody>
      </p:sp>
      <p:sp>
        <p:nvSpPr>
          <p:cNvPr id="370" name=""/>
          <p:cNvSpPr/>
          <p:nvPr/>
        </p:nvSpPr>
        <p:spPr>
          <a:xfrm>
            <a:off x="647640" y="1981080"/>
            <a:ext cx="3352680" cy="2362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1" name=""/>
          <p:cNvSpPr/>
          <p:nvPr/>
        </p:nvSpPr>
        <p:spPr>
          <a:xfrm>
            <a:off x="647640" y="1981080"/>
            <a:ext cx="53280" cy="23623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2" name=""/>
          <p:cNvSpPr txBox="1"/>
          <p:nvPr/>
        </p:nvSpPr>
        <p:spPr>
          <a:xfrm>
            <a:off x="853560" y="2163960"/>
            <a:ext cx="2941200" cy="647640"/>
          </a:xfrm>
          <a:prstGeom prst="rect">
            <a:avLst/>
          </a:prstGeom>
          <a:noFill/>
          <a:ln w="0">
            <a:noFill/>
          </a:ln>
        </p:spPr>
        <p:txBody>
          <a:bodyPr lIns="0" rIns="0" tIns="0" bIns="0" anchor="t">
            <a:noAutofit/>
          </a:bodyPr>
          <a:p>
            <a:r>
              <a:rPr b="1" lang="en-US" sz="2540" spc="-1" strike="noStrike">
                <a:solidFill>
                  <a:srgbClr val="004899"/>
                </a:solidFill>
                <a:latin typeface="Noto Sans"/>
              </a:rPr>
              <a:t>Fragestellung</a:t>
            </a:r>
            <a:endParaRPr b="0" lang="en-US" sz="2540" spc="-1" strike="noStrike">
              <a:solidFill>
                <a:srgbClr val="000000"/>
              </a:solidFill>
              <a:latin typeface="Arial"/>
            </a:endParaRPr>
          </a:p>
        </p:txBody>
      </p:sp>
      <p:sp>
        <p:nvSpPr>
          <p:cNvPr id="373" name=""/>
          <p:cNvSpPr txBox="1"/>
          <p:nvPr/>
        </p:nvSpPr>
        <p:spPr>
          <a:xfrm>
            <a:off x="853560" y="2926080"/>
            <a:ext cx="2941200" cy="1280160"/>
          </a:xfrm>
          <a:prstGeom prst="rect">
            <a:avLst/>
          </a:prstGeom>
          <a:noFill/>
          <a:ln w="0">
            <a:noFill/>
          </a:ln>
        </p:spPr>
        <p:txBody>
          <a:bodyPr lIns="0" rIns="0" tIns="0" bIns="0" anchor="t">
            <a:noAutofit/>
          </a:bodyPr>
          <a:p>
            <a:r>
              <a:rPr b="0" lang="en-US" sz="2160" spc="-1" strike="noStrike">
                <a:solidFill>
                  <a:srgbClr val="000000"/>
                </a:solidFill>
                <a:latin typeface="Noto Sans"/>
              </a:rPr>
              <a:t>kleinräumige Darstellung</a:t>
            </a:r>
            <a:endParaRPr b="0" lang="en-US" sz="2160" spc="-1" strike="noStrike">
              <a:solidFill>
                <a:srgbClr val="000000"/>
              </a:solidFill>
              <a:latin typeface="Arial"/>
            </a:endParaRPr>
          </a:p>
          <a:p>
            <a:r>
              <a:rPr b="0" lang="en-US" sz="2160" spc="-1" strike="noStrike">
                <a:solidFill>
                  <a:srgbClr val="000000"/>
                </a:solidFill>
                <a:latin typeface="Noto Sans"/>
              </a:rPr>
              <a:t>im Marburger Ausschnitt</a:t>
            </a:r>
            <a:endParaRPr b="0" lang="en-US" sz="2160" spc="-1" strike="noStrike">
              <a:solidFill>
                <a:srgbClr val="000000"/>
              </a:solidFill>
              <a:latin typeface="Arial"/>
            </a:endParaRPr>
          </a:p>
        </p:txBody>
      </p:sp>
      <p:sp>
        <p:nvSpPr>
          <p:cNvPr id="374" name=""/>
          <p:cNvSpPr/>
          <p:nvPr/>
        </p:nvSpPr>
        <p:spPr>
          <a:xfrm>
            <a:off x="4419720" y="1981080"/>
            <a:ext cx="3352680" cy="2362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5" name=""/>
          <p:cNvSpPr/>
          <p:nvPr/>
        </p:nvSpPr>
        <p:spPr>
          <a:xfrm>
            <a:off x="4419720" y="1981080"/>
            <a:ext cx="53280" cy="236232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6" name=""/>
          <p:cNvSpPr txBox="1"/>
          <p:nvPr/>
        </p:nvSpPr>
        <p:spPr>
          <a:xfrm>
            <a:off x="4625280" y="2163960"/>
            <a:ext cx="2941200" cy="647640"/>
          </a:xfrm>
          <a:prstGeom prst="rect">
            <a:avLst/>
          </a:prstGeom>
          <a:noFill/>
          <a:ln w="0">
            <a:noFill/>
          </a:ln>
        </p:spPr>
        <p:txBody>
          <a:bodyPr lIns="0" rIns="0" tIns="0" bIns="0" anchor="t">
            <a:noAutofit/>
          </a:bodyPr>
          <a:p>
            <a:r>
              <a:rPr b="1" lang="en-US" sz="2540" spc="-1" strike="noStrike">
                <a:solidFill>
                  <a:srgbClr val="a32123"/>
                </a:solidFill>
                <a:latin typeface="Noto Sans"/>
              </a:rPr>
              <a:t>Regel</a:t>
            </a:r>
            <a:endParaRPr b="0" lang="en-US" sz="2540" spc="-1" strike="noStrike">
              <a:solidFill>
                <a:srgbClr val="000000"/>
              </a:solidFill>
              <a:latin typeface="Arial"/>
            </a:endParaRPr>
          </a:p>
        </p:txBody>
      </p:sp>
      <p:sp>
        <p:nvSpPr>
          <p:cNvPr id="377" name=""/>
          <p:cNvSpPr txBox="1"/>
          <p:nvPr/>
        </p:nvSpPr>
        <p:spPr>
          <a:xfrm>
            <a:off x="4625280" y="2926080"/>
            <a:ext cx="2941200" cy="1280160"/>
          </a:xfrm>
          <a:prstGeom prst="rect">
            <a:avLst/>
          </a:prstGeom>
          <a:noFill/>
          <a:ln w="0">
            <a:noFill/>
          </a:ln>
        </p:spPr>
        <p:txBody>
          <a:bodyPr lIns="0" rIns="0" tIns="0" bIns="0" anchor="t">
            <a:noAutofit/>
          </a:bodyPr>
          <a:p>
            <a:r>
              <a:rPr b="0" lang="en-US" sz="2630" spc="-1" strike="noStrike">
                <a:solidFill>
                  <a:srgbClr val="000000"/>
                </a:solidFill>
                <a:latin typeface="Noto Sans"/>
              </a:rPr>
              <a:t>0 &lt; Unsicherheit</a:t>
            </a:r>
            <a:endParaRPr b="0" lang="en-US" sz="2630" spc="-1" strike="noStrike">
              <a:solidFill>
                <a:srgbClr val="000000"/>
              </a:solidFill>
              <a:latin typeface="Arial"/>
            </a:endParaRPr>
          </a:p>
          <a:p>
            <a:r>
              <a:rPr b="0" lang="en-US" sz="2630" spc="-1" strike="noStrike">
                <a:solidFill>
                  <a:srgbClr val="000000"/>
                </a:solidFill>
                <a:latin typeface="Noto Sans"/>
              </a:rPr>
              <a:t>≤ </a:t>
            </a:r>
            <a:r>
              <a:rPr b="0" lang="en-US" sz="2630" spc="-1" strike="noStrike">
                <a:solidFill>
                  <a:srgbClr val="000000"/>
                </a:solidFill>
                <a:latin typeface="Noto Sans"/>
              </a:rPr>
              <a:t>100 m</a:t>
            </a:r>
            <a:endParaRPr b="0" lang="en-US" sz="2630" spc="-1" strike="noStrike">
              <a:solidFill>
                <a:srgbClr val="000000"/>
              </a:solidFill>
              <a:latin typeface="Arial"/>
            </a:endParaRPr>
          </a:p>
        </p:txBody>
      </p:sp>
      <p:sp>
        <p:nvSpPr>
          <p:cNvPr id="378" name=""/>
          <p:cNvSpPr/>
          <p:nvPr/>
        </p:nvSpPr>
        <p:spPr>
          <a:xfrm>
            <a:off x="8191440" y="1981080"/>
            <a:ext cx="3352680" cy="2362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9" name=""/>
          <p:cNvSpPr/>
          <p:nvPr/>
        </p:nvSpPr>
        <p:spPr>
          <a:xfrm>
            <a:off x="8191440" y="1981080"/>
            <a:ext cx="53280" cy="23623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80" name=""/>
          <p:cNvSpPr txBox="1"/>
          <p:nvPr/>
        </p:nvSpPr>
        <p:spPr>
          <a:xfrm>
            <a:off x="8397360" y="2163960"/>
            <a:ext cx="2941200" cy="647640"/>
          </a:xfrm>
          <a:prstGeom prst="rect">
            <a:avLst/>
          </a:prstGeom>
          <a:noFill/>
          <a:ln w="0">
            <a:noFill/>
          </a:ln>
        </p:spPr>
        <p:txBody>
          <a:bodyPr lIns="0" rIns="0" tIns="0" bIns="0" anchor="t">
            <a:noAutofit/>
          </a:bodyPr>
          <a:p>
            <a:r>
              <a:rPr b="1" lang="en-US" sz="2540" spc="-1" strike="noStrike">
                <a:solidFill>
                  <a:srgbClr val="004899"/>
                </a:solidFill>
                <a:latin typeface="Noto Sans"/>
              </a:rPr>
              <a:t>Dokumentation</a:t>
            </a:r>
            <a:endParaRPr b="0" lang="en-US" sz="2540" spc="-1" strike="noStrike">
              <a:solidFill>
                <a:srgbClr val="000000"/>
              </a:solidFill>
              <a:latin typeface="Arial"/>
            </a:endParaRPr>
          </a:p>
        </p:txBody>
      </p:sp>
      <p:sp>
        <p:nvSpPr>
          <p:cNvPr id="381" name=""/>
          <p:cNvSpPr txBox="1"/>
          <p:nvPr/>
        </p:nvSpPr>
        <p:spPr>
          <a:xfrm>
            <a:off x="8397360" y="2926080"/>
            <a:ext cx="2941200" cy="1280160"/>
          </a:xfrm>
          <a:prstGeom prst="rect">
            <a:avLst/>
          </a:prstGeom>
          <a:noFill/>
          <a:ln w="0">
            <a:noFill/>
          </a:ln>
        </p:spPr>
        <p:txBody>
          <a:bodyPr lIns="0" rIns="0" tIns="0" bIns="0" anchor="t">
            <a:noAutofit/>
          </a:bodyPr>
          <a:p>
            <a:r>
              <a:rPr b="0" lang="en-US" sz="2160" spc="-1" strike="noStrike">
                <a:solidFill>
                  <a:srgbClr val="000000"/>
                </a:solidFill>
                <a:latin typeface="Noto Sans"/>
              </a:rPr>
              <a:t>Schwelle, Anzahl und</a:t>
            </a:r>
            <a:endParaRPr b="0" lang="en-US" sz="2160" spc="-1" strike="noStrike">
              <a:solidFill>
                <a:srgbClr val="000000"/>
              </a:solidFill>
              <a:latin typeface="Arial"/>
            </a:endParaRPr>
          </a:p>
          <a:p>
            <a:r>
              <a:rPr b="0" lang="en-US" sz="2160" spc="-1" strike="noStrike">
                <a:solidFill>
                  <a:srgbClr val="000000"/>
                </a:solidFill>
                <a:latin typeface="Noto Sans"/>
              </a:rPr>
              <a:t>Ausschlüsse festhalten</a:t>
            </a:r>
            <a:endParaRPr b="0" lang="en-US" sz="2160" spc="-1" strike="noStrike">
              <a:solidFill>
                <a:srgbClr val="000000"/>
              </a:solidFill>
              <a:latin typeface="Arial"/>
            </a:endParaRPr>
          </a:p>
        </p:txBody>
      </p:sp>
      <p:sp>
        <p:nvSpPr>
          <p:cNvPr id="38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83"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Transparent und reproduzierbar ist wichtiger als „perfekt bereinigt“.</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Auswahl mit einem Ausdruck</a:t>
            </a:r>
            <a:endParaRPr b="0" lang="en-US" sz="3190" spc="-1" strike="noStrike">
              <a:solidFill>
                <a:srgbClr val="000000"/>
              </a:solidFill>
              <a:latin typeface="Arial"/>
            </a:endParaRPr>
          </a:p>
        </p:txBody>
      </p:sp>
      <p:sp>
        <p:nvSpPr>
          <p:cNvPr id="38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QUALITÄT · QGIS-AUSWAHL</a:t>
            </a:r>
            <a:endParaRPr b="0" lang="en-US" sz="1130" spc="-1" strike="noStrike">
              <a:solidFill>
                <a:srgbClr val="000000"/>
              </a:solidFill>
              <a:latin typeface="Arial"/>
            </a:endParaRPr>
          </a:p>
        </p:txBody>
      </p:sp>
      <p:sp>
        <p:nvSpPr>
          <p:cNvPr id="38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38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20</a:t>
            </a:r>
            <a:endParaRPr b="0" lang="en-US" sz="939" spc="-1" strike="noStrike">
              <a:solidFill>
                <a:srgbClr val="000000"/>
              </a:solidFill>
              <a:latin typeface="Arial"/>
            </a:endParaRPr>
          </a:p>
        </p:txBody>
      </p:sp>
      <p:sp>
        <p:nvSpPr>
          <p:cNvPr id="388" name=""/>
          <p:cNvSpPr/>
          <p:nvPr/>
        </p:nvSpPr>
        <p:spPr>
          <a:xfrm>
            <a:off x="1028880" y="2133720"/>
            <a:ext cx="10134720" cy="1600200"/>
          </a:xfrm>
          <a:prstGeom prst="rect">
            <a:avLst/>
          </a:prstGeom>
          <a:solidFill>
            <a:srgbClr val="f4f4f4"/>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389" name=""/>
          <p:cNvSpPr txBox="1"/>
          <p:nvPr/>
        </p:nvSpPr>
        <p:spPr>
          <a:xfrm>
            <a:off x="1333440" y="2514600"/>
            <a:ext cx="9525240" cy="838080"/>
          </a:xfrm>
          <a:prstGeom prst="rect">
            <a:avLst/>
          </a:prstGeom>
          <a:noFill/>
          <a:ln w="0">
            <a:noFill/>
          </a:ln>
        </p:spPr>
        <p:txBody>
          <a:bodyPr lIns="0" rIns="0" tIns="0" bIns="0" anchor="t">
            <a:noAutofit/>
          </a:bodyPr>
          <a:p>
            <a:pPr algn="ctr"/>
            <a:r>
              <a:rPr b="1" lang="en-US" sz="2720" spc="-1" strike="noStrike">
                <a:solidFill>
                  <a:srgbClr val="000000"/>
                </a:solidFill>
                <a:latin typeface="Noto Sans"/>
              </a:rPr>
              <a:t>"coordinateUncertaintyInMeters" &gt; 0</a:t>
            </a:r>
            <a:endParaRPr b="0" lang="en-US" sz="2720" spc="-1" strike="noStrike">
              <a:solidFill>
                <a:srgbClr val="000000"/>
              </a:solidFill>
              <a:latin typeface="Arial"/>
            </a:endParaRPr>
          </a:p>
          <a:p>
            <a:pPr algn="ctr"/>
            <a:r>
              <a:rPr b="1" lang="en-US" sz="2720" spc="-1" strike="noStrike">
                <a:solidFill>
                  <a:srgbClr val="000000"/>
                </a:solidFill>
                <a:latin typeface="Noto Sans"/>
              </a:rPr>
              <a:t>AND "coordinateUncertaintyInMeters" &lt;= 100</a:t>
            </a:r>
            <a:endParaRPr b="0" lang="en-US" sz="2720" spc="-1" strike="noStrike">
              <a:solidFill>
                <a:srgbClr val="000000"/>
              </a:solidFill>
              <a:latin typeface="Arial"/>
            </a:endParaRPr>
          </a:p>
        </p:txBody>
      </p:sp>
      <p:sp>
        <p:nvSpPr>
          <p:cNvPr id="390" name=""/>
          <p:cNvSpPr/>
          <p:nvPr/>
        </p:nvSpPr>
        <p:spPr>
          <a:xfrm>
            <a:off x="647640" y="453384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1" name=""/>
          <p:cNvSpPr txBox="1"/>
          <p:nvPr/>
        </p:nvSpPr>
        <p:spPr>
          <a:xfrm>
            <a:off x="838080" y="4640760"/>
            <a:ext cx="10515600" cy="442080"/>
          </a:xfrm>
          <a:prstGeom prst="rect">
            <a:avLst/>
          </a:prstGeom>
          <a:noFill/>
          <a:ln w="0">
            <a:noFill/>
          </a:ln>
        </p:spPr>
        <p:txBody>
          <a:bodyPr lIns="0" rIns="0" tIns="0" bIns="0" anchor="t">
            <a:noAutofit/>
          </a:bodyPr>
          <a:p>
            <a:r>
              <a:rPr b="1" lang="en-US" sz="2350" spc="-1" strike="noStrike">
                <a:solidFill>
                  <a:srgbClr val="004899"/>
                </a:solidFill>
                <a:latin typeface="Noto Sans"/>
              </a:rPr>
              <a:t>Logik: positive Angabe UND höchstens 100 Meter</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Prüfwert: 56 ausgewählt, 23 ausgeschlossen</a:t>
            </a:r>
            <a:endParaRPr b="0" lang="en-US" sz="3190" spc="-1" strike="noStrike">
              <a:solidFill>
                <a:srgbClr val="000000"/>
              </a:solidFill>
              <a:latin typeface="Arial"/>
            </a:endParaRPr>
          </a:p>
        </p:txBody>
      </p:sp>
      <p:sp>
        <p:nvSpPr>
          <p:cNvPr id="39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QUALITÄT · ERGEBNIS KONTROLLIEREN</a:t>
            </a:r>
            <a:endParaRPr b="0" lang="en-US" sz="1130" spc="-1" strike="noStrike">
              <a:solidFill>
                <a:srgbClr val="000000"/>
              </a:solidFill>
              <a:latin typeface="Arial"/>
            </a:endParaRPr>
          </a:p>
        </p:txBody>
      </p:sp>
      <p:sp>
        <p:nvSpPr>
          <p:cNvPr id="39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39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21</a:t>
            </a:r>
            <a:endParaRPr b="0" lang="en-US" sz="939" spc="-1" strike="noStrike">
              <a:solidFill>
                <a:srgbClr val="000000"/>
              </a:solidFill>
              <a:latin typeface="Arial"/>
            </a:endParaRPr>
          </a:p>
        </p:txBody>
      </p:sp>
      <p:sp>
        <p:nvSpPr>
          <p:cNvPr id="396" name=""/>
          <p:cNvSpPr/>
          <p:nvPr/>
        </p:nvSpPr>
        <p:spPr>
          <a:xfrm>
            <a:off x="1143000" y="2057400"/>
            <a:ext cx="4495680" cy="2438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7" name=""/>
          <p:cNvSpPr/>
          <p:nvPr/>
        </p:nvSpPr>
        <p:spPr>
          <a:xfrm>
            <a:off x="1143000" y="2057400"/>
            <a:ext cx="53280" cy="24382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98" name=""/>
          <p:cNvSpPr txBox="1"/>
          <p:nvPr/>
        </p:nvSpPr>
        <p:spPr>
          <a:xfrm>
            <a:off x="1348920" y="2240280"/>
            <a:ext cx="4084200" cy="647640"/>
          </a:xfrm>
          <a:prstGeom prst="rect">
            <a:avLst/>
          </a:prstGeom>
          <a:noFill/>
          <a:ln w="0">
            <a:noFill/>
          </a:ln>
        </p:spPr>
        <p:txBody>
          <a:bodyPr lIns="0" rIns="0" tIns="0" bIns="0" anchor="t">
            <a:noAutofit/>
          </a:bodyPr>
          <a:p>
            <a:r>
              <a:rPr b="1" lang="en-US" sz="2540" spc="-1" strike="noStrike">
                <a:solidFill>
                  <a:srgbClr val="004899"/>
                </a:solidFill>
                <a:latin typeface="Noto Sans"/>
              </a:rPr>
              <a:t>56</a:t>
            </a:r>
            <a:endParaRPr b="0" lang="en-US" sz="2540" spc="-1" strike="noStrike">
              <a:solidFill>
                <a:srgbClr val="000000"/>
              </a:solidFill>
              <a:latin typeface="Arial"/>
            </a:endParaRPr>
          </a:p>
        </p:txBody>
      </p:sp>
      <p:sp>
        <p:nvSpPr>
          <p:cNvPr id="399" name=""/>
          <p:cNvSpPr txBox="1"/>
          <p:nvPr/>
        </p:nvSpPr>
        <p:spPr>
          <a:xfrm>
            <a:off x="1348920" y="3002400"/>
            <a:ext cx="4084200" cy="1356480"/>
          </a:xfrm>
          <a:prstGeom prst="rect">
            <a:avLst/>
          </a:prstGeom>
          <a:noFill/>
          <a:ln w="0">
            <a:noFill/>
          </a:ln>
        </p:spPr>
        <p:txBody>
          <a:bodyPr lIns="0" rIns="0" tIns="0" bIns="0" anchor="t">
            <a:noAutofit/>
          </a:bodyPr>
          <a:p>
            <a:r>
              <a:rPr b="0" lang="en-US" sz="2630" spc="-1" strike="noStrike">
                <a:solidFill>
                  <a:srgbClr val="000000"/>
                </a:solidFill>
                <a:latin typeface="Noto Sans"/>
              </a:rPr>
              <a:t>ausgewählt</a:t>
            </a:r>
            <a:endParaRPr b="0" lang="en-US" sz="2630" spc="-1" strike="noStrike">
              <a:solidFill>
                <a:srgbClr val="000000"/>
              </a:solidFill>
              <a:latin typeface="Arial"/>
            </a:endParaRPr>
          </a:p>
          <a:p>
            <a:r>
              <a:rPr b="0" lang="en-US" sz="2630" spc="-1" strike="noStrike">
                <a:solidFill>
                  <a:srgbClr val="000000"/>
                </a:solidFill>
                <a:latin typeface="Noto Sans"/>
              </a:rPr>
              <a:t>&gt; 0 m und ≤ 100 m</a:t>
            </a:r>
            <a:endParaRPr b="0" lang="en-US" sz="2630" spc="-1" strike="noStrike">
              <a:solidFill>
                <a:srgbClr val="000000"/>
              </a:solidFill>
              <a:latin typeface="Arial"/>
            </a:endParaRPr>
          </a:p>
        </p:txBody>
      </p:sp>
      <p:sp>
        <p:nvSpPr>
          <p:cNvPr id="400" name=""/>
          <p:cNvSpPr/>
          <p:nvPr/>
        </p:nvSpPr>
        <p:spPr>
          <a:xfrm>
            <a:off x="6553440" y="2057400"/>
            <a:ext cx="4495680" cy="2438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1" name=""/>
          <p:cNvSpPr/>
          <p:nvPr/>
        </p:nvSpPr>
        <p:spPr>
          <a:xfrm>
            <a:off x="6553440" y="2057400"/>
            <a:ext cx="53280" cy="243828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02" name=""/>
          <p:cNvSpPr txBox="1"/>
          <p:nvPr/>
        </p:nvSpPr>
        <p:spPr>
          <a:xfrm>
            <a:off x="6759000" y="2240280"/>
            <a:ext cx="4084200" cy="647640"/>
          </a:xfrm>
          <a:prstGeom prst="rect">
            <a:avLst/>
          </a:prstGeom>
          <a:noFill/>
          <a:ln w="0">
            <a:noFill/>
          </a:ln>
        </p:spPr>
        <p:txBody>
          <a:bodyPr lIns="0" rIns="0" tIns="0" bIns="0" anchor="t">
            <a:noAutofit/>
          </a:bodyPr>
          <a:p>
            <a:r>
              <a:rPr b="1" lang="en-US" sz="2540" spc="-1" strike="noStrike">
                <a:solidFill>
                  <a:srgbClr val="a32123"/>
                </a:solidFill>
                <a:latin typeface="Noto Sans"/>
              </a:rPr>
              <a:t>23</a:t>
            </a:r>
            <a:endParaRPr b="0" lang="en-US" sz="2540" spc="-1" strike="noStrike">
              <a:solidFill>
                <a:srgbClr val="000000"/>
              </a:solidFill>
              <a:latin typeface="Arial"/>
            </a:endParaRPr>
          </a:p>
        </p:txBody>
      </p:sp>
      <p:sp>
        <p:nvSpPr>
          <p:cNvPr id="403" name=""/>
          <p:cNvSpPr txBox="1"/>
          <p:nvPr/>
        </p:nvSpPr>
        <p:spPr>
          <a:xfrm>
            <a:off x="6759000" y="3002400"/>
            <a:ext cx="4084200" cy="1356480"/>
          </a:xfrm>
          <a:prstGeom prst="rect">
            <a:avLst/>
          </a:prstGeom>
          <a:noFill/>
          <a:ln w="0">
            <a:noFill/>
          </a:ln>
        </p:spPr>
        <p:txBody>
          <a:bodyPr lIns="0" rIns="0" tIns="0" bIns="0" anchor="t">
            <a:noAutofit/>
          </a:bodyPr>
          <a:p>
            <a:r>
              <a:rPr b="0" lang="en-US" sz="2630" spc="-1" strike="noStrike">
                <a:solidFill>
                  <a:srgbClr val="000000"/>
                </a:solidFill>
                <a:latin typeface="Noto Sans"/>
              </a:rPr>
              <a:t>ausgeschlossen</a:t>
            </a:r>
            <a:endParaRPr b="0" lang="en-US" sz="2630" spc="-1" strike="noStrike">
              <a:solidFill>
                <a:srgbClr val="000000"/>
              </a:solidFill>
              <a:latin typeface="Arial"/>
            </a:endParaRPr>
          </a:p>
          <a:p>
            <a:r>
              <a:rPr b="0" lang="en-US" sz="2630" spc="-1" strike="noStrike">
                <a:solidFill>
                  <a:srgbClr val="000000"/>
                </a:solidFill>
                <a:latin typeface="Noto Sans"/>
              </a:rPr>
              <a:t>jeweils 250 m</a:t>
            </a:r>
            <a:endParaRPr b="0" lang="en-US" sz="2630" spc="-1" strike="noStrike">
              <a:solidFill>
                <a:srgbClr val="000000"/>
              </a:solidFill>
              <a:latin typeface="Arial"/>
            </a:endParaRPr>
          </a:p>
        </p:txBody>
      </p:sp>
      <p:sp>
        <p:nvSpPr>
          <p:cNvPr id="40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5" name=""/>
          <p:cNvSpPr txBox="1"/>
          <p:nvPr/>
        </p:nvSpPr>
        <p:spPr>
          <a:xfrm>
            <a:off x="838080" y="5623560"/>
            <a:ext cx="10515600" cy="442080"/>
          </a:xfrm>
          <a:prstGeom prst="rect">
            <a:avLst/>
          </a:prstGeom>
          <a:noFill/>
          <a:ln w="0">
            <a:noFill/>
          </a:ln>
        </p:spPr>
        <p:txBody>
          <a:bodyPr lIns="0" rIns="0" tIns="0" bIns="0" anchor="t">
            <a:noAutofit/>
          </a:bodyPr>
          <a:p>
            <a:r>
              <a:rPr b="1" lang="en-US" sz="2450" spc="-1" strike="noStrike">
                <a:solidFill>
                  <a:srgbClr val="004899"/>
                </a:solidFill>
                <a:latin typeface="Noto Sans"/>
              </a:rPr>
              <a:t>Kontrollsumme: 56 + 23 = 79 Records</a:t>
            </a:r>
            <a:endParaRPr b="0" lang="en-US" sz="2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Flags und fehlende Werte nicht pauschal behandeln</a:t>
            </a:r>
            <a:endParaRPr b="0" lang="en-US" sz="3190" spc="-1" strike="noStrike">
              <a:solidFill>
                <a:srgbClr val="000000"/>
              </a:solidFill>
              <a:latin typeface="Arial"/>
            </a:endParaRPr>
          </a:p>
        </p:txBody>
      </p:sp>
      <p:sp>
        <p:nvSpPr>
          <p:cNvPr id="40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QUALITÄT · GRENZEN</a:t>
            </a:r>
            <a:endParaRPr b="0" lang="en-US" sz="1130" spc="-1" strike="noStrike">
              <a:solidFill>
                <a:srgbClr val="000000"/>
              </a:solidFill>
              <a:latin typeface="Arial"/>
            </a:endParaRPr>
          </a:p>
        </p:txBody>
      </p:sp>
      <p:sp>
        <p:nvSpPr>
          <p:cNvPr id="40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40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22</a:t>
            </a:r>
            <a:endParaRPr b="0" lang="en-US" sz="939" spc="-1" strike="noStrike">
              <a:solidFill>
                <a:srgbClr val="000000"/>
              </a:solidFill>
              <a:latin typeface="Arial"/>
            </a:endParaRPr>
          </a:p>
        </p:txBody>
      </p:sp>
      <p:sp>
        <p:nvSpPr>
          <p:cNvPr id="410" name=""/>
          <p:cNvSpPr/>
          <p:nvPr/>
        </p:nvSpPr>
        <p:spPr>
          <a:xfrm>
            <a:off x="647640" y="2057400"/>
            <a:ext cx="4777920" cy="8305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11" name=""/>
          <p:cNvSpPr txBox="1"/>
          <p:nvPr/>
        </p:nvSpPr>
        <p:spPr>
          <a:xfrm>
            <a:off x="784800" y="2187000"/>
            <a:ext cx="4526280" cy="700920"/>
          </a:xfrm>
          <a:prstGeom prst="rect">
            <a:avLst/>
          </a:prstGeom>
          <a:noFill/>
          <a:ln w="0">
            <a:noFill/>
          </a:ln>
        </p:spPr>
        <p:txBody>
          <a:bodyPr lIns="0" rIns="0" tIns="0" bIns="0" anchor="t">
            <a:noAutofit/>
          </a:bodyPr>
          <a:p>
            <a:r>
              <a:rPr b="1" lang="en-US" sz="2160" spc="-1" strike="noStrike">
                <a:solidFill>
                  <a:srgbClr val="ffffff"/>
                </a:solidFill>
                <a:latin typeface="Noto Sans"/>
              </a:rPr>
              <a:t>Fehlannahme</a:t>
            </a:r>
            <a:endParaRPr b="0" lang="en-US" sz="2160" spc="-1" strike="noStrike">
              <a:solidFill>
                <a:srgbClr val="000000"/>
              </a:solidFill>
              <a:latin typeface="Arial"/>
            </a:endParaRPr>
          </a:p>
        </p:txBody>
      </p:sp>
      <p:sp>
        <p:nvSpPr>
          <p:cNvPr id="412" name=""/>
          <p:cNvSpPr/>
          <p:nvPr/>
        </p:nvSpPr>
        <p:spPr>
          <a:xfrm>
            <a:off x="5448240" y="2057400"/>
            <a:ext cx="6073200" cy="8305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13" name=""/>
          <p:cNvSpPr txBox="1"/>
          <p:nvPr/>
        </p:nvSpPr>
        <p:spPr>
          <a:xfrm>
            <a:off x="5585400" y="2187000"/>
            <a:ext cx="5821560" cy="700920"/>
          </a:xfrm>
          <a:prstGeom prst="rect">
            <a:avLst/>
          </a:prstGeom>
          <a:noFill/>
          <a:ln w="0">
            <a:noFill/>
          </a:ln>
        </p:spPr>
        <p:txBody>
          <a:bodyPr lIns="0" rIns="0" tIns="0" bIns="0" anchor="t">
            <a:noAutofit/>
          </a:bodyPr>
          <a:p>
            <a:r>
              <a:rPr b="1" lang="en-US" sz="2160" spc="-1" strike="noStrike">
                <a:solidFill>
                  <a:srgbClr val="ffffff"/>
                </a:solidFill>
                <a:latin typeface="Noto Sans"/>
              </a:rPr>
              <a:t>Bessere Arbeitsregel</a:t>
            </a:r>
            <a:endParaRPr b="0" lang="en-US" sz="2160" spc="-1" strike="noStrike">
              <a:solidFill>
                <a:srgbClr val="000000"/>
              </a:solidFill>
              <a:latin typeface="Arial"/>
            </a:endParaRPr>
          </a:p>
        </p:txBody>
      </p:sp>
      <p:sp>
        <p:nvSpPr>
          <p:cNvPr id="414" name=""/>
          <p:cNvSpPr/>
          <p:nvPr/>
        </p:nvSpPr>
        <p:spPr>
          <a:xfrm>
            <a:off x="647640" y="2910960"/>
            <a:ext cx="4777920" cy="830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5" name=""/>
          <p:cNvSpPr txBox="1"/>
          <p:nvPr/>
        </p:nvSpPr>
        <p:spPr>
          <a:xfrm>
            <a:off x="784800" y="3040560"/>
            <a:ext cx="4526280" cy="700920"/>
          </a:xfrm>
          <a:prstGeom prst="rect">
            <a:avLst/>
          </a:prstGeom>
          <a:noFill/>
          <a:ln w="0">
            <a:noFill/>
          </a:ln>
        </p:spPr>
        <p:txBody>
          <a:bodyPr lIns="0" rIns="0" tIns="0" bIns="0" anchor="t">
            <a:noAutofit/>
          </a:bodyPr>
          <a:p>
            <a:r>
              <a:rPr b="0" lang="en-US" sz="2160" spc="-1" strike="noStrike">
                <a:solidFill>
                  <a:srgbClr val="000000"/>
                </a:solidFill>
                <a:latin typeface="Noto Sans"/>
              </a:rPr>
              <a:t>issue vorhanden → löschen</a:t>
            </a:r>
            <a:endParaRPr b="0" lang="en-US" sz="2160" spc="-1" strike="noStrike">
              <a:solidFill>
                <a:srgbClr val="000000"/>
              </a:solidFill>
              <a:latin typeface="Arial"/>
            </a:endParaRPr>
          </a:p>
        </p:txBody>
      </p:sp>
      <p:sp>
        <p:nvSpPr>
          <p:cNvPr id="416" name=""/>
          <p:cNvSpPr/>
          <p:nvPr/>
        </p:nvSpPr>
        <p:spPr>
          <a:xfrm>
            <a:off x="5448240" y="2910960"/>
            <a:ext cx="6073200" cy="830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7" name=""/>
          <p:cNvSpPr txBox="1"/>
          <p:nvPr/>
        </p:nvSpPr>
        <p:spPr>
          <a:xfrm>
            <a:off x="5585400" y="3040560"/>
            <a:ext cx="5821560" cy="700920"/>
          </a:xfrm>
          <a:prstGeom prst="rect">
            <a:avLst/>
          </a:prstGeom>
          <a:noFill/>
          <a:ln w="0">
            <a:noFill/>
          </a:ln>
        </p:spPr>
        <p:txBody>
          <a:bodyPr lIns="0" rIns="0" tIns="0" bIns="0" anchor="t">
            <a:noAutofit/>
          </a:bodyPr>
          <a:p>
            <a:r>
              <a:rPr b="0" lang="en-US" sz="2160" spc="-1" strike="noStrike">
                <a:solidFill>
                  <a:srgbClr val="000000"/>
                </a:solidFill>
                <a:latin typeface="Noto Sans"/>
              </a:rPr>
              <a:t>Hinweis lesen und zur Frage bewerten</a:t>
            </a:r>
            <a:endParaRPr b="0" lang="en-US" sz="2160" spc="-1" strike="noStrike">
              <a:solidFill>
                <a:srgbClr val="000000"/>
              </a:solidFill>
              <a:latin typeface="Arial"/>
            </a:endParaRPr>
          </a:p>
        </p:txBody>
      </p:sp>
      <p:sp>
        <p:nvSpPr>
          <p:cNvPr id="418" name=""/>
          <p:cNvSpPr/>
          <p:nvPr/>
        </p:nvSpPr>
        <p:spPr>
          <a:xfrm>
            <a:off x="647640" y="3764160"/>
            <a:ext cx="4777920" cy="830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9" name=""/>
          <p:cNvSpPr txBox="1"/>
          <p:nvPr/>
        </p:nvSpPr>
        <p:spPr>
          <a:xfrm>
            <a:off x="784800" y="3893760"/>
            <a:ext cx="4526280" cy="700920"/>
          </a:xfrm>
          <a:prstGeom prst="rect">
            <a:avLst/>
          </a:prstGeom>
          <a:noFill/>
          <a:ln w="0">
            <a:noFill/>
          </a:ln>
        </p:spPr>
        <p:txBody>
          <a:bodyPr lIns="0" rIns="0" tIns="0" bIns="0" anchor="t">
            <a:noAutofit/>
          </a:bodyPr>
          <a:p>
            <a:r>
              <a:rPr b="0" lang="en-US" sz="2160" spc="-1" strike="noStrike">
                <a:solidFill>
                  <a:srgbClr val="000000"/>
                </a:solidFill>
                <a:latin typeface="Noto Sans"/>
              </a:rPr>
              <a:t>Unsicherheit fehlt → 0 m</a:t>
            </a:r>
            <a:endParaRPr b="0" lang="en-US" sz="2160" spc="-1" strike="noStrike">
              <a:solidFill>
                <a:srgbClr val="000000"/>
              </a:solidFill>
              <a:latin typeface="Arial"/>
            </a:endParaRPr>
          </a:p>
        </p:txBody>
      </p:sp>
      <p:sp>
        <p:nvSpPr>
          <p:cNvPr id="420" name=""/>
          <p:cNvSpPr/>
          <p:nvPr/>
        </p:nvSpPr>
        <p:spPr>
          <a:xfrm>
            <a:off x="5448240" y="3764160"/>
            <a:ext cx="6073200" cy="830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1" name=""/>
          <p:cNvSpPr txBox="1"/>
          <p:nvPr/>
        </p:nvSpPr>
        <p:spPr>
          <a:xfrm>
            <a:off x="5585400" y="3893760"/>
            <a:ext cx="5821560" cy="700920"/>
          </a:xfrm>
          <a:prstGeom prst="rect">
            <a:avLst/>
          </a:prstGeom>
          <a:noFill/>
          <a:ln w="0">
            <a:noFill/>
          </a:ln>
        </p:spPr>
        <p:txBody>
          <a:bodyPr lIns="0" rIns="0" tIns="0" bIns="0" anchor="t">
            <a:noAutofit/>
          </a:bodyPr>
          <a:p>
            <a:r>
              <a:rPr b="0" lang="en-US" sz="2160" spc="-1" strike="noStrike">
                <a:solidFill>
                  <a:srgbClr val="000000"/>
                </a:solidFill>
                <a:latin typeface="Noto Sans"/>
              </a:rPr>
              <a:t>fehlend bleibt unbekannt</a:t>
            </a:r>
            <a:endParaRPr b="0" lang="en-US" sz="2160" spc="-1" strike="noStrike">
              <a:solidFill>
                <a:srgbClr val="000000"/>
              </a:solidFill>
              <a:latin typeface="Arial"/>
            </a:endParaRPr>
          </a:p>
        </p:txBody>
      </p:sp>
      <p:sp>
        <p:nvSpPr>
          <p:cNvPr id="422" name=""/>
          <p:cNvSpPr/>
          <p:nvPr/>
        </p:nvSpPr>
        <p:spPr>
          <a:xfrm>
            <a:off x="647640" y="4617720"/>
            <a:ext cx="4777920" cy="830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3" name=""/>
          <p:cNvSpPr txBox="1"/>
          <p:nvPr/>
        </p:nvSpPr>
        <p:spPr>
          <a:xfrm>
            <a:off x="784800" y="4747320"/>
            <a:ext cx="4526280" cy="700920"/>
          </a:xfrm>
          <a:prstGeom prst="rect">
            <a:avLst/>
          </a:prstGeom>
          <a:noFill/>
          <a:ln w="0">
            <a:noFill/>
          </a:ln>
        </p:spPr>
        <p:txBody>
          <a:bodyPr lIns="0" rIns="0" tIns="0" bIns="0" anchor="t">
            <a:noAutofit/>
          </a:bodyPr>
          <a:p>
            <a:r>
              <a:rPr b="0" lang="en-US" sz="2160" spc="-1" strike="noStrike">
                <a:solidFill>
                  <a:srgbClr val="000000"/>
                </a:solidFill>
                <a:latin typeface="Noto Sans"/>
              </a:rPr>
              <a:t>issue leer → fehlerfrei</a:t>
            </a:r>
            <a:endParaRPr b="0" lang="en-US" sz="2160" spc="-1" strike="noStrike">
              <a:solidFill>
                <a:srgbClr val="000000"/>
              </a:solidFill>
              <a:latin typeface="Arial"/>
            </a:endParaRPr>
          </a:p>
        </p:txBody>
      </p:sp>
      <p:sp>
        <p:nvSpPr>
          <p:cNvPr id="424" name=""/>
          <p:cNvSpPr/>
          <p:nvPr/>
        </p:nvSpPr>
        <p:spPr>
          <a:xfrm>
            <a:off x="5448240" y="4617720"/>
            <a:ext cx="6073200" cy="830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5" name=""/>
          <p:cNvSpPr txBox="1"/>
          <p:nvPr/>
        </p:nvSpPr>
        <p:spPr>
          <a:xfrm>
            <a:off x="5585400" y="4747320"/>
            <a:ext cx="5821560" cy="700920"/>
          </a:xfrm>
          <a:prstGeom prst="rect">
            <a:avLst/>
          </a:prstGeom>
          <a:noFill/>
          <a:ln w="0">
            <a:noFill/>
          </a:ln>
        </p:spPr>
        <p:txBody>
          <a:bodyPr lIns="0" rIns="0" tIns="0" bIns="0" anchor="t">
            <a:noAutofit/>
          </a:bodyPr>
          <a:p>
            <a:r>
              <a:rPr b="0" lang="en-US" sz="2160" spc="-1" strike="noStrike">
                <a:solidFill>
                  <a:srgbClr val="000000"/>
                </a:solidFill>
                <a:latin typeface="Noto Sans"/>
              </a:rPr>
              <a:t>weitere Plausibilitätsprüfungen bleiben nötig</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Partnercheck vor dem Export</a:t>
            </a:r>
            <a:endParaRPr b="0" lang="en-US" sz="3190" spc="-1" strike="noStrike">
              <a:solidFill>
                <a:srgbClr val="000000"/>
              </a:solidFill>
              <a:latin typeface="Arial"/>
            </a:endParaRPr>
          </a:p>
        </p:txBody>
      </p:sp>
      <p:sp>
        <p:nvSpPr>
          <p:cNvPr id="42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QUALITÄT · 2 MINUTEN</a:t>
            </a:r>
            <a:endParaRPr b="0" lang="en-US" sz="1130" spc="-1" strike="noStrike">
              <a:solidFill>
                <a:srgbClr val="000000"/>
              </a:solidFill>
              <a:latin typeface="Arial"/>
            </a:endParaRPr>
          </a:p>
        </p:txBody>
      </p:sp>
      <p:sp>
        <p:nvSpPr>
          <p:cNvPr id="42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42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23</a:t>
            </a:r>
            <a:endParaRPr b="0" lang="en-US" sz="939" spc="-1" strike="noStrike">
              <a:solidFill>
                <a:srgbClr val="000000"/>
              </a:solidFill>
              <a:latin typeface="Arial"/>
            </a:endParaRPr>
          </a:p>
        </p:txBody>
      </p:sp>
      <p:sp>
        <p:nvSpPr>
          <p:cNvPr id="430" name=""/>
          <p:cNvSpPr/>
          <p:nvPr/>
        </p:nvSpPr>
        <p:spPr>
          <a:xfrm>
            <a:off x="647640" y="190512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31" name=""/>
          <p:cNvSpPr txBox="1"/>
          <p:nvPr/>
        </p:nvSpPr>
        <p:spPr>
          <a:xfrm>
            <a:off x="647640" y="196596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432" name=""/>
          <p:cNvSpPr txBox="1"/>
          <p:nvPr/>
        </p:nvSpPr>
        <p:spPr>
          <a:xfrm>
            <a:off x="1371600" y="190512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Layer</a:t>
            </a:r>
            <a:endParaRPr b="0" lang="en-US" sz="2720" spc="-1" strike="noStrike">
              <a:solidFill>
                <a:srgbClr val="000000"/>
              </a:solidFill>
              <a:latin typeface="Arial"/>
            </a:endParaRPr>
          </a:p>
        </p:txBody>
      </p:sp>
      <p:sp>
        <p:nvSpPr>
          <p:cNvPr id="433" name=""/>
          <p:cNvSpPr txBox="1"/>
          <p:nvPr/>
        </p:nvSpPr>
        <p:spPr>
          <a:xfrm>
            <a:off x="1371600" y="237744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gbif_feuersalamander_raw enthält 79 Records.</a:t>
            </a:r>
            <a:endParaRPr b="0" lang="en-US" sz="2260" spc="-1" strike="noStrike">
              <a:solidFill>
                <a:srgbClr val="000000"/>
              </a:solidFill>
              <a:latin typeface="Arial"/>
            </a:endParaRPr>
          </a:p>
        </p:txBody>
      </p:sp>
      <p:sp>
        <p:nvSpPr>
          <p:cNvPr id="434" name=""/>
          <p:cNvSpPr/>
          <p:nvPr/>
        </p:nvSpPr>
        <p:spPr>
          <a:xfrm>
            <a:off x="647640" y="320040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35" name=""/>
          <p:cNvSpPr txBox="1"/>
          <p:nvPr/>
        </p:nvSpPr>
        <p:spPr>
          <a:xfrm>
            <a:off x="647640" y="32612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436" name=""/>
          <p:cNvSpPr txBox="1"/>
          <p:nvPr/>
        </p:nvSpPr>
        <p:spPr>
          <a:xfrm>
            <a:off x="1371600" y="320040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Ausdruck</a:t>
            </a:r>
            <a:endParaRPr b="0" lang="en-US" sz="2720" spc="-1" strike="noStrike">
              <a:solidFill>
                <a:srgbClr val="000000"/>
              </a:solidFill>
              <a:latin typeface="Arial"/>
            </a:endParaRPr>
          </a:p>
        </p:txBody>
      </p:sp>
      <p:sp>
        <p:nvSpPr>
          <p:cNvPr id="437" name=""/>
          <p:cNvSpPr txBox="1"/>
          <p:nvPr/>
        </p:nvSpPr>
        <p:spPr>
          <a:xfrm>
            <a:off x="1371600" y="36727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positive Unsicherheit und höchstens 100 m.</a:t>
            </a:r>
            <a:endParaRPr b="0" lang="en-US" sz="2260" spc="-1" strike="noStrike">
              <a:solidFill>
                <a:srgbClr val="000000"/>
              </a:solidFill>
              <a:latin typeface="Arial"/>
            </a:endParaRPr>
          </a:p>
        </p:txBody>
      </p:sp>
      <p:sp>
        <p:nvSpPr>
          <p:cNvPr id="438" name=""/>
          <p:cNvSpPr/>
          <p:nvPr/>
        </p:nvSpPr>
        <p:spPr>
          <a:xfrm>
            <a:off x="647640" y="44956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39" name=""/>
          <p:cNvSpPr txBox="1"/>
          <p:nvPr/>
        </p:nvSpPr>
        <p:spPr>
          <a:xfrm>
            <a:off x="647640" y="45568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440" name=""/>
          <p:cNvSpPr txBox="1"/>
          <p:nvPr/>
        </p:nvSpPr>
        <p:spPr>
          <a:xfrm>
            <a:off x="1371600" y="44956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Auswahl</a:t>
            </a:r>
            <a:endParaRPr b="0" lang="en-US" sz="2720" spc="-1" strike="noStrike">
              <a:solidFill>
                <a:srgbClr val="000000"/>
              </a:solidFill>
              <a:latin typeface="Arial"/>
            </a:endParaRPr>
          </a:p>
        </p:txBody>
      </p:sp>
      <p:sp>
        <p:nvSpPr>
          <p:cNvPr id="441" name=""/>
          <p:cNvSpPr txBox="1"/>
          <p:nvPr/>
        </p:nvSpPr>
        <p:spPr>
          <a:xfrm>
            <a:off x="1371600" y="49683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56 markiert; 23 nicht ausgewählt.</a:t>
            </a:r>
            <a:endParaRPr b="0" lang="en-US" sz="2260" spc="-1" strike="noStrike">
              <a:solidFill>
                <a:srgbClr val="000000"/>
              </a:solidFill>
              <a:latin typeface="Arial"/>
            </a:endParaRPr>
          </a:p>
        </p:txBody>
      </p:sp>
      <p:sp>
        <p:nvSpPr>
          <p:cNvPr id="44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3"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Erst bei 79 / 56 / 23 gemeinsam zum Export wechseln.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Auswahl exportieren – Rohdaten erhalten</a:t>
            </a:r>
            <a:endParaRPr b="0" lang="en-US" sz="3190" spc="-1" strike="noStrike">
              <a:solidFill>
                <a:srgbClr val="000000"/>
              </a:solidFill>
              <a:latin typeface="Arial"/>
            </a:endParaRPr>
          </a:p>
        </p:txBody>
      </p:sp>
      <p:sp>
        <p:nvSpPr>
          <p:cNvPr id="44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EXPORT · PRINZIP</a:t>
            </a:r>
            <a:endParaRPr b="0" lang="en-US" sz="1130" spc="-1" strike="noStrike">
              <a:solidFill>
                <a:srgbClr val="000000"/>
              </a:solidFill>
              <a:latin typeface="Arial"/>
            </a:endParaRPr>
          </a:p>
        </p:txBody>
      </p:sp>
      <p:sp>
        <p:nvSpPr>
          <p:cNvPr id="44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44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24</a:t>
            </a:r>
            <a:endParaRPr b="0" lang="en-US" sz="939" spc="-1" strike="noStrike">
              <a:solidFill>
                <a:srgbClr val="000000"/>
              </a:solidFill>
              <a:latin typeface="Arial"/>
            </a:endParaRPr>
          </a:p>
        </p:txBody>
      </p:sp>
      <p:sp>
        <p:nvSpPr>
          <p:cNvPr id="448" name=""/>
          <p:cNvSpPr/>
          <p:nvPr/>
        </p:nvSpPr>
        <p:spPr>
          <a:xfrm>
            <a:off x="838080" y="2209680"/>
            <a:ext cx="42670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9" name=""/>
          <p:cNvSpPr/>
          <p:nvPr/>
        </p:nvSpPr>
        <p:spPr>
          <a:xfrm>
            <a:off x="838080" y="22096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50" name=""/>
          <p:cNvSpPr txBox="1"/>
          <p:nvPr/>
        </p:nvSpPr>
        <p:spPr>
          <a:xfrm>
            <a:off x="1044000" y="2392560"/>
            <a:ext cx="3855600" cy="647640"/>
          </a:xfrm>
          <a:prstGeom prst="rect">
            <a:avLst/>
          </a:prstGeom>
          <a:noFill/>
          <a:ln w="0">
            <a:noFill/>
          </a:ln>
        </p:spPr>
        <p:txBody>
          <a:bodyPr lIns="0" rIns="0" tIns="0" bIns="0" anchor="t">
            <a:noAutofit/>
          </a:bodyPr>
          <a:p>
            <a:r>
              <a:rPr b="1" lang="en-US" sz="2540" spc="-1" strike="noStrike">
                <a:solidFill>
                  <a:srgbClr val="004899"/>
                </a:solidFill>
                <a:latin typeface="Noto Sans"/>
              </a:rPr>
              <a:t>Rohdaten</a:t>
            </a:r>
            <a:endParaRPr b="0" lang="en-US" sz="2540" spc="-1" strike="noStrike">
              <a:solidFill>
                <a:srgbClr val="000000"/>
              </a:solidFill>
              <a:latin typeface="Arial"/>
            </a:endParaRPr>
          </a:p>
        </p:txBody>
      </p:sp>
      <p:sp>
        <p:nvSpPr>
          <p:cNvPr id="451" name=""/>
          <p:cNvSpPr txBox="1"/>
          <p:nvPr/>
        </p:nvSpPr>
        <p:spPr>
          <a:xfrm>
            <a:off x="1044000" y="3154680"/>
            <a:ext cx="3855600" cy="1203840"/>
          </a:xfrm>
          <a:prstGeom prst="rect">
            <a:avLst/>
          </a:prstGeom>
          <a:noFill/>
          <a:ln w="0">
            <a:noFill/>
          </a:ln>
        </p:spPr>
        <p:txBody>
          <a:bodyPr lIns="0" rIns="0" tIns="0" bIns="0" anchor="t">
            <a:noAutofit/>
          </a:bodyPr>
          <a:p>
            <a:r>
              <a:rPr b="0" lang="en-US" sz="2350" spc="-1" strike="noStrike">
                <a:solidFill>
                  <a:srgbClr val="000000"/>
                </a:solidFill>
                <a:latin typeface="Noto Sans"/>
              </a:rPr>
              <a:t>gbif_feuersalamander_raw</a:t>
            </a:r>
            <a:endParaRPr b="0" lang="en-US" sz="2350" spc="-1" strike="noStrike">
              <a:solidFill>
                <a:srgbClr val="000000"/>
              </a:solidFill>
              <a:latin typeface="Arial"/>
            </a:endParaRPr>
          </a:p>
          <a:p>
            <a:r>
              <a:rPr b="0" lang="en-US" sz="2350" spc="-1" strike="noStrike">
                <a:solidFill>
                  <a:srgbClr val="000000"/>
                </a:solidFill>
                <a:latin typeface="Noto Sans"/>
              </a:rPr>
              <a:t>79 Records · EPSG:4326</a:t>
            </a:r>
            <a:endParaRPr b="0" lang="en-US" sz="2350" spc="-1" strike="noStrike">
              <a:solidFill>
                <a:srgbClr val="000000"/>
              </a:solidFill>
              <a:latin typeface="Arial"/>
            </a:endParaRPr>
          </a:p>
        </p:txBody>
      </p:sp>
      <p:sp>
        <p:nvSpPr>
          <p:cNvPr id="452" name=""/>
          <p:cNvSpPr txBox="1"/>
          <p:nvPr/>
        </p:nvSpPr>
        <p:spPr>
          <a:xfrm>
            <a:off x="5486400" y="2971800"/>
            <a:ext cx="1219320" cy="609480"/>
          </a:xfrm>
          <a:prstGeom prst="rect">
            <a:avLst/>
          </a:prstGeom>
          <a:noFill/>
          <a:ln w="0">
            <a:noFill/>
          </a:ln>
        </p:spPr>
        <p:txBody>
          <a:bodyPr lIns="0" rIns="0" tIns="0" bIns="0" anchor="t">
            <a:noAutofit/>
          </a:bodyPr>
          <a:p>
            <a:pPr algn="ctr"/>
            <a:r>
              <a:rPr b="1" lang="en-US" sz="4510" spc="-1" strike="noStrike">
                <a:solidFill>
                  <a:srgbClr val="004899"/>
                </a:solidFill>
                <a:latin typeface="Noto Sans"/>
              </a:rPr>
              <a:t>→</a:t>
            </a:r>
            <a:endParaRPr b="0" lang="en-US" sz="4510" spc="-1" strike="noStrike">
              <a:solidFill>
                <a:srgbClr val="000000"/>
              </a:solidFill>
              <a:latin typeface="Arial"/>
            </a:endParaRPr>
          </a:p>
        </p:txBody>
      </p:sp>
      <p:sp>
        <p:nvSpPr>
          <p:cNvPr id="453" name=""/>
          <p:cNvSpPr/>
          <p:nvPr/>
        </p:nvSpPr>
        <p:spPr>
          <a:xfrm>
            <a:off x="7086600" y="2209680"/>
            <a:ext cx="42670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54" name=""/>
          <p:cNvSpPr/>
          <p:nvPr/>
        </p:nvSpPr>
        <p:spPr>
          <a:xfrm>
            <a:off x="7086600" y="22096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55" name=""/>
          <p:cNvSpPr txBox="1"/>
          <p:nvPr/>
        </p:nvSpPr>
        <p:spPr>
          <a:xfrm>
            <a:off x="7292520" y="2392560"/>
            <a:ext cx="3855600" cy="647640"/>
          </a:xfrm>
          <a:prstGeom prst="rect">
            <a:avLst/>
          </a:prstGeom>
          <a:noFill/>
          <a:ln w="0">
            <a:noFill/>
          </a:ln>
        </p:spPr>
        <p:txBody>
          <a:bodyPr lIns="0" rIns="0" tIns="0" bIns="0" anchor="t">
            <a:noAutofit/>
          </a:bodyPr>
          <a:p>
            <a:r>
              <a:rPr b="1" lang="en-US" sz="2540" spc="-1" strike="noStrike">
                <a:solidFill>
                  <a:srgbClr val="a32123"/>
                </a:solidFill>
                <a:latin typeface="Noto Sans"/>
              </a:rPr>
              <a:t>Prüfergebnis</a:t>
            </a:r>
            <a:endParaRPr b="0" lang="en-US" sz="2540" spc="-1" strike="noStrike">
              <a:solidFill>
                <a:srgbClr val="000000"/>
              </a:solidFill>
              <a:latin typeface="Arial"/>
            </a:endParaRPr>
          </a:p>
        </p:txBody>
      </p:sp>
      <p:sp>
        <p:nvSpPr>
          <p:cNvPr id="456" name=""/>
          <p:cNvSpPr txBox="1"/>
          <p:nvPr/>
        </p:nvSpPr>
        <p:spPr>
          <a:xfrm>
            <a:off x="7292520" y="3154680"/>
            <a:ext cx="3855600" cy="1203840"/>
          </a:xfrm>
          <a:prstGeom prst="rect">
            <a:avLst/>
          </a:prstGeom>
          <a:noFill/>
          <a:ln w="0">
            <a:noFill/>
          </a:ln>
        </p:spPr>
        <p:txBody>
          <a:bodyPr lIns="0" rIns="0" tIns="0" bIns="0" anchor="t">
            <a:noAutofit/>
          </a:bodyPr>
          <a:p>
            <a:r>
              <a:rPr b="0" lang="en-US" sz="2350" spc="-1" strike="noStrike">
                <a:solidFill>
                  <a:srgbClr val="000000"/>
                </a:solidFill>
                <a:latin typeface="Noto Sans"/>
              </a:rPr>
              <a:t>gbif_checked</a:t>
            </a:r>
            <a:endParaRPr b="0" lang="en-US" sz="2350" spc="-1" strike="noStrike">
              <a:solidFill>
                <a:srgbClr val="000000"/>
              </a:solidFill>
              <a:latin typeface="Arial"/>
            </a:endParaRPr>
          </a:p>
          <a:p>
            <a:r>
              <a:rPr b="0" lang="en-US" sz="2350" spc="-1" strike="noStrike">
                <a:solidFill>
                  <a:srgbClr val="000000"/>
                </a:solidFill>
                <a:latin typeface="Noto Sans"/>
              </a:rPr>
              <a:t>56 Records · EPSG:25832</a:t>
            </a:r>
            <a:endParaRPr b="0" lang="en-US" sz="2350" spc="-1" strike="noStrike">
              <a:solidFill>
                <a:srgbClr val="000000"/>
              </a:solidFill>
              <a:latin typeface="Arial"/>
            </a:endParaRPr>
          </a:p>
        </p:txBody>
      </p:sp>
      <p:sp>
        <p:nvSpPr>
          <p:cNvPr id="45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58"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Auswahl ist eine dokumentierte Ableitung – kein Ersatz für die Quelle.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GeoPackage und Layer eindeutig benennen</a:t>
            </a:r>
            <a:endParaRPr b="0" lang="en-US" sz="3190" spc="-1" strike="noStrike">
              <a:solidFill>
                <a:srgbClr val="000000"/>
              </a:solidFill>
              <a:latin typeface="Arial"/>
            </a:endParaRPr>
          </a:p>
        </p:txBody>
      </p:sp>
      <p:sp>
        <p:nvSpPr>
          <p:cNvPr id="46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EXPORT · EINSTELLUNGEN</a:t>
            </a:r>
            <a:endParaRPr b="0" lang="en-US" sz="1130" spc="-1" strike="noStrike">
              <a:solidFill>
                <a:srgbClr val="000000"/>
              </a:solidFill>
              <a:latin typeface="Arial"/>
            </a:endParaRPr>
          </a:p>
        </p:txBody>
      </p:sp>
      <p:sp>
        <p:nvSpPr>
          <p:cNvPr id="46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46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25</a:t>
            </a:r>
            <a:endParaRPr b="0" lang="en-US" sz="939" spc="-1" strike="noStrike">
              <a:solidFill>
                <a:srgbClr val="000000"/>
              </a:solidFill>
              <a:latin typeface="Arial"/>
            </a:endParaRPr>
          </a:p>
        </p:txBody>
      </p:sp>
      <p:sp>
        <p:nvSpPr>
          <p:cNvPr id="463" name=""/>
          <p:cNvSpPr/>
          <p:nvPr/>
        </p:nvSpPr>
        <p:spPr>
          <a:xfrm>
            <a:off x="647640" y="1790640"/>
            <a:ext cx="4244400" cy="7088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64" name=""/>
          <p:cNvSpPr txBox="1"/>
          <p:nvPr/>
        </p:nvSpPr>
        <p:spPr>
          <a:xfrm>
            <a:off x="784800" y="1920240"/>
            <a:ext cx="3992760" cy="579240"/>
          </a:xfrm>
          <a:prstGeom prst="rect">
            <a:avLst/>
          </a:prstGeom>
          <a:noFill/>
          <a:ln w="0">
            <a:noFill/>
          </a:ln>
        </p:spPr>
        <p:txBody>
          <a:bodyPr lIns="0" rIns="0" tIns="0" bIns="0" anchor="t">
            <a:noAutofit/>
          </a:bodyPr>
          <a:p>
            <a:r>
              <a:rPr b="1" lang="en-US" sz="2260" spc="-1" strike="noStrike">
                <a:solidFill>
                  <a:srgbClr val="ffffff"/>
                </a:solidFill>
                <a:latin typeface="Noto Sans"/>
              </a:rPr>
              <a:t>Einstellung</a:t>
            </a:r>
            <a:endParaRPr b="0" lang="en-US" sz="2260" spc="-1" strike="noStrike">
              <a:solidFill>
                <a:srgbClr val="000000"/>
              </a:solidFill>
              <a:latin typeface="Arial"/>
            </a:endParaRPr>
          </a:p>
        </p:txBody>
      </p:sp>
      <p:sp>
        <p:nvSpPr>
          <p:cNvPr id="465" name=""/>
          <p:cNvSpPr/>
          <p:nvPr/>
        </p:nvSpPr>
        <p:spPr>
          <a:xfrm>
            <a:off x="4915080" y="1790640"/>
            <a:ext cx="6606720" cy="7088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66" name=""/>
          <p:cNvSpPr txBox="1"/>
          <p:nvPr/>
        </p:nvSpPr>
        <p:spPr>
          <a:xfrm>
            <a:off x="5052240" y="1920240"/>
            <a:ext cx="6355080" cy="579240"/>
          </a:xfrm>
          <a:prstGeom prst="rect">
            <a:avLst/>
          </a:prstGeom>
          <a:noFill/>
          <a:ln w="0">
            <a:noFill/>
          </a:ln>
        </p:spPr>
        <p:txBody>
          <a:bodyPr lIns="0" rIns="0" tIns="0" bIns="0" anchor="t">
            <a:noAutofit/>
          </a:bodyPr>
          <a:p>
            <a:r>
              <a:rPr b="1" lang="en-US" sz="2260" spc="-1" strike="noStrike">
                <a:solidFill>
                  <a:srgbClr val="ffffff"/>
                </a:solidFill>
                <a:latin typeface="Noto Sans"/>
              </a:rPr>
              <a:t>Wert</a:t>
            </a:r>
            <a:endParaRPr b="0" lang="en-US" sz="2260" spc="-1" strike="noStrike">
              <a:solidFill>
                <a:srgbClr val="000000"/>
              </a:solidFill>
              <a:latin typeface="Arial"/>
            </a:endParaRPr>
          </a:p>
        </p:txBody>
      </p:sp>
      <p:sp>
        <p:nvSpPr>
          <p:cNvPr id="467" name=""/>
          <p:cNvSpPr/>
          <p:nvPr/>
        </p:nvSpPr>
        <p:spPr>
          <a:xfrm>
            <a:off x="647640" y="2522160"/>
            <a:ext cx="4244400" cy="708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8" name=""/>
          <p:cNvSpPr txBox="1"/>
          <p:nvPr/>
        </p:nvSpPr>
        <p:spPr>
          <a:xfrm>
            <a:off x="784800" y="2651760"/>
            <a:ext cx="3992760" cy="579240"/>
          </a:xfrm>
          <a:prstGeom prst="rect">
            <a:avLst/>
          </a:prstGeom>
          <a:noFill/>
          <a:ln w="0">
            <a:noFill/>
          </a:ln>
        </p:spPr>
        <p:txBody>
          <a:bodyPr lIns="0" rIns="0" tIns="0" bIns="0" anchor="t">
            <a:noAutofit/>
          </a:bodyPr>
          <a:p>
            <a:r>
              <a:rPr b="0" lang="en-US" sz="2260" spc="-1" strike="noStrike">
                <a:solidFill>
                  <a:srgbClr val="000000"/>
                </a:solidFill>
                <a:latin typeface="Noto Sans"/>
              </a:rPr>
              <a:t>Format</a:t>
            </a:r>
            <a:endParaRPr b="0" lang="en-US" sz="2260" spc="-1" strike="noStrike">
              <a:solidFill>
                <a:srgbClr val="000000"/>
              </a:solidFill>
              <a:latin typeface="Arial"/>
            </a:endParaRPr>
          </a:p>
        </p:txBody>
      </p:sp>
      <p:sp>
        <p:nvSpPr>
          <p:cNvPr id="469" name=""/>
          <p:cNvSpPr/>
          <p:nvPr/>
        </p:nvSpPr>
        <p:spPr>
          <a:xfrm>
            <a:off x="4915080" y="2522160"/>
            <a:ext cx="6606720" cy="708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0" name=""/>
          <p:cNvSpPr txBox="1"/>
          <p:nvPr/>
        </p:nvSpPr>
        <p:spPr>
          <a:xfrm>
            <a:off x="5052240" y="2651760"/>
            <a:ext cx="6355080" cy="579240"/>
          </a:xfrm>
          <a:prstGeom prst="rect">
            <a:avLst/>
          </a:prstGeom>
          <a:noFill/>
          <a:ln w="0">
            <a:noFill/>
          </a:ln>
        </p:spPr>
        <p:txBody>
          <a:bodyPr lIns="0" rIns="0" tIns="0" bIns="0" anchor="t">
            <a:noAutofit/>
          </a:bodyPr>
          <a:p>
            <a:r>
              <a:rPr b="0" lang="en-US" sz="2260" spc="-1" strike="noStrike">
                <a:solidFill>
                  <a:srgbClr val="000000"/>
                </a:solidFill>
                <a:latin typeface="Noto Sans"/>
              </a:rPr>
              <a:t>GeoPackage</a:t>
            </a:r>
            <a:endParaRPr b="0" lang="en-US" sz="2260" spc="-1" strike="noStrike">
              <a:solidFill>
                <a:srgbClr val="000000"/>
              </a:solidFill>
              <a:latin typeface="Arial"/>
            </a:endParaRPr>
          </a:p>
        </p:txBody>
      </p:sp>
      <p:sp>
        <p:nvSpPr>
          <p:cNvPr id="471" name=""/>
          <p:cNvSpPr/>
          <p:nvPr/>
        </p:nvSpPr>
        <p:spPr>
          <a:xfrm>
            <a:off x="647640" y="3253680"/>
            <a:ext cx="4244400" cy="708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2" name=""/>
          <p:cNvSpPr txBox="1"/>
          <p:nvPr/>
        </p:nvSpPr>
        <p:spPr>
          <a:xfrm>
            <a:off x="784800" y="3383280"/>
            <a:ext cx="3992760" cy="579240"/>
          </a:xfrm>
          <a:prstGeom prst="rect">
            <a:avLst/>
          </a:prstGeom>
          <a:noFill/>
          <a:ln w="0">
            <a:noFill/>
          </a:ln>
        </p:spPr>
        <p:txBody>
          <a:bodyPr lIns="0" rIns="0" tIns="0" bIns="0" anchor="t">
            <a:noAutofit/>
          </a:bodyPr>
          <a:p>
            <a:r>
              <a:rPr b="0" lang="en-US" sz="2260" spc="-1" strike="noStrike">
                <a:solidFill>
                  <a:srgbClr val="000000"/>
                </a:solidFill>
                <a:latin typeface="Noto Sans"/>
              </a:rPr>
              <a:t>Datei</a:t>
            </a:r>
            <a:endParaRPr b="0" lang="en-US" sz="2260" spc="-1" strike="noStrike">
              <a:solidFill>
                <a:srgbClr val="000000"/>
              </a:solidFill>
              <a:latin typeface="Arial"/>
            </a:endParaRPr>
          </a:p>
        </p:txBody>
      </p:sp>
      <p:sp>
        <p:nvSpPr>
          <p:cNvPr id="473" name=""/>
          <p:cNvSpPr/>
          <p:nvPr/>
        </p:nvSpPr>
        <p:spPr>
          <a:xfrm>
            <a:off x="4915080" y="3253680"/>
            <a:ext cx="6606720" cy="708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4" name=""/>
          <p:cNvSpPr txBox="1"/>
          <p:nvPr/>
        </p:nvSpPr>
        <p:spPr>
          <a:xfrm>
            <a:off x="5052240" y="3383280"/>
            <a:ext cx="6355080" cy="579240"/>
          </a:xfrm>
          <a:prstGeom prst="rect">
            <a:avLst/>
          </a:prstGeom>
          <a:noFill/>
          <a:ln w="0">
            <a:noFill/>
          </a:ln>
        </p:spPr>
        <p:txBody>
          <a:bodyPr lIns="0" rIns="0" tIns="0" bIns="0" anchor="t">
            <a:noAutofit/>
          </a:bodyPr>
          <a:p>
            <a:r>
              <a:rPr b="0" lang="en-US" sz="2260" spc="-1" strike="noStrike">
                <a:solidFill>
                  <a:srgbClr val="000000"/>
                </a:solidFill>
                <a:latin typeface="Noto Sans"/>
              </a:rPr>
              <a:t>data_output/unit11_results.gpkg</a:t>
            </a:r>
            <a:endParaRPr b="0" lang="en-US" sz="2260" spc="-1" strike="noStrike">
              <a:solidFill>
                <a:srgbClr val="000000"/>
              </a:solidFill>
              <a:latin typeface="Arial"/>
            </a:endParaRPr>
          </a:p>
        </p:txBody>
      </p:sp>
      <p:sp>
        <p:nvSpPr>
          <p:cNvPr id="475" name=""/>
          <p:cNvSpPr/>
          <p:nvPr/>
        </p:nvSpPr>
        <p:spPr>
          <a:xfrm>
            <a:off x="647640" y="3985200"/>
            <a:ext cx="4244400" cy="708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6" name=""/>
          <p:cNvSpPr txBox="1"/>
          <p:nvPr/>
        </p:nvSpPr>
        <p:spPr>
          <a:xfrm>
            <a:off x="784800" y="4114800"/>
            <a:ext cx="3992760" cy="579240"/>
          </a:xfrm>
          <a:prstGeom prst="rect">
            <a:avLst/>
          </a:prstGeom>
          <a:noFill/>
          <a:ln w="0">
            <a:noFill/>
          </a:ln>
        </p:spPr>
        <p:txBody>
          <a:bodyPr lIns="0" rIns="0" tIns="0" bIns="0" anchor="t">
            <a:noAutofit/>
          </a:bodyPr>
          <a:p>
            <a:r>
              <a:rPr b="0" lang="en-US" sz="2260" spc="-1" strike="noStrike">
                <a:solidFill>
                  <a:srgbClr val="000000"/>
                </a:solidFill>
                <a:latin typeface="Noto Sans"/>
              </a:rPr>
              <a:t>Layername</a:t>
            </a:r>
            <a:endParaRPr b="0" lang="en-US" sz="2260" spc="-1" strike="noStrike">
              <a:solidFill>
                <a:srgbClr val="000000"/>
              </a:solidFill>
              <a:latin typeface="Arial"/>
            </a:endParaRPr>
          </a:p>
        </p:txBody>
      </p:sp>
      <p:sp>
        <p:nvSpPr>
          <p:cNvPr id="477" name=""/>
          <p:cNvSpPr/>
          <p:nvPr/>
        </p:nvSpPr>
        <p:spPr>
          <a:xfrm>
            <a:off x="4915080" y="3985200"/>
            <a:ext cx="6606720" cy="708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8" name=""/>
          <p:cNvSpPr txBox="1"/>
          <p:nvPr/>
        </p:nvSpPr>
        <p:spPr>
          <a:xfrm>
            <a:off x="5052240" y="4114800"/>
            <a:ext cx="6355080" cy="579240"/>
          </a:xfrm>
          <a:prstGeom prst="rect">
            <a:avLst/>
          </a:prstGeom>
          <a:noFill/>
          <a:ln w="0">
            <a:noFill/>
          </a:ln>
        </p:spPr>
        <p:txBody>
          <a:bodyPr lIns="0" rIns="0" tIns="0" bIns="0" anchor="t">
            <a:noAutofit/>
          </a:bodyPr>
          <a:p>
            <a:r>
              <a:rPr b="0" lang="en-US" sz="2260" spc="-1" strike="noStrike">
                <a:solidFill>
                  <a:srgbClr val="000000"/>
                </a:solidFill>
                <a:latin typeface="Noto Sans"/>
              </a:rPr>
              <a:t>gbif_checked</a:t>
            </a:r>
            <a:endParaRPr b="0" lang="en-US" sz="2260" spc="-1" strike="noStrike">
              <a:solidFill>
                <a:srgbClr val="000000"/>
              </a:solidFill>
              <a:latin typeface="Arial"/>
            </a:endParaRPr>
          </a:p>
        </p:txBody>
      </p:sp>
      <p:sp>
        <p:nvSpPr>
          <p:cNvPr id="479" name=""/>
          <p:cNvSpPr/>
          <p:nvPr/>
        </p:nvSpPr>
        <p:spPr>
          <a:xfrm>
            <a:off x="647640" y="4716720"/>
            <a:ext cx="4244400" cy="708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0" name=""/>
          <p:cNvSpPr txBox="1"/>
          <p:nvPr/>
        </p:nvSpPr>
        <p:spPr>
          <a:xfrm>
            <a:off x="784800" y="4846320"/>
            <a:ext cx="3992760" cy="579240"/>
          </a:xfrm>
          <a:prstGeom prst="rect">
            <a:avLst/>
          </a:prstGeom>
          <a:noFill/>
          <a:ln w="0">
            <a:noFill/>
          </a:ln>
        </p:spPr>
        <p:txBody>
          <a:bodyPr lIns="0" rIns="0" tIns="0" bIns="0" anchor="t">
            <a:noAutofit/>
          </a:bodyPr>
          <a:p>
            <a:r>
              <a:rPr b="0" lang="en-US" sz="2260" spc="-1" strike="noStrike">
                <a:solidFill>
                  <a:srgbClr val="000000"/>
                </a:solidFill>
                <a:latin typeface="Noto Sans"/>
              </a:rPr>
              <a:t>Nur ausgewählte Objekte</a:t>
            </a:r>
            <a:endParaRPr b="0" lang="en-US" sz="2260" spc="-1" strike="noStrike">
              <a:solidFill>
                <a:srgbClr val="000000"/>
              </a:solidFill>
              <a:latin typeface="Arial"/>
            </a:endParaRPr>
          </a:p>
        </p:txBody>
      </p:sp>
      <p:sp>
        <p:nvSpPr>
          <p:cNvPr id="481" name=""/>
          <p:cNvSpPr/>
          <p:nvPr/>
        </p:nvSpPr>
        <p:spPr>
          <a:xfrm>
            <a:off x="4915080" y="4716720"/>
            <a:ext cx="6606720" cy="708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2" name=""/>
          <p:cNvSpPr txBox="1"/>
          <p:nvPr/>
        </p:nvSpPr>
        <p:spPr>
          <a:xfrm>
            <a:off x="5052240" y="4846320"/>
            <a:ext cx="6355080" cy="579240"/>
          </a:xfrm>
          <a:prstGeom prst="rect">
            <a:avLst/>
          </a:prstGeom>
          <a:noFill/>
          <a:ln w="0">
            <a:noFill/>
          </a:ln>
        </p:spPr>
        <p:txBody>
          <a:bodyPr lIns="0" rIns="0" tIns="0" bIns="0" anchor="t">
            <a:noAutofit/>
          </a:bodyPr>
          <a:p>
            <a:r>
              <a:rPr b="0" lang="en-US" sz="2260" spc="-1" strike="noStrike">
                <a:solidFill>
                  <a:srgbClr val="000000"/>
                </a:solidFill>
                <a:latin typeface="Noto Sans"/>
              </a:rPr>
              <a:t>ja</a:t>
            </a:r>
            <a:endParaRPr b="0" lang="en-US" sz="2260" spc="-1" strike="noStrike">
              <a:solidFill>
                <a:srgbClr val="000000"/>
              </a:solidFill>
              <a:latin typeface="Arial"/>
            </a:endParaRPr>
          </a:p>
        </p:txBody>
      </p:sp>
      <p:sp>
        <p:nvSpPr>
          <p:cNvPr id="483" name=""/>
          <p:cNvSpPr/>
          <p:nvPr/>
        </p:nvSpPr>
        <p:spPr>
          <a:xfrm>
            <a:off x="647640" y="5448240"/>
            <a:ext cx="4244400" cy="708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4" name=""/>
          <p:cNvSpPr txBox="1"/>
          <p:nvPr/>
        </p:nvSpPr>
        <p:spPr>
          <a:xfrm>
            <a:off x="784800" y="5577840"/>
            <a:ext cx="3992760" cy="579240"/>
          </a:xfrm>
          <a:prstGeom prst="rect">
            <a:avLst/>
          </a:prstGeom>
          <a:noFill/>
          <a:ln w="0">
            <a:noFill/>
          </a:ln>
        </p:spPr>
        <p:txBody>
          <a:bodyPr lIns="0" rIns="0" tIns="0" bIns="0" anchor="t">
            <a:noAutofit/>
          </a:bodyPr>
          <a:p>
            <a:r>
              <a:rPr b="0" lang="en-US" sz="2260" spc="-1" strike="noStrike">
                <a:solidFill>
                  <a:srgbClr val="000000"/>
                </a:solidFill>
                <a:latin typeface="Noto Sans"/>
              </a:rPr>
              <a:t>CRS</a:t>
            </a:r>
            <a:endParaRPr b="0" lang="en-US" sz="2260" spc="-1" strike="noStrike">
              <a:solidFill>
                <a:srgbClr val="000000"/>
              </a:solidFill>
              <a:latin typeface="Arial"/>
            </a:endParaRPr>
          </a:p>
        </p:txBody>
      </p:sp>
      <p:sp>
        <p:nvSpPr>
          <p:cNvPr id="485" name=""/>
          <p:cNvSpPr/>
          <p:nvPr/>
        </p:nvSpPr>
        <p:spPr>
          <a:xfrm>
            <a:off x="4915080" y="5448240"/>
            <a:ext cx="6606720" cy="708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6" name=""/>
          <p:cNvSpPr txBox="1"/>
          <p:nvPr/>
        </p:nvSpPr>
        <p:spPr>
          <a:xfrm>
            <a:off x="5052240" y="5577840"/>
            <a:ext cx="6355080" cy="579240"/>
          </a:xfrm>
          <a:prstGeom prst="rect">
            <a:avLst/>
          </a:prstGeom>
          <a:noFill/>
          <a:ln w="0">
            <a:noFill/>
          </a:ln>
        </p:spPr>
        <p:txBody>
          <a:bodyPr lIns="0" rIns="0" tIns="0" bIns="0" anchor="t">
            <a:noAutofit/>
          </a:bodyPr>
          <a:p>
            <a:r>
              <a:rPr b="0" lang="en-US" sz="2260" spc="-1" strike="noStrike">
                <a:solidFill>
                  <a:srgbClr val="000000"/>
                </a:solidFill>
                <a:latin typeface="Noto Sans"/>
              </a:rPr>
              <a:t>EPSG:25832</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Beim Export wird wirklich transformiert</a:t>
            </a:r>
            <a:endParaRPr b="0" lang="en-US" sz="3190" spc="-1" strike="noStrike">
              <a:solidFill>
                <a:srgbClr val="000000"/>
              </a:solidFill>
              <a:latin typeface="Arial"/>
            </a:endParaRPr>
          </a:p>
        </p:txBody>
      </p:sp>
      <p:sp>
        <p:nvSpPr>
          <p:cNvPr id="48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EXPORT · CRS</a:t>
            </a:r>
            <a:endParaRPr b="0" lang="en-US" sz="1130" spc="-1" strike="noStrike">
              <a:solidFill>
                <a:srgbClr val="000000"/>
              </a:solidFill>
              <a:latin typeface="Arial"/>
            </a:endParaRPr>
          </a:p>
        </p:txBody>
      </p:sp>
      <p:sp>
        <p:nvSpPr>
          <p:cNvPr id="48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49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26</a:t>
            </a:r>
            <a:endParaRPr b="0" lang="en-US" sz="939" spc="-1" strike="noStrike">
              <a:solidFill>
                <a:srgbClr val="000000"/>
              </a:solidFill>
              <a:latin typeface="Arial"/>
            </a:endParaRPr>
          </a:p>
        </p:txBody>
      </p:sp>
      <p:sp>
        <p:nvSpPr>
          <p:cNvPr id="491" name=""/>
          <p:cNvSpPr/>
          <p:nvPr/>
        </p:nvSpPr>
        <p:spPr>
          <a:xfrm>
            <a:off x="838080" y="2133720"/>
            <a:ext cx="3962520" cy="21337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2" name=""/>
          <p:cNvSpPr/>
          <p:nvPr/>
        </p:nvSpPr>
        <p:spPr>
          <a:xfrm>
            <a:off x="838080" y="2133720"/>
            <a:ext cx="53280" cy="21337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3" name=""/>
          <p:cNvSpPr txBox="1"/>
          <p:nvPr/>
        </p:nvSpPr>
        <p:spPr>
          <a:xfrm>
            <a:off x="1044000" y="2316600"/>
            <a:ext cx="3551040" cy="647640"/>
          </a:xfrm>
          <a:prstGeom prst="rect">
            <a:avLst/>
          </a:prstGeom>
          <a:noFill/>
          <a:ln w="0">
            <a:noFill/>
          </a:ln>
        </p:spPr>
        <p:txBody>
          <a:bodyPr lIns="0" rIns="0" tIns="0" bIns="0" anchor="t">
            <a:noAutofit/>
          </a:bodyPr>
          <a:p>
            <a:r>
              <a:rPr b="1" lang="en-US" sz="2540" spc="-1" strike="noStrike">
                <a:solidFill>
                  <a:srgbClr val="004899"/>
                </a:solidFill>
                <a:latin typeface="Noto Sans"/>
              </a:rPr>
              <a:t>Import</a:t>
            </a:r>
            <a:endParaRPr b="0" lang="en-US" sz="2540" spc="-1" strike="noStrike">
              <a:solidFill>
                <a:srgbClr val="000000"/>
              </a:solidFill>
              <a:latin typeface="Arial"/>
            </a:endParaRPr>
          </a:p>
        </p:txBody>
      </p:sp>
      <p:sp>
        <p:nvSpPr>
          <p:cNvPr id="494" name=""/>
          <p:cNvSpPr txBox="1"/>
          <p:nvPr/>
        </p:nvSpPr>
        <p:spPr>
          <a:xfrm>
            <a:off x="1044000" y="3078360"/>
            <a:ext cx="3551040" cy="1051560"/>
          </a:xfrm>
          <a:prstGeom prst="rect">
            <a:avLst/>
          </a:prstGeom>
          <a:noFill/>
          <a:ln w="0">
            <a:noFill/>
          </a:ln>
        </p:spPr>
        <p:txBody>
          <a:bodyPr lIns="0" rIns="0" tIns="0" bIns="0" anchor="t">
            <a:noAutofit/>
          </a:bodyPr>
          <a:p>
            <a:r>
              <a:rPr b="0" lang="en-US" sz="2260" spc="-1" strike="noStrike">
                <a:solidFill>
                  <a:srgbClr val="000000"/>
                </a:solidFill>
                <a:latin typeface="Noto Sans"/>
              </a:rPr>
              <a:t>8.817572 / 50.807076</a:t>
            </a:r>
            <a:endParaRPr b="0" lang="en-US" sz="2260" spc="-1" strike="noStrike">
              <a:solidFill>
                <a:srgbClr val="000000"/>
              </a:solidFill>
              <a:latin typeface="Arial"/>
            </a:endParaRPr>
          </a:p>
          <a:p>
            <a:r>
              <a:rPr b="0" lang="en-US" sz="2260" spc="-1" strike="noStrike">
                <a:solidFill>
                  <a:srgbClr val="000000"/>
                </a:solidFill>
                <a:latin typeface="Noto Sans"/>
              </a:rPr>
              <a:t>als EPSG:4326 verstehen</a:t>
            </a:r>
            <a:endParaRPr b="0" lang="en-US" sz="2260" spc="-1" strike="noStrike">
              <a:solidFill>
                <a:srgbClr val="000000"/>
              </a:solidFill>
              <a:latin typeface="Arial"/>
            </a:endParaRPr>
          </a:p>
        </p:txBody>
      </p:sp>
      <p:sp>
        <p:nvSpPr>
          <p:cNvPr id="495" name=""/>
          <p:cNvSpPr txBox="1"/>
          <p:nvPr/>
        </p:nvSpPr>
        <p:spPr>
          <a:xfrm>
            <a:off x="5181480" y="2666880"/>
            <a:ext cx="1828800" cy="838080"/>
          </a:xfrm>
          <a:prstGeom prst="rect">
            <a:avLst/>
          </a:prstGeom>
          <a:noFill/>
          <a:ln w="0">
            <a:noFill/>
          </a:ln>
        </p:spPr>
        <p:txBody>
          <a:bodyPr lIns="0" rIns="0" tIns="0" bIns="0" anchor="t">
            <a:noAutofit/>
          </a:bodyPr>
          <a:p>
            <a:pPr algn="ctr"/>
            <a:r>
              <a:rPr b="1" lang="en-US" sz="4510" spc="-1" strike="noStrike">
                <a:solidFill>
                  <a:srgbClr val="004899"/>
                </a:solidFill>
                <a:latin typeface="Noto Sans"/>
              </a:rPr>
              <a:t>→</a:t>
            </a:r>
            <a:endParaRPr b="0" lang="en-US" sz="4510" spc="-1" strike="noStrike">
              <a:solidFill>
                <a:srgbClr val="000000"/>
              </a:solidFill>
              <a:latin typeface="Arial"/>
            </a:endParaRPr>
          </a:p>
        </p:txBody>
      </p:sp>
      <p:sp>
        <p:nvSpPr>
          <p:cNvPr id="496" name=""/>
          <p:cNvSpPr/>
          <p:nvPr/>
        </p:nvSpPr>
        <p:spPr>
          <a:xfrm>
            <a:off x="7391520" y="2133720"/>
            <a:ext cx="3962520" cy="21337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7" name=""/>
          <p:cNvSpPr/>
          <p:nvPr/>
        </p:nvSpPr>
        <p:spPr>
          <a:xfrm>
            <a:off x="7391520" y="2133720"/>
            <a:ext cx="53280" cy="213372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8" name=""/>
          <p:cNvSpPr txBox="1"/>
          <p:nvPr/>
        </p:nvSpPr>
        <p:spPr>
          <a:xfrm>
            <a:off x="7597080" y="2316600"/>
            <a:ext cx="3551040" cy="647640"/>
          </a:xfrm>
          <a:prstGeom prst="rect">
            <a:avLst/>
          </a:prstGeom>
          <a:noFill/>
          <a:ln w="0">
            <a:noFill/>
          </a:ln>
        </p:spPr>
        <p:txBody>
          <a:bodyPr lIns="0" rIns="0" tIns="0" bIns="0" anchor="t">
            <a:noAutofit/>
          </a:bodyPr>
          <a:p>
            <a:r>
              <a:rPr b="1" lang="en-US" sz="2540" spc="-1" strike="noStrike">
                <a:solidFill>
                  <a:srgbClr val="a32123"/>
                </a:solidFill>
                <a:latin typeface="Noto Sans"/>
              </a:rPr>
              <a:t>Export</a:t>
            </a:r>
            <a:endParaRPr b="0" lang="en-US" sz="2540" spc="-1" strike="noStrike">
              <a:solidFill>
                <a:srgbClr val="000000"/>
              </a:solidFill>
              <a:latin typeface="Arial"/>
            </a:endParaRPr>
          </a:p>
        </p:txBody>
      </p:sp>
      <p:sp>
        <p:nvSpPr>
          <p:cNvPr id="499" name=""/>
          <p:cNvSpPr txBox="1"/>
          <p:nvPr/>
        </p:nvSpPr>
        <p:spPr>
          <a:xfrm>
            <a:off x="7597080" y="3078360"/>
            <a:ext cx="3551040" cy="1051560"/>
          </a:xfrm>
          <a:prstGeom prst="rect">
            <a:avLst/>
          </a:prstGeom>
          <a:noFill/>
          <a:ln w="0">
            <a:noFill/>
          </a:ln>
        </p:spPr>
        <p:txBody>
          <a:bodyPr lIns="0" rIns="0" tIns="0" bIns="0" anchor="t">
            <a:noAutofit/>
          </a:bodyPr>
          <a:p>
            <a:r>
              <a:rPr b="0" lang="en-US" sz="2260" spc="-1" strike="noStrike">
                <a:solidFill>
                  <a:srgbClr val="000000"/>
                </a:solidFill>
                <a:latin typeface="Noto Sans"/>
              </a:rPr>
              <a:t>Koordinaten neu berechnen</a:t>
            </a:r>
            <a:endParaRPr b="0" lang="en-US" sz="2260" spc="-1" strike="noStrike">
              <a:solidFill>
                <a:srgbClr val="000000"/>
              </a:solidFill>
              <a:latin typeface="Arial"/>
            </a:endParaRPr>
          </a:p>
          <a:p>
            <a:r>
              <a:rPr b="0" lang="en-US" sz="2260" spc="-1" strike="noStrike">
                <a:solidFill>
                  <a:srgbClr val="000000"/>
                </a:solidFill>
                <a:latin typeface="Noto Sans"/>
              </a:rPr>
              <a:t>und als EPSG:25832 speichern</a:t>
            </a:r>
            <a:endParaRPr b="0" lang="en-US" sz="2260" spc="-1" strike="noStrike">
              <a:solidFill>
                <a:srgbClr val="000000"/>
              </a:solidFill>
              <a:latin typeface="Arial"/>
            </a:endParaRPr>
          </a:p>
        </p:txBody>
      </p:sp>
      <p:sp>
        <p:nvSpPr>
          <p:cNvPr id="500"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1"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Zuordnen ändert nur das Etikett · Transformieren ändert die Koordinatenwerte.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Neu laden und Ergebnis kontrollieren</a:t>
            </a:r>
            <a:endParaRPr b="0" lang="en-US" sz="3190" spc="-1" strike="noStrike">
              <a:solidFill>
                <a:srgbClr val="000000"/>
              </a:solidFill>
              <a:latin typeface="Arial"/>
            </a:endParaRPr>
          </a:p>
        </p:txBody>
      </p:sp>
      <p:sp>
        <p:nvSpPr>
          <p:cNvPr id="50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EXPORT · ABSCHLUSS</a:t>
            </a:r>
            <a:endParaRPr b="0" lang="en-US" sz="1130" spc="-1" strike="noStrike">
              <a:solidFill>
                <a:srgbClr val="000000"/>
              </a:solidFill>
              <a:latin typeface="Arial"/>
            </a:endParaRPr>
          </a:p>
        </p:txBody>
      </p:sp>
      <p:sp>
        <p:nvSpPr>
          <p:cNvPr id="50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50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27</a:t>
            </a:r>
            <a:endParaRPr b="0" lang="en-US" sz="939" spc="-1" strike="noStrike">
              <a:solidFill>
                <a:srgbClr val="000000"/>
              </a:solidFill>
              <a:latin typeface="Arial"/>
            </a:endParaRPr>
          </a:p>
        </p:txBody>
      </p:sp>
      <p:sp>
        <p:nvSpPr>
          <p:cNvPr id="506" name=""/>
          <p:cNvSpPr/>
          <p:nvPr/>
        </p:nvSpPr>
        <p:spPr>
          <a:xfrm>
            <a:off x="647640" y="182880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07" name=""/>
          <p:cNvSpPr txBox="1"/>
          <p:nvPr/>
        </p:nvSpPr>
        <p:spPr>
          <a:xfrm>
            <a:off x="647640" y="18896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508" name=""/>
          <p:cNvSpPr txBox="1"/>
          <p:nvPr/>
        </p:nvSpPr>
        <p:spPr>
          <a:xfrm>
            <a:off x="1371600" y="182880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Neu laden</a:t>
            </a:r>
            <a:endParaRPr b="0" lang="en-US" sz="2720" spc="-1" strike="noStrike">
              <a:solidFill>
                <a:srgbClr val="000000"/>
              </a:solidFill>
              <a:latin typeface="Arial"/>
            </a:endParaRPr>
          </a:p>
        </p:txBody>
      </p:sp>
      <p:sp>
        <p:nvSpPr>
          <p:cNvPr id="509" name=""/>
          <p:cNvSpPr txBox="1"/>
          <p:nvPr/>
        </p:nvSpPr>
        <p:spPr>
          <a:xfrm>
            <a:off x="1371600" y="23011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data_output/unit11_results.gpkg · gbif_checked.</a:t>
            </a:r>
            <a:endParaRPr b="0" lang="en-US" sz="2260" spc="-1" strike="noStrike">
              <a:solidFill>
                <a:srgbClr val="000000"/>
              </a:solidFill>
              <a:latin typeface="Arial"/>
            </a:endParaRPr>
          </a:p>
        </p:txBody>
      </p:sp>
      <p:sp>
        <p:nvSpPr>
          <p:cNvPr id="510" name=""/>
          <p:cNvSpPr/>
          <p:nvPr/>
        </p:nvSpPr>
        <p:spPr>
          <a:xfrm>
            <a:off x="647640" y="31240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11" name=""/>
          <p:cNvSpPr txBox="1"/>
          <p:nvPr/>
        </p:nvSpPr>
        <p:spPr>
          <a:xfrm>
            <a:off x="647640" y="318528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512" name=""/>
          <p:cNvSpPr txBox="1"/>
          <p:nvPr/>
        </p:nvSpPr>
        <p:spPr>
          <a:xfrm>
            <a:off x="1371600" y="31240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Kontrollieren</a:t>
            </a:r>
            <a:endParaRPr b="0" lang="en-US" sz="2720" spc="-1" strike="noStrike">
              <a:solidFill>
                <a:srgbClr val="000000"/>
              </a:solidFill>
              <a:latin typeface="Arial"/>
            </a:endParaRPr>
          </a:p>
        </p:txBody>
      </p:sp>
      <p:sp>
        <p:nvSpPr>
          <p:cNvPr id="513" name=""/>
          <p:cNvSpPr txBox="1"/>
          <p:nvPr/>
        </p:nvSpPr>
        <p:spPr>
          <a:xfrm>
            <a:off x="1371600" y="359676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56 Features · EPSG:25832 · Lage plausibel.</a:t>
            </a:r>
            <a:endParaRPr b="0" lang="en-US" sz="2260" spc="-1" strike="noStrike">
              <a:solidFill>
                <a:srgbClr val="000000"/>
              </a:solidFill>
              <a:latin typeface="Arial"/>
            </a:endParaRPr>
          </a:p>
        </p:txBody>
      </p:sp>
      <p:sp>
        <p:nvSpPr>
          <p:cNvPr id="514" name=""/>
          <p:cNvSpPr/>
          <p:nvPr/>
        </p:nvSpPr>
        <p:spPr>
          <a:xfrm>
            <a:off x="647640" y="441972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15" name=""/>
          <p:cNvSpPr txBox="1"/>
          <p:nvPr/>
        </p:nvSpPr>
        <p:spPr>
          <a:xfrm>
            <a:off x="647640" y="448056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516" name=""/>
          <p:cNvSpPr txBox="1"/>
          <p:nvPr/>
        </p:nvSpPr>
        <p:spPr>
          <a:xfrm>
            <a:off x="1371600" y="441972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Sichern</a:t>
            </a:r>
            <a:endParaRPr b="0" lang="en-US" sz="2720" spc="-1" strike="noStrike">
              <a:solidFill>
                <a:srgbClr val="000000"/>
              </a:solidFill>
              <a:latin typeface="Arial"/>
            </a:endParaRPr>
          </a:p>
        </p:txBody>
      </p:sp>
      <p:sp>
        <p:nvSpPr>
          <p:cNvPr id="517" name=""/>
          <p:cNvSpPr txBox="1"/>
          <p:nvPr/>
        </p:nvSpPr>
        <p:spPr>
          <a:xfrm>
            <a:off x="1371600" y="489204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Rohdatenlayer deaktivieren und Projekt speichern.</a:t>
            </a:r>
            <a:endParaRPr b="0" lang="en-US" sz="2260" spc="-1" strike="noStrike">
              <a:solidFill>
                <a:srgbClr val="000000"/>
              </a:solidFill>
              <a:latin typeface="Arial"/>
            </a:endParaRPr>
          </a:p>
        </p:txBody>
      </p:sp>
      <p:sp>
        <p:nvSpPr>
          <p:cNvPr id="51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19"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Fallback: ersatz/unit11_results.gpkg · gbif_checked</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Die Qualitätsentscheidung dokumentieren</a:t>
            </a:r>
            <a:endParaRPr b="0" lang="en-US" sz="3190" spc="-1" strike="noStrike">
              <a:solidFill>
                <a:srgbClr val="000000"/>
              </a:solidFill>
              <a:latin typeface="Arial"/>
            </a:endParaRPr>
          </a:p>
        </p:txBody>
      </p:sp>
      <p:sp>
        <p:nvSpPr>
          <p:cNvPr id="52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DOKUMENTATION · REPRODUZIERBARKEIT</a:t>
            </a:r>
            <a:endParaRPr b="0" lang="en-US" sz="1130" spc="-1" strike="noStrike">
              <a:solidFill>
                <a:srgbClr val="000000"/>
              </a:solidFill>
              <a:latin typeface="Arial"/>
            </a:endParaRPr>
          </a:p>
        </p:txBody>
      </p:sp>
      <p:sp>
        <p:nvSpPr>
          <p:cNvPr id="52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52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28</a:t>
            </a:r>
            <a:endParaRPr b="0" lang="en-US" sz="939" spc="-1" strike="noStrike">
              <a:solidFill>
                <a:srgbClr val="000000"/>
              </a:solidFill>
              <a:latin typeface="Arial"/>
            </a:endParaRPr>
          </a:p>
        </p:txBody>
      </p:sp>
      <p:sp>
        <p:nvSpPr>
          <p:cNvPr id="524" name=""/>
          <p:cNvSpPr/>
          <p:nvPr/>
        </p:nvSpPr>
        <p:spPr>
          <a:xfrm>
            <a:off x="647640" y="1714680"/>
            <a:ext cx="3863520" cy="670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25" name=""/>
          <p:cNvSpPr txBox="1"/>
          <p:nvPr/>
        </p:nvSpPr>
        <p:spPr>
          <a:xfrm>
            <a:off x="784800" y="1843920"/>
            <a:ext cx="3611880" cy="541080"/>
          </a:xfrm>
          <a:prstGeom prst="rect">
            <a:avLst/>
          </a:prstGeom>
          <a:noFill/>
          <a:ln w="0">
            <a:noFill/>
          </a:ln>
        </p:spPr>
        <p:txBody>
          <a:bodyPr lIns="0" rIns="0" tIns="0" bIns="0" anchor="t">
            <a:noAutofit/>
          </a:bodyPr>
          <a:p>
            <a:r>
              <a:rPr b="1" lang="en-US" sz="1979" spc="-1" strike="noStrike">
                <a:solidFill>
                  <a:srgbClr val="ffffff"/>
                </a:solidFill>
                <a:latin typeface="Noto Sans"/>
              </a:rPr>
              <a:t>Dokumentieren</a:t>
            </a:r>
            <a:endParaRPr b="0" lang="en-US" sz="1979" spc="-1" strike="noStrike">
              <a:solidFill>
                <a:srgbClr val="000000"/>
              </a:solidFill>
              <a:latin typeface="Arial"/>
            </a:endParaRPr>
          </a:p>
        </p:txBody>
      </p:sp>
      <p:sp>
        <p:nvSpPr>
          <p:cNvPr id="526" name=""/>
          <p:cNvSpPr/>
          <p:nvPr/>
        </p:nvSpPr>
        <p:spPr>
          <a:xfrm>
            <a:off x="4533840" y="1714680"/>
            <a:ext cx="6987600" cy="670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27" name=""/>
          <p:cNvSpPr txBox="1"/>
          <p:nvPr/>
        </p:nvSpPr>
        <p:spPr>
          <a:xfrm>
            <a:off x="4671000" y="1843920"/>
            <a:ext cx="6736320" cy="541080"/>
          </a:xfrm>
          <a:prstGeom prst="rect">
            <a:avLst/>
          </a:prstGeom>
          <a:noFill/>
          <a:ln w="0">
            <a:noFill/>
          </a:ln>
        </p:spPr>
        <p:txBody>
          <a:bodyPr lIns="0" rIns="0" tIns="0" bIns="0" anchor="t">
            <a:noAutofit/>
          </a:bodyPr>
          <a:p>
            <a:r>
              <a:rPr b="1" lang="en-US" sz="1979" spc="-1" strike="noStrike">
                <a:solidFill>
                  <a:srgbClr val="ffffff"/>
                </a:solidFill>
                <a:latin typeface="Noto Sans"/>
              </a:rPr>
              <a:t>Heute</a:t>
            </a:r>
            <a:endParaRPr b="0" lang="en-US" sz="1979" spc="-1" strike="noStrike">
              <a:solidFill>
                <a:srgbClr val="000000"/>
              </a:solidFill>
              <a:latin typeface="Arial"/>
            </a:endParaRPr>
          </a:p>
        </p:txBody>
      </p:sp>
      <p:sp>
        <p:nvSpPr>
          <p:cNvPr id="528" name=""/>
          <p:cNvSpPr/>
          <p:nvPr/>
        </p:nvSpPr>
        <p:spPr>
          <a:xfrm>
            <a:off x="647640" y="2408040"/>
            <a:ext cx="3863520" cy="670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29" name=""/>
          <p:cNvSpPr txBox="1"/>
          <p:nvPr/>
        </p:nvSpPr>
        <p:spPr>
          <a:xfrm>
            <a:off x="784800" y="2537640"/>
            <a:ext cx="3611880" cy="541080"/>
          </a:xfrm>
          <a:prstGeom prst="rect">
            <a:avLst/>
          </a:prstGeom>
          <a:noFill/>
          <a:ln w="0">
            <a:noFill/>
          </a:ln>
        </p:spPr>
        <p:txBody>
          <a:bodyPr lIns="0" rIns="0" tIns="0" bIns="0" anchor="t">
            <a:noAutofit/>
          </a:bodyPr>
          <a:p>
            <a:r>
              <a:rPr b="0" lang="en-US" sz="1979" spc="-1" strike="noStrike">
                <a:solidFill>
                  <a:srgbClr val="000000"/>
                </a:solidFill>
                <a:latin typeface="Noto Sans"/>
              </a:rPr>
              <a:t>Quelle / DOI</a:t>
            </a:r>
            <a:endParaRPr b="0" lang="en-US" sz="1979" spc="-1" strike="noStrike">
              <a:solidFill>
                <a:srgbClr val="000000"/>
              </a:solidFill>
              <a:latin typeface="Arial"/>
            </a:endParaRPr>
          </a:p>
        </p:txBody>
      </p:sp>
      <p:sp>
        <p:nvSpPr>
          <p:cNvPr id="530" name=""/>
          <p:cNvSpPr/>
          <p:nvPr/>
        </p:nvSpPr>
        <p:spPr>
          <a:xfrm>
            <a:off x="4533840" y="2408040"/>
            <a:ext cx="6987600" cy="670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1" name=""/>
          <p:cNvSpPr txBox="1"/>
          <p:nvPr/>
        </p:nvSpPr>
        <p:spPr>
          <a:xfrm>
            <a:off x="4671000" y="2537640"/>
            <a:ext cx="6736320" cy="541080"/>
          </a:xfrm>
          <a:prstGeom prst="rect">
            <a:avLst/>
          </a:prstGeom>
          <a:noFill/>
          <a:ln w="0">
            <a:noFill/>
          </a:ln>
        </p:spPr>
        <p:txBody>
          <a:bodyPr lIns="0" rIns="0" tIns="0" bIns="0" anchor="t">
            <a:noAutofit/>
          </a:bodyPr>
          <a:p>
            <a:r>
              <a:rPr b="0" lang="en-US" sz="1979" spc="-1" strike="noStrike">
                <a:solidFill>
                  <a:srgbClr val="000000"/>
                </a:solidFill>
                <a:latin typeface="Noto Sans"/>
              </a:rPr>
              <a:t>NABU|naturgucker · 10.15468/uc1apo</a:t>
            </a:r>
            <a:endParaRPr b="0" lang="en-US" sz="1979" spc="-1" strike="noStrike">
              <a:solidFill>
                <a:srgbClr val="000000"/>
              </a:solidFill>
              <a:latin typeface="Arial"/>
            </a:endParaRPr>
          </a:p>
        </p:txBody>
      </p:sp>
      <p:sp>
        <p:nvSpPr>
          <p:cNvPr id="532" name=""/>
          <p:cNvSpPr/>
          <p:nvPr/>
        </p:nvSpPr>
        <p:spPr>
          <a:xfrm>
            <a:off x="647640" y="3101400"/>
            <a:ext cx="3863520" cy="670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3" name=""/>
          <p:cNvSpPr txBox="1"/>
          <p:nvPr/>
        </p:nvSpPr>
        <p:spPr>
          <a:xfrm>
            <a:off x="784800" y="3231000"/>
            <a:ext cx="3611880" cy="541080"/>
          </a:xfrm>
          <a:prstGeom prst="rect">
            <a:avLst/>
          </a:prstGeom>
          <a:noFill/>
          <a:ln w="0">
            <a:noFill/>
          </a:ln>
        </p:spPr>
        <p:txBody>
          <a:bodyPr lIns="0" rIns="0" tIns="0" bIns="0" anchor="t">
            <a:noAutofit/>
          </a:bodyPr>
          <a:p>
            <a:r>
              <a:rPr b="0" lang="en-US" sz="1979" spc="-1" strike="noStrike">
                <a:solidFill>
                  <a:srgbClr val="000000"/>
                </a:solidFill>
                <a:latin typeface="Noto Sans"/>
              </a:rPr>
              <a:t>Snapshot / Abruf</a:t>
            </a:r>
            <a:endParaRPr b="0" lang="en-US" sz="1979" spc="-1" strike="noStrike">
              <a:solidFill>
                <a:srgbClr val="000000"/>
              </a:solidFill>
              <a:latin typeface="Arial"/>
            </a:endParaRPr>
          </a:p>
        </p:txBody>
      </p:sp>
      <p:sp>
        <p:nvSpPr>
          <p:cNvPr id="534" name=""/>
          <p:cNvSpPr/>
          <p:nvPr/>
        </p:nvSpPr>
        <p:spPr>
          <a:xfrm>
            <a:off x="4533840" y="3101400"/>
            <a:ext cx="6987600" cy="670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5" name=""/>
          <p:cNvSpPr txBox="1"/>
          <p:nvPr/>
        </p:nvSpPr>
        <p:spPr>
          <a:xfrm>
            <a:off x="4671000" y="3231000"/>
            <a:ext cx="6736320" cy="541080"/>
          </a:xfrm>
          <a:prstGeom prst="rect">
            <a:avLst/>
          </a:prstGeom>
          <a:noFill/>
          <a:ln w="0">
            <a:noFill/>
          </a:ln>
        </p:spPr>
        <p:txBody>
          <a:bodyPr lIns="0" rIns="0" tIns="0" bIns="0" anchor="t">
            <a:noAutofit/>
          </a:bodyPr>
          <a:p>
            <a:r>
              <a:rPr b="0" lang="en-US" sz="1979" spc="-1" strike="noStrike">
                <a:solidFill>
                  <a:srgbClr val="000000"/>
                </a:solidFill>
                <a:latin typeface="Noto Sans"/>
              </a:rPr>
              <a:t>GBIF API · 08.09.2026 · 79 Records</a:t>
            </a:r>
            <a:endParaRPr b="0" lang="en-US" sz="1979" spc="-1" strike="noStrike">
              <a:solidFill>
                <a:srgbClr val="000000"/>
              </a:solidFill>
              <a:latin typeface="Arial"/>
            </a:endParaRPr>
          </a:p>
        </p:txBody>
      </p:sp>
      <p:sp>
        <p:nvSpPr>
          <p:cNvPr id="536" name=""/>
          <p:cNvSpPr/>
          <p:nvPr/>
        </p:nvSpPr>
        <p:spPr>
          <a:xfrm>
            <a:off x="647640" y="3794760"/>
            <a:ext cx="3863520" cy="670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7" name=""/>
          <p:cNvSpPr txBox="1"/>
          <p:nvPr/>
        </p:nvSpPr>
        <p:spPr>
          <a:xfrm>
            <a:off x="784800" y="3924360"/>
            <a:ext cx="3611880" cy="541080"/>
          </a:xfrm>
          <a:prstGeom prst="rect">
            <a:avLst/>
          </a:prstGeom>
          <a:noFill/>
          <a:ln w="0">
            <a:noFill/>
          </a:ln>
        </p:spPr>
        <p:txBody>
          <a:bodyPr lIns="0" rIns="0" tIns="0" bIns="0" anchor="t">
            <a:noAutofit/>
          </a:bodyPr>
          <a:p>
            <a:r>
              <a:rPr b="0" lang="en-US" sz="1979" spc="-1" strike="noStrike">
                <a:solidFill>
                  <a:srgbClr val="000000"/>
                </a:solidFill>
                <a:latin typeface="Noto Sans"/>
              </a:rPr>
              <a:t>Import</a:t>
            </a:r>
            <a:endParaRPr b="0" lang="en-US" sz="1979" spc="-1" strike="noStrike">
              <a:solidFill>
                <a:srgbClr val="000000"/>
              </a:solidFill>
              <a:latin typeface="Arial"/>
            </a:endParaRPr>
          </a:p>
        </p:txBody>
      </p:sp>
      <p:sp>
        <p:nvSpPr>
          <p:cNvPr id="538" name=""/>
          <p:cNvSpPr/>
          <p:nvPr/>
        </p:nvSpPr>
        <p:spPr>
          <a:xfrm>
            <a:off x="4533840" y="3794760"/>
            <a:ext cx="6987600" cy="670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9" name=""/>
          <p:cNvSpPr txBox="1"/>
          <p:nvPr/>
        </p:nvSpPr>
        <p:spPr>
          <a:xfrm>
            <a:off x="4671000" y="3924360"/>
            <a:ext cx="6736320" cy="541080"/>
          </a:xfrm>
          <a:prstGeom prst="rect">
            <a:avLst/>
          </a:prstGeom>
          <a:noFill/>
          <a:ln w="0">
            <a:noFill/>
          </a:ln>
        </p:spPr>
        <p:txBody>
          <a:bodyPr lIns="0" rIns="0" tIns="0" bIns="0" anchor="t">
            <a:noAutofit/>
          </a:bodyPr>
          <a:p>
            <a:r>
              <a:rPr b="0" lang="en-US" sz="1979" spc="-1" strike="noStrike">
                <a:solidFill>
                  <a:srgbClr val="000000"/>
                </a:solidFill>
                <a:latin typeface="Noto Sans"/>
              </a:rPr>
              <a:t>x/y · EPSG:4326</a:t>
            </a:r>
            <a:endParaRPr b="0" lang="en-US" sz="1979" spc="-1" strike="noStrike">
              <a:solidFill>
                <a:srgbClr val="000000"/>
              </a:solidFill>
              <a:latin typeface="Arial"/>
            </a:endParaRPr>
          </a:p>
        </p:txBody>
      </p:sp>
      <p:sp>
        <p:nvSpPr>
          <p:cNvPr id="540" name=""/>
          <p:cNvSpPr/>
          <p:nvPr/>
        </p:nvSpPr>
        <p:spPr>
          <a:xfrm>
            <a:off x="647640" y="4488120"/>
            <a:ext cx="3863520" cy="670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1" name=""/>
          <p:cNvSpPr txBox="1"/>
          <p:nvPr/>
        </p:nvSpPr>
        <p:spPr>
          <a:xfrm>
            <a:off x="784800" y="4617720"/>
            <a:ext cx="3611880" cy="541080"/>
          </a:xfrm>
          <a:prstGeom prst="rect">
            <a:avLst/>
          </a:prstGeom>
          <a:noFill/>
          <a:ln w="0">
            <a:noFill/>
          </a:ln>
        </p:spPr>
        <p:txBody>
          <a:bodyPr lIns="0" rIns="0" tIns="0" bIns="0" anchor="t">
            <a:noAutofit/>
          </a:bodyPr>
          <a:p>
            <a:r>
              <a:rPr b="0" lang="en-US" sz="1979" spc="-1" strike="noStrike">
                <a:solidFill>
                  <a:srgbClr val="000000"/>
                </a:solidFill>
                <a:latin typeface="Noto Sans"/>
              </a:rPr>
              <a:t>Regel</a:t>
            </a:r>
            <a:endParaRPr b="0" lang="en-US" sz="1979" spc="-1" strike="noStrike">
              <a:solidFill>
                <a:srgbClr val="000000"/>
              </a:solidFill>
              <a:latin typeface="Arial"/>
            </a:endParaRPr>
          </a:p>
        </p:txBody>
      </p:sp>
      <p:sp>
        <p:nvSpPr>
          <p:cNvPr id="542" name=""/>
          <p:cNvSpPr/>
          <p:nvPr/>
        </p:nvSpPr>
        <p:spPr>
          <a:xfrm>
            <a:off x="4533840" y="4488120"/>
            <a:ext cx="6987600" cy="670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3" name=""/>
          <p:cNvSpPr txBox="1"/>
          <p:nvPr/>
        </p:nvSpPr>
        <p:spPr>
          <a:xfrm>
            <a:off x="4671000" y="4617720"/>
            <a:ext cx="6736320" cy="541080"/>
          </a:xfrm>
          <a:prstGeom prst="rect">
            <a:avLst/>
          </a:prstGeom>
          <a:noFill/>
          <a:ln w="0">
            <a:noFill/>
          </a:ln>
        </p:spPr>
        <p:txBody>
          <a:bodyPr lIns="0" rIns="0" tIns="0" bIns="0" anchor="t">
            <a:noAutofit/>
          </a:bodyPr>
          <a:p>
            <a:r>
              <a:rPr b="0" lang="en-US" sz="1979" spc="-1" strike="noStrike">
                <a:solidFill>
                  <a:srgbClr val="000000"/>
                </a:solidFill>
                <a:latin typeface="Noto Sans"/>
              </a:rPr>
              <a:t>0 &lt; uncertainty ≤ 100 m · 23 ausgeschlossen</a:t>
            </a:r>
            <a:endParaRPr b="0" lang="en-US" sz="1979" spc="-1" strike="noStrike">
              <a:solidFill>
                <a:srgbClr val="000000"/>
              </a:solidFill>
              <a:latin typeface="Arial"/>
            </a:endParaRPr>
          </a:p>
        </p:txBody>
      </p:sp>
      <p:sp>
        <p:nvSpPr>
          <p:cNvPr id="544" name=""/>
          <p:cNvSpPr/>
          <p:nvPr/>
        </p:nvSpPr>
        <p:spPr>
          <a:xfrm>
            <a:off x="647640" y="5181480"/>
            <a:ext cx="3863520" cy="670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5" name=""/>
          <p:cNvSpPr txBox="1"/>
          <p:nvPr/>
        </p:nvSpPr>
        <p:spPr>
          <a:xfrm>
            <a:off x="784800" y="5311080"/>
            <a:ext cx="3611880" cy="541080"/>
          </a:xfrm>
          <a:prstGeom prst="rect">
            <a:avLst/>
          </a:prstGeom>
          <a:noFill/>
          <a:ln w="0">
            <a:noFill/>
          </a:ln>
        </p:spPr>
        <p:txBody>
          <a:bodyPr lIns="0" rIns="0" tIns="0" bIns="0" anchor="t">
            <a:noAutofit/>
          </a:bodyPr>
          <a:p>
            <a:r>
              <a:rPr b="0" lang="en-US" sz="1979" spc="-1" strike="noStrike">
                <a:solidFill>
                  <a:srgbClr val="000000"/>
                </a:solidFill>
                <a:latin typeface="Noto Sans"/>
              </a:rPr>
              <a:t>Ergebnis</a:t>
            </a:r>
            <a:endParaRPr b="0" lang="en-US" sz="1979" spc="-1" strike="noStrike">
              <a:solidFill>
                <a:srgbClr val="000000"/>
              </a:solidFill>
              <a:latin typeface="Arial"/>
            </a:endParaRPr>
          </a:p>
        </p:txBody>
      </p:sp>
      <p:sp>
        <p:nvSpPr>
          <p:cNvPr id="546" name=""/>
          <p:cNvSpPr/>
          <p:nvPr/>
        </p:nvSpPr>
        <p:spPr>
          <a:xfrm>
            <a:off x="4533840" y="5181480"/>
            <a:ext cx="6987600" cy="670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7" name=""/>
          <p:cNvSpPr txBox="1"/>
          <p:nvPr/>
        </p:nvSpPr>
        <p:spPr>
          <a:xfrm>
            <a:off x="4671000" y="5311080"/>
            <a:ext cx="6736320" cy="541080"/>
          </a:xfrm>
          <a:prstGeom prst="rect">
            <a:avLst/>
          </a:prstGeom>
          <a:noFill/>
          <a:ln w="0">
            <a:noFill/>
          </a:ln>
        </p:spPr>
        <p:txBody>
          <a:bodyPr lIns="0" rIns="0" tIns="0" bIns="0" anchor="t">
            <a:noAutofit/>
          </a:bodyPr>
          <a:p>
            <a:r>
              <a:rPr b="0" lang="en-US" sz="1979" spc="-1" strike="noStrike">
                <a:solidFill>
                  <a:srgbClr val="000000"/>
                </a:solidFill>
                <a:latin typeface="Noto Sans"/>
              </a:rPr>
              <a:t>gbif_checked · 56 · EPSG:25832</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Viele Punkte können viel Suchaufwand bedeuten</a:t>
            </a:r>
            <a:endParaRPr b="0" lang="en-US" sz="3190" spc="-1" strike="noStrike">
              <a:solidFill>
                <a:srgbClr val="000000"/>
              </a:solidFill>
              <a:latin typeface="Arial"/>
            </a:endParaRPr>
          </a:p>
        </p:txBody>
      </p:sp>
      <p:sp>
        <p:nvSpPr>
          <p:cNvPr id="54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INTERPRETATION · BEOBACHTUNGSBIAS</a:t>
            </a:r>
            <a:endParaRPr b="0" lang="en-US" sz="1130" spc="-1" strike="noStrike">
              <a:solidFill>
                <a:srgbClr val="000000"/>
              </a:solidFill>
              <a:latin typeface="Arial"/>
            </a:endParaRPr>
          </a:p>
        </p:txBody>
      </p:sp>
      <p:sp>
        <p:nvSpPr>
          <p:cNvPr id="55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55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29</a:t>
            </a:r>
            <a:endParaRPr b="0" lang="en-US" sz="939" spc="-1" strike="noStrike">
              <a:solidFill>
                <a:srgbClr val="000000"/>
              </a:solidFill>
              <a:latin typeface="Arial"/>
            </a:endParaRPr>
          </a:p>
        </p:txBody>
      </p:sp>
      <p:pic>
        <p:nvPicPr>
          <p:cNvPr id="552" name="" descr="Gedankenexperiment mit denselben zwölf Vorkommensorten. Eine Suche entlang des Wegs findet vier, eine flächige Suche alle zwölf. Nur für dieses Schema wird jedes Vorkommen im Suchbereich entdeckt."/>
          <p:cNvPicPr/>
          <p:nvPr/>
        </p:nvPicPr>
        <p:blipFill>
          <a:blip r:embed="rId1">
            <a:extLst>
              <a:ext uri="{96DAC541-7B7A-43D3-8B79-37D633B846F1}">
                <asvg:svgBlip xmlns:asvg="http://schemas.microsoft.com/office/drawing/2016/SVG/main" r:embed="rId2"/>
              </a:ext>
            </a:extLst>
          </a:blip>
          <a:stretch/>
        </p:blipFill>
        <p:spPr>
          <a:xfrm>
            <a:off x="3809880" y="1638360"/>
            <a:ext cx="3276720" cy="4392720"/>
          </a:xfrm>
          <a:prstGeom prst="rect">
            <a:avLst/>
          </a:prstGeom>
          <a:ln w="0">
            <a:noFill/>
          </a:ln>
        </p:spPr>
      </p:pic>
      <p:sp>
        <p:nvSpPr>
          <p:cNvPr id="553" name=""/>
          <p:cNvSpPr/>
          <p:nvPr/>
        </p:nvSpPr>
        <p:spPr>
          <a:xfrm>
            <a:off x="7696440" y="2286000"/>
            <a:ext cx="3619440" cy="13334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4" name=""/>
          <p:cNvSpPr/>
          <p:nvPr/>
        </p:nvSpPr>
        <p:spPr>
          <a:xfrm>
            <a:off x="7696440" y="2286000"/>
            <a:ext cx="53280" cy="13334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55" name=""/>
          <p:cNvSpPr txBox="1"/>
          <p:nvPr/>
        </p:nvSpPr>
        <p:spPr>
          <a:xfrm>
            <a:off x="7902000" y="2468880"/>
            <a:ext cx="3207960" cy="647640"/>
          </a:xfrm>
          <a:prstGeom prst="rect">
            <a:avLst/>
          </a:prstGeom>
          <a:noFill/>
          <a:ln w="0">
            <a:noFill/>
          </a:ln>
        </p:spPr>
        <p:txBody>
          <a:bodyPr lIns="0" rIns="0" tIns="0" bIns="0" anchor="t">
            <a:noAutofit/>
          </a:bodyPr>
          <a:p>
            <a:r>
              <a:rPr b="1" lang="en-US" sz="2540" spc="-1" strike="noStrike">
                <a:solidFill>
                  <a:srgbClr val="004899"/>
                </a:solidFill>
                <a:latin typeface="Noto Sans"/>
              </a:rPr>
              <a:t>Punktdichte</a:t>
            </a:r>
            <a:endParaRPr b="0" lang="en-US" sz="2540" spc="-1" strike="noStrike">
              <a:solidFill>
                <a:srgbClr val="000000"/>
              </a:solidFill>
              <a:latin typeface="Arial"/>
            </a:endParaRPr>
          </a:p>
        </p:txBody>
      </p:sp>
      <p:sp>
        <p:nvSpPr>
          <p:cNvPr id="556" name=""/>
          <p:cNvSpPr txBox="1"/>
          <p:nvPr/>
        </p:nvSpPr>
        <p:spPr>
          <a:xfrm>
            <a:off x="7902000" y="3048120"/>
            <a:ext cx="3207960" cy="434520"/>
          </a:xfrm>
          <a:prstGeom prst="rect">
            <a:avLst/>
          </a:prstGeom>
          <a:noFill/>
          <a:ln w="0">
            <a:noFill/>
          </a:ln>
        </p:spPr>
        <p:txBody>
          <a:bodyPr lIns="0" rIns="0" tIns="0" bIns="0" anchor="t">
            <a:noAutofit/>
          </a:bodyPr>
          <a:p>
            <a:r>
              <a:rPr b="0" lang="en-US" sz="1979" spc="-1" strike="noStrike">
                <a:solidFill>
                  <a:srgbClr val="000000"/>
                </a:solidFill>
                <a:latin typeface="Noto Sans"/>
              </a:rPr>
              <a:t>Vorkommen UND</a:t>
            </a:r>
            <a:endParaRPr b="0" lang="en-US" sz="1979" spc="-1" strike="noStrike">
              <a:solidFill>
                <a:srgbClr val="000000"/>
              </a:solidFill>
              <a:latin typeface="Arial"/>
            </a:endParaRPr>
          </a:p>
          <a:p>
            <a:r>
              <a:rPr b="0" lang="en-US" sz="1979" spc="-1" strike="noStrike">
                <a:solidFill>
                  <a:srgbClr val="000000"/>
                </a:solidFill>
                <a:latin typeface="Noto Sans"/>
              </a:rPr>
              <a:t>Beobachtung/Meldung</a:t>
            </a:r>
            <a:endParaRPr b="0" lang="en-US" sz="1979" spc="-1" strike="noStrike">
              <a:solidFill>
                <a:srgbClr val="000000"/>
              </a:solidFill>
              <a:latin typeface="Arial"/>
            </a:endParaRPr>
          </a:p>
        </p:txBody>
      </p:sp>
      <p:sp>
        <p:nvSpPr>
          <p:cNvPr id="557" name=""/>
          <p:cNvSpPr/>
          <p:nvPr/>
        </p:nvSpPr>
        <p:spPr>
          <a:xfrm>
            <a:off x="7696440" y="4000680"/>
            <a:ext cx="3619440" cy="13334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8" name=""/>
          <p:cNvSpPr/>
          <p:nvPr/>
        </p:nvSpPr>
        <p:spPr>
          <a:xfrm>
            <a:off x="7696440" y="4000680"/>
            <a:ext cx="53280" cy="133344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59" name=""/>
          <p:cNvSpPr txBox="1"/>
          <p:nvPr/>
        </p:nvSpPr>
        <p:spPr>
          <a:xfrm>
            <a:off x="7902000" y="4183560"/>
            <a:ext cx="3207960" cy="647640"/>
          </a:xfrm>
          <a:prstGeom prst="rect">
            <a:avLst/>
          </a:prstGeom>
          <a:noFill/>
          <a:ln w="0">
            <a:noFill/>
          </a:ln>
        </p:spPr>
        <p:txBody>
          <a:bodyPr lIns="0" rIns="0" tIns="0" bIns="0" anchor="t">
            <a:noAutofit/>
          </a:bodyPr>
          <a:p>
            <a:r>
              <a:rPr b="1" lang="en-US" sz="2540" spc="-1" strike="noStrike">
                <a:solidFill>
                  <a:srgbClr val="a32123"/>
                </a:solidFill>
                <a:latin typeface="Noto Sans"/>
              </a:rPr>
              <a:t>Leere Fläche</a:t>
            </a:r>
            <a:endParaRPr b="0" lang="en-US" sz="2540" spc="-1" strike="noStrike">
              <a:solidFill>
                <a:srgbClr val="000000"/>
              </a:solidFill>
              <a:latin typeface="Arial"/>
            </a:endParaRPr>
          </a:p>
        </p:txBody>
      </p:sp>
      <p:sp>
        <p:nvSpPr>
          <p:cNvPr id="560" name=""/>
          <p:cNvSpPr txBox="1"/>
          <p:nvPr/>
        </p:nvSpPr>
        <p:spPr>
          <a:xfrm>
            <a:off x="7902000" y="4762440"/>
            <a:ext cx="3207960" cy="434520"/>
          </a:xfrm>
          <a:prstGeom prst="rect">
            <a:avLst/>
          </a:prstGeom>
          <a:noFill/>
          <a:ln w="0">
            <a:noFill/>
          </a:ln>
        </p:spPr>
        <p:txBody>
          <a:bodyPr lIns="0" rIns="0" tIns="0" bIns="0" anchor="t">
            <a:noAutofit/>
          </a:bodyPr>
          <a:p>
            <a:r>
              <a:rPr b="0" lang="en-US" sz="1879" spc="-1" strike="noStrike">
                <a:solidFill>
                  <a:srgbClr val="000000"/>
                </a:solidFill>
                <a:latin typeface="Noto Sans"/>
              </a:rPr>
              <a:t>keine dokumentierten</a:t>
            </a:r>
            <a:endParaRPr b="0" lang="en-US" sz="1879" spc="-1" strike="noStrike">
              <a:solidFill>
                <a:srgbClr val="000000"/>
              </a:solidFill>
              <a:latin typeface="Arial"/>
            </a:endParaRPr>
          </a:p>
          <a:p>
            <a:r>
              <a:rPr b="0" lang="en-US" sz="1879" spc="-1" strike="noStrike">
                <a:solidFill>
                  <a:srgbClr val="000000"/>
                </a:solidFill>
                <a:latin typeface="Noto Sans"/>
              </a:rPr>
              <a:t>Records im Ausschnitt</a:t>
            </a:r>
            <a:endParaRPr b="0" lang="en-US" sz="18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Die Ausgangsaussage erneut bewerten</a:t>
            </a:r>
            <a:endParaRPr b="0" lang="en-US" sz="3190" spc="-1" strike="noStrike">
              <a:solidFill>
                <a:srgbClr val="000000"/>
              </a:solidFill>
              <a:latin typeface="Arial"/>
            </a:endParaRPr>
          </a:p>
        </p:txBody>
      </p:sp>
      <p:sp>
        <p:nvSpPr>
          <p:cNvPr id="56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INTERPRETATION · NACHBARSCHAFTSGESPRÄCH</a:t>
            </a:r>
            <a:endParaRPr b="0" lang="en-US" sz="1130" spc="-1" strike="noStrike">
              <a:solidFill>
                <a:srgbClr val="000000"/>
              </a:solidFill>
              <a:latin typeface="Arial"/>
            </a:endParaRPr>
          </a:p>
        </p:txBody>
      </p:sp>
      <p:sp>
        <p:nvSpPr>
          <p:cNvPr id="56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56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30</a:t>
            </a:r>
            <a:endParaRPr b="0" lang="en-US" sz="939" spc="-1" strike="noStrike">
              <a:solidFill>
                <a:srgbClr val="000000"/>
              </a:solidFill>
              <a:latin typeface="Arial"/>
            </a:endParaRPr>
          </a:p>
        </p:txBody>
      </p:sp>
      <p:sp>
        <p:nvSpPr>
          <p:cNvPr id="565" name=""/>
          <p:cNvSpPr txBox="1"/>
          <p:nvPr/>
        </p:nvSpPr>
        <p:spPr>
          <a:xfrm>
            <a:off x="1219320" y="1981080"/>
            <a:ext cx="9753840" cy="1447920"/>
          </a:xfrm>
          <a:prstGeom prst="rect">
            <a:avLst/>
          </a:prstGeom>
          <a:noFill/>
          <a:ln w="0">
            <a:noFill/>
          </a:ln>
        </p:spPr>
        <p:txBody>
          <a:bodyPr lIns="0" rIns="0" tIns="0" bIns="0" anchor="t">
            <a:noAutofit/>
          </a:bodyPr>
          <a:p>
            <a:pPr algn="ctr"/>
            <a:r>
              <a:rPr b="1" lang="en-US" sz="3480" spc="-1" strike="noStrike">
                <a:solidFill>
                  <a:srgbClr val="000000"/>
                </a:solidFill>
                <a:latin typeface="Noto Sans"/>
              </a:rPr>
              <a:t>„</a:t>
            </a:r>
            <a:r>
              <a:rPr b="1" lang="en-US" sz="3480" spc="-1" strike="noStrike">
                <a:solidFill>
                  <a:srgbClr val="000000"/>
                </a:solidFill>
                <a:latin typeface="Noto Sans"/>
              </a:rPr>
              <a:t>In Bereichen ohne Punkte kommt der</a:t>
            </a:r>
            <a:endParaRPr b="0" lang="en-US" sz="3480" spc="-1" strike="noStrike">
              <a:solidFill>
                <a:srgbClr val="000000"/>
              </a:solidFill>
              <a:latin typeface="Arial"/>
            </a:endParaRPr>
          </a:p>
          <a:p>
            <a:pPr algn="ctr"/>
            <a:r>
              <a:rPr b="1" lang="en-US" sz="3480" spc="-1" strike="noStrike">
                <a:solidFill>
                  <a:srgbClr val="000000"/>
                </a:solidFill>
                <a:latin typeface="Noto Sans"/>
              </a:rPr>
              <a:t>Feuersalamander nicht vor.“</a:t>
            </a:r>
            <a:endParaRPr b="0" lang="en-US" sz="3480" spc="-1" strike="noStrike">
              <a:solidFill>
                <a:srgbClr val="000000"/>
              </a:solidFill>
              <a:latin typeface="Arial"/>
            </a:endParaRPr>
          </a:p>
        </p:txBody>
      </p:sp>
      <p:sp>
        <p:nvSpPr>
          <p:cNvPr id="566" name=""/>
          <p:cNvSpPr/>
          <p:nvPr/>
        </p:nvSpPr>
        <p:spPr>
          <a:xfrm>
            <a:off x="647640" y="4572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67" name=""/>
          <p:cNvSpPr txBox="1"/>
          <p:nvPr/>
        </p:nvSpPr>
        <p:spPr>
          <a:xfrm>
            <a:off x="838080" y="4678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Welche Aussage trägt der Layer gbif_checked tatsächlich?</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Eine vorsichtige Kartenaussage</a:t>
            </a:r>
            <a:endParaRPr b="0" lang="en-US" sz="3190" spc="-1" strike="noStrike">
              <a:solidFill>
                <a:srgbClr val="000000"/>
              </a:solidFill>
              <a:latin typeface="Arial"/>
            </a:endParaRPr>
          </a:p>
        </p:txBody>
      </p:sp>
      <p:sp>
        <p:nvSpPr>
          <p:cNvPr id="56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INTERPRETATION · AUFLÖSUNG</a:t>
            </a:r>
            <a:endParaRPr b="0" lang="en-US" sz="1130" spc="-1" strike="noStrike">
              <a:solidFill>
                <a:srgbClr val="000000"/>
              </a:solidFill>
              <a:latin typeface="Arial"/>
            </a:endParaRPr>
          </a:p>
        </p:txBody>
      </p:sp>
      <p:sp>
        <p:nvSpPr>
          <p:cNvPr id="57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57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31</a:t>
            </a:r>
            <a:endParaRPr b="0" lang="en-US" sz="939" spc="-1" strike="noStrike">
              <a:solidFill>
                <a:srgbClr val="000000"/>
              </a:solidFill>
              <a:latin typeface="Arial"/>
            </a:endParaRPr>
          </a:p>
        </p:txBody>
      </p:sp>
      <p:sp>
        <p:nvSpPr>
          <p:cNvPr id="572" name=""/>
          <p:cNvSpPr/>
          <p:nvPr/>
        </p:nvSpPr>
        <p:spPr>
          <a:xfrm>
            <a:off x="952560" y="1905120"/>
            <a:ext cx="10287000" cy="251460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573" name=""/>
          <p:cNvSpPr txBox="1"/>
          <p:nvPr/>
        </p:nvSpPr>
        <p:spPr>
          <a:xfrm>
            <a:off x="1371600" y="2400480"/>
            <a:ext cx="9448920" cy="1676520"/>
          </a:xfrm>
          <a:prstGeom prst="rect">
            <a:avLst/>
          </a:prstGeom>
          <a:noFill/>
          <a:ln w="0">
            <a:noFill/>
          </a:ln>
        </p:spPr>
        <p:txBody>
          <a:bodyPr lIns="0" rIns="0" tIns="0" bIns="0" anchor="t">
            <a:noAutofit/>
          </a:bodyPr>
          <a:p>
            <a:pPr algn="ctr"/>
            <a:r>
              <a:rPr b="1" lang="en-US" sz="2720" spc="-1" strike="noStrike">
                <a:solidFill>
                  <a:srgbClr val="000000"/>
                </a:solidFill>
                <a:latin typeface="Noto Sans"/>
              </a:rPr>
              <a:t>„</a:t>
            </a:r>
            <a:r>
              <a:rPr b="1" lang="en-US" sz="2720" spc="-1" strike="noStrike">
                <a:solidFill>
                  <a:srgbClr val="000000"/>
                </a:solidFill>
                <a:latin typeface="Noto Sans"/>
              </a:rPr>
              <a:t>Der Layer zeigt 56 dokumentierte Feuersalamander-Records</a:t>
            </a:r>
            <a:endParaRPr b="0" lang="en-US" sz="2720" spc="-1" strike="noStrike">
              <a:solidFill>
                <a:srgbClr val="000000"/>
              </a:solidFill>
              <a:latin typeface="Arial"/>
            </a:endParaRPr>
          </a:p>
          <a:p>
            <a:pPr algn="ctr"/>
            <a:r>
              <a:rPr b="1" lang="en-US" sz="2720" spc="-1" strike="noStrike">
                <a:solidFill>
                  <a:srgbClr val="000000"/>
                </a:solidFill>
                <a:latin typeface="Noto Sans"/>
              </a:rPr>
              <a:t>aus dem bereitgestellten GBIF-Snapshot, deren angegebene</a:t>
            </a:r>
            <a:endParaRPr b="0" lang="en-US" sz="2720" spc="-1" strike="noStrike">
              <a:solidFill>
                <a:srgbClr val="000000"/>
              </a:solidFill>
              <a:latin typeface="Arial"/>
            </a:endParaRPr>
          </a:p>
          <a:p>
            <a:pPr algn="ctr"/>
            <a:r>
              <a:rPr b="1" lang="en-US" sz="2720" spc="-1" strike="noStrike">
                <a:solidFill>
                  <a:srgbClr val="000000"/>
                </a:solidFill>
                <a:latin typeface="Noto Sans"/>
              </a:rPr>
              <a:t>Koordinatenunsicherheit größer als 0 und höchstens 100 m ist.“</a:t>
            </a:r>
            <a:endParaRPr b="0" lang="en-US" sz="2720" spc="-1" strike="noStrike">
              <a:solidFill>
                <a:srgbClr val="000000"/>
              </a:solidFill>
              <a:latin typeface="Arial"/>
            </a:endParaRPr>
          </a:p>
        </p:txBody>
      </p:sp>
      <p:sp>
        <p:nvSpPr>
          <p:cNvPr id="57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75"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Er zeigt weder alle Individuen noch die vollständige Verbreitung der Art.</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Exit Ticket · eine Frage auswählen</a:t>
            </a:r>
            <a:endParaRPr b="0" lang="en-US" sz="3190" spc="-1" strike="noStrike">
              <a:solidFill>
                <a:srgbClr val="000000"/>
              </a:solidFill>
              <a:latin typeface="Arial"/>
            </a:endParaRPr>
          </a:p>
        </p:txBody>
      </p:sp>
      <p:sp>
        <p:nvSpPr>
          <p:cNvPr id="57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SICHERUNG · EINZELARBEIT</a:t>
            </a:r>
            <a:endParaRPr b="0" lang="en-US" sz="1130" spc="-1" strike="noStrike">
              <a:solidFill>
                <a:srgbClr val="000000"/>
              </a:solidFill>
              <a:latin typeface="Arial"/>
            </a:endParaRPr>
          </a:p>
        </p:txBody>
      </p:sp>
      <p:sp>
        <p:nvSpPr>
          <p:cNvPr id="57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57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32</a:t>
            </a:r>
            <a:endParaRPr b="0" lang="en-US" sz="939" spc="-1" strike="noStrike">
              <a:solidFill>
                <a:srgbClr val="000000"/>
              </a:solidFill>
              <a:latin typeface="Arial"/>
            </a:endParaRPr>
          </a:p>
        </p:txBody>
      </p:sp>
      <p:sp>
        <p:nvSpPr>
          <p:cNvPr id="580" name=""/>
          <p:cNvSpPr/>
          <p:nvPr/>
        </p:nvSpPr>
        <p:spPr>
          <a:xfrm>
            <a:off x="647640" y="1790640"/>
            <a:ext cx="134892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81" name=""/>
          <p:cNvSpPr txBox="1"/>
          <p:nvPr/>
        </p:nvSpPr>
        <p:spPr>
          <a:xfrm>
            <a:off x="784800" y="1920240"/>
            <a:ext cx="1097280" cy="838080"/>
          </a:xfrm>
          <a:prstGeom prst="rect">
            <a:avLst/>
          </a:prstGeom>
          <a:noFill/>
          <a:ln w="0">
            <a:noFill/>
          </a:ln>
        </p:spPr>
        <p:txBody>
          <a:bodyPr lIns="0" rIns="0" tIns="0" bIns="0" anchor="t">
            <a:noAutofit/>
          </a:bodyPr>
          <a:p>
            <a:r>
              <a:rPr b="1" lang="en-US" sz="2070" spc="-1" strike="noStrike">
                <a:solidFill>
                  <a:srgbClr val="ffffff"/>
                </a:solidFill>
                <a:latin typeface="Noto Sans"/>
              </a:rPr>
              <a:t>Option</a:t>
            </a:r>
            <a:endParaRPr b="0" lang="en-US" sz="2070" spc="-1" strike="noStrike">
              <a:solidFill>
                <a:srgbClr val="000000"/>
              </a:solidFill>
              <a:latin typeface="Arial"/>
            </a:endParaRPr>
          </a:p>
        </p:txBody>
      </p:sp>
      <p:sp>
        <p:nvSpPr>
          <p:cNvPr id="582" name=""/>
          <p:cNvSpPr/>
          <p:nvPr/>
        </p:nvSpPr>
        <p:spPr>
          <a:xfrm>
            <a:off x="2019240" y="1790640"/>
            <a:ext cx="950220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83" name=""/>
          <p:cNvSpPr txBox="1"/>
          <p:nvPr/>
        </p:nvSpPr>
        <p:spPr>
          <a:xfrm>
            <a:off x="2156400" y="1920240"/>
            <a:ext cx="9250920" cy="838080"/>
          </a:xfrm>
          <a:prstGeom prst="rect">
            <a:avLst/>
          </a:prstGeom>
          <a:noFill/>
          <a:ln w="0">
            <a:noFill/>
          </a:ln>
        </p:spPr>
        <p:txBody>
          <a:bodyPr lIns="0" rIns="0" tIns="0" bIns="0" anchor="t">
            <a:noAutofit/>
          </a:bodyPr>
          <a:p>
            <a:r>
              <a:rPr b="1" lang="en-US" sz="2070" spc="-1" strike="noStrike">
                <a:solidFill>
                  <a:srgbClr val="ffffff"/>
                </a:solidFill>
                <a:latin typeface="Noto Sans"/>
              </a:rPr>
              <a:t>Frage</a:t>
            </a:r>
            <a:endParaRPr b="0" lang="en-US" sz="2070" spc="-1" strike="noStrike">
              <a:solidFill>
                <a:srgbClr val="000000"/>
              </a:solidFill>
              <a:latin typeface="Arial"/>
            </a:endParaRPr>
          </a:p>
        </p:txBody>
      </p:sp>
      <p:sp>
        <p:nvSpPr>
          <p:cNvPr id="584" name=""/>
          <p:cNvSpPr/>
          <p:nvPr/>
        </p:nvSpPr>
        <p:spPr>
          <a:xfrm>
            <a:off x="647640" y="2781360"/>
            <a:ext cx="134892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5" name=""/>
          <p:cNvSpPr txBox="1"/>
          <p:nvPr/>
        </p:nvSpPr>
        <p:spPr>
          <a:xfrm>
            <a:off x="784800" y="2910960"/>
            <a:ext cx="1097280" cy="838080"/>
          </a:xfrm>
          <a:prstGeom prst="rect">
            <a:avLst/>
          </a:prstGeom>
          <a:noFill/>
          <a:ln w="0">
            <a:noFill/>
          </a:ln>
        </p:spPr>
        <p:txBody>
          <a:bodyPr lIns="0" rIns="0" tIns="0" bIns="0" anchor="t">
            <a:noAutofit/>
          </a:bodyPr>
          <a:p>
            <a:r>
              <a:rPr b="0" lang="en-US" sz="2070" spc="-1" strike="noStrike">
                <a:solidFill>
                  <a:srgbClr val="000000"/>
                </a:solidFill>
                <a:latin typeface="Noto Sans"/>
              </a:rPr>
              <a:t>A</a:t>
            </a:r>
            <a:endParaRPr b="0" lang="en-US" sz="2070" spc="-1" strike="noStrike">
              <a:solidFill>
                <a:srgbClr val="000000"/>
              </a:solidFill>
              <a:latin typeface="Arial"/>
            </a:endParaRPr>
          </a:p>
        </p:txBody>
      </p:sp>
      <p:sp>
        <p:nvSpPr>
          <p:cNvPr id="586" name=""/>
          <p:cNvSpPr/>
          <p:nvPr/>
        </p:nvSpPr>
        <p:spPr>
          <a:xfrm>
            <a:off x="2019240" y="2781360"/>
            <a:ext cx="950220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7" name=""/>
          <p:cNvSpPr txBox="1"/>
          <p:nvPr/>
        </p:nvSpPr>
        <p:spPr>
          <a:xfrm>
            <a:off x="2156400" y="2910960"/>
            <a:ext cx="9250920" cy="838080"/>
          </a:xfrm>
          <a:prstGeom prst="rect">
            <a:avLst/>
          </a:prstGeom>
          <a:noFill/>
          <a:ln w="0">
            <a:noFill/>
          </a:ln>
        </p:spPr>
        <p:txBody>
          <a:bodyPr lIns="0" rIns="0" tIns="0" bIns="0" anchor="t">
            <a:noAutofit/>
          </a:bodyPr>
          <a:p>
            <a:r>
              <a:rPr b="0" lang="en-US" sz="2070" spc="-1" strike="noStrike">
                <a:solidFill>
                  <a:srgbClr val="000000"/>
                </a:solidFill>
                <a:latin typeface="Noto Sans"/>
              </a:rPr>
              <a:t>Warum ist ein GBIF-Punkt nicht automatisch ein exakt verortetes lebendes Tier?</a:t>
            </a:r>
            <a:endParaRPr b="0" lang="en-US" sz="2070" spc="-1" strike="noStrike">
              <a:solidFill>
                <a:srgbClr val="000000"/>
              </a:solidFill>
              <a:latin typeface="Arial"/>
            </a:endParaRPr>
          </a:p>
        </p:txBody>
      </p:sp>
      <p:sp>
        <p:nvSpPr>
          <p:cNvPr id="588" name=""/>
          <p:cNvSpPr/>
          <p:nvPr/>
        </p:nvSpPr>
        <p:spPr>
          <a:xfrm>
            <a:off x="647640" y="3772080"/>
            <a:ext cx="134892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9" name=""/>
          <p:cNvSpPr txBox="1"/>
          <p:nvPr/>
        </p:nvSpPr>
        <p:spPr>
          <a:xfrm>
            <a:off x="784800" y="3901320"/>
            <a:ext cx="1097280" cy="838080"/>
          </a:xfrm>
          <a:prstGeom prst="rect">
            <a:avLst/>
          </a:prstGeom>
          <a:noFill/>
          <a:ln w="0">
            <a:noFill/>
          </a:ln>
        </p:spPr>
        <p:txBody>
          <a:bodyPr lIns="0" rIns="0" tIns="0" bIns="0" anchor="t">
            <a:noAutofit/>
          </a:bodyPr>
          <a:p>
            <a:r>
              <a:rPr b="0" lang="en-US" sz="2070" spc="-1" strike="noStrike">
                <a:solidFill>
                  <a:srgbClr val="000000"/>
                </a:solidFill>
                <a:latin typeface="Noto Sans"/>
              </a:rPr>
              <a:t>B</a:t>
            </a:r>
            <a:endParaRPr b="0" lang="en-US" sz="2070" spc="-1" strike="noStrike">
              <a:solidFill>
                <a:srgbClr val="000000"/>
              </a:solidFill>
              <a:latin typeface="Arial"/>
            </a:endParaRPr>
          </a:p>
        </p:txBody>
      </p:sp>
      <p:sp>
        <p:nvSpPr>
          <p:cNvPr id="590" name=""/>
          <p:cNvSpPr/>
          <p:nvPr/>
        </p:nvSpPr>
        <p:spPr>
          <a:xfrm>
            <a:off x="2019240" y="3772080"/>
            <a:ext cx="950220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1" name=""/>
          <p:cNvSpPr txBox="1"/>
          <p:nvPr/>
        </p:nvSpPr>
        <p:spPr>
          <a:xfrm>
            <a:off x="2156400" y="3901320"/>
            <a:ext cx="9250920" cy="838080"/>
          </a:xfrm>
          <a:prstGeom prst="rect">
            <a:avLst/>
          </a:prstGeom>
          <a:noFill/>
          <a:ln w="0">
            <a:noFill/>
          </a:ln>
        </p:spPr>
        <p:txBody>
          <a:bodyPr lIns="0" rIns="0" tIns="0" bIns="0" anchor="t">
            <a:noAutofit/>
          </a:bodyPr>
          <a:p>
            <a:r>
              <a:rPr b="0" lang="en-US" sz="2070" spc="-1" strike="noStrike">
                <a:solidFill>
                  <a:srgbClr val="000000"/>
                </a:solidFill>
                <a:latin typeface="Noto Sans"/>
              </a:rPr>
              <a:t>Welche drei Angaben müssen beim Import von longitude/latitude stimmen?</a:t>
            </a:r>
            <a:endParaRPr b="0" lang="en-US" sz="2070" spc="-1" strike="noStrike">
              <a:solidFill>
                <a:srgbClr val="000000"/>
              </a:solidFill>
              <a:latin typeface="Arial"/>
            </a:endParaRPr>
          </a:p>
        </p:txBody>
      </p:sp>
      <p:sp>
        <p:nvSpPr>
          <p:cNvPr id="592" name=""/>
          <p:cNvSpPr/>
          <p:nvPr/>
        </p:nvSpPr>
        <p:spPr>
          <a:xfrm>
            <a:off x="647640" y="4762440"/>
            <a:ext cx="134892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3" name=""/>
          <p:cNvSpPr txBox="1"/>
          <p:nvPr/>
        </p:nvSpPr>
        <p:spPr>
          <a:xfrm>
            <a:off x="784800" y="4892040"/>
            <a:ext cx="1097280" cy="838080"/>
          </a:xfrm>
          <a:prstGeom prst="rect">
            <a:avLst/>
          </a:prstGeom>
          <a:noFill/>
          <a:ln w="0">
            <a:noFill/>
          </a:ln>
        </p:spPr>
        <p:txBody>
          <a:bodyPr lIns="0" rIns="0" tIns="0" bIns="0" anchor="t">
            <a:noAutofit/>
          </a:bodyPr>
          <a:p>
            <a:r>
              <a:rPr b="0" lang="en-US" sz="2070" spc="-1" strike="noStrike">
                <a:solidFill>
                  <a:srgbClr val="000000"/>
                </a:solidFill>
                <a:latin typeface="Noto Sans"/>
              </a:rPr>
              <a:t>C</a:t>
            </a:r>
            <a:endParaRPr b="0" lang="en-US" sz="2070" spc="-1" strike="noStrike">
              <a:solidFill>
                <a:srgbClr val="000000"/>
              </a:solidFill>
              <a:latin typeface="Arial"/>
            </a:endParaRPr>
          </a:p>
        </p:txBody>
      </p:sp>
      <p:sp>
        <p:nvSpPr>
          <p:cNvPr id="594" name=""/>
          <p:cNvSpPr/>
          <p:nvPr/>
        </p:nvSpPr>
        <p:spPr>
          <a:xfrm>
            <a:off x="2019240" y="4762440"/>
            <a:ext cx="950220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5" name=""/>
          <p:cNvSpPr txBox="1"/>
          <p:nvPr/>
        </p:nvSpPr>
        <p:spPr>
          <a:xfrm>
            <a:off x="2156400" y="4892040"/>
            <a:ext cx="9250920" cy="838080"/>
          </a:xfrm>
          <a:prstGeom prst="rect">
            <a:avLst/>
          </a:prstGeom>
          <a:noFill/>
          <a:ln w="0">
            <a:noFill/>
          </a:ln>
        </p:spPr>
        <p:txBody>
          <a:bodyPr lIns="0" rIns="0" tIns="0" bIns="0" anchor="t">
            <a:noAutofit/>
          </a:bodyPr>
          <a:p>
            <a:r>
              <a:rPr b="0" lang="en-US" sz="2070" spc="-1" strike="noStrike">
                <a:solidFill>
                  <a:srgbClr val="000000"/>
                </a:solidFill>
                <a:latin typeface="Noto Sans"/>
              </a:rPr>
              <a:t>Warum zeigt gbif_checked Nachweise, aber nicht die vollständige Verbreitung?</a:t>
            </a:r>
            <a:endParaRPr b="0" lang="en-US" sz="2070" spc="-1" strike="noStrike">
              <a:solidFill>
                <a:srgbClr val="000000"/>
              </a:solidFill>
              <a:latin typeface="Arial"/>
            </a:endParaRPr>
          </a:p>
        </p:txBody>
      </p:sp>
      <p:sp>
        <p:nvSpPr>
          <p:cNvPr id="59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7"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Heute ausgewählt: [A / B / C]</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Nachbereitung · JiTT zu Unit 11</a:t>
            </a:r>
            <a:endParaRPr b="0" lang="en-US" sz="3190" spc="-1" strike="noStrike">
              <a:solidFill>
                <a:srgbClr val="000000"/>
              </a:solidFill>
              <a:latin typeface="Arial"/>
            </a:endParaRPr>
          </a:p>
        </p:txBody>
      </p:sp>
      <p:sp>
        <p:nvSpPr>
          <p:cNvPr id="59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AUSBLICK</a:t>
            </a:r>
            <a:endParaRPr b="0" lang="en-US" sz="1130" spc="-1" strike="noStrike">
              <a:solidFill>
                <a:srgbClr val="000000"/>
              </a:solidFill>
              <a:latin typeface="Arial"/>
            </a:endParaRPr>
          </a:p>
        </p:txBody>
      </p:sp>
      <p:sp>
        <p:nvSpPr>
          <p:cNvPr id="60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60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33</a:t>
            </a:r>
            <a:endParaRPr b="0" lang="en-US" sz="939" spc="-1" strike="noStrike">
              <a:solidFill>
                <a:srgbClr val="000000"/>
              </a:solidFill>
              <a:latin typeface="Arial"/>
            </a:endParaRPr>
          </a:p>
        </p:txBody>
      </p:sp>
      <p:sp>
        <p:nvSpPr>
          <p:cNvPr id="602" name=""/>
          <p:cNvSpPr/>
          <p:nvPr/>
        </p:nvSpPr>
        <p:spPr>
          <a:xfrm>
            <a:off x="990720" y="1981080"/>
            <a:ext cx="47242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03" name=""/>
          <p:cNvSpPr/>
          <p:nvPr/>
        </p:nvSpPr>
        <p:spPr>
          <a:xfrm>
            <a:off x="990720" y="19810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04" name=""/>
          <p:cNvSpPr txBox="1"/>
          <p:nvPr/>
        </p:nvSpPr>
        <p:spPr>
          <a:xfrm>
            <a:off x="1196280" y="2163960"/>
            <a:ext cx="4312800" cy="647640"/>
          </a:xfrm>
          <a:prstGeom prst="rect">
            <a:avLst/>
          </a:prstGeom>
          <a:noFill/>
          <a:ln w="0">
            <a:noFill/>
          </a:ln>
        </p:spPr>
        <p:txBody>
          <a:bodyPr lIns="0" rIns="0" tIns="0" bIns="0" anchor="t">
            <a:noAutofit/>
          </a:bodyPr>
          <a:p>
            <a:r>
              <a:rPr b="1" lang="en-US" sz="2540" spc="-1" strike="noStrike">
                <a:solidFill>
                  <a:srgbClr val="004899"/>
                </a:solidFill>
                <a:latin typeface="Noto Sans"/>
              </a:rPr>
              <a:t>Einzige Übungsaufgabe</a:t>
            </a:r>
            <a:endParaRPr b="0" lang="en-US" sz="2540" spc="-1" strike="noStrike">
              <a:solidFill>
                <a:srgbClr val="000000"/>
              </a:solidFill>
              <a:latin typeface="Arial"/>
            </a:endParaRPr>
          </a:p>
        </p:txBody>
      </p:sp>
      <p:sp>
        <p:nvSpPr>
          <p:cNvPr id="605" name=""/>
          <p:cNvSpPr txBox="1"/>
          <p:nvPr/>
        </p:nvSpPr>
        <p:spPr>
          <a:xfrm>
            <a:off x="1196280" y="2926080"/>
            <a:ext cx="4312800" cy="1203840"/>
          </a:xfrm>
          <a:prstGeom prst="rect">
            <a:avLst/>
          </a:prstGeom>
          <a:noFill/>
          <a:ln w="0">
            <a:noFill/>
          </a:ln>
        </p:spPr>
        <p:txBody>
          <a:bodyPr lIns="0" rIns="0" tIns="0" bIns="0" anchor="t">
            <a:noAutofit/>
          </a:bodyPr>
          <a:p>
            <a:r>
              <a:rPr b="0" lang="en-US" sz="2540" spc="-1" strike="noStrike">
                <a:solidFill>
                  <a:srgbClr val="000000"/>
                </a:solidFill>
                <a:latin typeface="Noto Sans"/>
              </a:rPr>
              <a:t>JiTT-Fragen zu Unit 11</a:t>
            </a:r>
            <a:endParaRPr b="0" lang="en-US" sz="2540" spc="-1" strike="noStrike">
              <a:solidFill>
                <a:srgbClr val="000000"/>
              </a:solidFill>
              <a:latin typeface="Arial"/>
            </a:endParaRPr>
          </a:p>
          <a:p>
            <a:r>
              <a:rPr b="0" lang="en-US" sz="2540" spc="-1" strike="noStrike">
                <a:solidFill>
                  <a:srgbClr val="000000"/>
                </a:solidFill>
                <a:latin typeface="Noto Sans"/>
              </a:rPr>
              <a:t>im ILIAS-Kurs beantworten</a:t>
            </a:r>
            <a:endParaRPr b="0" lang="en-US" sz="2540" spc="-1" strike="noStrike">
              <a:solidFill>
                <a:srgbClr val="000000"/>
              </a:solidFill>
              <a:latin typeface="Arial"/>
            </a:endParaRPr>
          </a:p>
        </p:txBody>
      </p:sp>
      <p:sp>
        <p:nvSpPr>
          <p:cNvPr id="606" name=""/>
          <p:cNvSpPr/>
          <p:nvPr/>
        </p:nvSpPr>
        <p:spPr>
          <a:xfrm>
            <a:off x="6477120" y="1981080"/>
            <a:ext cx="47242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07" name=""/>
          <p:cNvSpPr/>
          <p:nvPr/>
        </p:nvSpPr>
        <p:spPr>
          <a:xfrm>
            <a:off x="6477120" y="19810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08" name=""/>
          <p:cNvSpPr txBox="1"/>
          <p:nvPr/>
        </p:nvSpPr>
        <p:spPr>
          <a:xfrm>
            <a:off x="6682680" y="2163960"/>
            <a:ext cx="4312800" cy="647640"/>
          </a:xfrm>
          <a:prstGeom prst="rect">
            <a:avLst/>
          </a:prstGeom>
          <a:noFill/>
          <a:ln w="0">
            <a:noFill/>
          </a:ln>
        </p:spPr>
        <p:txBody>
          <a:bodyPr lIns="0" rIns="0" tIns="0" bIns="0" anchor="t">
            <a:noAutofit/>
          </a:bodyPr>
          <a:p>
            <a:r>
              <a:rPr b="1" lang="en-US" sz="2540" spc="-1" strike="noStrike">
                <a:solidFill>
                  <a:srgbClr val="a32123"/>
                </a:solidFill>
                <a:latin typeface="Noto Sans"/>
              </a:rPr>
              <a:t>Nächste Unit</a:t>
            </a:r>
            <a:endParaRPr b="0" lang="en-US" sz="2540" spc="-1" strike="noStrike">
              <a:solidFill>
                <a:srgbClr val="000000"/>
              </a:solidFill>
              <a:latin typeface="Arial"/>
            </a:endParaRPr>
          </a:p>
        </p:txBody>
      </p:sp>
      <p:sp>
        <p:nvSpPr>
          <p:cNvPr id="609" name=""/>
          <p:cNvSpPr txBox="1"/>
          <p:nvPr/>
        </p:nvSpPr>
        <p:spPr>
          <a:xfrm>
            <a:off x="6682680" y="2926080"/>
            <a:ext cx="4312800" cy="1203840"/>
          </a:xfrm>
          <a:prstGeom prst="rect">
            <a:avLst/>
          </a:prstGeom>
          <a:noFill/>
          <a:ln w="0">
            <a:noFill/>
          </a:ln>
        </p:spPr>
        <p:txBody>
          <a:bodyPr lIns="0" rIns="0" tIns="0" bIns="0" anchor="t">
            <a:noAutofit/>
          </a:bodyPr>
          <a:p>
            <a:r>
              <a:rPr b="0" lang="en-US" sz="2350" spc="-1" strike="noStrike">
                <a:solidFill>
                  <a:srgbClr val="000000"/>
                </a:solidFill>
                <a:latin typeface="Noto Sans"/>
              </a:rPr>
              <a:t>gbif_checked als geprüfte</a:t>
            </a:r>
            <a:endParaRPr b="0" lang="en-US" sz="2350" spc="-1" strike="noStrike">
              <a:solidFill>
                <a:srgbClr val="000000"/>
              </a:solidFill>
              <a:latin typeface="Arial"/>
            </a:endParaRPr>
          </a:p>
          <a:p>
            <a:r>
              <a:rPr b="0" lang="en-US" sz="2350" spc="-1" strike="noStrike">
                <a:solidFill>
                  <a:srgbClr val="000000"/>
                </a:solidFill>
                <a:latin typeface="Noto Sans"/>
              </a:rPr>
              <a:t>Punktgrundlage weiterverwenden</a:t>
            </a:r>
            <a:endParaRPr b="0" lang="en-US" sz="2350" spc="-1" strike="noStrike">
              <a:solidFill>
                <a:srgbClr val="000000"/>
              </a:solidFill>
              <a:latin typeface="Arial"/>
            </a:endParaRPr>
          </a:p>
        </p:txBody>
      </p:sp>
      <p:sp>
        <p:nvSpPr>
          <p:cNvPr id="610"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11"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Fragen, Frist und Link: ausschließlich die aktuellen Angaben in ILIAS verwenden.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GBIF-Felder als Lesehilfe</a:t>
            </a:r>
            <a:endParaRPr b="0" lang="en-US" sz="3190" spc="-1" strike="noStrike">
              <a:solidFill>
                <a:srgbClr val="000000"/>
              </a:solidFill>
              <a:latin typeface="Arial"/>
            </a:endParaRPr>
          </a:p>
        </p:txBody>
      </p:sp>
      <p:sp>
        <p:nvSpPr>
          <p:cNvPr id="61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RECORD PRÜFEN</a:t>
            </a:r>
            <a:endParaRPr b="0" lang="en-US" sz="1130" spc="-1" strike="noStrike">
              <a:solidFill>
                <a:srgbClr val="000000"/>
              </a:solidFill>
              <a:latin typeface="Arial"/>
            </a:endParaRPr>
          </a:p>
        </p:txBody>
      </p:sp>
      <p:sp>
        <p:nvSpPr>
          <p:cNvPr id="61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61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34</a:t>
            </a:r>
            <a:endParaRPr b="0" lang="en-US" sz="939" spc="-1" strike="noStrike">
              <a:solidFill>
                <a:srgbClr val="000000"/>
              </a:solidFill>
              <a:latin typeface="Arial"/>
            </a:endParaRPr>
          </a:p>
        </p:txBody>
      </p:sp>
      <p:sp>
        <p:nvSpPr>
          <p:cNvPr id="616" name=""/>
          <p:cNvSpPr/>
          <p:nvPr/>
        </p:nvSpPr>
        <p:spPr>
          <a:xfrm>
            <a:off x="647640" y="1676520"/>
            <a:ext cx="4320720" cy="6325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17" name=""/>
          <p:cNvSpPr txBox="1"/>
          <p:nvPr/>
        </p:nvSpPr>
        <p:spPr>
          <a:xfrm>
            <a:off x="784800" y="1806120"/>
            <a:ext cx="4069080" cy="502920"/>
          </a:xfrm>
          <a:prstGeom prst="rect">
            <a:avLst/>
          </a:prstGeom>
          <a:noFill/>
          <a:ln w="0">
            <a:noFill/>
          </a:ln>
        </p:spPr>
        <p:txBody>
          <a:bodyPr lIns="0" rIns="0" tIns="0" bIns="0" anchor="t">
            <a:noAutofit/>
          </a:bodyPr>
          <a:p>
            <a:r>
              <a:rPr b="1" lang="en-US" sz="2070" spc="-1" strike="noStrike">
                <a:solidFill>
                  <a:srgbClr val="ffffff"/>
                </a:solidFill>
                <a:latin typeface="Noto Sans"/>
              </a:rPr>
              <a:t>Feld</a:t>
            </a:r>
            <a:endParaRPr b="0" lang="en-US" sz="2070" spc="-1" strike="noStrike">
              <a:solidFill>
                <a:srgbClr val="000000"/>
              </a:solidFill>
              <a:latin typeface="Arial"/>
            </a:endParaRPr>
          </a:p>
        </p:txBody>
      </p:sp>
      <p:sp>
        <p:nvSpPr>
          <p:cNvPr id="618" name=""/>
          <p:cNvSpPr/>
          <p:nvPr/>
        </p:nvSpPr>
        <p:spPr>
          <a:xfrm>
            <a:off x="4991040" y="1676520"/>
            <a:ext cx="6530400" cy="6325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19" name=""/>
          <p:cNvSpPr txBox="1"/>
          <p:nvPr/>
        </p:nvSpPr>
        <p:spPr>
          <a:xfrm>
            <a:off x="5128200" y="1806120"/>
            <a:ext cx="6279120" cy="502920"/>
          </a:xfrm>
          <a:prstGeom prst="rect">
            <a:avLst/>
          </a:prstGeom>
          <a:noFill/>
          <a:ln w="0">
            <a:noFill/>
          </a:ln>
        </p:spPr>
        <p:txBody>
          <a:bodyPr lIns="0" rIns="0" tIns="0" bIns="0" anchor="t">
            <a:noAutofit/>
          </a:bodyPr>
          <a:p>
            <a:r>
              <a:rPr b="1" lang="en-US" sz="2070" spc="-1" strike="noStrike">
                <a:solidFill>
                  <a:srgbClr val="ffffff"/>
                </a:solidFill>
                <a:latin typeface="Noto Sans"/>
              </a:rPr>
              <a:t>Prüffrage</a:t>
            </a:r>
            <a:endParaRPr b="0" lang="en-US" sz="2070" spc="-1" strike="noStrike">
              <a:solidFill>
                <a:srgbClr val="000000"/>
              </a:solidFill>
              <a:latin typeface="Arial"/>
            </a:endParaRPr>
          </a:p>
        </p:txBody>
      </p:sp>
      <p:sp>
        <p:nvSpPr>
          <p:cNvPr id="620" name=""/>
          <p:cNvSpPr/>
          <p:nvPr/>
        </p:nvSpPr>
        <p:spPr>
          <a:xfrm>
            <a:off x="647640" y="2331720"/>
            <a:ext cx="4320720" cy="632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1" name=""/>
          <p:cNvSpPr txBox="1"/>
          <p:nvPr/>
        </p:nvSpPr>
        <p:spPr>
          <a:xfrm>
            <a:off x="784800" y="2461320"/>
            <a:ext cx="4069080" cy="502920"/>
          </a:xfrm>
          <a:prstGeom prst="rect">
            <a:avLst/>
          </a:prstGeom>
          <a:noFill/>
          <a:ln w="0">
            <a:noFill/>
          </a:ln>
        </p:spPr>
        <p:txBody>
          <a:bodyPr lIns="0" rIns="0" tIns="0" bIns="0" anchor="t">
            <a:noAutofit/>
          </a:bodyPr>
          <a:p>
            <a:r>
              <a:rPr b="0" lang="en-US" sz="2070" spc="-1" strike="noStrike">
                <a:solidFill>
                  <a:srgbClr val="000000"/>
                </a:solidFill>
                <a:latin typeface="Noto Sans"/>
              </a:rPr>
              <a:t>gbifID / occurrenceID</a:t>
            </a:r>
            <a:endParaRPr b="0" lang="en-US" sz="2070" spc="-1" strike="noStrike">
              <a:solidFill>
                <a:srgbClr val="000000"/>
              </a:solidFill>
              <a:latin typeface="Arial"/>
            </a:endParaRPr>
          </a:p>
        </p:txBody>
      </p:sp>
      <p:sp>
        <p:nvSpPr>
          <p:cNvPr id="622" name=""/>
          <p:cNvSpPr/>
          <p:nvPr/>
        </p:nvSpPr>
        <p:spPr>
          <a:xfrm>
            <a:off x="4991040" y="2331720"/>
            <a:ext cx="6530400" cy="632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3" name=""/>
          <p:cNvSpPr txBox="1"/>
          <p:nvPr/>
        </p:nvSpPr>
        <p:spPr>
          <a:xfrm>
            <a:off x="5128200" y="2461320"/>
            <a:ext cx="6279120" cy="502920"/>
          </a:xfrm>
          <a:prstGeom prst="rect">
            <a:avLst/>
          </a:prstGeom>
          <a:noFill/>
          <a:ln w="0">
            <a:noFill/>
          </a:ln>
        </p:spPr>
        <p:txBody>
          <a:bodyPr lIns="0" rIns="0" tIns="0" bIns="0" anchor="t">
            <a:noAutofit/>
          </a:bodyPr>
          <a:p>
            <a:r>
              <a:rPr b="0" lang="en-US" sz="2070" spc="-1" strike="noStrike">
                <a:solidFill>
                  <a:srgbClr val="000000"/>
                </a:solidFill>
                <a:latin typeface="Noto Sans"/>
              </a:rPr>
              <a:t>Ist der Record eindeutig nachvollziehbar?</a:t>
            </a:r>
            <a:endParaRPr b="0" lang="en-US" sz="2070" spc="-1" strike="noStrike">
              <a:solidFill>
                <a:srgbClr val="000000"/>
              </a:solidFill>
              <a:latin typeface="Arial"/>
            </a:endParaRPr>
          </a:p>
        </p:txBody>
      </p:sp>
      <p:sp>
        <p:nvSpPr>
          <p:cNvPr id="624" name=""/>
          <p:cNvSpPr/>
          <p:nvPr/>
        </p:nvSpPr>
        <p:spPr>
          <a:xfrm>
            <a:off x="647640" y="2986920"/>
            <a:ext cx="4320720" cy="632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5" name=""/>
          <p:cNvSpPr txBox="1"/>
          <p:nvPr/>
        </p:nvSpPr>
        <p:spPr>
          <a:xfrm>
            <a:off x="784800" y="3116520"/>
            <a:ext cx="4069080" cy="502920"/>
          </a:xfrm>
          <a:prstGeom prst="rect">
            <a:avLst/>
          </a:prstGeom>
          <a:noFill/>
          <a:ln w="0">
            <a:noFill/>
          </a:ln>
        </p:spPr>
        <p:txBody>
          <a:bodyPr lIns="0" rIns="0" tIns="0" bIns="0" anchor="t">
            <a:noAutofit/>
          </a:bodyPr>
          <a:p>
            <a:r>
              <a:rPr b="0" lang="en-US" sz="2070" spc="-1" strike="noStrike">
                <a:solidFill>
                  <a:srgbClr val="000000"/>
                </a:solidFill>
                <a:latin typeface="Noto Sans"/>
              </a:rPr>
              <a:t>basisOfRecord</a:t>
            </a:r>
            <a:endParaRPr b="0" lang="en-US" sz="2070" spc="-1" strike="noStrike">
              <a:solidFill>
                <a:srgbClr val="000000"/>
              </a:solidFill>
              <a:latin typeface="Arial"/>
            </a:endParaRPr>
          </a:p>
        </p:txBody>
      </p:sp>
      <p:sp>
        <p:nvSpPr>
          <p:cNvPr id="626" name=""/>
          <p:cNvSpPr/>
          <p:nvPr/>
        </p:nvSpPr>
        <p:spPr>
          <a:xfrm>
            <a:off x="4991040" y="2986920"/>
            <a:ext cx="6530400" cy="632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7" name=""/>
          <p:cNvSpPr txBox="1"/>
          <p:nvPr/>
        </p:nvSpPr>
        <p:spPr>
          <a:xfrm>
            <a:off x="5128200" y="3116520"/>
            <a:ext cx="6279120" cy="502920"/>
          </a:xfrm>
          <a:prstGeom prst="rect">
            <a:avLst/>
          </a:prstGeom>
          <a:noFill/>
          <a:ln w="0">
            <a:noFill/>
          </a:ln>
        </p:spPr>
        <p:txBody>
          <a:bodyPr lIns="0" rIns="0" tIns="0" bIns="0" anchor="t">
            <a:noAutofit/>
          </a:bodyPr>
          <a:p>
            <a:r>
              <a:rPr b="0" lang="en-US" sz="2070" spc="-1" strike="noStrike">
                <a:solidFill>
                  <a:srgbClr val="000000"/>
                </a:solidFill>
                <a:latin typeface="Noto Sans"/>
              </a:rPr>
              <a:t>Worauf beruht der Nachweis?</a:t>
            </a:r>
            <a:endParaRPr b="0" lang="en-US" sz="2070" spc="-1" strike="noStrike">
              <a:solidFill>
                <a:srgbClr val="000000"/>
              </a:solidFill>
              <a:latin typeface="Arial"/>
            </a:endParaRPr>
          </a:p>
        </p:txBody>
      </p:sp>
      <p:sp>
        <p:nvSpPr>
          <p:cNvPr id="628" name=""/>
          <p:cNvSpPr/>
          <p:nvPr/>
        </p:nvSpPr>
        <p:spPr>
          <a:xfrm>
            <a:off x="647640" y="3642480"/>
            <a:ext cx="4320720" cy="632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9" name=""/>
          <p:cNvSpPr txBox="1"/>
          <p:nvPr/>
        </p:nvSpPr>
        <p:spPr>
          <a:xfrm>
            <a:off x="784800" y="3772080"/>
            <a:ext cx="4069080" cy="502920"/>
          </a:xfrm>
          <a:prstGeom prst="rect">
            <a:avLst/>
          </a:prstGeom>
          <a:noFill/>
          <a:ln w="0">
            <a:noFill/>
          </a:ln>
        </p:spPr>
        <p:txBody>
          <a:bodyPr lIns="0" rIns="0" tIns="0" bIns="0" anchor="t">
            <a:noAutofit/>
          </a:bodyPr>
          <a:p>
            <a:r>
              <a:rPr b="0" lang="en-US" sz="2070" spc="-1" strike="noStrike">
                <a:solidFill>
                  <a:srgbClr val="000000"/>
                </a:solidFill>
                <a:latin typeface="Noto Sans"/>
              </a:rPr>
              <a:t>eventDate</a:t>
            </a:r>
            <a:endParaRPr b="0" lang="en-US" sz="2070" spc="-1" strike="noStrike">
              <a:solidFill>
                <a:srgbClr val="000000"/>
              </a:solidFill>
              <a:latin typeface="Arial"/>
            </a:endParaRPr>
          </a:p>
        </p:txBody>
      </p:sp>
      <p:sp>
        <p:nvSpPr>
          <p:cNvPr id="630" name=""/>
          <p:cNvSpPr/>
          <p:nvPr/>
        </p:nvSpPr>
        <p:spPr>
          <a:xfrm>
            <a:off x="4991040" y="3642480"/>
            <a:ext cx="6530400" cy="632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1" name=""/>
          <p:cNvSpPr txBox="1"/>
          <p:nvPr/>
        </p:nvSpPr>
        <p:spPr>
          <a:xfrm>
            <a:off x="5128200" y="3772080"/>
            <a:ext cx="6279120" cy="502920"/>
          </a:xfrm>
          <a:prstGeom prst="rect">
            <a:avLst/>
          </a:prstGeom>
          <a:noFill/>
          <a:ln w="0">
            <a:noFill/>
          </a:ln>
        </p:spPr>
        <p:txBody>
          <a:bodyPr lIns="0" rIns="0" tIns="0" bIns="0" anchor="t">
            <a:noAutofit/>
          </a:bodyPr>
          <a:p>
            <a:r>
              <a:rPr b="0" lang="en-US" sz="2070" spc="-1" strike="noStrike">
                <a:solidFill>
                  <a:srgbClr val="000000"/>
                </a:solidFill>
                <a:latin typeface="Noto Sans"/>
              </a:rPr>
              <a:t>Wann wurde erfasst?</a:t>
            </a:r>
            <a:endParaRPr b="0" lang="en-US" sz="2070" spc="-1" strike="noStrike">
              <a:solidFill>
                <a:srgbClr val="000000"/>
              </a:solidFill>
              <a:latin typeface="Arial"/>
            </a:endParaRPr>
          </a:p>
        </p:txBody>
      </p:sp>
      <p:sp>
        <p:nvSpPr>
          <p:cNvPr id="632" name=""/>
          <p:cNvSpPr/>
          <p:nvPr/>
        </p:nvSpPr>
        <p:spPr>
          <a:xfrm>
            <a:off x="647640" y="4297680"/>
            <a:ext cx="4320720" cy="632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3" name=""/>
          <p:cNvSpPr txBox="1"/>
          <p:nvPr/>
        </p:nvSpPr>
        <p:spPr>
          <a:xfrm>
            <a:off x="784800" y="4427280"/>
            <a:ext cx="4069080" cy="502920"/>
          </a:xfrm>
          <a:prstGeom prst="rect">
            <a:avLst/>
          </a:prstGeom>
          <a:noFill/>
          <a:ln w="0">
            <a:noFill/>
          </a:ln>
        </p:spPr>
        <p:txBody>
          <a:bodyPr lIns="0" rIns="0" tIns="0" bIns="0" anchor="t">
            <a:noAutofit/>
          </a:bodyPr>
          <a:p>
            <a:r>
              <a:rPr b="0" lang="en-US" sz="2070" spc="-1" strike="noStrike">
                <a:solidFill>
                  <a:srgbClr val="000000"/>
                </a:solidFill>
                <a:latin typeface="Noto Sans"/>
              </a:rPr>
              <a:t>decimalLongitude / Latitude</a:t>
            </a:r>
            <a:endParaRPr b="0" lang="en-US" sz="2070" spc="-1" strike="noStrike">
              <a:solidFill>
                <a:srgbClr val="000000"/>
              </a:solidFill>
              <a:latin typeface="Arial"/>
            </a:endParaRPr>
          </a:p>
        </p:txBody>
      </p:sp>
      <p:sp>
        <p:nvSpPr>
          <p:cNvPr id="634" name=""/>
          <p:cNvSpPr/>
          <p:nvPr/>
        </p:nvSpPr>
        <p:spPr>
          <a:xfrm>
            <a:off x="4991040" y="4297680"/>
            <a:ext cx="6530400" cy="632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5" name=""/>
          <p:cNvSpPr txBox="1"/>
          <p:nvPr/>
        </p:nvSpPr>
        <p:spPr>
          <a:xfrm>
            <a:off x="5128200" y="4427280"/>
            <a:ext cx="6279120" cy="502920"/>
          </a:xfrm>
          <a:prstGeom prst="rect">
            <a:avLst/>
          </a:prstGeom>
          <a:noFill/>
          <a:ln w="0">
            <a:noFill/>
          </a:ln>
        </p:spPr>
        <p:txBody>
          <a:bodyPr lIns="0" rIns="0" tIns="0" bIns="0" anchor="t">
            <a:noAutofit/>
          </a:bodyPr>
          <a:p>
            <a:r>
              <a:rPr b="0" lang="en-US" sz="2070" spc="-1" strike="noStrike">
                <a:solidFill>
                  <a:srgbClr val="000000"/>
                </a:solidFill>
                <a:latin typeface="Noto Sans"/>
              </a:rPr>
              <a:t>Wo wird der Record verortet?</a:t>
            </a:r>
            <a:endParaRPr b="0" lang="en-US" sz="2070" spc="-1" strike="noStrike">
              <a:solidFill>
                <a:srgbClr val="000000"/>
              </a:solidFill>
              <a:latin typeface="Arial"/>
            </a:endParaRPr>
          </a:p>
        </p:txBody>
      </p:sp>
      <p:sp>
        <p:nvSpPr>
          <p:cNvPr id="636" name=""/>
          <p:cNvSpPr/>
          <p:nvPr/>
        </p:nvSpPr>
        <p:spPr>
          <a:xfrm>
            <a:off x="647640" y="4952880"/>
            <a:ext cx="4320720" cy="632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7" name=""/>
          <p:cNvSpPr txBox="1"/>
          <p:nvPr/>
        </p:nvSpPr>
        <p:spPr>
          <a:xfrm>
            <a:off x="784800" y="5082480"/>
            <a:ext cx="4069080" cy="502920"/>
          </a:xfrm>
          <a:prstGeom prst="rect">
            <a:avLst/>
          </a:prstGeom>
          <a:noFill/>
          <a:ln w="0">
            <a:noFill/>
          </a:ln>
        </p:spPr>
        <p:txBody>
          <a:bodyPr lIns="0" rIns="0" tIns="0" bIns="0" anchor="t">
            <a:noAutofit/>
          </a:bodyPr>
          <a:p>
            <a:r>
              <a:rPr b="0" lang="en-US" sz="2070" spc="-1" strike="noStrike">
                <a:solidFill>
                  <a:srgbClr val="000000"/>
                </a:solidFill>
                <a:latin typeface="Noto Sans"/>
              </a:rPr>
              <a:t>coordinateUncertaintyInMeters</a:t>
            </a:r>
            <a:endParaRPr b="0" lang="en-US" sz="2070" spc="-1" strike="noStrike">
              <a:solidFill>
                <a:srgbClr val="000000"/>
              </a:solidFill>
              <a:latin typeface="Arial"/>
            </a:endParaRPr>
          </a:p>
        </p:txBody>
      </p:sp>
      <p:sp>
        <p:nvSpPr>
          <p:cNvPr id="638" name=""/>
          <p:cNvSpPr/>
          <p:nvPr/>
        </p:nvSpPr>
        <p:spPr>
          <a:xfrm>
            <a:off x="4991040" y="4952880"/>
            <a:ext cx="6530400" cy="6325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9" name=""/>
          <p:cNvSpPr txBox="1"/>
          <p:nvPr/>
        </p:nvSpPr>
        <p:spPr>
          <a:xfrm>
            <a:off x="5128200" y="5082480"/>
            <a:ext cx="6279120" cy="502920"/>
          </a:xfrm>
          <a:prstGeom prst="rect">
            <a:avLst/>
          </a:prstGeom>
          <a:noFill/>
          <a:ln w="0">
            <a:noFill/>
          </a:ln>
        </p:spPr>
        <p:txBody>
          <a:bodyPr lIns="0" rIns="0" tIns="0" bIns="0" anchor="t">
            <a:noAutofit/>
          </a:bodyPr>
          <a:p>
            <a:r>
              <a:rPr b="0" lang="en-US" sz="2070" spc="-1" strike="noStrike">
                <a:solidFill>
                  <a:srgbClr val="000000"/>
                </a:solidFill>
                <a:latin typeface="Noto Sans"/>
              </a:rPr>
              <a:t>Passt die Lagegenauigkeit zur Frage?</a:t>
            </a:r>
            <a:endParaRPr b="0" lang="en-US" sz="2070" spc="-1" strike="noStrike">
              <a:solidFill>
                <a:srgbClr val="000000"/>
              </a:solidFill>
              <a:latin typeface="Arial"/>
            </a:endParaRPr>
          </a:p>
        </p:txBody>
      </p:sp>
      <p:sp>
        <p:nvSpPr>
          <p:cNvPr id="640" name=""/>
          <p:cNvSpPr/>
          <p:nvPr/>
        </p:nvSpPr>
        <p:spPr>
          <a:xfrm>
            <a:off x="647640" y="5608440"/>
            <a:ext cx="4320720" cy="632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41" name=""/>
          <p:cNvSpPr txBox="1"/>
          <p:nvPr/>
        </p:nvSpPr>
        <p:spPr>
          <a:xfrm>
            <a:off x="784800" y="5738040"/>
            <a:ext cx="4069080" cy="502920"/>
          </a:xfrm>
          <a:prstGeom prst="rect">
            <a:avLst/>
          </a:prstGeom>
          <a:noFill/>
          <a:ln w="0">
            <a:noFill/>
          </a:ln>
        </p:spPr>
        <p:txBody>
          <a:bodyPr lIns="0" rIns="0" tIns="0" bIns="0" anchor="t">
            <a:noAutofit/>
          </a:bodyPr>
          <a:p>
            <a:r>
              <a:rPr b="0" lang="en-US" sz="2070" spc="-1" strike="noStrike">
                <a:solidFill>
                  <a:srgbClr val="000000"/>
                </a:solidFill>
                <a:latin typeface="Noto Sans"/>
              </a:rPr>
              <a:t>datasetKey / license / issue</a:t>
            </a:r>
            <a:endParaRPr b="0" lang="en-US" sz="2070" spc="-1" strike="noStrike">
              <a:solidFill>
                <a:srgbClr val="000000"/>
              </a:solidFill>
              <a:latin typeface="Arial"/>
            </a:endParaRPr>
          </a:p>
        </p:txBody>
      </p:sp>
      <p:sp>
        <p:nvSpPr>
          <p:cNvPr id="642" name=""/>
          <p:cNvSpPr/>
          <p:nvPr/>
        </p:nvSpPr>
        <p:spPr>
          <a:xfrm>
            <a:off x="4991040" y="5608440"/>
            <a:ext cx="6530400" cy="6325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43" name=""/>
          <p:cNvSpPr txBox="1"/>
          <p:nvPr/>
        </p:nvSpPr>
        <p:spPr>
          <a:xfrm>
            <a:off x="5128200" y="5738040"/>
            <a:ext cx="6279120" cy="502920"/>
          </a:xfrm>
          <a:prstGeom prst="rect">
            <a:avLst/>
          </a:prstGeom>
          <a:noFill/>
          <a:ln w="0">
            <a:noFill/>
          </a:ln>
        </p:spPr>
        <p:txBody>
          <a:bodyPr lIns="0" rIns="0" tIns="0" bIns="0" anchor="t">
            <a:noAutofit/>
          </a:bodyPr>
          <a:p>
            <a:r>
              <a:rPr b="0" lang="en-US" sz="2070" spc="-1" strike="noStrike">
                <a:solidFill>
                  <a:srgbClr val="000000"/>
                </a:solidFill>
                <a:latin typeface="Noto Sans"/>
              </a:rPr>
              <a:t>Woher stammt er und was ist zu beachten?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Quellen und Arbeitsstand</a:t>
            </a:r>
            <a:endParaRPr b="0" lang="en-US" sz="3190" spc="-1" strike="noStrike">
              <a:solidFill>
                <a:srgbClr val="000000"/>
              </a:solidFill>
              <a:latin typeface="Arial"/>
            </a:endParaRPr>
          </a:p>
        </p:txBody>
      </p:sp>
      <p:sp>
        <p:nvSpPr>
          <p:cNvPr id="64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NACHWEISE</a:t>
            </a:r>
            <a:endParaRPr b="0" lang="en-US" sz="1130" spc="-1" strike="noStrike">
              <a:solidFill>
                <a:srgbClr val="000000"/>
              </a:solidFill>
              <a:latin typeface="Arial"/>
            </a:endParaRPr>
          </a:p>
        </p:txBody>
      </p:sp>
      <p:sp>
        <p:nvSpPr>
          <p:cNvPr id="64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11</a:t>
            </a:r>
            <a:endParaRPr b="0" lang="en-US" sz="939" spc="-1" strike="noStrike">
              <a:solidFill>
                <a:srgbClr val="000000"/>
              </a:solidFill>
              <a:latin typeface="Arial"/>
            </a:endParaRPr>
          </a:p>
        </p:txBody>
      </p:sp>
      <p:sp>
        <p:nvSpPr>
          <p:cNvPr id="64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35</a:t>
            </a:r>
            <a:endParaRPr b="0" lang="en-US" sz="939" spc="-1" strike="noStrike">
              <a:solidFill>
                <a:srgbClr val="000000"/>
              </a:solidFill>
              <a:latin typeface="Arial"/>
            </a:endParaRPr>
          </a:p>
        </p:txBody>
      </p:sp>
      <p:sp>
        <p:nvSpPr>
          <p:cNvPr id="648" name=""/>
          <p:cNvSpPr txBox="1"/>
          <p:nvPr/>
        </p:nvSpPr>
        <p:spPr>
          <a:xfrm>
            <a:off x="838080" y="167652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hlinkClick r:id="rId1"/>
              </a:rPr>
              <a:t>Unit 11 · Kursübersicht</a:t>
            </a:r>
            <a:endParaRPr b="0" lang="en-US" sz="2260" spc="-1" strike="noStrike">
              <a:solidFill>
                <a:srgbClr val="000000"/>
              </a:solidFill>
              <a:latin typeface="Arial"/>
            </a:endParaRPr>
          </a:p>
        </p:txBody>
      </p:sp>
      <p:sp>
        <p:nvSpPr>
          <p:cNvPr id="649" name=""/>
          <p:cNvSpPr txBox="1"/>
          <p:nvPr/>
        </p:nvSpPr>
        <p:spPr>
          <a:xfrm>
            <a:off x="838080" y="220212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hlinkClick r:id="rId2"/>
              </a:rPr>
              <a:t>Punktdaten</a:t>
            </a:r>
            <a:endParaRPr b="0" lang="en-US" sz="2260" spc="-1" strike="noStrike">
              <a:solidFill>
                <a:srgbClr val="000000"/>
              </a:solidFill>
              <a:latin typeface="Arial"/>
            </a:endParaRPr>
          </a:p>
        </p:txBody>
      </p:sp>
      <p:sp>
        <p:nvSpPr>
          <p:cNvPr id="650" name=""/>
          <p:cNvSpPr txBox="1"/>
          <p:nvPr/>
        </p:nvSpPr>
        <p:spPr>
          <a:xfrm>
            <a:off x="838080" y="272808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hlinkClick r:id="rId3"/>
              </a:rPr>
              <a:t>GBIF und Datenqualität</a:t>
            </a:r>
            <a:endParaRPr b="0" lang="en-US" sz="2260" spc="-1" strike="noStrike">
              <a:solidFill>
                <a:srgbClr val="000000"/>
              </a:solidFill>
              <a:latin typeface="Arial"/>
            </a:endParaRPr>
          </a:p>
        </p:txBody>
      </p:sp>
      <p:sp>
        <p:nvSpPr>
          <p:cNvPr id="651" name=""/>
          <p:cNvSpPr txBox="1"/>
          <p:nvPr/>
        </p:nvSpPr>
        <p:spPr>
          <a:xfrm>
            <a:off x="838080" y="325368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hlinkClick r:id="rId4"/>
              </a:rPr>
              <a:t>Punktdaten in QGIS</a:t>
            </a:r>
            <a:endParaRPr b="0" lang="en-US" sz="2260" spc="-1" strike="noStrike">
              <a:solidFill>
                <a:srgbClr val="000000"/>
              </a:solidFill>
              <a:latin typeface="Arial"/>
            </a:endParaRPr>
          </a:p>
        </p:txBody>
      </p:sp>
      <p:sp>
        <p:nvSpPr>
          <p:cNvPr id="652" name=""/>
          <p:cNvSpPr txBox="1"/>
          <p:nvPr/>
        </p:nvSpPr>
        <p:spPr>
          <a:xfrm>
            <a:off x="838080" y="377964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hlinkClick r:id="rId5"/>
              </a:rPr>
              <a:t>QGIS 3.40 · Benutzerhandbuch</a:t>
            </a:r>
            <a:endParaRPr b="0" lang="en-US" sz="2260" spc="-1" strike="noStrike">
              <a:solidFill>
                <a:srgbClr val="000000"/>
              </a:solidFill>
              <a:latin typeface="Arial"/>
            </a:endParaRPr>
          </a:p>
        </p:txBody>
      </p:sp>
      <p:sp>
        <p:nvSpPr>
          <p:cNvPr id="653" name=""/>
          <p:cNvSpPr txBox="1"/>
          <p:nvPr/>
        </p:nvSpPr>
        <p:spPr>
          <a:xfrm>
            <a:off x="838080" y="430524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hlinkClick r:id="rId6"/>
              </a:rPr>
              <a:t>NABU|naturgucker · Datensatz-DOI</a:t>
            </a:r>
            <a:endParaRPr b="0" lang="en-US" sz="2260" spc="-1" strike="noStrike">
              <a:solidFill>
                <a:srgbClr val="000000"/>
              </a:solidFill>
              <a:latin typeface="Arial"/>
            </a:endParaRPr>
          </a:p>
        </p:txBody>
      </p:sp>
      <p:sp>
        <p:nvSpPr>
          <p:cNvPr id="654" name=""/>
          <p:cNvSpPr txBox="1"/>
          <p:nvPr/>
        </p:nvSpPr>
        <p:spPr>
          <a:xfrm>
            <a:off x="838080" y="5143680"/>
            <a:ext cx="10591920" cy="960120"/>
          </a:xfrm>
          <a:prstGeom prst="rect">
            <a:avLst/>
          </a:prstGeom>
          <a:noFill/>
          <a:ln w="0">
            <a:noFill/>
          </a:ln>
        </p:spPr>
        <p:txBody>
          <a:bodyPr lIns="0" rIns="0" tIns="0" bIns="0" anchor="t">
            <a:noAutofit/>
          </a:bodyPr>
          <a:p>
            <a:r>
              <a:rPr b="0" lang="en-US" sz="1600" spc="-1" strike="noStrike">
                <a:solidFill>
                  <a:srgbClr val="414141"/>
                </a:solidFill>
                <a:latin typeface="Noto Sans"/>
              </a:rPr>
              <a:t>Paketstand: 08.09.2026 · Abgleich der Folien: 09.09.2026</a:t>
            </a:r>
            <a:endParaRPr b="0" lang="en-US" sz="1600" spc="-1" strike="noStrike">
              <a:solidFill>
                <a:srgbClr val="000000"/>
              </a:solidFill>
              <a:latin typeface="Arial"/>
            </a:endParaRPr>
          </a:p>
          <a:p>
            <a:r>
              <a:rPr b="0" lang="en-US" sz="1600" spc="-1" strike="noStrike">
                <a:solidFill>
                  <a:srgbClr val="414141"/>
                </a:solidFill>
                <a:latin typeface="Noto Sans"/>
              </a:rPr>
              <a:t>Layout: Universität-Marburg-Vorlage · Titel-/Abschlussbild: FB19-Vorlage</a:t>
            </a:r>
            <a:endParaRPr b="0" lang="en-US" sz="1600" spc="-1" strike="noStrike">
              <a:solidFill>
                <a:srgbClr val="000000"/>
              </a:solidFill>
              <a:latin typeface="Arial"/>
            </a:endParaRPr>
          </a:p>
          <a:p>
            <a:r>
              <a:rPr b="0" lang="en-US" sz="1600" spc="-1" strike="noStrike">
                <a:solidFill>
                  <a:srgbClr val="414141"/>
                </a:solidFill>
                <a:latin typeface="Noto Sans"/>
              </a:rPr>
              <a:t>Lehrabbildungen: vorhandene SVGs der Units 10 und 11</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
          <p:cNvSpPr/>
          <p:nvPr/>
        </p:nvSpPr>
        <p:spPr>
          <a:xfrm>
            <a:off x="335160" y="335160"/>
            <a:ext cx="6164640" cy="6149520"/>
          </a:xfrm>
          <a:prstGeom prst="rect">
            <a:avLst/>
          </a:prstGeom>
          <a:solidFill>
            <a:srgbClr val="f7deed"/>
          </a:solidFill>
          <a:ln w="0">
            <a:noFill/>
          </a:ln>
        </p:spPr>
        <p:txBody>
          <a:bodyPr lIns="90000" rIns="90000" tIns="45000" bIns="45000" anchor="ctr" anchorCtr="1">
            <a:noAutofit/>
          </a:bodyPr>
          <a:p>
            <a:endParaRPr b="0" lang="en-US" sz="1800" spc="-1" strike="noStrike">
              <a:solidFill>
                <a:srgbClr val="000000"/>
              </a:solidFill>
              <a:latin typeface="Arial"/>
            </a:endParaRPr>
          </a:p>
        </p:txBody>
      </p:sp>
      <p:pic>
        <p:nvPicPr>
          <p:cNvPr id="656" name="" descr=""/>
          <p:cNvPicPr/>
          <p:nvPr/>
        </p:nvPicPr>
        <p:blipFill>
          <a:blip r:embed="rId1"/>
          <a:stretch/>
        </p:blipFill>
        <p:spPr>
          <a:xfrm>
            <a:off x="6972480" y="2666880"/>
            <a:ext cx="4876920" cy="1671120"/>
          </a:xfrm>
          <a:prstGeom prst="rect">
            <a:avLst/>
          </a:prstGeom>
          <a:ln w="0">
            <a:noFill/>
          </a:ln>
        </p:spPr>
      </p:pic>
      <p:sp>
        <p:nvSpPr>
          <p:cNvPr id="657" name=""/>
          <p:cNvSpPr txBox="1"/>
          <p:nvPr/>
        </p:nvSpPr>
        <p:spPr>
          <a:xfrm>
            <a:off x="762120" y="2895480"/>
            <a:ext cx="5334120" cy="1905120"/>
          </a:xfrm>
          <a:prstGeom prst="rect">
            <a:avLst/>
          </a:prstGeom>
          <a:noFill/>
          <a:ln w="0">
            <a:noFill/>
          </a:ln>
        </p:spPr>
        <p:txBody>
          <a:bodyPr lIns="0" rIns="0" tIns="0" bIns="0" anchor="t">
            <a:noAutofit/>
          </a:bodyPr>
          <a:p>
            <a:r>
              <a:rPr b="0" lang="en-US" sz="3859" spc="-1" strike="noStrike">
                <a:solidFill>
                  <a:srgbClr val="000000"/>
                </a:solidFill>
                <a:latin typeface="Noto Sans"/>
              </a:rPr>
              <a:t>Vielen Dank für Ihre Aufmerksamkeit</a:t>
            </a:r>
            <a:endParaRPr b="0" lang="en-US" sz="3859" spc="-1" strike="noStrike">
              <a:solidFill>
                <a:srgbClr val="ffffff"/>
              </a:solidFill>
              <a:latin typeface="Arial"/>
            </a:endParaRPr>
          </a:p>
        </p:txBody>
      </p:sp>
      <p:sp>
        <p:nvSpPr>
          <p:cNvPr id="658" name=""/>
          <p:cNvSpPr txBox="1"/>
          <p:nvPr/>
        </p:nvSpPr>
        <p:spPr>
          <a:xfrm>
            <a:off x="1257480" y="5410080"/>
            <a:ext cx="4724280" cy="838080"/>
          </a:xfrm>
          <a:prstGeom prst="rect">
            <a:avLst/>
          </a:prstGeom>
          <a:noFill/>
          <a:ln w="0">
            <a:noFill/>
          </a:ln>
        </p:spPr>
        <p:txBody>
          <a:bodyPr lIns="0" rIns="0" tIns="0" bIns="0" anchor="t">
            <a:noAutofit/>
          </a:bodyPr>
          <a:p>
            <a:r>
              <a:rPr b="0" lang="en-US" sz="1690" spc="-1" strike="noStrike">
                <a:solidFill>
                  <a:srgbClr val="000000"/>
                </a:solidFill>
                <a:latin typeface="Noto Sans"/>
              </a:rPr>
              <a:t>Geodaten · Unit 11</a:t>
            </a:r>
            <a:endParaRPr b="0" lang="en-US" sz="1690" spc="-1" strike="noStrike">
              <a:solidFill>
                <a:srgbClr val="ffffff"/>
              </a:solidFill>
              <a:latin typeface="Arial"/>
            </a:endParaRPr>
          </a:p>
          <a:p>
            <a:r>
              <a:rPr b="0" lang="en-US" sz="1690" spc="-1" strike="noStrike">
                <a:solidFill>
                  <a:srgbClr val="000000"/>
                </a:solidFill>
                <a:latin typeface="Noto Sans"/>
              </a:rPr>
              <a:t>Fachbereich 19 · Geographie</a:t>
            </a:r>
            <a:endParaRPr b="0" lang="en-US" sz="16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1825</Words>
  <Paragraphs>216</Paragraphs>
  <Company>Universität Marburg</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2025-02-27T00:25:01Z</dcterms:created>
  <dc:creator>GeoMOER</dc:creator>
  <dc:description/>
  <dc:language>en-US</dc:language>
  <cp:lastModifiedBy/>
  <dcterms:modified xsi:type="dcterms:W3CDTF">2026-09-11T16:23:31Z</dcterms:modified>
  <cp:revision>35</cp:revision>
  <dc:subject>Geodaten · Unit 11 · Präsenzlehre</dc:subject>
  <dc:title>Unit 11 – Punktdaten, GBIF und Datenqualität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22</vt:i4>
  </property>
</Properties>
</file>