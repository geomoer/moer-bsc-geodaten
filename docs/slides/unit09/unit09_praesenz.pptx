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svg" ContentType="image/svg"/>
  <Override PartName="/ppt/media/image14.svg" ContentType="image/svg"/>
  <Override PartName="/ppt/media/image1.png" ContentType="image/png"/>
  <Override PartName="/ppt/media/image2.jpeg" ContentType="image/jpeg"/>
  <Override PartName="/ppt/media/image3.png" ContentType="image/png"/>
  <Override PartName="/ppt/media/image4.svg" ContentType="image/svg"/>
  <Override PartName="/ppt/media/image7.png" ContentType="image/png"/>
  <Override PartName="/ppt/media/image11.png" ContentType="image/png"/>
  <Override PartName="/ppt/media/image5.png" ContentType="image/png"/>
  <Override PartName="/ppt/media/image6.svg" ContentType="image/svg"/>
  <Override PartName="/ppt/media/image9.png" ContentType="image/png"/>
  <Override PartName="/ppt/media/image10.svg" ContentType="image/svg"/>
  <Override PartName="/ppt/media/image13.png" ContentType="image/png"/>
  <Override PartName="/ppt/media/image8.svg" ContentType="image/svg"/>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89E2A29-A7F0-48F8-9F77-843BFA2A921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216000" y="812520"/>
            <a:ext cx="7127280" cy="4008960"/>
          </a:xfrm>
          <a:prstGeom prst="rect">
            <a:avLst/>
          </a:prstGeom>
          <a:ln w="0">
            <a:noFill/>
          </a:ln>
        </p:spPr>
      </p:sp>
      <p:sp>
        <p:nvSpPr>
          <p:cNvPr id="58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dem Einstieg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Titelfolie beim Ankommen zeigen. Danach beginnt die Sitzung mit dem JiTT-Block zur vorherigen Sitzung. Die Gestaltung stammt aus der bereitgestellten universitären PowerPoint-Vorlage. Das Foto-/Kartenmotiv links wurde unverändert aus der Titelseite der FB19-Vorlage übernommen. Namen oder Termine werden nicht erfunden.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216000" y="812520"/>
            <a:ext cx="7127280" cy="4008960"/>
          </a:xfrm>
          <a:prstGeom prst="rect">
            <a:avLst/>
          </a:prstGeom>
          <a:ln w="0">
            <a:noFill/>
          </a:ln>
        </p:spPr>
      </p:sp>
      <p:sp>
        <p:nvSpPr>
          <p:cNvPr id="58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Diese gesamte Platzhalterfläche durch die aktuelle JiTT-Auswertung zur vorherigen Sitzung ersetzen. Bei Bedarf die Folie duplizieren und den gesamten Block mit den tatsächlichen Fragen, Antwortverteilungen, Abbildungen und gemeinsamer Klärung befüllen. Es sind bewusst keine Fragen, Ergebnisse, Aufgaben oder feste Untergliederung vorgegeben. Der komplette Block hat im Ablauf etwa zehn Minuten. Nur tatsächliche und zusammengefasste/anonymisierte Rückmeldungen einsetzen. Bei längerer Auswertung die anschließenden kurzen Austauschphasen entsprechend kürzen. Die Zeitplanung steht ausschließlich in den Notizen.</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216000" y="812520"/>
            <a:ext cx="7127280" cy="4008960"/>
          </a:xfrm>
          <a:prstGeom prst="rect">
            <a:avLst/>
          </a:prstGeom>
          <a:ln w="0">
            <a:noFill/>
          </a:ln>
        </p:spPr>
      </p:sp>
      <p:sp>
        <p:nvSpPr>
          <p:cNvPr id="5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10–11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drei Ziele ankündigen: Raumbezug erkennen, Koordinaten prüfen und CRS passend zum Zweck auswählen. Die Sitzung funktioniert ohne vorheriges Lesen. Alle arbeiten zunächst an denselben Grundlagen. Bei Partnerphasen kurz mit der Sitznachbarin oder dem Sitznachbarn sprechen; keine Gruppenumbildung im Hörsaal. Ein GIS wird heute noch nicht benötigt.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assets/images/unit09/hero-unit09.jpg, vorhandene KI-generierte Kursillustration.</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216000" y="812520"/>
            <a:ext cx="7127280" cy="4008960"/>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11–14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216000" y="812520"/>
            <a:ext cx="7127280" cy="4008960"/>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14–16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beiden Tabellen aus der aktuellen Kursseite vergleichen. ID, Datum und Messwert bleiben gleich; erst Koordinaten und CRS ergänzen einen direkt nutzbaren Raumbezug. Messort und Messwert unterscheiden: Raumbezug plus Sachdaten. Auch eine Adresse oder ein eindeutig identifizierbares Gebiet kann einen Raumbezug liefern; Koordinaten sind keine Voraussetzung. Die Werte sind erfundene, didaktische Beispieldaten.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https://geomoer.github.io/moer-bsc-geodaten/unit09/unit09-01_geodaten.html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assets/images/unit09/raumbezug.svg</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216000" y="812520"/>
            <a:ext cx="7127280" cy="4008960"/>
          </a:xfrm>
          <a:prstGeom prst="rect">
            <a:avLst/>
          </a:prstGeom>
          <a:ln w="0">
            <a:noFill/>
          </a:ln>
        </p:spPr>
      </p:sp>
      <p:sp>
        <p:nvSpPr>
          <p:cNvPr id="59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16–18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Punkt, Linie und Fläche als Modelle vorstellen. Dieselbe Stadt kann auf einer Deutschlandkarte ein Punkt und auf einer regionalen Karte eine Fläche sein. Maßstab und Fragestellung bestimmen die Darstellung. Raster nur kurz ergänzen: Auch räumlich verortete Bild- oder Rasterzellen sind Geodaten. Hier noch keine vollständige Vektor-/Raster-Systematik vorwegnehmen.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https://geomoer.github.io/moer-bsc-geodaten/unit09/unit09-01_geodaten.html</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216000" y="812520"/>
            <a:ext cx="7127280" cy="4008960"/>
          </a:xfrm>
          <a:prstGeom prst="rect">
            <a:avLst/>
          </a:prstGeom>
          <a:ln w="0">
            <a:noFill/>
          </a:ln>
        </p:spPr>
      </p:sp>
      <p:sp>
        <p:nvSpPr>
          <p:cNvPr id="59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18–19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20 Sekunden einzeln prüfen, 30 Sekunden zu zweit austauschen, anschließend per Handzeichen A bis C abfragen. Nicht nur Ja/Nein sammeln: Ein Paar begründet die Genauigkeit der Lageangabe. Bei Zeitdruck Austausch verkürzen. Die Lösung kommt erst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https://geomoer.github.io/moer-bsc-geodaten/unit09/unit09-01_geodaten.html</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216000" y="812520"/>
            <a:ext cx="7127280" cy="4008960"/>
          </a:xfrm>
          <a:prstGeom prst="rect">
            <a:avLst/>
          </a:prstGeom>
          <a:ln w="0">
            <a:noFill/>
          </a:ln>
        </p:spPr>
      </p:sp>
      <p:sp>
        <p:nvSpPr>
          <p:cNvPr id="59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19–20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 Raumbezug vorhanden, sofern die Gemeinde eindeutig identifiziert ist. Für die Kartendarstellung muss mit einer passenden Geometrie verknüpft werden. B: Aus diesen Angaben allein ist kein nutzbarer Raumbezug gegeben. C: Raumbezug vorhanden, aber ungenau. Damit die Fehlvorstellung korrigieren, dass nur Daten mit Koordinaten Geodaten seien.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https://geomoer.github.io/moer-bsc-geodaten/unit09/unit09-01_geodaten.html</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216000" y="812520"/>
            <a:ext cx="7127280" cy="4008960"/>
          </a:xfrm>
          <a:prstGeom prst="rect">
            <a:avLst/>
          </a:prstGeom>
          <a:ln w="0">
            <a:noFill/>
          </a:ln>
        </p:spPr>
      </p:sp>
      <p:sp>
        <p:nvSpPr>
          <p:cNvPr id="601"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20–25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Abbildung aus der aktuellen Kursseite gemeinsam lesen. Breitenkreise verlaufen parallel zum Äquator; Meridiane verbinden die Pole. Latitude beschreibt den Winkel nördlich/südlich des Äquators, Longitude östlich/westlich des Nullmeridians. Am Ellipsoid bezieht sich die geodätische Breite auf die Ellipsoidnormale; diese Vertiefung ist heute nicht nötig. N und E positiv, S und W negativ. Wertebereiche gemeinsam lesen. Die zentralen Referenzlinien sind zusätzlich beschriftet, nicht nur farbig markiert.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216000" y="812520"/>
            <a:ext cx="7127280" cy="4008960"/>
          </a:xfrm>
          <a:prstGeom prst="rect">
            <a:avLst/>
          </a:prstGeom>
          <a:ln w="0">
            <a:noFill/>
          </a:ln>
        </p:spPr>
      </p:sp>
      <p:sp>
        <p:nvSpPr>
          <p:cNvPr id="603"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25–30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Position ist ungefähr und dient als Ortsbeispiel. Beide Zeilen sind bei eindeutiger Beschriftung korrekt. Kurskonvention für Tabellen und spätere GIS-Importe: longitude, latitude beziehungsweise x, y. Nicht als universelle EPSG-Achsenreihenfolge darstellen: Die EPSG-Definition von 4326 nennt Breite vor Länge; Schnittstellen können andere Erwartungen haben. Deshalb Spaltennamen UND Metadaten UND erwartete Reihenfolge prüfen. EPSG-Codes werden später erklärt.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https://proj.org/en/stable/faq.html</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216000" y="812520"/>
            <a:ext cx="7127280" cy="4008960"/>
          </a:xfrm>
          <a:prstGeom prst="rect">
            <a:avLst/>
          </a:prstGeom>
          <a:ln w="0">
            <a:noFill/>
          </a:ln>
        </p:spPr>
      </p:sp>
      <p:sp>
        <p:nvSpPr>
          <p:cNvPr id="605"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30–35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aktuelle Kursabbildung zeigt beide Paare im selben WGS-84-Gradgitter. A liegt bei Marburg, B weit entfernt. Beide Wertepaare liegen innerhalb der global erlaubten Bereiche. Deshalb reicht eine reine Wertebereichsprüfung nicht: Spaltennamen, Achsenreihenfolge, erwartete Region und Metadaten gemeinsam prüfen. Die Kurskonvention lautet longitude, latitude beziehungsweise x, y. Sie ist keine universelle Achsenregel für alle Standards und Schnittstellen.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assets/images/unit09/achsenreihenfolge.svg</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216000" y="812520"/>
            <a:ext cx="7127280" cy="4008960"/>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35–41 (6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216000" y="812520"/>
            <a:ext cx="7127280" cy="4008960"/>
          </a:xfrm>
          <a:prstGeom prst="rect">
            <a:avLst/>
          </a:prstGeom>
          <a:ln w="0">
            <a:noFill/>
          </a:ln>
        </p:spPr>
      </p:sp>
      <p:sp>
        <p:nvSpPr>
          <p:cNvPr id="609" name="PlaceHolder 2"/>
          <p:cNvSpPr>
            <a:spLocks noGrp="1"/>
          </p:cNvSpPr>
          <p:nvPr>
            <p:ph type="body"/>
          </p:nvPr>
        </p:nvSpPr>
        <p:spPr>
          <a:xfrm>
            <a:off x="756000" y="5078520"/>
            <a:ext cx="6047640" cy="51001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41–45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1: Für Deutschland plausibel, aber keine Bestätigung der konkreten Position. 2: Beide Werte global zulässig, unter der Kursreihenfolge aber nicht in Deutschland; möglicherweise vertauscht. Korrektur nur nach Quellenprüfung. 3: longitude 188.40 liegt außerhalb des erlaubten Bereichs. 4: latitude −50.81 liegt auf der Südhalbkugel. 5: (0, 0) ist eine gültige Position im Golf von Guinea, aber unplausibel für Deutschland und möglicherweise ein fehlender Wert. Nicht ungeprüft löschen. Jede Änderung mit Befund, Quelle und Entscheidung dokumentieren.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216000" y="812520"/>
            <a:ext cx="7127280" cy="4008960"/>
          </a:xfrm>
          <a:prstGeom prst="rect">
            <a:avLst/>
          </a:prstGeom>
          <a:ln w="0">
            <a:noFill/>
          </a:ln>
        </p:spPr>
      </p:sp>
      <p:sp>
        <p:nvSpPr>
          <p:cNvPr id="611" name="PlaceHolder 2"/>
          <p:cNvSpPr>
            <a:spLocks noGrp="1"/>
          </p:cNvSpPr>
          <p:nvPr>
            <p:ph type="body"/>
          </p:nvPr>
        </p:nvSpPr>
        <p:spPr>
          <a:xfrm>
            <a:off x="756000" y="5078520"/>
            <a:ext cx="6047640" cy="6800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45–48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CRS steht für Coordinate Reference System beziehungsweise Koordinatenreferenzsystem. Es verknüpft Zahlen mit Positionen auf der Erde. Das CRS umfasst ein Erdmodell und Bezug dazu, Achsen und Einheiten sowie bei projizierten Systemen eine Kartenprojektion. Erst Metadaten erlauben die richtige Interpretation. Die UTM-Werte wurden mit PROJ für 50.81 N, 8.77 E nach EPSG:25832 berechnet und hier auf 100 m gerundet. Es handelt sich um einen ungefähr gewählten Beispielpunkt, nicht um die Vermessung eines bestimmten Gebäudes. Die beiden Angaben repräsentieren innerhalb ihrer Rundung denselben Ort.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https://proj.org/en/stable/usage/quickstart.html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assets/images/unit09/crs-vergleich.svg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Lokale Prüfung: cs2cs EPSG:4326 EPSG:25832 → 483795, 5628722 m.</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216000" y="812520"/>
            <a:ext cx="7127280" cy="4008960"/>
          </a:xfrm>
          <a:prstGeom prst="rect">
            <a:avLst/>
          </a:prstGeom>
          <a:ln w="0">
            <a:noFill/>
          </a:ln>
        </p:spPr>
      </p:sp>
      <p:sp>
        <p:nvSpPr>
          <p:cNvPr id="61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48–50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Geographische Koordinaten sind Winkel. Ein Grad Länge entspricht je nach Breite einer anderen Entfernung. Projizierte Koordinaten liegen in einer Ebene, häufig mit der Einheit Meter. Sie sind nicht allein wegen der Einheit für jede Messung geeignet. Das Gebiet und der Messzweck bleiben entscheidend. Präzise geodätische Berechnungen sind auch aus geographischen Koordinaten möglich; heute geht es um die grundlegende Unterscheidung.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216000" y="812520"/>
            <a:ext cx="7127280" cy="4008960"/>
          </a:xfrm>
          <a:prstGeom prst="rect">
            <a:avLst/>
          </a:prstGeom>
          <a:ln w="0">
            <a:noFill/>
          </a:ln>
        </p:spPr>
      </p:sp>
      <p:sp>
        <p:nvSpPr>
          <p:cNvPr id="61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50–53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Frage: Wie lässt sich eine Orangenschale flach auslegen? Antworten wie einschneiden, dehnen oder stauchen aufnehmen. Die Analogie erklärt, dass die Abbildung einer gekrümmten Oberfläche auf eine Ebene Kompromisse verlangt. Nicht suggerieren, jede Kartenprojektion sei eine perspektivische Lichtprojektion. Eine Projektion ist hier eine mathematische Abbildung. Fläche, lokale Winkel/Form, Entfernung und Richtung können nicht gleichzeitig überall unverzerrt bleiben.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216000" y="812520"/>
            <a:ext cx="7127280" cy="4008960"/>
          </a:xfrm>
          <a:prstGeom prst="rect">
            <a:avLst/>
          </a:prstGeom>
          <a:ln w="0">
            <a:noFill/>
          </a:ln>
        </p:spPr>
      </p:sp>
      <p:sp>
        <p:nvSpPr>
          <p:cNvPr id="617" name="PlaceHolder 2"/>
          <p:cNvSpPr>
            <a:spLocks noGrp="1"/>
          </p:cNvSpPr>
          <p:nvPr>
            <p:ph type="body"/>
          </p:nvPr>
        </p:nvSpPr>
        <p:spPr>
          <a:xfrm>
            <a:off x="756000" y="5078520"/>
            <a:ext cx="6047640" cy="595008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53–56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aktuelle Kursabbildung zeigt dieselben geodätischen Referenzflächen mit 1000 Kilometern Radius am Äquator und bei 70° Nord. Links World Mercator (EPSG:3395), rechts Equal Earth (EPSG:8857). World Mercator vergrößert die polnahe Fläche stark; Equal Earth erhält die Flächenverhältnisse und verändert die Formen. Zuerst beobachten lassen: Was passiert mit Fläche und Form? Keine Längen aus der Abbildung ablesen und keine Projektionsformeln einführen. Die Umrisse wurden auf WGS 84 berechnet und anschließend in beide CRS transformiert.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https://proj.org/en/stable/operations/projections/merc.html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assets/images/unit09/projektionsvergleich.svg</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216000" y="812520"/>
            <a:ext cx="7127280" cy="4008960"/>
          </a:xfrm>
          <a:prstGeom prst="rect">
            <a:avLst/>
          </a:prstGeom>
          <a:ln w="0">
            <a:noFill/>
          </a:ln>
        </p:spPr>
      </p:sp>
      <p:sp>
        <p:nvSpPr>
          <p:cNvPr id="61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56–58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30 Sekunden Entscheidung, 60 Sekunden Austausch mit Nachbarperson, anschließend A/B/C per Handzeichen abfragen. Optionen nacheinander abfragen; es wird keine Abstimmungssoftware benötigt. Eine Begründung für B und bei Bedarf für C hören. Bei längerer JiTT-Phase den Austausch verkürzen. Die Auflösung folgt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216000" y="812520"/>
            <a:ext cx="7127280" cy="4008960"/>
          </a:xfrm>
          <a:prstGeom prst="rect">
            <a:avLst/>
          </a:prstGeom>
          <a:ln w="0">
            <a:noFill/>
          </a:ln>
        </p:spPr>
      </p:sp>
      <p:sp>
        <p:nvSpPr>
          <p:cNvPr id="621"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58–60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 ist für diesen Zweck richtig. Flächentreue erhält die Flächenverhältnisse; das bedeutet nicht, dass Entfernungen und Formen ebenfalls erhalten bleiben. Auf den Diagrammvergleich zurückverweisen. Bei Bedarf einen Schritt zurückgehen. Die Idee auf andere Fragen übertragen: Lokale Winkel können wichtig sein; für regionale Entfernungsmessungen muss die Projektion zum Gebiet passen. Die vier Eigenschaften nicht als gleichzeitig erfüllbare Wunschliste darstellen.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216000" y="812520"/>
            <a:ext cx="7127280" cy="4008960"/>
          </a:xfrm>
          <a:prstGeom prst="rect">
            <a:avLst/>
          </a:prstGeom>
          <a:ln w="0">
            <a:noFill/>
          </a:ln>
        </p:spPr>
      </p:sp>
      <p:sp>
        <p:nvSpPr>
          <p:cNvPr id="623" name="PlaceHolder 2"/>
          <p:cNvSpPr>
            <a:spLocks noGrp="1"/>
          </p:cNvSpPr>
          <p:nvPr>
            <p:ph type="body"/>
          </p:nvPr>
        </p:nvSpPr>
        <p:spPr>
          <a:xfrm>
            <a:off x="756000" y="5078520"/>
            <a:ext cx="6047640" cy="6800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60–65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EPSG-Codes als eindeutige Kennungen erklären, nicht auswendig abfragen. In den drei vereinfachten Szenarien unterscheiden wir Speicherung weltweiter Winkelkoordinaten, regionale Analyse und Webkartendarstellung. 4326 ist geographisch, 25832 und 3857 sind projiziert. Auch bei 3857 steht Meter als Einheit, dennoch ist es nicht für präzise regionale Flächen-/Streckenmessung auszuwählen. Die sichtbare Webkarte kann in 3857 vorliegen, während Positionsangaben in WGS 84 ausgegeben werden. EPSG-Code und Achsenreihenfolge deshalb getrennt prüfen.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https://proj.org/en/stable/usage/quickstart.html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https://proj.org/en/stable/operations/projections/webmerc.html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Lokale Definitionen geprüft mit projinfo EPSG:4326, EPSG:25832 und EPSG:3857.</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216000" y="812520"/>
            <a:ext cx="7127280" cy="4008960"/>
          </a:xfrm>
          <a:prstGeom prst="rect">
            <a:avLst/>
          </a:prstGeom>
          <a:ln w="0">
            <a:noFill/>
          </a:ln>
        </p:spPr>
      </p:sp>
      <p:sp>
        <p:nvSpPr>
          <p:cNvPr id="625" name="PlaceHolder 2"/>
          <p:cNvSpPr>
            <a:spLocks noGrp="1"/>
          </p:cNvSpPr>
          <p:nvPr>
            <p:ph type="body"/>
          </p:nvPr>
        </p:nvSpPr>
        <p:spPr>
          <a:xfrm>
            <a:off x="756000" y="5078520"/>
            <a:ext cx="6047640" cy="566676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65–68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UTM nutzt im Regelfall 6° breite Zonen; für Marburg gilt Zone 32 auf der Nordhalbkugel. Die schematische Grafik zeigt nur Längengradintervalle, keine Landkarte. Zone 32 reicht hier von 6° bis 12° Ost, mit Mittelmeridian 9°. Marburg liegt bei ungefähr 8,77° Ost. Das N in 32N meint in dieser CRS-Bezeichnung Nordhalbkugel, nicht das MGRS-Breitenband. UTM allein reicht nicht aus: Zone, Halbkugel und geodätisches Referenzsystem gehören dazu. Im Kurs nutzen wir dafür ETRS89 / UTM Zone 32N. Auch UTM ist nicht überall exakt; für regionale Kursanalysen ist die Verzerrung im passenden Gebiet gering.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Lokale CRS-Definition: projinfo EPSG:25832.</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216000" y="812520"/>
            <a:ext cx="7127280" cy="4008960"/>
          </a:xfrm>
          <a:prstGeom prst="rect">
            <a:avLst/>
          </a:prstGeom>
          <a:ln w="0">
            <a:noFill/>
          </a:ln>
        </p:spPr>
      </p:sp>
      <p:sp>
        <p:nvSpPr>
          <p:cNvPr id="62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68–72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drei Codes der vorherigen Folien dürfen nachgeschlagen werden. 45 Sekunden allein, 90 Sekunden zu zweit, anschließend drei kurze Begründungen sammeln. Auf Einheit, Gebiet und Zweck achten. Keine detailgenauen Vermessungsfragen oder Sonderfälle voraussetzen. Erwartete Antworten auf nächster Folie: 4326, 25832, 3857. Die Aufgaben festigen die CRS-Auswahl in der Sitzung.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216000" y="812520"/>
            <a:ext cx="7127280" cy="4008960"/>
          </a:xfrm>
          <a:prstGeom prst="rect">
            <a:avLst/>
          </a:prstGeom>
          <a:ln w="0">
            <a:noFill/>
          </a:ln>
        </p:spPr>
      </p:sp>
      <p:sp>
        <p:nvSpPr>
          <p:cNvPr id="629"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72–75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Jede Auswahl begründen lassen, nicht nur den Code nennen. A: weltweite Winkelkoordinaten, 4326. B: regionale Analyse bei Marburg in Metern, 25832. C: gemeinsame Darstellung mit den in der Aufgabe gemeinten Webkartenkacheln, 3857. Das CRS der ursprünglichen Fachdaten muss dafür nicht ebenfalls 3857 sein; die Darstellung kann sie transformieren. Bei realen Datensätzen das Ausgangs-CRS aus verlässlichen Metadaten übernehmen. Nicht anhand der Wunschaufgabe ein Ausgangs-CRS erfinden.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216000" y="812520"/>
            <a:ext cx="7127280" cy="4008960"/>
          </a:xfrm>
          <a:prstGeom prst="rect">
            <a:avLst/>
          </a:prstGeom>
          <a:ln w="0">
            <a:noFill/>
          </a:ln>
        </p:spPr>
      </p:sp>
      <p:sp>
        <p:nvSpPr>
          <p:cNvPr id="631" name="PlaceHolder 2"/>
          <p:cNvSpPr>
            <a:spLocks noGrp="1"/>
          </p:cNvSpPr>
          <p:nvPr>
            <p:ph type="body"/>
          </p:nvPr>
        </p:nvSpPr>
        <p:spPr>
          <a:xfrm>
            <a:off x="756000" y="5078520"/>
            <a:ext cx="6047640" cy="6800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75–79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Zuweisen teilt der Software mit, wie die bereits vorhandenen Zahlen interpretiert werden sollen. Das ist zum Ergänzen oder Korrigieren einer bekannten CRS-Angabe da. Die Zahlen bleiben gleich, die Interpretation ändert sich. Transformieren rechnet zwischen bekanntem Ausgangs- und Ziel-CRS um. Der reale Ort bleibt innerhalb der Transformationsgenauigkeit derselbe. Die Position muss nicht neu vermessen werden. Fehlerhaft zugewiesene Ausgangssysteme führen auch bei anschließender Transformation zu falschen Ergebnissen. Die Beispiele mündlich auf Grad versus Meter beziehen, ohne einen QGIS-Dialog einzuführen. Die Abbildung aus der Kursseite zeigt zusätzlich den Fehler, Gradwerte nur als Meter zu etikettieren.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assets/images/unit09/zuweisen-transformieren.svg</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216000" y="812520"/>
            <a:ext cx="7127280" cy="4008960"/>
          </a:xfrm>
          <a:prstGeom prst="rect">
            <a:avLst/>
          </a:prstGeom>
          <a:ln w="0">
            <a:noFill/>
          </a:ln>
        </p:spPr>
      </p:sp>
      <p:sp>
        <p:nvSpPr>
          <p:cNvPr id="63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79–82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Das Beispiel vollständig vorlesen. 30 Sekunden einzeln entscheiden, danach A/B/C per Handzeichen. Wenn die Gruppe uneinig ist: 45 Sekunden Nachbarschaftsgespräch und erneut abstimmen. Eine Begründung hören, dann auflösen. Hier sind die Quellmetadaten ausdrücklich bekannt; es geht nicht um Raten.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216000" y="812520"/>
            <a:ext cx="7127280" cy="4008960"/>
          </a:xfrm>
          <a:prstGeom prst="rect">
            <a:avLst/>
          </a:prstGeom>
          <a:ln w="0">
            <a:noFill/>
          </a:ln>
        </p:spPr>
      </p:sp>
      <p:sp>
        <p:nvSpPr>
          <p:cNvPr id="63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82–85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 ist richtig. Das Ausgangs-CRS ist durch die Quelle bekannt. 4326 zuweisen ändert die Werte nicht; danach können die Daten nach 25832 transformiert werden. Direktes Zuweisen von 25832 würde die Gradwerte als Meter interpretieren. Das ist keine Umrechnung. Ohne verlässliche Quelle wäre der nächste Schritt Recherche nach dem Ausgangs-CRS, nicht eine Vermutung als Tatsache einzutragen.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https://geomoer.github.io/moer-bsc-geodaten/unit09/unit09-03_projektionen.html</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216000" y="812520"/>
            <a:ext cx="7127280" cy="4008960"/>
          </a:xfrm>
          <a:prstGeom prst="rect">
            <a:avLst/>
          </a:prstGeom>
          <a:ln w="0">
            <a:noFill/>
          </a:ln>
        </p:spPr>
      </p:sp>
      <p:sp>
        <p:nvSpPr>
          <p:cNvPr id="637" name="PlaceHolder 2"/>
          <p:cNvSpPr>
            <a:spLocks noGrp="1"/>
          </p:cNvSpPr>
          <p:nvPr>
            <p:ph type="body"/>
          </p:nvPr>
        </p:nvSpPr>
        <p:spPr>
          <a:xfrm>
            <a:off x="756000" y="5078520"/>
            <a:ext cx="6047640" cy="53834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85–88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Eine der drei Fragen passend zum Sitzungsverlauf auswählen. Eine Minute zu zweit formulieren lassen und anschließend eine gemeinsame Antwort sichern; nicht alle drei Fragen als zusätzliche Pflichtaufgabe behandeln. Erwartet je nach Auswahl: 1. Achsen/Reihenfolge, Einheit und CRS. 2. Beispielsweise EPSG:25832, passende regionale Zone und Meter; keine exakte Verzerrungsfreiheit behaupten. 3. Die Koordinatenwerte werden umgerechnet, der reale Ort bleibt derselbe. Bei einer größeren Unsicherheit diese als Frage für die nächste Sitzung notieren. Keine Abgabeplattform voraussetzen.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https://geomoer.github.io/moer-bsc-geodaten/unit09/unit09-00_overview.html</a:t>
            </a:r>
            <a:endParaRPr b="0" lang="en-US" sz="20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Img"/>
          </p:nvPr>
        </p:nvSpPr>
        <p:spPr>
          <a:xfrm>
            <a:off x="216000" y="812520"/>
            <a:ext cx="7127280" cy="4008960"/>
          </a:xfrm>
          <a:prstGeom prst="rect">
            <a:avLst/>
          </a:prstGeom>
          <a:ln w="0">
            <a:noFill/>
          </a:ln>
        </p:spPr>
      </p:sp>
      <p:sp>
        <p:nvSpPr>
          <p:cNvPr id="639" name="PlaceHolder 2"/>
          <p:cNvSpPr>
            <a:spLocks noGrp="1"/>
          </p:cNvSpPr>
          <p:nvPr>
            <p:ph type="body"/>
          </p:nvPr>
        </p:nvSpPr>
        <p:spPr>
          <a:xfrm>
            <a:off x="756000" y="5078520"/>
            <a:ext cx="6047640" cy="53834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88–90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Als einzige Übungsaufgabe die JiTT-Fragen zu Unit 09 im ILIAS-Kurs beantworten lassen. Die Fragen und die Bearbeitungsfrist stehen in ILIAS; der konkrete Link ist auf der Kursseite noch zu ergänzen. Die Antworten dienen der Nachbereitung und zeigen Verständnisfragen für den Einstieg in die nächste Sitzung. Studierende können das Onlinematerial zur Vorbereitung auf den nächsten Termin nutzen; dies ist nach Absprache keine Voraussetzung für die Teilnahme. Unit 10 führt in QGIS ein. Danach zur letzten Folie mit dem Dank wechseln. Die beiden dazwischenliegenden Folien sind Reserve und Quellen.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https://geomoer.github.io/moer-bsc-geodaten/unit09/unit09-04_assignment.html</a:t>
            </a:r>
            <a:endParaRPr b="0" lang="en-US" sz="20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216000" y="812520"/>
            <a:ext cx="7127280" cy="4008960"/>
          </a:xfrm>
          <a:prstGeom prst="rect">
            <a:avLst/>
          </a:prstGeom>
          <a:ln w="0">
            <a:noFill/>
          </a:ln>
        </p:spPr>
      </p:sp>
      <p:sp>
        <p:nvSpPr>
          <p:cNvPr id="64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anstelle einer anderen kurzen Übung einsetzen oder als Nachschlagefolie anbieten. Für positive Gradangaben: Grad + Minuten/60 + Sekunden/3600. Für Süd oder West den gesamten Betrag negativ setzen. Beispielaufgabe: 8° 46′ 12″ E = 8 + 46/60 + 12/3600 = 8,77° E. Für 8° 46′ 12″ W wäre das Ergebnis −8,77°. Keine Rechenpflicht als zusätzliche Übungsaufgabe einführen.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https://geomoer.github.io/moer-bsc-geodaten/unit09/unit09-02_koordinaten.html</a:t>
            </a:r>
            <a:endParaRPr b="0" lang="en-US" sz="20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216000" y="812520"/>
            <a:ext cx="7127280" cy="4008960"/>
          </a:xfrm>
          <a:prstGeom prst="rect">
            <a:avLst/>
          </a:prstGeom>
          <a:ln w="0">
            <a:noFill/>
          </a:ln>
        </p:spPr>
      </p:sp>
      <p:sp>
        <p:nvSpPr>
          <p:cNvPr id="643" name="PlaceHolder 2"/>
          <p:cNvSpPr>
            <a:spLocks noGrp="1"/>
          </p:cNvSpPr>
          <p:nvPr>
            <p:ph type="body"/>
          </p:nvPr>
        </p:nvSpPr>
        <p:spPr>
          <a:xfrm>
            <a:off x="756000" y="5078520"/>
            <a:ext cx="6047640" cy="9349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Fachliche Grundlage sind die fünf aktuellen Markdown-Seiten von Unit 09. Diagramme wurden als bearbeitbare Vektorformen eigens für diese Präsentation erstellt. Der Projektionsvergleich verwendet mathematisch projizierte gleich große Kugelkalotten, keine realen Länderflächen. Die Kursillustration auf der Orientierungsfolie stammt aus dem vorhandenen KI-generierten Kursasset. Layout und Master: präs_ms02_powerpoint_de.pptx; Foto-/Kartenmotiv auf Titel und Abschluss: fb19-praesentationsvorlage_16-9-format.pot. Externe PROJ-Dokumentation zur Prüfung von Achsenreihenfolge und Projektionen abgerufen am 07.09.2026. CRS-Definitionen zusätzlich mit lokalem projinfo geprüft. Die Folien enthalten weder externe Live-Demos noch verpflichtende Softwareinstallationen.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https://proj.org/en/stable/faq.html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https://proj.org/en/stable/usage/quickstart.html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https://proj.org/en/stable/operations/projections/merc.html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https://proj.org/en/stable/operations/projections/cea.html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https://proj.org/en/stable/operations/projections/webmerc.html</a:t>
            </a:r>
            <a:endParaRPr b="0" lang="en-US" sz="20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Img"/>
          </p:nvPr>
        </p:nvSpPr>
        <p:spPr>
          <a:xfrm>
            <a:off x="216000" y="812520"/>
            <a:ext cx="7127280" cy="4008960"/>
          </a:xfrm>
          <a:prstGeom prst="rect">
            <a:avLst/>
          </a:prstGeom>
          <a:ln w="0">
            <a:noFill/>
          </a:ln>
        </p:spPr>
      </p:sp>
      <p:sp>
        <p:nvSpPr>
          <p:cNvPr id="64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Abschluss nach der Nachbereitung;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Der Wortlaut entspricht der gewünschten Abschlussformulierung. Die Abschlussgestaltung nutzt den Kontakt-Master der universitären Vorlage sowie das originale Foto-/Kartenmotiv aus der FB19-Titelseite.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7F20C58-5C4A-4FCC-A1B3-E1F2413CFF0E}"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9A6525B7-ADDB-4AC2-B105-34253458606F}"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9F6628F-8524-4617-A517-F25B42638D90}"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6BDA5EA0-2386-4905-BC7F-8893D7FF21A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765C5698-3D77-4D0E-A0EC-B5793A2EE325}"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39E193AF-2C29-4188-A323-6B7B52730856}"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CB5B9F8C-A515-4C9F-AE0C-17C935012D59}"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52E13700-B3EF-4947-ABE3-B9352D8935A2}"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CC1E500F-B662-4EDB-9518-035ADDDB70BC}"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4D1F3639-3971-4FB5-AF00-5BF5D08DE190}"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AFC883BD-DF14-4E65-BDA8-68B9B93F2705}"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00E6CB69-A72E-4690-A1D8-8AB72668AF72}"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872891D2-BD65-4372-987B-151D650C070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6C685909-2503-4451-8A79-C2FEC948CAC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AEC63D1B-A579-42A8-877C-EC38990A3176}"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1EEBA9D6-1F78-4363-B979-DBDD15336367}"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693C838-3106-4E54-9BD9-4A6BE4CC673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81FBA132-410B-4AAF-87AE-60FE0F05D65E}"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30235BF-F4D5-4CDE-9DD3-E70100AE199D}"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B7DE620-9FCC-4A71-9A4E-9647673826D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0D8F281C-2887-4885-AD01-44AC1EFD274C}"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787338BA-7D0D-4F30-BB71-E71319401A09}"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0269E20-60A1-42E3-B1D3-C0650B1BA53E}"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73897254-FB5A-412F-A37C-DF97EF834B8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4BEA2C62-69E7-47EA-A073-3E7AA4FA03C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6.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6.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16.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16.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6.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slideLayout" Target="../slideLayouts/slideLayout16.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hyperlink" Target="https://geomoer.github.io/moer-bsc-geodaten/unit09/unit09-04_assignment.html" TargetMode="External"/><Relationship Id="rId2" Type="http://schemas.openxmlformats.org/officeDocument/2006/relationships/slideLayout" Target="../slideLayouts/slideLayout16.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hyperlink" Target="https://geomoer.github.io/moer-bsc-geodaten/unit09/unit09-00_overview.html" TargetMode="External"/><Relationship Id="rId2" Type="http://schemas.openxmlformats.org/officeDocument/2006/relationships/hyperlink" Target="https://proj.org/en/stable/faq.html" TargetMode="External"/><Relationship Id="rId3" Type="http://schemas.openxmlformats.org/officeDocument/2006/relationships/hyperlink" Target="https://proj.org/en/stable/usage/quickstart.html" TargetMode="External"/><Relationship Id="rId4" Type="http://schemas.openxmlformats.org/officeDocument/2006/relationships/hyperlink" Target="https://proj.org/en/stable/operations/projections/merc.html" TargetMode="External"/><Relationship Id="rId5" Type="http://schemas.openxmlformats.org/officeDocument/2006/relationships/hyperlink" Target="https://proj.org/en/stable/operations/projections/cea.html" TargetMode="External"/><Relationship Id="rId6" Type="http://schemas.openxmlformats.org/officeDocument/2006/relationships/hyperlink" Target="https://proj.org/en/stable/operations/projections/webmerc.html" TargetMode="External"/><Relationship Id="rId7" Type="http://schemas.openxmlformats.org/officeDocument/2006/relationships/slideLayout" Target="../slideLayouts/slideLayout16.xml"/><Relationship Id="rId8"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3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171880"/>
            <a:ext cx="6477120" cy="2286000"/>
          </a:xfrm>
          <a:prstGeom prst="rect">
            <a:avLst/>
          </a:prstGeom>
          <a:noFill/>
          <a:ln w="0">
            <a:noFill/>
          </a:ln>
        </p:spPr>
        <p:txBody>
          <a:bodyPr lIns="0" rIns="0" tIns="0" bIns="0" anchor="t">
            <a:noAutofit/>
          </a:bodyPr>
          <a:p>
            <a:r>
              <a:rPr b="0" lang="en-US" sz="4140" spc="-1" strike="noStrike">
                <a:solidFill>
                  <a:srgbClr val="ffffff"/>
                </a:solidFill>
                <a:latin typeface="Noto Sans"/>
              </a:rPr>
              <a:t>Geodaten,</a:t>
            </a:r>
            <a:endParaRPr b="0" lang="en-US" sz="4140" spc="-1" strike="noStrike">
              <a:solidFill>
                <a:srgbClr val="ffffff"/>
              </a:solidFill>
              <a:latin typeface="Arial"/>
            </a:endParaRPr>
          </a:p>
          <a:p>
            <a:r>
              <a:rPr b="0" lang="en-US" sz="4140" spc="-1" strike="noStrike">
                <a:solidFill>
                  <a:srgbClr val="ffffff"/>
                </a:solidFill>
                <a:latin typeface="Noto Sans"/>
              </a:rPr>
              <a:t>Koordinaten und</a:t>
            </a:r>
            <a:endParaRPr b="0" lang="en-US" sz="4140" spc="-1" strike="noStrike">
              <a:solidFill>
                <a:srgbClr val="ffffff"/>
              </a:solidFill>
              <a:latin typeface="Arial"/>
            </a:endParaRPr>
          </a:p>
          <a:p>
            <a:r>
              <a:rPr b="0" lang="en-US" sz="4140" spc="-1" strike="noStrike">
                <a:solidFill>
                  <a:srgbClr val="ffffff"/>
                </a:solidFill>
                <a:latin typeface="Noto Sans"/>
              </a:rPr>
              <a:t>Projektionen</a:t>
            </a:r>
            <a:endParaRPr b="0" lang="en-US" sz="41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09</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 Rückblick auf die letzte Sitzung</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3276720"/>
            <a:ext cx="9448920" cy="990720"/>
          </a:xfrm>
          <a:prstGeom prst="rect">
            <a:avLst/>
          </a:prstGeom>
          <a:noFill/>
          <a:ln w="0">
            <a:noFill/>
          </a:ln>
        </p:spPr>
        <p:txBody>
          <a:bodyPr lIns="0" rIns="0" tIns="0" bIns="0" anchor="t">
            <a:noAutofit/>
          </a:bodyPr>
          <a:p>
            <a:pPr algn="ctr"/>
            <a:r>
              <a:rPr b="0" lang="en-US" sz="3570" spc="-1" strike="noStrike">
                <a:solidFill>
                  <a:srgbClr val="004899"/>
                </a:solidFill>
                <a:latin typeface="Noto Sans"/>
              </a:rPr>
              <a:t>[Hier den vollständigen</a:t>
            </a:r>
            <a:endParaRPr b="0" lang="en-US" sz="3570" spc="-1" strike="noStrike">
              <a:solidFill>
                <a:srgbClr val="000000"/>
              </a:solidFill>
              <a:latin typeface="Arial"/>
            </a:endParaRPr>
          </a:p>
          <a:p>
            <a:pPr algn="ctr"/>
            <a:r>
              <a:rPr b="0" lang="en-US" sz="3570" spc="-1" strike="noStrike">
                <a:solidFill>
                  <a:srgbClr val="004899"/>
                </a:solidFill>
                <a:latin typeface="Noto Sans"/>
              </a:rPr>
              <a:t>JiTT-Block einfügen]</a:t>
            </a:r>
            <a:endParaRPr b="0" lang="en-US" sz="35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Geodaten, Koordinaten und Projektionen</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UNIT 09 · ORIENTIERUNG</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pic>
        <p:nvPicPr>
          <p:cNvPr id="105" name="" descr=""/>
          <p:cNvPicPr/>
          <p:nvPr/>
        </p:nvPicPr>
        <p:blipFill>
          <a:blip r:embed="rId1"/>
          <a:stretch/>
        </p:blipFill>
        <p:spPr>
          <a:xfrm>
            <a:off x="647640" y="1638360"/>
            <a:ext cx="10896840" cy="1816200"/>
          </a:xfrm>
          <a:prstGeom prst="rect">
            <a:avLst/>
          </a:prstGeom>
          <a:ln w="0">
            <a:noFill/>
          </a:ln>
        </p:spPr>
      </p:pic>
      <p:sp>
        <p:nvSpPr>
          <p:cNvPr id="106" name=""/>
          <p:cNvSpPr txBox="1"/>
          <p:nvPr/>
        </p:nvSpPr>
        <p:spPr>
          <a:xfrm>
            <a:off x="647640" y="3551040"/>
            <a:ext cx="10896840" cy="190440"/>
          </a:xfrm>
          <a:prstGeom prst="rect">
            <a:avLst/>
          </a:prstGeom>
          <a:noFill/>
          <a:ln w="0">
            <a:noFill/>
          </a:ln>
        </p:spPr>
        <p:txBody>
          <a:bodyPr lIns="0" rIns="0" tIns="0" bIns="0" anchor="t">
            <a:noAutofit/>
          </a:bodyPr>
          <a:p>
            <a:r>
              <a:rPr b="0" lang="en-US" sz="939" spc="-1" strike="noStrike">
                <a:solidFill>
                  <a:srgbClr val="414141"/>
                </a:solidFill>
                <a:latin typeface="Noto Sans"/>
              </a:rPr>
              <a:t>Vorhandene KI-generierte Kursillustration</a:t>
            </a:r>
            <a:endParaRPr b="0" lang="en-US" sz="939" spc="-1" strike="noStrike">
              <a:solidFill>
                <a:srgbClr val="000000"/>
              </a:solidFill>
              <a:latin typeface="Arial"/>
            </a:endParaRPr>
          </a:p>
        </p:txBody>
      </p:sp>
      <p:sp>
        <p:nvSpPr>
          <p:cNvPr id="107" name=""/>
          <p:cNvSpPr txBox="1"/>
          <p:nvPr/>
        </p:nvSpPr>
        <p:spPr>
          <a:xfrm>
            <a:off x="647640" y="4038480"/>
            <a:ext cx="3276720" cy="495360"/>
          </a:xfrm>
          <a:prstGeom prst="rect">
            <a:avLst/>
          </a:prstGeom>
          <a:noFill/>
          <a:ln w="0">
            <a:noFill/>
          </a:ln>
        </p:spPr>
        <p:txBody>
          <a:bodyPr lIns="0" rIns="0" tIns="0" bIns="0" anchor="t">
            <a:noAutofit/>
          </a:bodyPr>
          <a:p>
            <a:r>
              <a:rPr b="1" lang="en-US" sz="3100" spc="-1" strike="noStrike">
                <a:solidFill>
                  <a:srgbClr val="004899"/>
                </a:solidFill>
                <a:latin typeface="Noto Sans"/>
              </a:rPr>
              <a:t>01</a:t>
            </a:r>
            <a:endParaRPr b="0" lang="en-US" sz="3100" spc="-1" strike="noStrike">
              <a:solidFill>
                <a:srgbClr val="000000"/>
              </a:solidFill>
              <a:latin typeface="Arial"/>
            </a:endParaRPr>
          </a:p>
        </p:txBody>
      </p:sp>
      <p:sp>
        <p:nvSpPr>
          <p:cNvPr id="108" name=""/>
          <p:cNvSpPr txBox="1"/>
          <p:nvPr/>
        </p:nvSpPr>
        <p:spPr>
          <a:xfrm>
            <a:off x="647640" y="4625280"/>
            <a:ext cx="3314880" cy="723960"/>
          </a:xfrm>
          <a:prstGeom prst="rect">
            <a:avLst/>
          </a:prstGeom>
          <a:noFill/>
          <a:ln w="0">
            <a:noFill/>
          </a:ln>
        </p:spPr>
        <p:txBody>
          <a:bodyPr lIns="0" rIns="0" tIns="0" bIns="0" anchor="t">
            <a:noAutofit/>
          </a:bodyPr>
          <a:p>
            <a:r>
              <a:rPr b="1" lang="en-US" sz="2450" spc="-1" strike="noStrike">
                <a:solidFill>
                  <a:srgbClr val="000000"/>
                </a:solidFill>
                <a:latin typeface="Noto Sans"/>
              </a:rPr>
              <a:t>Raumbezug erkennen</a:t>
            </a:r>
            <a:endParaRPr b="0" lang="en-US" sz="2450" spc="-1" strike="noStrike">
              <a:solidFill>
                <a:srgbClr val="000000"/>
              </a:solidFill>
              <a:latin typeface="Arial"/>
            </a:endParaRPr>
          </a:p>
        </p:txBody>
      </p:sp>
      <p:sp>
        <p:nvSpPr>
          <p:cNvPr id="109" name=""/>
          <p:cNvSpPr txBox="1"/>
          <p:nvPr/>
        </p:nvSpPr>
        <p:spPr>
          <a:xfrm>
            <a:off x="4381560" y="4038480"/>
            <a:ext cx="3276720" cy="495360"/>
          </a:xfrm>
          <a:prstGeom prst="rect">
            <a:avLst/>
          </a:prstGeom>
          <a:noFill/>
          <a:ln w="0">
            <a:noFill/>
          </a:ln>
        </p:spPr>
        <p:txBody>
          <a:bodyPr lIns="0" rIns="0" tIns="0" bIns="0" anchor="t">
            <a:noAutofit/>
          </a:bodyPr>
          <a:p>
            <a:r>
              <a:rPr b="1" lang="en-US" sz="3100" spc="-1" strike="noStrike">
                <a:solidFill>
                  <a:srgbClr val="004899"/>
                </a:solidFill>
                <a:latin typeface="Noto Sans"/>
              </a:rPr>
              <a:t>02</a:t>
            </a:r>
            <a:endParaRPr b="0" lang="en-US" sz="3100" spc="-1" strike="noStrike">
              <a:solidFill>
                <a:srgbClr val="000000"/>
              </a:solidFill>
              <a:latin typeface="Arial"/>
            </a:endParaRPr>
          </a:p>
        </p:txBody>
      </p:sp>
      <p:sp>
        <p:nvSpPr>
          <p:cNvPr id="110" name=""/>
          <p:cNvSpPr txBox="1"/>
          <p:nvPr/>
        </p:nvSpPr>
        <p:spPr>
          <a:xfrm>
            <a:off x="4381560" y="4625280"/>
            <a:ext cx="3314880" cy="723960"/>
          </a:xfrm>
          <a:prstGeom prst="rect">
            <a:avLst/>
          </a:prstGeom>
          <a:noFill/>
          <a:ln w="0">
            <a:noFill/>
          </a:ln>
        </p:spPr>
        <p:txBody>
          <a:bodyPr lIns="0" rIns="0" tIns="0" bIns="0" anchor="t">
            <a:noAutofit/>
          </a:bodyPr>
          <a:p>
            <a:r>
              <a:rPr b="1" lang="en-US" sz="2450" spc="-1" strike="noStrike">
                <a:solidFill>
                  <a:srgbClr val="000000"/>
                </a:solidFill>
                <a:latin typeface="Noto Sans"/>
              </a:rPr>
              <a:t>Koordinaten prüfen</a:t>
            </a:r>
            <a:endParaRPr b="0" lang="en-US" sz="2450" spc="-1" strike="noStrike">
              <a:solidFill>
                <a:srgbClr val="000000"/>
              </a:solidFill>
              <a:latin typeface="Arial"/>
            </a:endParaRPr>
          </a:p>
        </p:txBody>
      </p:sp>
      <p:sp>
        <p:nvSpPr>
          <p:cNvPr id="111" name=""/>
          <p:cNvSpPr txBox="1"/>
          <p:nvPr/>
        </p:nvSpPr>
        <p:spPr>
          <a:xfrm>
            <a:off x="8115480" y="4038480"/>
            <a:ext cx="3276720" cy="495360"/>
          </a:xfrm>
          <a:prstGeom prst="rect">
            <a:avLst/>
          </a:prstGeom>
          <a:noFill/>
          <a:ln w="0">
            <a:noFill/>
          </a:ln>
        </p:spPr>
        <p:txBody>
          <a:bodyPr lIns="0" rIns="0" tIns="0" bIns="0" anchor="t">
            <a:noAutofit/>
          </a:bodyPr>
          <a:p>
            <a:r>
              <a:rPr b="1" lang="en-US" sz="3100" spc="-1" strike="noStrike">
                <a:solidFill>
                  <a:srgbClr val="004899"/>
                </a:solidFill>
                <a:latin typeface="Noto Sans"/>
              </a:rPr>
              <a:t>03</a:t>
            </a:r>
            <a:endParaRPr b="0" lang="en-US" sz="3100" spc="-1" strike="noStrike">
              <a:solidFill>
                <a:srgbClr val="000000"/>
              </a:solidFill>
              <a:latin typeface="Arial"/>
            </a:endParaRPr>
          </a:p>
        </p:txBody>
      </p:sp>
      <p:sp>
        <p:nvSpPr>
          <p:cNvPr id="112" name=""/>
          <p:cNvSpPr txBox="1"/>
          <p:nvPr/>
        </p:nvSpPr>
        <p:spPr>
          <a:xfrm>
            <a:off x="8115480" y="4625280"/>
            <a:ext cx="3314880" cy="723960"/>
          </a:xfrm>
          <a:prstGeom prst="rect">
            <a:avLst/>
          </a:prstGeom>
          <a:noFill/>
          <a:ln w="0">
            <a:noFill/>
          </a:ln>
        </p:spPr>
        <p:txBody>
          <a:bodyPr lIns="0" rIns="0" tIns="0" bIns="0" anchor="t">
            <a:noAutofit/>
          </a:bodyPr>
          <a:p>
            <a:r>
              <a:rPr b="1" lang="en-US" sz="2450" spc="-1" strike="noStrike">
                <a:solidFill>
                  <a:srgbClr val="000000"/>
                </a:solidFill>
                <a:latin typeface="Noto Sans"/>
              </a:rPr>
              <a:t>CRS auswählen</a:t>
            </a:r>
            <a:endParaRPr b="0" lang="en-US" sz="2450" spc="-1" strike="noStrike">
              <a:solidFill>
                <a:srgbClr val="000000"/>
              </a:solidFill>
              <a:latin typeface="Arial"/>
            </a:endParaRPr>
          </a:p>
        </p:txBody>
      </p:sp>
      <p:sp>
        <p:nvSpPr>
          <p:cNvPr id="11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4"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Heute: verstehen, gemeinsam prüfen und begründen.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Wo ist das?</a:t>
            </a:r>
            <a:endParaRPr b="0" lang="en-US" sz="3190" spc="-1" strike="noStrike">
              <a:solidFill>
                <a:srgbClr val="000000"/>
              </a:solidFill>
              <a:latin typeface="Arial"/>
            </a:endParaRPr>
          </a:p>
        </p:txBody>
      </p:sp>
      <p:sp>
        <p:nvSpPr>
          <p:cNvPr id="11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EINSTIEGSFRAGE</a:t>
            </a:r>
            <a:endParaRPr b="0" lang="en-US" sz="1130" spc="-1" strike="noStrike">
              <a:solidFill>
                <a:srgbClr val="000000"/>
              </a:solidFill>
              <a:latin typeface="Arial"/>
            </a:endParaRPr>
          </a:p>
        </p:txBody>
      </p:sp>
      <p:sp>
        <p:nvSpPr>
          <p:cNvPr id="11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1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sp>
        <p:nvSpPr>
          <p:cNvPr id="119" name=""/>
          <p:cNvSpPr txBox="1"/>
          <p:nvPr/>
        </p:nvSpPr>
        <p:spPr>
          <a:xfrm>
            <a:off x="1066680" y="2286000"/>
            <a:ext cx="10058400" cy="1371600"/>
          </a:xfrm>
          <a:prstGeom prst="rect">
            <a:avLst/>
          </a:prstGeom>
          <a:noFill/>
          <a:ln w="0">
            <a:noFill/>
          </a:ln>
        </p:spPr>
        <p:txBody>
          <a:bodyPr lIns="0" rIns="0" tIns="0" bIns="0" anchor="t">
            <a:noAutofit/>
          </a:bodyPr>
          <a:p>
            <a:pPr algn="ctr"/>
            <a:r>
              <a:rPr b="1" lang="en-US" sz="7519" spc="-1" strike="noStrike">
                <a:solidFill>
                  <a:srgbClr val="004899"/>
                </a:solidFill>
                <a:latin typeface="Noto Sans"/>
              </a:rPr>
              <a:t>50,81 / 8,77</a:t>
            </a:r>
            <a:endParaRPr b="0" lang="en-US" sz="7519" spc="-1" strike="noStrike">
              <a:solidFill>
                <a:srgbClr val="000000"/>
              </a:solidFill>
              <a:latin typeface="Arial"/>
            </a:endParaRPr>
          </a:p>
        </p:txBody>
      </p:sp>
      <p:sp>
        <p:nvSpPr>
          <p:cNvPr id="120" name=""/>
          <p:cNvSpPr txBox="1"/>
          <p:nvPr/>
        </p:nvSpPr>
        <p:spPr>
          <a:xfrm>
            <a:off x="1219320" y="4152960"/>
            <a:ext cx="9753840" cy="762120"/>
          </a:xfrm>
          <a:prstGeom prst="rect">
            <a:avLst/>
          </a:prstGeom>
          <a:noFill/>
          <a:ln w="0">
            <a:noFill/>
          </a:ln>
        </p:spPr>
        <p:txBody>
          <a:bodyPr lIns="0" rIns="0" tIns="0" bIns="0" anchor="t">
            <a:noAutofit/>
          </a:bodyPr>
          <a:p>
            <a:pPr algn="ctr"/>
            <a:r>
              <a:rPr b="1" lang="en-US" sz="3010" spc="-1" strike="noStrike">
                <a:solidFill>
                  <a:srgbClr val="000000"/>
                </a:solidFill>
                <a:latin typeface="Noto Sans"/>
              </a:rPr>
              <a:t>Welche Angaben fehlen für eine eindeutige Position?</a:t>
            </a:r>
            <a:endParaRPr b="0" lang="en-US" sz="3010" spc="-1" strike="noStrike">
              <a:solidFill>
                <a:srgbClr val="000000"/>
              </a:solidFill>
              <a:latin typeface="Arial"/>
            </a:endParaRPr>
          </a:p>
        </p:txBody>
      </p:sp>
      <p:sp>
        <p:nvSpPr>
          <p:cNvPr id="12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2"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30 Sekunden nachdenken → zwei Vermutungen sammeln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macht Daten zu Geodaten?</a:t>
            </a:r>
            <a:endParaRPr b="0" lang="en-US" sz="3190" spc="-1" strike="noStrike">
              <a:solidFill>
                <a:srgbClr val="000000"/>
              </a:solidFill>
              <a:latin typeface="Arial"/>
            </a:endParaRPr>
          </a:p>
        </p:txBody>
      </p:sp>
      <p:sp>
        <p:nvSpPr>
          <p:cNvPr id="12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01 · RAUMBEZUG</a:t>
            </a:r>
            <a:endParaRPr b="0" lang="en-US" sz="1130" spc="-1" strike="noStrike">
              <a:solidFill>
                <a:srgbClr val="000000"/>
              </a:solidFill>
              <a:latin typeface="Arial"/>
            </a:endParaRPr>
          </a:p>
        </p:txBody>
      </p:sp>
      <p:sp>
        <p:nvSpPr>
          <p:cNvPr id="12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2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pic>
        <p:nvPicPr>
          <p:cNvPr id="127" name="" descr="Links enthält eine Tabelle Beobachtungs-ID, Datum und Temperatur. Rechts enthält dieselbe Tabelle zusätzlich Breiten- und Längengrad. Identität, Zeitpunkt und Messwert bleiben beim Ergänzen des Raumbezugs erhalten."/>
          <p:cNvPicPr/>
          <p:nvPr/>
        </p:nvPicPr>
        <p:blipFill>
          <a:blip r:embed="rId1">
            <a:extLst>
              <a:ext uri="{96DAC541-7B7A-43D3-8B79-37D633B846F1}">
                <asvg:svgBlip xmlns:asvg="http://schemas.microsoft.com/office/drawing/2016/SVG/main" r:embed="rId2"/>
              </a:ext>
            </a:extLst>
          </a:blip>
          <a:stretch/>
        </p:blipFill>
        <p:spPr>
          <a:xfrm>
            <a:off x="1905120" y="1638360"/>
            <a:ext cx="8382240" cy="3604320"/>
          </a:xfrm>
          <a:prstGeom prst="rect">
            <a:avLst/>
          </a:prstGeom>
          <a:ln w="0">
            <a:noFill/>
          </a:ln>
        </p:spPr>
      </p:pic>
      <p:sp>
        <p:nvSpPr>
          <p:cNvPr id="12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9"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Geodaten verbinden Informationen mit einem Ort oder Gebiet.</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Wie bilden wir die Wirklichkeit ab?</a:t>
            </a:r>
            <a:endParaRPr b="0" lang="en-US" sz="3190" spc="-1" strike="noStrike">
              <a:solidFill>
                <a:srgbClr val="000000"/>
              </a:solidFill>
              <a:latin typeface="Arial"/>
            </a:endParaRPr>
          </a:p>
        </p:txBody>
      </p:sp>
      <p:sp>
        <p:nvSpPr>
          <p:cNvPr id="13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01 · RAUMBEZUG</a:t>
            </a:r>
            <a:endParaRPr b="0" lang="en-US" sz="1130" spc="-1" strike="noStrike">
              <a:solidFill>
                <a:srgbClr val="000000"/>
              </a:solidFill>
              <a:latin typeface="Arial"/>
            </a:endParaRPr>
          </a:p>
        </p:txBody>
      </p:sp>
      <p:sp>
        <p:nvSpPr>
          <p:cNvPr id="13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3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sp>
        <p:nvSpPr>
          <p:cNvPr id="134" name=""/>
          <p:cNvSpPr/>
          <p:nvPr/>
        </p:nvSpPr>
        <p:spPr>
          <a:xfrm>
            <a:off x="647640" y="1790640"/>
            <a:ext cx="3429000" cy="30099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5" name=""/>
          <p:cNvSpPr txBox="1"/>
          <p:nvPr/>
        </p:nvSpPr>
        <p:spPr>
          <a:xfrm>
            <a:off x="838080" y="1981080"/>
            <a:ext cx="3048120" cy="419040"/>
          </a:xfrm>
          <a:prstGeom prst="rect">
            <a:avLst/>
          </a:prstGeom>
          <a:noFill/>
          <a:ln w="0">
            <a:noFill/>
          </a:ln>
        </p:spPr>
        <p:txBody>
          <a:bodyPr lIns="0" rIns="0" tIns="0" bIns="0" anchor="t">
            <a:noAutofit/>
          </a:bodyPr>
          <a:p>
            <a:r>
              <a:rPr b="1" lang="en-US" sz="2630" spc="-1" strike="noStrike">
                <a:solidFill>
                  <a:srgbClr val="004899"/>
                </a:solidFill>
                <a:latin typeface="Noto Sans"/>
              </a:rPr>
              <a:t>Punkt</a:t>
            </a:r>
            <a:endParaRPr b="0" lang="en-US" sz="2630" spc="-1" strike="noStrike">
              <a:solidFill>
                <a:srgbClr val="000000"/>
              </a:solidFill>
              <a:latin typeface="Arial"/>
            </a:endParaRPr>
          </a:p>
        </p:txBody>
      </p:sp>
      <p:sp>
        <p:nvSpPr>
          <p:cNvPr id="136" name=""/>
          <p:cNvSpPr txBox="1"/>
          <p:nvPr/>
        </p:nvSpPr>
        <p:spPr>
          <a:xfrm>
            <a:off x="838080" y="4152960"/>
            <a:ext cx="3048120" cy="533520"/>
          </a:xfrm>
          <a:prstGeom prst="rect">
            <a:avLst/>
          </a:prstGeom>
          <a:noFill/>
          <a:ln w="0">
            <a:noFill/>
          </a:ln>
        </p:spPr>
        <p:txBody>
          <a:bodyPr lIns="0" rIns="0" tIns="0" bIns="0" anchor="t">
            <a:noAutofit/>
          </a:bodyPr>
          <a:p>
            <a:r>
              <a:rPr b="0" lang="en-US" sz="2350" spc="-1" strike="noStrike">
                <a:solidFill>
                  <a:srgbClr val="000000"/>
                </a:solidFill>
                <a:latin typeface="Noto Sans"/>
              </a:rPr>
              <a:t>Messstation</a:t>
            </a:r>
            <a:endParaRPr b="0" lang="en-US" sz="2350" spc="-1" strike="noStrike">
              <a:solidFill>
                <a:srgbClr val="000000"/>
              </a:solidFill>
              <a:latin typeface="Arial"/>
            </a:endParaRPr>
          </a:p>
        </p:txBody>
      </p:sp>
      <p:sp>
        <p:nvSpPr>
          <p:cNvPr id="137" name=""/>
          <p:cNvSpPr/>
          <p:nvPr/>
        </p:nvSpPr>
        <p:spPr>
          <a:xfrm>
            <a:off x="4381560" y="1790640"/>
            <a:ext cx="3429000" cy="30099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8" name=""/>
          <p:cNvSpPr txBox="1"/>
          <p:nvPr/>
        </p:nvSpPr>
        <p:spPr>
          <a:xfrm>
            <a:off x="4572000" y="1981080"/>
            <a:ext cx="3048120" cy="419040"/>
          </a:xfrm>
          <a:prstGeom prst="rect">
            <a:avLst/>
          </a:prstGeom>
          <a:noFill/>
          <a:ln w="0">
            <a:noFill/>
          </a:ln>
        </p:spPr>
        <p:txBody>
          <a:bodyPr lIns="0" rIns="0" tIns="0" bIns="0" anchor="t">
            <a:noAutofit/>
          </a:bodyPr>
          <a:p>
            <a:r>
              <a:rPr b="1" lang="en-US" sz="2630" spc="-1" strike="noStrike">
                <a:solidFill>
                  <a:srgbClr val="004899"/>
                </a:solidFill>
                <a:latin typeface="Noto Sans"/>
              </a:rPr>
              <a:t>Linie</a:t>
            </a:r>
            <a:endParaRPr b="0" lang="en-US" sz="2630" spc="-1" strike="noStrike">
              <a:solidFill>
                <a:srgbClr val="000000"/>
              </a:solidFill>
              <a:latin typeface="Arial"/>
            </a:endParaRPr>
          </a:p>
        </p:txBody>
      </p:sp>
      <p:sp>
        <p:nvSpPr>
          <p:cNvPr id="139" name=""/>
          <p:cNvSpPr txBox="1"/>
          <p:nvPr/>
        </p:nvSpPr>
        <p:spPr>
          <a:xfrm>
            <a:off x="4572000" y="4152960"/>
            <a:ext cx="3048120" cy="533520"/>
          </a:xfrm>
          <a:prstGeom prst="rect">
            <a:avLst/>
          </a:prstGeom>
          <a:noFill/>
          <a:ln w="0">
            <a:noFill/>
          </a:ln>
        </p:spPr>
        <p:txBody>
          <a:bodyPr lIns="0" rIns="0" tIns="0" bIns="0" anchor="t">
            <a:noAutofit/>
          </a:bodyPr>
          <a:p>
            <a:r>
              <a:rPr b="0" lang="en-US" sz="2350" spc="-1" strike="noStrike">
                <a:solidFill>
                  <a:srgbClr val="000000"/>
                </a:solidFill>
                <a:latin typeface="Noto Sans"/>
              </a:rPr>
              <a:t>Straßenverlauf</a:t>
            </a:r>
            <a:endParaRPr b="0" lang="en-US" sz="2350" spc="-1" strike="noStrike">
              <a:solidFill>
                <a:srgbClr val="000000"/>
              </a:solidFill>
              <a:latin typeface="Arial"/>
            </a:endParaRPr>
          </a:p>
        </p:txBody>
      </p:sp>
      <p:sp>
        <p:nvSpPr>
          <p:cNvPr id="140" name=""/>
          <p:cNvSpPr/>
          <p:nvPr/>
        </p:nvSpPr>
        <p:spPr>
          <a:xfrm>
            <a:off x="8115480" y="1790640"/>
            <a:ext cx="3429000" cy="30099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1" name=""/>
          <p:cNvSpPr txBox="1"/>
          <p:nvPr/>
        </p:nvSpPr>
        <p:spPr>
          <a:xfrm>
            <a:off x="8305920" y="1981080"/>
            <a:ext cx="3048120" cy="419040"/>
          </a:xfrm>
          <a:prstGeom prst="rect">
            <a:avLst/>
          </a:prstGeom>
          <a:noFill/>
          <a:ln w="0">
            <a:noFill/>
          </a:ln>
        </p:spPr>
        <p:txBody>
          <a:bodyPr lIns="0" rIns="0" tIns="0" bIns="0" anchor="t">
            <a:noAutofit/>
          </a:bodyPr>
          <a:p>
            <a:r>
              <a:rPr b="1" lang="en-US" sz="2630" spc="-1" strike="noStrike">
                <a:solidFill>
                  <a:srgbClr val="004899"/>
                </a:solidFill>
                <a:latin typeface="Noto Sans"/>
              </a:rPr>
              <a:t>Fläche</a:t>
            </a:r>
            <a:endParaRPr b="0" lang="en-US" sz="2630" spc="-1" strike="noStrike">
              <a:solidFill>
                <a:srgbClr val="000000"/>
              </a:solidFill>
              <a:latin typeface="Arial"/>
            </a:endParaRPr>
          </a:p>
        </p:txBody>
      </p:sp>
      <p:sp>
        <p:nvSpPr>
          <p:cNvPr id="142" name=""/>
          <p:cNvSpPr txBox="1"/>
          <p:nvPr/>
        </p:nvSpPr>
        <p:spPr>
          <a:xfrm>
            <a:off x="8305920" y="4152960"/>
            <a:ext cx="3048120" cy="533520"/>
          </a:xfrm>
          <a:prstGeom prst="rect">
            <a:avLst/>
          </a:prstGeom>
          <a:noFill/>
          <a:ln w="0">
            <a:noFill/>
          </a:ln>
        </p:spPr>
        <p:txBody>
          <a:bodyPr lIns="0" rIns="0" tIns="0" bIns="0" anchor="t">
            <a:noAutofit/>
          </a:bodyPr>
          <a:p>
            <a:r>
              <a:rPr b="0" lang="en-US" sz="2350" spc="-1" strike="noStrike">
                <a:solidFill>
                  <a:srgbClr val="000000"/>
                </a:solidFill>
                <a:latin typeface="Noto Sans"/>
              </a:rPr>
              <a:t>Stadtgebiet</a:t>
            </a:r>
            <a:endParaRPr b="0" lang="en-US" sz="2350" spc="-1" strike="noStrike">
              <a:solidFill>
                <a:srgbClr val="000000"/>
              </a:solidFill>
              <a:latin typeface="Arial"/>
            </a:endParaRPr>
          </a:p>
        </p:txBody>
      </p:sp>
      <p:sp>
        <p:nvSpPr>
          <p:cNvPr id="143" name=""/>
          <p:cNvSpPr/>
          <p:nvPr/>
        </p:nvSpPr>
        <p:spPr>
          <a:xfrm>
            <a:off x="2133720" y="3009960"/>
            <a:ext cx="365760" cy="365760"/>
          </a:xfrm>
          <a:prstGeom prst="ellipse">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4" name=""/>
          <p:cNvSpPr/>
          <p:nvPr/>
        </p:nvSpPr>
        <p:spPr>
          <a:xfrm>
            <a:off x="4762440" y="2712600"/>
            <a:ext cx="2629080" cy="846000"/>
          </a:xfrm>
          <a:custGeom>
            <a:avLst/>
            <a:gdLst/>
            <a:ahLst/>
            <a:rect l="0" t="0" r="r" b="b"/>
            <a:pathLst>
              <a:path fill="none" w="7303" h="2350">
                <a:moveTo>
                  <a:pt x="0" y="2350"/>
                </a:moveTo>
                <a:lnTo>
                  <a:pt x="1440" y="720"/>
                </a:lnTo>
                <a:lnTo>
                  <a:pt x="3175" y="1609"/>
                </a:lnTo>
                <a:lnTo>
                  <a:pt x="4763" y="0"/>
                </a:lnTo>
                <a:lnTo>
                  <a:pt x="7303" y="932"/>
                </a:lnTo>
              </a:path>
            </a:pathLst>
          </a:custGeom>
          <a:ln w="54000">
            <a:solidFill>
              <a:srgbClr val="004899"/>
            </a:solidFill>
            <a:round/>
          </a:ln>
        </p:spPr>
        <p:txBody>
          <a:bodyPr lIns="117000" rIns="117000" tIns="72000" bIns="72000" anchor="ctr" anchorCtr="1">
            <a:noAutofit/>
          </a:bodyPr>
          <a:p>
            <a:endParaRPr b="0" lang="en-US" sz="1800" spc="-1" strike="noStrike">
              <a:solidFill>
                <a:srgbClr val="000000"/>
              </a:solidFill>
              <a:latin typeface="Arial"/>
            </a:endParaRPr>
          </a:p>
        </p:txBody>
      </p:sp>
      <p:sp>
        <p:nvSpPr>
          <p:cNvPr id="145" name=""/>
          <p:cNvSpPr/>
          <p:nvPr/>
        </p:nvSpPr>
        <p:spPr>
          <a:xfrm>
            <a:off x="8686800" y="2575440"/>
            <a:ext cx="2210040" cy="1234440"/>
          </a:xfrm>
          <a:custGeom>
            <a:avLst/>
            <a:gdLst/>
            <a:ahLst/>
            <a:rect l="0" t="0" r="r" b="b"/>
            <a:pathLst>
              <a:path w="6139" h="3429">
                <a:moveTo>
                  <a:pt x="0" y="741"/>
                </a:moveTo>
                <a:lnTo>
                  <a:pt x="3387" y="0"/>
                </a:lnTo>
                <a:lnTo>
                  <a:pt x="6139" y="2011"/>
                </a:lnTo>
                <a:lnTo>
                  <a:pt x="4022" y="3429"/>
                </a:lnTo>
                <a:lnTo>
                  <a:pt x="297" y="2964"/>
                </a:lnTo>
                <a:lnTo>
                  <a:pt x="0" y="741"/>
                </a:lnTo>
                <a:close/>
              </a:path>
            </a:pathLst>
          </a:custGeom>
          <a:solidFill>
            <a:srgbClr val="eaf5f7"/>
          </a:solidFill>
          <a:ln w="21600">
            <a:solidFill>
              <a:srgbClr val="004899"/>
            </a:solidFill>
            <a:round/>
          </a:ln>
        </p:spPr>
        <p:txBody>
          <a:bodyPr lIns="100800" rIns="100800" tIns="55800" bIns="55800" anchor="ctr" anchorCtr="1">
            <a:noAutofit/>
          </a:bodyPr>
          <a:p>
            <a:endParaRPr b="0" lang="en-US" sz="1800" spc="-1" strike="noStrike">
              <a:solidFill>
                <a:srgbClr val="000000"/>
              </a:solidFill>
              <a:latin typeface="Arial"/>
            </a:endParaRPr>
          </a:p>
        </p:txBody>
      </p:sp>
      <p:sp>
        <p:nvSpPr>
          <p:cNvPr id="14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7"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Die Fragestellung und der Maßstab bestimmen das Modell.</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 Beispiele haben einen Raumbezug?</a:t>
            </a:r>
            <a:endParaRPr b="0" lang="en-US" sz="3190" spc="-1" strike="noStrike">
              <a:solidFill>
                <a:srgbClr val="000000"/>
              </a:solidFill>
              <a:latin typeface="Arial"/>
            </a:endParaRPr>
          </a:p>
        </p:txBody>
      </p:sp>
      <p:sp>
        <p:nvSpPr>
          <p:cNvPr id="14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MITDENKEN · NACHBARSCHAFTSGESPRÄCH</a:t>
            </a:r>
            <a:endParaRPr b="0" lang="en-US" sz="1130" spc="-1" strike="noStrike">
              <a:solidFill>
                <a:srgbClr val="000000"/>
              </a:solidFill>
              <a:latin typeface="Arial"/>
            </a:endParaRPr>
          </a:p>
        </p:txBody>
      </p:sp>
      <p:sp>
        <p:nvSpPr>
          <p:cNvPr id="15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5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sp>
        <p:nvSpPr>
          <p:cNvPr id="152"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3"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154"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Einwohnerzahl mit Gemeindenamen</a:t>
            </a:r>
            <a:endParaRPr b="0" lang="en-US" sz="2720" spc="-1" strike="noStrike">
              <a:solidFill>
                <a:srgbClr val="000000"/>
              </a:solidFill>
              <a:latin typeface="Arial"/>
            </a:endParaRPr>
          </a:p>
        </p:txBody>
      </p:sp>
      <p:sp>
        <p:nvSpPr>
          <p:cNvPr id="155"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Können Sie die Information räumlich zuordnen?</a:t>
            </a:r>
            <a:endParaRPr b="0" lang="en-US" sz="2260" spc="-1" strike="noStrike">
              <a:solidFill>
                <a:srgbClr val="000000"/>
              </a:solidFill>
              <a:latin typeface="Arial"/>
            </a:endParaRPr>
          </a:p>
        </p:txBody>
      </p:sp>
      <p:sp>
        <p:nvSpPr>
          <p:cNvPr id="156" name=""/>
          <p:cNvSpPr/>
          <p:nvPr/>
        </p:nvSpPr>
        <p:spPr>
          <a:xfrm>
            <a:off x="647640" y="29336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7" name=""/>
          <p:cNvSpPr txBox="1"/>
          <p:nvPr/>
        </p:nvSpPr>
        <p:spPr>
          <a:xfrm>
            <a:off x="647640" y="29948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158" name=""/>
          <p:cNvSpPr txBox="1"/>
          <p:nvPr/>
        </p:nvSpPr>
        <p:spPr>
          <a:xfrm>
            <a:off x="1371600" y="29336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Temperatur mit Datum, ohne Messort</a:t>
            </a:r>
            <a:endParaRPr b="0" lang="en-US" sz="2720" spc="-1" strike="noStrike">
              <a:solidFill>
                <a:srgbClr val="000000"/>
              </a:solidFill>
              <a:latin typeface="Arial"/>
            </a:endParaRPr>
          </a:p>
        </p:txBody>
      </p:sp>
      <p:sp>
        <p:nvSpPr>
          <p:cNvPr id="159" name=""/>
          <p:cNvSpPr txBox="1"/>
          <p:nvPr/>
        </p:nvSpPr>
        <p:spPr>
          <a:xfrm>
            <a:off x="1371600" y="34063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Welche Information fehlt?</a:t>
            </a:r>
            <a:endParaRPr b="0" lang="en-US" sz="2260" spc="-1" strike="noStrike">
              <a:solidFill>
                <a:srgbClr val="000000"/>
              </a:solidFill>
              <a:latin typeface="Arial"/>
            </a:endParaRPr>
          </a:p>
        </p:txBody>
      </p:sp>
      <p:sp>
        <p:nvSpPr>
          <p:cNvPr id="160" name=""/>
          <p:cNvSpPr/>
          <p:nvPr/>
        </p:nvSpPr>
        <p:spPr>
          <a:xfrm>
            <a:off x="647640" y="411480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1" name=""/>
          <p:cNvSpPr txBox="1"/>
          <p:nvPr/>
        </p:nvSpPr>
        <p:spPr>
          <a:xfrm>
            <a:off x="647640" y="41756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162" name=""/>
          <p:cNvSpPr txBox="1"/>
          <p:nvPr/>
        </p:nvSpPr>
        <p:spPr>
          <a:xfrm>
            <a:off x="1371600" y="411480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Pflanzenfund „in der Nähe von Marburg“</a:t>
            </a:r>
            <a:endParaRPr b="0" lang="en-US" sz="2720" spc="-1" strike="noStrike">
              <a:solidFill>
                <a:srgbClr val="000000"/>
              </a:solidFill>
              <a:latin typeface="Arial"/>
            </a:endParaRPr>
          </a:p>
        </p:txBody>
      </p:sp>
      <p:sp>
        <p:nvSpPr>
          <p:cNvPr id="163" name=""/>
          <p:cNvSpPr txBox="1"/>
          <p:nvPr/>
        </p:nvSpPr>
        <p:spPr>
          <a:xfrm>
            <a:off x="1371600" y="45871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Wie genau ist dieser Raumbezug?</a:t>
            </a:r>
            <a:endParaRPr b="0" lang="en-US" sz="2260" spc="-1" strike="noStrike">
              <a:solidFill>
                <a:srgbClr val="000000"/>
              </a:solidFill>
              <a:latin typeface="Arial"/>
            </a:endParaRPr>
          </a:p>
        </p:txBody>
      </p:sp>
      <p:sp>
        <p:nvSpPr>
          <p:cNvPr id="16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65"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Erst allein überlegen, dann zu zweit eine Begründung finden.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Raumbezug ist nicht immer punktgenau</a:t>
            </a:r>
            <a:endParaRPr b="0" lang="en-US" sz="3190" spc="-1" strike="noStrike">
              <a:solidFill>
                <a:srgbClr val="000000"/>
              </a:solidFill>
              <a:latin typeface="Arial"/>
            </a:endParaRPr>
          </a:p>
        </p:txBody>
      </p:sp>
      <p:sp>
        <p:nvSpPr>
          <p:cNvPr id="16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RAUMBEZUG</a:t>
            </a:r>
            <a:endParaRPr b="0" lang="en-US" sz="1130" spc="-1" strike="noStrike">
              <a:solidFill>
                <a:srgbClr val="000000"/>
              </a:solidFill>
              <a:latin typeface="Arial"/>
            </a:endParaRPr>
          </a:p>
        </p:txBody>
      </p:sp>
      <p:sp>
        <p:nvSpPr>
          <p:cNvPr id="16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6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sp>
        <p:nvSpPr>
          <p:cNvPr id="170"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1"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172"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Ja: Bezug zu einer Gemeinde</a:t>
            </a:r>
            <a:endParaRPr b="0" lang="en-US" sz="2720" spc="-1" strike="noStrike">
              <a:solidFill>
                <a:srgbClr val="000000"/>
              </a:solidFill>
              <a:latin typeface="Arial"/>
            </a:endParaRPr>
          </a:p>
        </p:txBody>
      </p:sp>
      <p:sp>
        <p:nvSpPr>
          <p:cNvPr id="173"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Für eine Karte benötigen wir die passende Gemeindegeometrie.</a:t>
            </a:r>
            <a:endParaRPr b="0" lang="en-US" sz="2260" spc="-1" strike="noStrike">
              <a:solidFill>
                <a:srgbClr val="000000"/>
              </a:solidFill>
              <a:latin typeface="Arial"/>
            </a:endParaRPr>
          </a:p>
        </p:txBody>
      </p:sp>
      <p:sp>
        <p:nvSpPr>
          <p:cNvPr id="174" name=""/>
          <p:cNvSpPr/>
          <p:nvPr/>
        </p:nvSpPr>
        <p:spPr>
          <a:xfrm>
            <a:off x="647640" y="29336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5" name=""/>
          <p:cNvSpPr txBox="1"/>
          <p:nvPr/>
        </p:nvSpPr>
        <p:spPr>
          <a:xfrm>
            <a:off x="647640" y="29948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176" name=""/>
          <p:cNvSpPr txBox="1"/>
          <p:nvPr/>
        </p:nvSpPr>
        <p:spPr>
          <a:xfrm>
            <a:off x="1371600" y="29336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Nein: Der Messort fehlt</a:t>
            </a:r>
            <a:endParaRPr b="0" lang="en-US" sz="2720" spc="-1" strike="noStrike">
              <a:solidFill>
                <a:srgbClr val="000000"/>
              </a:solidFill>
              <a:latin typeface="Arial"/>
            </a:endParaRPr>
          </a:p>
        </p:txBody>
      </p:sp>
      <p:sp>
        <p:nvSpPr>
          <p:cNvPr id="177" name=""/>
          <p:cNvSpPr txBox="1"/>
          <p:nvPr/>
        </p:nvSpPr>
        <p:spPr>
          <a:xfrm>
            <a:off x="1371600" y="34063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Ein Datum beschreibt die Zeit, nicht die räumliche Lage.</a:t>
            </a:r>
            <a:endParaRPr b="0" lang="en-US" sz="2260" spc="-1" strike="noStrike">
              <a:solidFill>
                <a:srgbClr val="000000"/>
              </a:solidFill>
              <a:latin typeface="Arial"/>
            </a:endParaRPr>
          </a:p>
        </p:txBody>
      </p:sp>
      <p:sp>
        <p:nvSpPr>
          <p:cNvPr id="178" name=""/>
          <p:cNvSpPr/>
          <p:nvPr/>
        </p:nvSpPr>
        <p:spPr>
          <a:xfrm>
            <a:off x="647640" y="411480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9" name=""/>
          <p:cNvSpPr txBox="1"/>
          <p:nvPr/>
        </p:nvSpPr>
        <p:spPr>
          <a:xfrm>
            <a:off x="647640" y="41756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180" name=""/>
          <p:cNvSpPr txBox="1"/>
          <p:nvPr/>
        </p:nvSpPr>
        <p:spPr>
          <a:xfrm>
            <a:off x="1371600" y="411480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Ja: aber nur ungefähr</a:t>
            </a:r>
            <a:endParaRPr b="0" lang="en-US" sz="2720" spc="-1" strike="noStrike">
              <a:solidFill>
                <a:srgbClr val="000000"/>
              </a:solidFill>
              <a:latin typeface="Arial"/>
            </a:endParaRPr>
          </a:p>
        </p:txBody>
      </p:sp>
      <p:sp>
        <p:nvSpPr>
          <p:cNvPr id="181" name=""/>
          <p:cNvSpPr txBox="1"/>
          <p:nvPr/>
        </p:nvSpPr>
        <p:spPr>
          <a:xfrm>
            <a:off x="1371600" y="45871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Für eine genaue Fundortkarte reicht die Angabe nicht aus.</a:t>
            </a:r>
            <a:endParaRPr b="0" lang="en-US" sz="2260" spc="-1" strike="noStrike">
              <a:solidFill>
                <a:srgbClr val="000000"/>
              </a:solidFill>
              <a:latin typeface="Arial"/>
            </a:endParaRPr>
          </a:p>
        </p:txBody>
      </p:sp>
      <p:sp>
        <p:nvSpPr>
          <p:cNvPr id="18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3"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Raumbezug vorhanden? Und: genau genug für die Frage?</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Breite und Länge beschreiben Winkel</a:t>
            </a:r>
            <a:endParaRPr b="0" lang="en-US" sz="3190" spc="-1" strike="noStrike">
              <a:solidFill>
                <a:srgbClr val="000000"/>
              </a:solidFill>
              <a:latin typeface="Arial"/>
            </a:endParaRPr>
          </a:p>
        </p:txBody>
      </p:sp>
      <p:sp>
        <p:nvSpPr>
          <p:cNvPr id="18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02 · KOORDINATEN</a:t>
            </a:r>
            <a:endParaRPr b="0" lang="en-US" sz="1130" spc="-1" strike="noStrike">
              <a:solidFill>
                <a:srgbClr val="000000"/>
              </a:solidFill>
              <a:latin typeface="Arial"/>
            </a:endParaRPr>
          </a:p>
        </p:txBody>
      </p:sp>
      <p:sp>
        <p:nvSpPr>
          <p:cNvPr id="18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18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pic>
        <p:nvPicPr>
          <p:cNvPr id="188" name="" descr="Eine schematische Erdkugel zeigt waagerechte Breitenkreise, senkrechte Meridiane, Äquator, Nullmeridian und einen Punkt für Marburg."/>
          <p:cNvPicPr/>
          <p:nvPr/>
        </p:nvPicPr>
        <p:blipFill>
          <a:blip r:embed="rId1">
            <a:extLst>
              <a:ext uri="{96DAC541-7B7A-43D3-8B79-37D633B846F1}">
                <asvg:svgBlip xmlns:asvg="http://schemas.microsoft.com/office/drawing/2016/SVG/main" r:embed="rId2"/>
              </a:ext>
            </a:extLst>
          </a:blip>
          <a:stretch/>
        </p:blipFill>
        <p:spPr>
          <a:xfrm>
            <a:off x="647640" y="1714680"/>
            <a:ext cx="7086600" cy="3688200"/>
          </a:xfrm>
          <a:prstGeom prst="rect">
            <a:avLst/>
          </a:prstGeom>
          <a:ln w="0">
            <a:noFill/>
          </a:ln>
        </p:spPr>
      </p:pic>
      <p:sp>
        <p:nvSpPr>
          <p:cNvPr id="189" name=""/>
          <p:cNvSpPr/>
          <p:nvPr/>
        </p:nvSpPr>
        <p:spPr>
          <a:xfrm>
            <a:off x="8039160" y="179064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0" name=""/>
          <p:cNvSpPr/>
          <p:nvPr/>
        </p:nvSpPr>
        <p:spPr>
          <a:xfrm>
            <a:off x="8039160" y="179064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1" name=""/>
          <p:cNvSpPr txBox="1"/>
          <p:nvPr/>
        </p:nvSpPr>
        <p:spPr>
          <a:xfrm>
            <a:off x="8245080" y="197352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Breite · latitude</a:t>
            </a:r>
            <a:endParaRPr b="0" lang="en-US" sz="2540" spc="-1" strike="noStrike">
              <a:solidFill>
                <a:srgbClr val="000000"/>
              </a:solidFill>
              <a:latin typeface="Arial"/>
            </a:endParaRPr>
          </a:p>
        </p:txBody>
      </p:sp>
      <p:sp>
        <p:nvSpPr>
          <p:cNvPr id="192" name=""/>
          <p:cNvSpPr txBox="1"/>
          <p:nvPr/>
        </p:nvSpPr>
        <p:spPr>
          <a:xfrm>
            <a:off x="8245080" y="2552760"/>
            <a:ext cx="3093840" cy="663120"/>
          </a:xfrm>
          <a:prstGeom prst="rect">
            <a:avLst/>
          </a:prstGeom>
          <a:noFill/>
          <a:ln w="0">
            <a:noFill/>
          </a:ln>
        </p:spPr>
        <p:txBody>
          <a:bodyPr lIns="0" rIns="0" tIns="0" bIns="0" anchor="t">
            <a:noAutofit/>
          </a:bodyPr>
          <a:p>
            <a:r>
              <a:rPr b="0" lang="en-US" sz="2160" spc="-1" strike="noStrike">
                <a:solidFill>
                  <a:srgbClr val="000000"/>
                </a:solidFill>
                <a:latin typeface="Noto Sans"/>
              </a:rPr>
              <a:t>−</a:t>
            </a:r>
            <a:r>
              <a:rPr b="0" lang="en-US" sz="2160" spc="-1" strike="noStrike">
                <a:solidFill>
                  <a:srgbClr val="000000"/>
                </a:solidFill>
                <a:latin typeface="Noto Sans"/>
              </a:rPr>
              <a:t>90° bis +90°</a:t>
            </a:r>
            <a:endParaRPr b="0" lang="en-US" sz="2160" spc="-1" strike="noStrike">
              <a:solidFill>
                <a:srgbClr val="000000"/>
              </a:solidFill>
              <a:latin typeface="Arial"/>
            </a:endParaRPr>
          </a:p>
          <a:p>
            <a:r>
              <a:rPr b="0" lang="en-US" sz="2160" spc="-1" strike="noStrike">
                <a:solidFill>
                  <a:srgbClr val="000000"/>
                </a:solidFill>
                <a:latin typeface="Noto Sans"/>
              </a:rPr>
              <a:t>Süd bis Nord</a:t>
            </a:r>
            <a:endParaRPr b="0" lang="en-US" sz="2160" spc="-1" strike="noStrike">
              <a:solidFill>
                <a:srgbClr val="000000"/>
              </a:solidFill>
              <a:latin typeface="Arial"/>
            </a:endParaRPr>
          </a:p>
        </p:txBody>
      </p:sp>
      <p:sp>
        <p:nvSpPr>
          <p:cNvPr id="193" name=""/>
          <p:cNvSpPr/>
          <p:nvPr/>
        </p:nvSpPr>
        <p:spPr>
          <a:xfrm>
            <a:off x="8039160" y="361944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4" name=""/>
          <p:cNvSpPr/>
          <p:nvPr/>
        </p:nvSpPr>
        <p:spPr>
          <a:xfrm>
            <a:off x="8039160" y="3619440"/>
            <a:ext cx="53280" cy="15620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5" name=""/>
          <p:cNvSpPr txBox="1"/>
          <p:nvPr/>
        </p:nvSpPr>
        <p:spPr>
          <a:xfrm>
            <a:off x="8245080" y="3802320"/>
            <a:ext cx="3093840" cy="647640"/>
          </a:xfrm>
          <a:prstGeom prst="rect">
            <a:avLst/>
          </a:prstGeom>
          <a:noFill/>
          <a:ln w="0">
            <a:noFill/>
          </a:ln>
        </p:spPr>
        <p:txBody>
          <a:bodyPr lIns="0" rIns="0" tIns="0" bIns="0" anchor="t">
            <a:noAutofit/>
          </a:bodyPr>
          <a:p>
            <a:r>
              <a:rPr b="1" lang="en-US" sz="2540" spc="-1" strike="noStrike">
                <a:solidFill>
                  <a:srgbClr val="a32123"/>
                </a:solidFill>
                <a:latin typeface="Noto Sans"/>
              </a:rPr>
              <a:t>Länge · longitude</a:t>
            </a:r>
            <a:endParaRPr b="0" lang="en-US" sz="2540" spc="-1" strike="noStrike">
              <a:solidFill>
                <a:srgbClr val="000000"/>
              </a:solidFill>
              <a:latin typeface="Arial"/>
            </a:endParaRPr>
          </a:p>
        </p:txBody>
      </p:sp>
      <p:sp>
        <p:nvSpPr>
          <p:cNvPr id="196" name=""/>
          <p:cNvSpPr txBox="1"/>
          <p:nvPr/>
        </p:nvSpPr>
        <p:spPr>
          <a:xfrm>
            <a:off x="8245080" y="4381560"/>
            <a:ext cx="3093840" cy="663120"/>
          </a:xfrm>
          <a:prstGeom prst="rect">
            <a:avLst/>
          </a:prstGeom>
          <a:noFill/>
          <a:ln w="0">
            <a:noFill/>
          </a:ln>
        </p:spPr>
        <p:txBody>
          <a:bodyPr lIns="0" rIns="0" tIns="0" bIns="0" anchor="t">
            <a:noAutofit/>
          </a:bodyPr>
          <a:p>
            <a:r>
              <a:rPr b="0" lang="en-US" sz="2160" spc="-1" strike="noStrike">
                <a:solidFill>
                  <a:srgbClr val="000000"/>
                </a:solidFill>
                <a:latin typeface="Noto Sans"/>
              </a:rPr>
              <a:t>−</a:t>
            </a:r>
            <a:r>
              <a:rPr b="0" lang="en-US" sz="2160" spc="-1" strike="noStrike">
                <a:solidFill>
                  <a:srgbClr val="000000"/>
                </a:solidFill>
                <a:latin typeface="Noto Sans"/>
              </a:rPr>
              <a:t>180° bis +180°</a:t>
            </a:r>
            <a:endParaRPr b="0" lang="en-US" sz="2160" spc="-1" strike="noStrike">
              <a:solidFill>
                <a:srgbClr val="000000"/>
              </a:solidFill>
              <a:latin typeface="Arial"/>
            </a:endParaRPr>
          </a:p>
          <a:p>
            <a:r>
              <a:rPr b="0" lang="en-US" sz="2160" spc="-1" strike="noStrike">
                <a:solidFill>
                  <a:srgbClr val="000000"/>
                </a:solidFill>
                <a:latin typeface="Noto Sans"/>
              </a:rPr>
              <a:t>West bis Ost</a:t>
            </a:r>
            <a:endParaRPr b="0" lang="en-US" sz="2160" spc="-1" strike="noStrike">
              <a:solidFill>
                <a:srgbClr val="000000"/>
              </a:solidFill>
              <a:latin typeface="Arial"/>
            </a:endParaRPr>
          </a:p>
        </p:txBody>
      </p:sp>
      <p:sp>
        <p:nvSpPr>
          <p:cNvPr id="19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8"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Nord und Ost: positiv   /   Süd und West: negativ</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Marburg: Welche Zahl steht zuerst?</a:t>
            </a:r>
            <a:endParaRPr b="0" lang="en-US" sz="3190" spc="-1" strike="noStrike">
              <a:solidFill>
                <a:srgbClr val="000000"/>
              </a:solidFill>
              <a:latin typeface="Arial"/>
            </a:endParaRPr>
          </a:p>
        </p:txBody>
      </p:sp>
      <p:sp>
        <p:nvSpPr>
          <p:cNvPr id="20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02 · KOORDINATEN</a:t>
            </a:r>
            <a:endParaRPr b="0" lang="en-US" sz="1130" spc="-1" strike="noStrike">
              <a:solidFill>
                <a:srgbClr val="000000"/>
              </a:solidFill>
              <a:latin typeface="Arial"/>
            </a:endParaRPr>
          </a:p>
        </p:txBody>
      </p:sp>
      <p:sp>
        <p:nvSpPr>
          <p:cNvPr id="20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20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sp>
        <p:nvSpPr>
          <p:cNvPr id="203" name=""/>
          <p:cNvSpPr/>
          <p:nvPr/>
        </p:nvSpPr>
        <p:spPr>
          <a:xfrm>
            <a:off x="647640" y="1790640"/>
            <a:ext cx="4853880" cy="85356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4" name=""/>
          <p:cNvSpPr txBox="1"/>
          <p:nvPr/>
        </p:nvSpPr>
        <p:spPr>
          <a:xfrm>
            <a:off x="784800" y="1920240"/>
            <a:ext cx="4602600" cy="723960"/>
          </a:xfrm>
          <a:prstGeom prst="rect">
            <a:avLst/>
          </a:prstGeom>
          <a:noFill/>
          <a:ln w="0">
            <a:noFill/>
          </a:ln>
        </p:spPr>
        <p:txBody>
          <a:bodyPr lIns="0" rIns="0" tIns="0" bIns="0" anchor="t">
            <a:noAutofit/>
          </a:bodyPr>
          <a:p>
            <a:r>
              <a:rPr b="1" lang="en-US" sz="2720" spc="-1" strike="noStrike">
                <a:solidFill>
                  <a:srgbClr val="ffffff"/>
                </a:solidFill>
                <a:latin typeface="Noto Sans"/>
              </a:rPr>
              <a:t>Beschriftung</a:t>
            </a:r>
            <a:endParaRPr b="0" lang="en-US" sz="2720" spc="-1" strike="noStrike">
              <a:solidFill>
                <a:srgbClr val="000000"/>
              </a:solidFill>
              <a:latin typeface="Arial"/>
            </a:endParaRPr>
          </a:p>
        </p:txBody>
      </p:sp>
      <p:sp>
        <p:nvSpPr>
          <p:cNvPr id="205" name=""/>
          <p:cNvSpPr/>
          <p:nvPr/>
        </p:nvSpPr>
        <p:spPr>
          <a:xfrm>
            <a:off x="5524560" y="1790640"/>
            <a:ext cx="5996880" cy="85356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6" name=""/>
          <p:cNvSpPr txBox="1"/>
          <p:nvPr/>
        </p:nvSpPr>
        <p:spPr>
          <a:xfrm>
            <a:off x="5661720" y="1920240"/>
            <a:ext cx="5745600" cy="723960"/>
          </a:xfrm>
          <a:prstGeom prst="rect">
            <a:avLst/>
          </a:prstGeom>
          <a:noFill/>
          <a:ln w="0">
            <a:noFill/>
          </a:ln>
        </p:spPr>
        <p:txBody>
          <a:bodyPr lIns="0" rIns="0" tIns="0" bIns="0" anchor="t">
            <a:noAutofit/>
          </a:bodyPr>
          <a:p>
            <a:r>
              <a:rPr b="1" lang="en-US" sz="2720" spc="-1" strike="noStrike">
                <a:solidFill>
                  <a:srgbClr val="ffffff"/>
                </a:solidFill>
                <a:latin typeface="Noto Sans"/>
              </a:rPr>
              <a:t>Werte für Marburg</a:t>
            </a:r>
            <a:endParaRPr b="0" lang="en-US" sz="2720" spc="-1" strike="noStrike">
              <a:solidFill>
                <a:srgbClr val="000000"/>
              </a:solidFill>
              <a:latin typeface="Arial"/>
            </a:endParaRPr>
          </a:p>
        </p:txBody>
      </p:sp>
      <p:sp>
        <p:nvSpPr>
          <p:cNvPr id="207" name=""/>
          <p:cNvSpPr/>
          <p:nvPr/>
        </p:nvSpPr>
        <p:spPr>
          <a:xfrm>
            <a:off x="647640" y="2666880"/>
            <a:ext cx="4853880" cy="853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8" name=""/>
          <p:cNvSpPr txBox="1"/>
          <p:nvPr/>
        </p:nvSpPr>
        <p:spPr>
          <a:xfrm>
            <a:off x="784800" y="2796480"/>
            <a:ext cx="4602600" cy="723960"/>
          </a:xfrm>
          <a:prstGeom prst="rect">
            <a:avLst/>
          </a:prstGeom>
          <a:noFill/>
          <a:ln w="0">
            <a:noFill/>
          </a:ln>
        </p:spPr>
        <p:txBody>
          <a:bodyPr lIns="0" rIns="0" tIns="0" bIns="0" anchor="t">
            <a:noAutofit/>
          </a:bodyPr>
          <a:p>
            <a:r>
              <a:rPr b="0" lang="en-US" sz="2720" spc="-1" strike="noStrike">
                <a:solidFill>
                  <a:srgbClr val="000000"/>
                </a:solidFill>
                <a:latin typeface="Noto Sans"/>
              </a:rPr>
              <a:t>Breite / Länge</a:t>
            </a:r>
            <a:endParaRPr b="0" lang="en-US" sz="2720" spc="-1" strike="noStrike">
              <a:solidFill>
                <a:srgbClr val="000000"/>
              </a:solidFill>
              <a:latin typeface="Arial"/>
            </a:endParaRPr>
          </a:p>
        </p:txBody>
      </p:sp>
      <p:sp>
        <p:nvSpPr>
          <p:cNvPr id="209" name=""/>
          <p:cNvSpPr/>
          <p:nvPr/>
        </p:nvSpPr>
        <p:spPr>
          <a:xfrm>
            <a:off x="5524560" y="2666880"/>
            <a:ext cx="5996880" cy="853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0" name=""/>
          <p:cNvSpPr txBox="1"/>
          <p:nvPr/>
        </p:nvSpPr>
        <p:spPr>
          <a:xfrm>
            <a:off x="5661720" y="2796480"/>
            <a:ext cx="5745600" cy="723960"/>
          </a:xfrm>
          <a:prstGeom prst="rect">
            <a:avLst/>
          </a:prstGeom>
          <a:noFill/>
          <a:ln w="0">
            <a:noFill/>
          </a:ln>
        </p:spPr>
        <p:txBody>
          <a:bodyPr lIns="0" rIns="0" tIns="0" bIns="0" anchor="t">
            <a:noAutofit/>
          </a:bodyPr>
          <a:p>
            <a:r>
              <a:rPr b="0" lang="en-US" sz="2720" spc="-1" strike="noStrike">
                <a:solidFill>
                  <a:srgbClr val="000000"/>
                </a:solidFill>
                <a:latin typeface="Noto Sans"/>
              </a:rPr>
              <a:t>50,81° N / 8,77° E</a:t>
            </a:r>
            <a:endParaRPr b="0" lang="en-US" sz="2720" spc="-1" strike="noStrike">
              <a:solidFill>
                <a:srgbClr val="000000"/>
              </a:solidFill>
              <a:latin typeface="Arial"/>
            </a:endParaRPr>
          </a:p>
        </p:txBody>
      </p:sp>
      <p:sp>
        <p:nvSpPr>
          <p:cNvPr id="211" name=""/>
          <p:cNvSpPr/>
          <p:nvPr/>
        </p:nvSpPr>
        <p:spPr>
          <a:xfrm>
            <a:off x="647640" y="3543480"/>
            <a:ext cx="4853880" cy="8535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2" name=""/>
          <p:cNvSpPr txBox="1"/>
          <p:nvPr/>
        </p:nvSpPr>
        <p:spPr>
          <a:xfrm>
            <a:off x="784800" y="3672720"/>
            <a:ext cx="4602600" cy="723960"/>
          </a:xfrm>
          <a:prstGeom prst="rect">
            <a:avLst/>
          </a:prstGeom>
          <a:noFill/>
          <a:ln w="0">
            <a:noFill/>
          </a:ln>
        </p:spPr>
        <p:txBody>
          <a:bodyPr lIns="0" rIns="0" tIns="0" bIns="0" anchor="t">
            <a:noAutofit/>
          </a:bodyPr>
          <a:p>
            <a:r>
              <a:rPr b="0" lang="en-US" sz="2720" spc="-1" strike="noStrike">
                <a:solidFill>
                  <a:srgbClr val="000000"/>
                </a:solidFill>
                <a:latin typeface="Noto Sans"/>
              </a:rPr>
              <a:t>Länge / Breite</a:t>
            </a:r>
            <a:endParaRPr b="0" lang="en-US" sz="2720" spc="-1" strike="noStrike">
              <a:solidFill>
                <a:srgbClr val="000000"/>
              </a:solidFill>
              <a:latin typeface="Arial"/>
            </a:endParaRPr>
          </a:p>
        </p:txBody>
      </p:sp>
      <p:sp>
        <p:nvSpPr>
          <p:cNvPr id="213" name=""/>
          <p:cNvSpPr/>
          <p:nvPr/>
        </p:nvSpPr>
        <p:spPr>
          <a:xfrm>
            <a:off x="5524560" y="3543480"/>
            <a:ext cx="5996880" cy="8535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4" name=""/>
          <p:cNvSpPr txBox="1"/>
          <p:nvPr/>
        </p:nvSpPr>
        <p:spPr>
          <a:xfrm>
            <a:off x="5661720" y="3672720"/>
            <a:ext cx="5745600" cy="723960"/>
          </a:xfrm>
          <a:prstGeom prst="rect">
            <a:avLst/>
          </a:prstGeom>
          <a:noFill/>
          <a:ln w="0">
            <a:noFill/>
          </a:ln>
        </p:spPr>
        <p:txBody>
          <a:bodyPr lIns="0" rIns="0" tIns="0" bIns="0" anchor="t">
            <a:noAutofit/>
          </a:bodyPr>
          <a:p>
            <a:r>
              <a:rPr b="0" lang="en-US" sz="2720" spc="-1" strike="noStrike">
                <a:solidFill>
                  <a:srgbClr val="000000"/>
                </a:solidFill>
                <a:latin typeface="Noto Sans"/>
              </a:rPr>
              <a:t>8,77° E / 50,81° N</a:t>
            </a:r>
            <a:endParaRPr b="0" lang="en-US" sz="2720" spc="-1" strike="noStrike">
              <a:solidFill>
                <a:srgbClr val="000000"/>
              </a:solidFill>
              <a:latin typeface="Arial"/>
            </a:endParaRPr>
          </a:p>
        </p:txBody>
      </p:sp>
      <p:sp>
        <p:nvSpPr>
          <p:cNvPr id="215" name=""/>
          <p:cNvSpPr txBox="1"/>
          <p:nvPr/>
        </p:nvSpPr>
        <p:spPr>
          <a:xfrm>
            <a:off x="838080" y="4777920"/>
            <a:ext cx="10515600" cy="487800"/>
          </a:xfrm>
          <a:prstGeom prst="rect">
            <a:avLst/>
          </a:prstGeom>
          <a:noFill/>
          <a:ln w="0">
            <a:noFill/>
          </a:ln>
        </p:spPr>
        <p:txBody>
          <a:bodyPr lIns="0" rIns="0" tIns="0" bIns="0" anchor="t">
            <a:noAutofit/>
          </a:bodyPr>
          <a:p>
            <a:r>
              <a:rPr b="1" lang="en-US" sz="2540" spc="-1" strike="noStrike">
                <a:solidFill>
                  <a:srgbClr val="004899"/>
                </a:solidFill>
                <a:latin typeface="Noto Sans"/>
              </a:rPr>
              <a:t>Kurskonvention für Tabellen: (longitude, latitude) = (x, y)</a:t>
            </a:r>
            <a:endParaRPr b="0" lang="en-US" sz="2540" spc="-1" strike="noStrike">
              <a:solidFill>
                <a:srgbClr val="000000"/>
              </a:solidFill>
              <a:latin typeface="Arial"/>
            </a:endParaRPr>
          </a:p>
        </p:txBody>
      </p:sp>
      <p:sp>
        <p:nvSpPr>
          <p:cNvPr id="21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7"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Andere Dienste können eine andere Reihenfolge erwarten.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Vertauscht – und trotzdem formal gültig</a:t>
            </a:r>
            <a:endParaRPr b="0" lang="en-US" sz="3190" spc="-1" strike="noStrike">
              <a:solidFill>
                <a:srgbClr val="000000"/>
              </a:solidFill>
              <a:latin typeface="Arial"/>
            </a:endParaRPr>
          </a:p>
        </p:txBody>
      </p:sp>
      <p:sp>
        <p:nvSpPr>
          <p:cNvPr id="21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02 · KOORDINATEN</a:t>
            </a:r>
            <a:endParaRPr b="0" lang="en-US" sz="1130" spc="-1" strike="noStrike">
              <a:solidFill>
                <a:srgbClr val="000000"/>
              </a:solidFill>
              <a:latin typeface="Arial"/>
            </a:endParaRPr>
          </a:p>
        </p:txBody>
      </p:sp>
      <p:sp>
        <p:nvSpPr>
          <p:cNvPr id="22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22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pic>
        <p:nvPicPr>
          <p:cNvPr id="222" name="" descr="Im gleichen lon/lat-Gitter liegt A bei 8,77 Grad Ost und 50,81 Grad Nord. Nach Vertauschen liegt B bei 50,81 Grad Ost und 8,77 Grad Nord. Beide Paare sind formal gültig."/>
          <p:cNvPicPr/>
          <p:nvPr/>
        </p:nvPicPr>
        <p:blipFill>
          <a:blip r:embed="rId1">
            <a:extLst>
              <a:ext uri="{96DAC541-7B7A-43D3-8B79-37D633B846F1}">
                <asvg:svgBlip xmlns:asvg="http://schemas.microsoft.com/office/drawing/2016/SVG/main" r:embed="rId2"/>
              </a:ext>
            </a:extLst>
          </a:blip>
          <a:stretch/>
        </p:blipFill>
        <p:spPr>
          <a:xfrm>
            <a:off x="762120" y="1600200"/>
            <a:ext cx="3809880" cy="3871080"/>
          </a:xfrm>
          <a:prstGeom prst="rect">
            <a:avLst/>
          </a:prstGeom>
          <a:ln w="0">
            <a:noFill/>
          </a:ln>
        </p:spPr>
      </p:pic>
      <p:sp>
        <p:nvSpPr>
          <p:cNvPr id="223" name=""/>
          <p:cNvSpPr/>
          <p:nvPr/>
        </p:nvSpPr>
        <p:spPr>
          <a:xfrm>
            <a:off x="4952880" y="1790640"/>
            <a:ext cx="6591240" cy="1676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4" name=""/>
          <p:cNvSpPr/>
          <p:nvPr/>
        </p:nvSpPr>
        <p:spPr>
          <a:xfrm>
            <a:off x="4952880" y="1790640"/>
            <a:ext cx="53280" cy="16765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5" name=""/>
          <p:cNvSpPr txBox="1"/>
          <p:nvPr/>
        </p:nvSpPr>
        <p:spPr>
          <a:xfrm>
            <a:off x="5158800" y="1973520"/>
            <a:ext cx="6179760" cy="647640"/>
          </a:xfrm>
          <a:prstGeom prst="rect">
            <a:avLst/>
          </a:prstGeom>
          <a:noFill/>
          <a:ln w="0">
            <a:noFill/>
          </a:ln>
        </p:spPr>
        <p:txBody>
          <a:bodyPr lIns="0" rIns="0" tIns="0" bIns="0" anchor="t">
            <a:noAutofit/>
          </a:bodyPr>
          <a:p>
            <a:r>
              <a:rPr b="1" lang="en-US" sz="2540" spc="-1" strike="noStrike">
                <a:solidFill>
                  <a:srgbClr val="004899"/>
                </a:solidFill>
                <a:latin typeface="Noto Sans"/>
              </a:rPr>
              <a:t>Kurskonvention</a:t>
            </a:r>
            <a:endParaRPr b="0" lang="en-US" sz="2540" spc="-1" strike="noStrike">
              <a:solidFill>
                <a:srgbClr val="000000"/>
              </a:solidFill>
              <a:latin typeface="Arial"/>
            </a:endParaRPr>
          </a:p>
        </p:txBody>
      </p:sp>
      <p:sp>
        <p:nvSpPr>
          <p:cNvPr id="226" name=""/>
          <p:cNvSpPr txBox="1"/>
          <p:nvPr/>
        </p:nvSpPr>
        <p:spPr>
          <a:xfrm>
            <a:off x="5158800" y="2552760"/>
            <a:ext cx="6179760" cy="777240"/>
          </a:xfrm>
          <a:prstGeom prst="rect">
            <a:avLst/>
          </a:prstGeom>
          <a:noFill/>
          <a:ln w="0">
            <a:noFill/>
          </a:ln>
        </p:spPr>
        <p:txBody>
          <a:bodyPr lIns="0" rIns="0" tIns="0" bIns="0" anchor="t">
            <a:noAutofit/>
          </a:bodyPr>
          <a:p>
            <a:r>
              <a:rPr b="0" lang="en-US" sz="2720" spc="-1" strike="noStrike">
                <a:solidFill>
                  <a:srgbClr val="000000"/>
                </a:solidFill>
                <a:latin typeface="Noto Sans"/>
              </a:rPr>
              <a:t>(longitude, latitude) = (x, y)</a:t>
            </a:r>
            <a:endParaRPr b="0" lang="en-US" sz="2720" spc="-1" strike="noStrike">
              <a:solidFill>
                <a:srgbClr val="000000"/>
              </a:solidFill>
              <a:latin typeface="Arial"/>
            </a:endParaRPr>
          </a:p>
        </p:txBody>
      </p:sp>
      <p:sp>
        <p:nvSpPr>
          <p:cNvPr id="227" name=""/>
          <p:cNvSpPr/>
          <p:nvPr/>
        </p:nvSpPr>
        <p:spPr>
          <a:xfrm>
            <a:off x="4952880" y="3733920"/>
            <a:ext cx="6591240" cy="1676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8" name=""/>
          <p:cNvSpPr/>
          <p:nvPr/>
        </p:nvSpPr>
        <p:spPr>
          <a:xfrm>
            <a:off x="4952880" y="3733920"/>
            <a:ext cx="53280" cy="16765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9" name=""/>
          <p:cNvSpPr txBox="1"/>
          <p:nvPr/>
        </p:nvSpPr>
        <p:spPr>
          <a:xfrm>
            <a:off x="5158800" y="3916800"/>
            <a:ext cx="6179760" cy="647640"/>
          </a:xfrm>
          <a:prstGeom prst="rect">
            <a:avLst/>
          </a:prstGeom>
          <a:noFill/>
          <a:ln w="0">
            <a:noFill/>
          </a:ln>
        </p:spPr>
        <p:txBody>
          <a:bodyPr lIns="0" rIns="0" tIns="0" bIns="0" anchor="t">
            <a:noAutofit/>
          </a:bodyPr>
          <a:p>
            <a:r>
              <a:rPr b="1" lang="en-US" sz="2540" spc="-1" strike="noStrike">
                <a:solidFill>
                  <a:srgbClr val="a32123"/>
                </a:solidFill>
                <a:latin typeface="Noto Sans"/>
              </a:rPr>
              <a:t>Plausibilitätsprüfung</a:t>
            </a:r>
            <a:endParaRPr b="0" lang="en-US" sz="2540" spc="-1" strike="noStrike">
              <a:solidFill>
                <a:srgbClr val="000000"/>
              </a:solidFill>
              <a:latin typeface="Arial"/>
            </a:endParaRPr>
          </a:p>
        </p:txBody>
      </p:sp>
      <p:sp>
        <p:nvSpPr>
          <p:cNvPr id="230" name=""/>
          <p:cNvSpPr txBox="1"/>
          <p:nvPr/>
        </p:nvSpPr>
        <p:spPr>
          <a:xfrm>
            <a:off x="5158800" y="4495680"/>
            <a:ext cx="6179760" cy="777240"/>
          </a:xfrm>
          <a:prstGeom prst="rect">
            <a:avLst/>
          </a:prstGeom>
          <a:noFill/>
          <a:ln w="0">
            <a:noFill/>
          </a:ln>
        </p:spPr>
        <p:txBody>
          <a:bodyPr lIns="0" rIns="0" tIns="0" bIns="0" anchor="t">
            <a:noAutofit/>
          </a:bodyPr>
          <a:p>
            <a:r>
              <a:rPr b="0" lang="en-US" sz="2350" spc="-1" strike="noStrike">
                <a:solidFill>
                  <a:srgbClr val="000000"/>
                </a:solidFill>
                <a:latin typeface="Noto Sans"/>
              </a:rPr>
              <a:t>Wertebereich + Achsen + erwartete Lage + Metadaten</a:t>
            </a:r>
            <a:endParaRPr b="0" lang="en-US" sz="2350" spc="-1" strike="noStrike">
              <a:solidFill>
                <a:srgbClr val="000000"/>
              </a:solidFill>
              <a:latin typeface="Arial"/>
            </a:endParaRPr>
          </a:p>
        </p:txBody>
      </p:sp>
      <p:sp>
        <p:nvSpPr>
          <p:cNvPr id="23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2"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Formal gültig bedeutet noch nicht räumlich plausibel.</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 Koordinatenpaare müssen wir prüfen?</a:t>
            </a:r>
            <a:endParaRPr b="0" lang="en-US" sz="3190" spc="-1" strike="noStrike">
              <a:solidFill>
                <a:srgbClr val="000000"/>
              </a:solidFill>
              <a:latin typeface="Arial"/>
            </a:endParaRPr>
          </a:p>
        </p:txBody>
      </p:sp>
      <p:sp>
        <p:nvSpPr>
          <p:cNvPr id="23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ÜBUNG · KOORDINATENDATEN</a:t>
            </a:r>
            <a:endParaRPr b="0" lang="en-US" sz="1130" spc="-1" strike="noStrike">
              <a:solidFill>
                <a:srgbClr val="000000"/>
              </a:solidFill>
              <a:latin typeface="Arial"/>
            </a:endParaRPr>
          </a:p>
        </p:txBody>
      </p:sp>
      <p:sp>
        <p:nvSpPr>
          <p:cNvPr id="23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23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sp>
        <p:nvSpPr>
          <p:cNvPr id="237" name=""/>
          <p:cNvSpPr/>
          <p:nvPr/>
        </p:nvSpPr>
        <p:spPr>
          <a:xfrm>
            <a:off x="647640" y="1600200"/>
            <a:ext cx="1348920" cy="541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8" name=""/>
          <p:cNvSpPr txBox="1"/>
          <p:nvPr/>
        </p:nvSpPr>
        <p:spPr>
          <a:xfrm>
            <a:off x="784800" y="1729800"/>
            <a:ext cx="1097280" cy="411480"/>
          </a:xfrm>
          <a:prstGeom prst="rect">
            <a:avLst/>
          </a:prstGeom>
          <a:noFill/>
          <a:ln w="0">
            <a:noFill/>
          </a:ln>
        </p:spPr>
        <p:txBody>
          <a:bodyPr lIns="0" rIns="0" tIns="0" bIns="0" anchor="t">
            <a:noAutofit/>
          </a:bodyPr>
          <a:p>
            <a:r>
              <a:rPr b="1" lang="en-US" sz="2350" spc="-1" strike="noStrike">
                <a:solidFill>
                  <a:srgbClr val="ffffff"/>
                </a:solidFill>
                <a:latin typeface="Noto Sans"/>
              </a:rPr>
              <a:t>Nr.</a:t>
            </a:r>
            <a:endParaRPr b="0" lang="en-US" sz="2350" spc="-1" strike="noStrike">
              <a:solidFill>
                <a:srgbClr val="000000"/>
              </a:solidFill>
              <a:latin typeface="Arial"/>
            </a:endParaRPr>
          </a:p>
        </p:txBody>
      </p:sp>
      <p:sp>
        <p:nvSpPr>
          <p:cNvPr id="239" name=""/>
          <p:cNvSpPr/>
          <p:nvPr/>
        </p:nvSpPr>
        <p:spPr>
          <a:xfrm>
            <a:off x="2019240" y="1600200"/>
            <a:ext cx="4739760" cy="541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0" name=""/>
          <p:cNvSpPr txBox="1"/>
          <p:nvPr/>
        </p:nvSpPr>
        <p:spPr>
          <a:xfrm>
            <a:off x="2156400" y="1729800"/>
            <a:ext cx="4488120" cy="411480"/>
          </a:xfrm>
          <a:prstGeom prst="rect">
            <a:avLst/>
          </a:prstGeom>
          <a:noFill/>
          <a:ln w="0">
            <a:noFill/>
          </a:ln>
        </p:spPr>
        <p:txBody>
          <a:bodyPr lIns="0" rIns="0" tIns="0" bIns="0" anchor="t">
            <a:noAutofit/>
          </a:bodyPr>
          <a:p>
            <a:r>
              <a:rPr b="1" lang="en-US" sz="2350" spc="-1" strike="noStrike">
                <a:solidFill>
                  <a:srgbClr val="ffffff"/>
                </a:solidFill>
                <a:latin typeface="Noto Sans"/>
              </a:rPr>
              <a:t>longitude · x</a:t>
            </a:r>
            <a:endParaRPr b="0" lang="en-US" sz="2350" spc="-1" strike="noStrike">
              <a:solidFill>
                <a:srgbClr val="000000"/>
              </a:solidFill>
              <a:latin typeface="Arial"/>
            </a:endParaRPr>
          </a:p>
        </p:txBody>
      </p:sp>
      <p:sp>
        <p:nvSpPr>
          <p:cNvPr id="241" name=""/>
          <p:cNvSpPr/>
          <p:nvPr/>
        </p:nvSpPr>
        <p:spPr>
          <a:xfrm>
            <a:off x="6782040" y="1600200"/>
            <a:ext cx="4739760" cy="541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2" name=""/>
          <p:cNvSpPr txBox="1"/>
          <p:nvPr/>
        </p:nvSpPr>
        <p:spPr>
          <a:xfrm>
            <a:off x="6919200" y="1729800"/>
            <a:ext cx="4488120" cy="411480"/>
          </a:xfrm>
          <a:prstGeom prst="rect">
            <a:avLst/>
          </a:prstGeom>
          <a:noFill/>
          <a:ln w="0">
            <a:noFill/>
          </a:ln>
        </p:spPr>
        <p:txBody>
          <a:bodyPr lIns="0" rIns="0" tIns="0" bIns="0" anchor="t">
            <a:noAutofit/>
          </a:bodyPr>
          <a:p>
            <a:r>
              <a:rPr b="1" lang="en-US" sz="2350" spc="-1" strike="noStrike">
                <a:solidFill>
                  <a:srgbClr val="ffffff"/>
                </a:solidFill>
                <a:latin typeface="Noto Sans"/>
              </a:rPr>
              <a:t>latitude · y</a:t>
            </a:r>
            <a:endParaRPr b="0" lang="en-US" sz="2350" spc="-1" strike="noStrike">
              <a:solidFill>
                <a:srgbClr val="000000"/>
              </a:solidFill>
              <a:latin typeface="Arial"/>
            </a:endParaRPr>
          </a:p>
        </p:txBody>
      </p:sp>
      <p:sp>
        <p:nvSpPr>
          <p:cNvPr id="243" name=""/>
          <p:cNvSpPr/>
          <p:nvPr/>
        </p:nvSpPr>
        <p:spPr>
          <a:xfrm>
            <a:off x="647640" y="2163960"/>
            <a:ext cx="134892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4" name=""/>
          <p:cNvSpPr txBox="1"/>
          <p:nvPr/>
        </p:nvSpPr>
        <p:spPr>
          <a:xfrm>
            <a:off x="784800" y="2293560"/>
            <a:ext cx="1097280" cy="411480"/>
          </a:xfrm>
          <a:prstGeom prst="rect">
            <a:avLst/>
          </a:prstGeom>
          <a:noFill/>
          <a:ln w="0">
            <a:noFill/>
          </a:ln>
        </p:spPr>
        <p:txBody>
          <a:bodyPr lIns="0" rIns="0" tIns="0" bIns="0" anchor="t">
            <a:noAutofit/>
          </a:bodyPr>
          <a:p>
            <a:r>
              <a:rPr b="0" lang="en-US" sz="2350" spc="-1" strike="noStrike">
                <a:solidFill>
                  <a:srgbClr val="000000"/>
                </a:solidFill>
                <a:latin typeface="Noto Sans"/>
              </a:rPr>
              <a:t>1</a:t>
            </a:r>
            <a:endParaRPr b="0" lang="en-US" sz="2350" spc="-1" strike="noStrike">
              <a:solidFill>
                <a:srgbClr val="000000"/>
              </a:solidFill>
              <a:latin typeface="Arial"/>
            </a:endParaRPr>
          </a:p>
        </p:txBody>
      </p:sp>
      <p:sp>
        <p:nvSpPr>
          <p:cNvPr id="245" name=""/>
          <p:cNvSpPr/>
          <p:nvPr/>
        </p:nvSpPr>
        <p:spPr>
          <a:xfrm>
            <a:off x="2019240" y="2163960"/>
            <a:ext cx="473976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6" name=""/>
          <p:cNvSpPr txBox="1"/>
          <p:nvPr/>
        </p:nvSpPr>
        <p:spPr>
          <a:xfrm>
            <a:off x="2156400" y="229356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8.77</a:t>
            </a:r>
            <a:endParaRPr b="0" lang="en-US" sz="2350" spc="-1" strike="noStrike">
              <a:solidFill>
                <a:srgbClr val="000000"/>
              </a:solidFill>
              <a:latin typeface="Arial"/>
            </a:endParaRPr>
          </a:p>
        </p:txBody>
      </p:sp>
      <p:sp>
        <p:nvSpPr>
          <p:cNvPr id="247" name=""/>
          <p:cNvSpPr/>
          <p:nvPr/>
        </p:nvSpPr>
        <p:spPr>
          <a:xfrm>
            <a:off x="6782040" y="2163960"/>
            <a:ext cx="473976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8" name=""/>
          <p:cNvSpPr txBox="1"/>
          <p:nvPr/>
        </p:nvSpPr>
        <p:spPr>
          <a:xfrm>
            <a:off x="6919200" y="229356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50.81</a:t>
            </a:r>
            <a:endParaRPr b="0" lang="en-US" sz="2350" spc="-1" strike="noStrike">
              <a:solidFill>
                <a:srgbClr val="000000"/>
              </a:solidFill>
              <a:latin typeface="Arial"/>
            </a:endParaRPr>
          </a:p>
        </p:txBody>
      </p:sp>
      <p:sp>
        <p:nvSpPr>
          <p:cNvPr id="249" name=""/>
          <p:cNvSpPr/>
          <p:nvPr/>
        </p:nvSpPr>
        <p:spPr>
          <a:xfrm>
            <a:off x="647640" y="2728080"/>
            <a:ext cx="134892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0" name=""/>
          <p:cNvSpPr txBox="1"/>
          <p:nvPr/>
        </p:nvSpPr>
        <p:spPr>
          <a:xfrm>
            <a:off x="784800" y="2857680"/>
            <a:ext cx="1097280" cy="411480"/>
          </a:xfrm>
          <a:prstGeom prst="rect">
            <a:avLst/>
          </a:prstGeom>
          <a:noFill/>
          <a:ln w="0">
            <a:noFill/>
          </a:ln>
        </p:spPr>
        <p:txBody>
          <a:bodyPr lIns="0" rIns="0" tIns="0" bIns="0" anchor="t">
            <a:noAutofit/>
          </a:bodyPr>
          <a:p>
            <a:r>
              <a:rPr b="0" lang="en-US" sz="2350" spc="-1" strike="noStrike">
                <a:solidFill>
                  <a:srgbClr val="000000"/>
                </a:solidFill>
                <a:latin typeface="Noto Sans"/>
              </a:rPr>
              <a:t>2</a:t>
            </a:r>
            <a:endParaRPr b="0" lang="en-US" sz="2350" spc="-1" strike="noStrike">
              <a:solidFill>
                <a:srgbClr val="000000"/>
              </a:solidFill>
              <a:latin typeface="Arial"/>
            </a:endParaRPr>
          </a:p>
        </p:txBody>
      </p:sp>
      <p:sp>
        <p:nvSpPr>
          <p:cNvPr id="251" name=""/>
          <p:cNvSpPr/>
          <p:nvPr/>
        </p:nvSpPr>
        <p:spPr>
          <a:xfrm>
            <a:off x="2019240" y="2728080"/>
            <a:ext cx="473976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2" name=""/>
          <p:cNvSpPr txBox="1"/>
          <p:nvPr/>
        </p:nvSpPr>
        <p:spPr>
          <a:xfrm>
            <a:off x="2156400" y="285768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50.81</a:t>
            </a:r>
            <a:endParaRPr b="0" lang="en-US" sz="2350" spc="-1" strike="noStrike">
              <a:solidFill>
                <a:srgbClr val="000000"/>
              </a:solidFill>
              <a:latin typeface="Arial"/>
            </a:endParaRPr>
          </a:p>
        </p:txBody>
      </p:sp>
      <p:sp>
        <p:nvSpPr>
          <p:cNvPr id="253" name=""/>
          <p:cNvSpPr/>
          <p:nvPr/>
        </p:nvSpPr>
        <p:spPr>
          <a:xfrm>
            <a:off x="6782040" y="2728080"/>
            <a:ext cx="473976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4" name=""/>
          <p:cNvSpPr txBox="1"/>
          <p:nvPr/>
        </p:nvSpPr>
        <p:spPr>
          <a:xfrm>
            <a:off x="6919200" y="285768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8.77</a:t>
            </a:r>
            <a:endParaRPr b="0" lang="en-US" sz="2350" spc="-1" strike="noStrike">
              <a:solidFill>
                <a:srgbClr val="000000"/>
              </a:solidFill>
              <a:latin typeface="Arial"/>
            </a:endParaRPr>
          </a:p>
        </p:txBody>
      </p:sp>
      <p:sp>
        <p:nvSpPr>
          <p:cNvPr id="255" name=""/>
          <p:cNvSpPr/>
          <p:nvPr/>
        </p:nvSpPr>
        <p:spPr>
          <a:xfrm>
            <a:off x="647640" y="3291840"/>
            <a:ext cx="134892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6" name=""/>
          <p:cNvSpPr txBox="1"/>
          <p:nvPr/>
        </p:nvSpPr>
        <p:spPr>
          <a:xfrm>
            <a:off x="784800" y="3421440"/>
            <a:ext cx="1097280" cy="411480"/>
          </a:xfrm>
          <a:prstGeom prst="rect">
            <a:avLst/>
          </a:prstGeom>
          <a:noFill/>
          <a:ln w="0">
            <a:noFill/>
          </a:ln>
        </p:spPr>
        <p:txBody>
          <a:bodyPr lIns="0" rIns="0" tIns="0" bIns="0" anchor="t">
            <a:noAutofit/>
          </a:bodyPr>
          <a:p>
            <a:r>
              <a:rPr b="0" lang="en-US" sz="2350" spc="-1" strike="noStrike">
                <a:solidFill>
                  <a:srgbClr val="000000"/>
                </a:solidFill>
                <a:latin typeface="Noto Sans"/>
              </a:rPr>
              <a:t>3</a:t>
            </a:r>
            <a:endParaRPr b="0" lang="en-US" sz="2350" spc="-1" strike="noStrike">
              <a:solidFill>
                <a:srgbClr val="000000"/>
              </a:solidFill>
              <a:latin typeface="Arial"/>
            </a:endParaRPr>
          </a:p>
        </p:txBody>
      </p:sp>
      <p:sp>
        <p:nvSpPr>
          <p:cNvPr id="257" name=""/>
          <p:cNvSpPr/>
          <p:nvPr/>
        </p:nvSpPr>
        <p:spPr>
          <a:xfrm>
            <a:off x="2019240" y="3291840"/>
            <a:ext cx="473976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8" name=""/>
          <p:cNvSpPr txBox="1"/>
          <p:nvPr/>
        </p:nvSpPr>
        <p:spPr>
          <a:xfrm>
            <a:off x="2156400" y="342144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188.40</a:t>
            </a:r>
            <a:endParaRPr b="0" lang="en-US" sz="2350" spc="-1" strike="noStrike">
              <a:solidFill>
                <a:srgbClr val="000000"/>
              </a:solidFill>
              <a:latin typeface="Arial"/>
            </a:endParaRPr>
          </a:p>
        </p:txBody>
      </p:sp>
      <p:sp>
        <p:nvSpPr>
          <p:cNvPr id="259" name=""/>
          <p:cNvSpPr/>
          <p:nvPr/>
        </p:nvSpPr>
        <p:spPr>
          <a:xfrm>
            <a:off x="6782040" y="3291840"/>
            <a:ext cx="473976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0" name=""/>
          <p:cNvSpPr txBox="1"/>
          <p:nvPr/>
        </p:nvSpPr>
        <p:spPr>
          <a:xfrm>
            <a:off x="6919200" y="342144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50.81</a:t>
            </a:r>
            <a:endParaRPr b="0" lang="en-US" sz="2350" spc="-1" strike="noStrike">
              <a:solidFill>
                <a:srgbClr val="000000"/>
              </a:solidFill>
              <a:latin typeface="Arial"/>
            </a:endParaRPr>
          </a:p>
        </p:txBody>
      </p:sp>
      <p:sp>
        <p:nvSpPr>
          <p:cNvPr id="261" name=""/>
          <p:cNvSpPr/>
          <p:nvPr/>
        </p:nvSpPr>
        <p:spPr>
          <a:xfrm>
            <a:off x="647640" y="3855600"/>
            <a:ext cx="134892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2" name=""/>
          <p:cNvSpPr txBox="1"/>
          <p:nvPr/>
        </p:nvSpPr>
        <p:spPr>
          <a:xfrm>
            <a:off x="784800" y="3985200"/>
            <a:ext cx="1097280" cy="411480"/>
          </a:xfrm>
          <a:prstGeom prst="rect">
            <a:avLst/>
          </a:prstGeom>
          <a:noFill/>
          <a:ln w="0">
            <a:noFill/>
          </a:ln>
        </p:spPr>
        <p:txBody>
          <a:bodyPr lIns="0" rIns="0" tIns="0" bIns="0" anchor="t">
            <a:noAutofit/>
          </a:bodyPr>
          <a:p>
            <a:r>
              <a:rPr b="0" lang="en-US" sz="2350" spc="-1" strike="noStrike">
                <a:solidFill>
                  <a:srgbClr val="000000"/>
                </a:solidFill>
                <a:latin typeface="Noto Sans"/>
              </a:rPr>
              <a:t>4</a:t>
            </a:r>
            <a:endParaRPr b="0" lang="en-US" sz="2350" spc="-1" strike="noStrike">
              <a:solidFill>
                <a:srgbClr val="000000"/>
              </a:solidFill>
              <a:latin typeface="Arial"/>
            </a:endParaRPr>
          </a:p>
        </p:txBody>
      </p:sp>
      <p:sp>
        <p:nvSpPr>
          <p:cNvPr id="263" name=""/>
          <p:cNvSpPr/>
          <p:nvPr/>
        </p:nvSpPr>
        <p:spPr>
          <a:xfrm>
            <a:off x="2019240" y="3855600"/>
            <a:ext cx="473976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4" name=""/>
          <p:cNvSpPr txBox="1"/>
          <p:nvPr/>
        </p:nvSpPr>
        <p:spPr>
          <a:xfrm>
            <a:off x="2156400" y="398520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8.77</a:t>
            </a:r>
            <a:endParaRPr b="0" lang="en-US" sz="2350" spc="-1" strike="noStrike">
              <a:solidFill>
                <a:srgbClr val="000000"/>
              </a:solidFill>
              <a:latin typeface="Arial"/>
            </a:endParaRPr>
          </a:p>
        </p:txBody>
      </p:sp>
      <p:sp>
        <p:nvSpPr>
          <p:cNvPr id="265" name=""/>
          <p:cNvSpPr/>
          <p:nvPr/>
        </p:nvSpPr>
        <p:spPr>
          <a:xfrm>
            <a:off x="6782040" y="3855600"/>
            <a:ext cx="473976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6" name=""/>
          <p:cNvSpPr txBox="1"/>
          <p:nvPr/>
        </p:nvSpPr>
        <p:spPr>
          <a:xfrm>
            <a:off x="6919200" y="398520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a:t>
            </a:r>
            <a:r>
              <a:rPr b="0" lang="en-US" sz="2350" spc="-1" strike="noStrike">
                <a:solidFill>
                  <a:srgbClr val="000000"/>
                </a:solidFill>
                <a:latin typeface="Noto Sans"/>
              </a:rPr>
              <a:t>50.81</a:t>
            </a:r>
            <a:endParaRPr b="0" lang="en-US" sz="2350" spc="-1" strike="noStrike">
              <a:solidFill>
                <a:srgbClr val="000000"/>
              </a:solidFill>
              <a:latin typeface="Arial"/>
            </a:endParaRPr>
          </a:p>
        </p:txBody>
      </p:sp>
      <p:sp>
        <p:nvSpPr>
          <p:cNvPr id="267" name=""/>
          <p:cNvSpPr/>
          <p:nvPr/>
        </p:nvSpPr>
        <p:spPr>
          <a:xfrm>
            <a:off x="647640" y="4419720"/>
            <a:ext cx="134892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8" name=""/>
          <p:cNvSpPr txBox="1"/>
          <p:nvPr/>
        </p:nvSpPr>
        <p:spPr>
          <a:xfrm>
            <a:off x="784800" y="4549320"/>
            <a:ext cx="1097280" cy="411480"/>
          </a:xfrm>
          <a:prstGeom prst="rect">
            <a:avLst/>
          </a:prstGeom>
          <a:noFill/>
          <a:ln w="0">
            <a:noFill/>
          </a:ln>
        </p:spPr>
        <p:txBody>
          <a:bodyPr lIns="0" rIns="0" tIns="0" bIns="0" anchor="t">
            <a:noAutofit/>
          </a:bodyPr>
          <a:p>
            <a:r>
              <a:rPr b="0" lang="en-US" sz="2350" spc="-1" strike="noStrike">
                <a:solidFill>
                  <a:srgbClr val="000000"/>
                </a:solidFill>
                <a:latin typeface="Noto Sans"/>
              </a:rPr>
              <a:t>5</a:t>
            </a:r>
            <a:endParaRPr b="0" lang="en-US" sz="2350" spc="-1" strike="noStrike">
              <a:solidFill>
                <a:srgbClr val="000000"/>
              </a:solidFill>
              <a:latin typeface="Arial"/>
            </a:endParaRPr>
          </a:p>
        </p:txBody>
      </p:sp>
      <p:sp>
        <p:nvSpPr>
          <p:cNvPr id="269" name=""/>
          <p:cNvSpPr/>
          <p:nvPr/>
        </p:nvSpPr>
        <p:spPr>
          <a:xfrm>
            <a:off x="2019240" y="4419720"/>
            <a:ext cx="473976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0" name=""/>
          <p:cNvSpPr txBox="1"/>
          <p:nvPr/>
        </p:nvSpPr>
        <p:spPr>
          <a:xfrm>
            <a:off x="2156400" y="454932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0</a:t>
            </a:r>
            <a:endParaRPr b="0" lang="en-US" sz="2350" spc="-1" strike="noStrike">
              <a:solidFill>
                <a:srgbClr val="000000"/>
              </a:solidFill>
              <a:latin typeface="Arial"/>
            </a:endParaRPr>
          </a:p>
        </p:txBody>
      </p:sp>
      <p:sp>
        <p:nvSpPr>
          <p:cNvPr id="271" name=""/>
          <p:cNvSpPr/>
          <p:nvPr/>
        </p:nvSpPr>
        <p:spPr>
          <a:xfrm>
            <a:off x="6782040" y="4419720"/>
            <a:ext cx="473976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2" name=""/>
          <p:cNvSpPr txBox="1"/>
          <p:nvPr/>
        </p:nvSpPr>
        <p:spPr>
          <a:xfrm>
            <a:off x="6919200" y="4549320"/>
            <a:ext cx="4488120" cy="411480"/>
          </a:xfrm>
          <a:prstGeom prst="rect">
            <a:avLst/>
          </a:prstGeom>
          <a:noFill/>
          <a:ln w="0">
            <a:noFill/>
          </a:ln>
        </p:spPr>
        <p:txBody>
          <a:bodyPr lIns="0" rIns="0" tIns="0" bIns="0" anchor="t">
            <a:noAutofit/>
          </a:bodyPr>
          <a:p>
            <a:r>
              <a:rPr b="0" lang="en-US" sz="2350" spc="-1" strike="noStrike">
                <a:solidFill>
                  <a:srgbClr val="000000"/>
                </a:solidFill>
                <a:latin typeface="Noto Sans"/>
              </a:rPr>
              <a:t>0</a:t>
            </a:r>
            <a:endParaRPr b="0" lang="en-US" sz="2350" spc="-1" strike="noStrike">
              <a:solidFill>
                <a:srgbClr val="000000"/>
              </a:solidFill>
              <a:latin typeface="Arial"/>
            </a:endParaRPr>
          </a:p>
        </p:txBody>
      </p:sp>
      <p:sp>
        <p:nvSpPr>
          <p:cNvPr id="273" name=""/>
          <p:cNvSpPr txBox="1"/>
          <p:nvPr/>
        </p:nvSpPr>
        <p:spPr>
          <a:xfrm>
            <a:off x="762120" y="5135760"/>
            <a:ext cx="10668240" cy="343080"/>
          </a:xfrm>
          <a:prstGeom prst="rect">
            <a:avLst/>
          </a:prstGeom>
          <a:noFill/>
          <a:ln w="0">
            <a:noFill/>
          </a:ln>
        </p:spPr>
        <p:txBody>
          <a:bodyPr lIns="0" rIns="0" tIns="0" bIns="0" anchor="t">
            <a:noAutofit/>
          </a:bodyPr>
          <a:p>
            <a:r>
              <a:rPr b="0" lang="en-US" sz="2160" spc="-1" strike="noStrike">
                <a:solidFill>
                  <a:srgbClr val="414141"/>
                </a:solidFill>
                <a:latin typeface="Noto Sans"/>
              </a:rPr>
              <a:t>Geplant: Orte in Deutschland · Einheit: Dezimalgrad</a:t>
            </a:r>
            <a:endParaRPr b="0" lang="en-US" sz="2160" spc="-1" strike="noStrike">
              <a:solidFill>
                <a:srgbClr val="000000"/>
              </a:solidFill>
              <a:latin typeface="Arial"/>
            </a:endParaRPr>
          </a:p>
        </p:txBody>
      </p:sp>
      <p:sp>
        <p:nvSpPr>
          <p:cNvPr id="27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5"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Markieren Sie Auffälligkeiten. Begründen Sie Ihren Verdacht.</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Plausibel ist noch nicht geprüft</a:t>
            </a:r>
            <a:endParaRPr b="0" lang="en-US" sz="3190" spc="-1" strike="noStrike">
              <a:solidFill>
                <a:srgbClr val="000000"/>
              </a:solidFill>
              <a:latin typeface="Arial"/>
            </a:endParaRPr>
          </a:p>
        </p:txBody>
      </p:sp>
      <p:sp>
        <p:nvSpPr>
          <p:cNvPr id="27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KOORDINATENDATEN</a:t>
            </a:r>
            <a:endParaRPr b="0" lang="en-US" sz="1130" spc="-1" strike="noStrike">
              <a:solidFill>
                <a:srgbClr val="000000"/>
              </a:solidFill>
              <a:latin typeface="Arial"/>
            </a:endParaRPr>
          </a:p>
        </p:txBody>
      </p:sp>
      <p:sp>
        <p:nvSpPr>
          <p:cNvPr id="27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27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sp>
        <p:nvSpPr>
          <p:cNvPr id="280" name=""/>
          <p:cNvSpPr/>
          <p:nvPr/>
        </p:nvSpPr>
        <p:spPr>
          <a:xfrm>
            <a:off x="647640" y="1600200"/>
            <a:ext cx="1348920" cy="541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1" name=""/>
          <p:cNvSpPr txBox="1"/>
          <p:nvPr/>
        </p:nvSpPr>
        <p:spPr>
          <a:xfrm>
            <a:off x="784800" y="1729800"/>
            <a:ext cx="1097280" cy="411480"/>
          </a:xfrm>
          <a:prstGeom prst="rect">
            <a:avLst/>
          </a:prstGeom>
          <a:noFill/>
          <a:ln w="0">
            <a:noFill/>
          </a:ln>
        </p:spPr>
        <p:txBody>
          <a:bodyPr lIns="0" rIns="0" tIns="0" bIns="0" anchor="t">
            <a:noAutofit/>
          </a:bodyPr>
          <a:p>
            <a:r>
              <a:rPr b="1" lang="en-US" sz="2160" spc="-1" strike="noStrike">
                <a:solidFill>
                  <a:srgbClr val="ffffff"/>
                </a:solidFill>
                <a:latin typeface="Noto Sans"/>
              </a:rPr>
              <a:t>Nr.</a:t>
            </a:r>
            <a:endParaRPr b="0" lang="en-US" sz="2160" spc="-1" strike="noStrike">
              <a:solidFill>
                <a:srgbClr val="000000"/>
              </a:solidFill>
              <a:latin typeface="Arial"/>
            </a:endParaRPr>
          </a:p>
        </p:txBody>
      </p:sp>
      <p:sp>
        <p:nvSpPr>
          <p:cNvPr id="282" name=""/>
          <p:cNvSpPr/>
          <p:nvPr/>
        </p:nvSpPr>
        <p:spPr>
          <a:xfrm>
            <a:off x="2019240" y="1600200"/>
            <a:ext cx="9502200" cy="541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3" name=""/>
          <p:cNvSpPr txBox="1"/>
          <p:nvPr/>
        </p:nvSpPr>
        <p:spPr>
          <a:xfrm>
            <a:off x="2156400" y="1729800"/>
            <a:ext cx="9250920" cy="411480"/>
          </a:xfrm>
          <a:prstGeom prst="rect">
            <a:avLst/>
          </a:prstGeom>
          <a:noFill/>
          <a:ln w="0">
            <a:noFill/>
          </a:ln>
        </p:spPr>
        <p:txBody>
          <a:bodyPr lIns="0" rIns="0" tIns="0" bIns="0" anchor="t">
            <a:noAutofit/>
          </a:bodyPr>
          <a:p>
            <a:r>
              <a:rPr b="1" lang="en-US" sz="2160" spc="-1" strike="noStrike">
                <a:solidFill>
                  <a:srgbClr val="ffffff"/>
                </a:solidFill>
                <a:latin typeface="Noto Sans"/>
              </a:rPr>
              <a:t>Befund</a:t>
            </a:r>
            <a:endParaRPr b="0" lang="en-US" sz="2160" spc="-1" strike="noStrike">
              <a:solidFill>
                <a:srgbClr val="000000"/>
              </a:solidFill>
              <a:latin typeface="Arial"/>
            </a:endParaRPr>
          </a:p>
        </p:txBody>
      </p:sp>
      <p:sp>
        <p:nvSpPr>
          <p:cNvPr id="284" name=""/>
          <p:cNvSpPr/>
          <p:nvPr/>
        </p:nvSpPr>
        <p:spPr>
          <a:xfrm>
            <a:off x="647640" y="2163960"/>
            <a:ext cx="134892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5" name=""/>
          <p:cNvSpPr txBox="1"/>
          <p:nvPr/>
        </p:nvSpPr>
        <p:spPr>
          <a:xfrm>
            <a:off x="784800" y="2293560"/>
            <a:ext cx="1097280" cy="411480"/>
          </a:xfrm>
          <a:prstGeom prst="rect">
            <a:avLst/>
          </a:prstGeom>
          <a:noFill/>
          <a:ln w="0">
            <a:noFill/>
          </a:ln>
        </p:spPr>
        <p:txBody>
          <a:bodyPr lIns="0" rIns="0" tIns="0" bIns="0" anchor="t">
            <a:noAutofit/>
          </a:bodyPr>
          <a:p>
            <a:r>
              <a:rPr b="0" lang="en-US" sz="2160" spc="-1" strike="noStrike">
                <a:solidFill>
                  <a:srgbClr val="000000"/>
                </a:solidFill>
                <a:latin typeface="Noto Sans"/>
              </a:rPr>
              <a:t>1</a:t>
            </a:r>
            <a:endParaRPr b="0" lang="en-US" sz="2160" spc="-1" strike="noStrike">
              <a:solidFill>
                <a:srgbClr val="000000"/>
              </a:solidFill>
              <a:latin typeface="Arial"/>
            </a:endParaRPr>
          </a:p>
        </p:txBody>
      </p:sp>
      <p:sp>
        <p:nvSpPr>
          <p:cNvPr id="286" name=""/>
          <p:cNvSpPr/>
          <p:nvPr/>
        </p:nvSpPr>
        <p:spPr>
          <a:xfrm>
            <a:off x="2019240" y="2163960"/>
            <a:ext cx="950220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7" name=""/>
          <p:cNvSpPr txBox="1"/>
          <p:nvPr/>
        </p:nvSpPr>
        <p:spPr>
          <a:xfrm>
            <a:off x="2156400" y="2293560"/>
            <a:ext cx="9250920" cy="411480"/>
          </a:xfrm>
          <a:prstGeom prst="rect">
            <a:avLst/>
          </a:prstGeom>
          <a:noFill/>
          <a:ln w="0">
            <a:noFill/>
          </a:ln>
        </p:spPr>
        <p:txBody>
          <a:bodyPr lIns="0" rIns="0" tIns="0" bIns="0" anchor="t">
            <a:noAutofit/>
          </a:bodyPr>
          <a:p>
            <a:r>
              <a:rPr b="0" lang="en-US" sz="2160" spc="-1" strike="noStrike">
                <a:solidFill>
                  <a:srgbClr val="000000"/>
                </a:solidFill>
                <a:latin typeface="Noto Sans"/>
              </a:rPr>
              <a:t>Für Deutschland plausibel</a:t>
            </a:r>
            <a:endParaRPr b="0" lang="en-US" sz="2160" spc="-1" strike="noStrike">
              <a:solidFill>
                <a:srgbClr val="000000"/>
              </a:solidFill>
              <a:latin typeface="Arial"/>
            </a:endParaRPr>
          </a:p>
        </p:txBody>
      </p:sp>
      <p:sp>
        <p:nvSpPr>
          <p:cNvPr id="288" name=""/>
          <p:cNvSpPr/>
          <p:nvPr/>
        </p:nvSpPr>
        <p:spPr>
          <a:xfrm>
            <a:off x="647640" y="2728080"/>
            <a:ext cx="134892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9" name=""/>
          <p:cNvSpPr txBox="1"/>
          <p:nvPr/>
        </p:nvSpPr>
        <p:spPr>
          <a:xfrm>
            <a:off x="784800" y="2857680"/>
            <a:ext cx="1097280" cy="411480"/>
          </a:xfrm>
          <a:prstGeom prst="rect">
            <a:avLst/>
          </a:prstGeom>
          <a:noFill/>
          <a:ln w="0">
            <a:noFill/>
          </a:ln>
        </p:spPr>
        <p:txBody>
          <a:bodyPr lIns="0" rIns="0" tIns="0" bIns="0" anchor="t">
            <a:noAutofit/>
          </a:bodyPr>
          <a:p>
            <a:r>
              <a:rPr b="0" lang="en-US" sz="2160" spc="-1" strike="noStrike">
                <a:solidFill>
                  <a:srgbClr val="000000"/>
                </a:solidFill>
                <a:latin typeface="Noto Sans"/>
              </a:rPr>
              <a:t>2</a:t>
            </a:r>
            <a:endParaRPr b="0" lang="en-US" sz="2160" spc="-1" strike="noStrike">
              <a:solidFill>
                <a:srgbClr val="000000"/>
              </a:solidFill>
              <a:latin typeface="Arial"/>
            </a:endParaRPr>
          </a:p>
        </p:txBody>
      </p:sp>
      <p:sp>
        <p:nvSpPr>
          <p:cNvPr id="290" name=""/>
          <p:cNvSpPr/>
          <p:nvPr/>
        </p:nvSpPr>
        <p:spPr>
          <a:xfrm>
            <a:off x="2019240" y="2728080"/>
            <a:ext cx="950220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1" name=""/>
          <p:cNvSpPr txBox="1"/>
          <p:nvPr/>
        </p:nvSpPr>
        <p:spPr>
          <a:xfrm>
            <a:off x="2156400" y="2857680"/>
            <a:ext cx="9250920" cy="411480"/>
          </a:xfrm>
          <a:prstGeom prst="rect">
            <a:avLst/>
          </a:prstGeom>
          <a:noFill/>
          <a:ln w="0">
            <a:noFill/>
          </a:ln>
        </p:spPr>
        <p:txBody>
          <a:bodyPr lIns="0" rIns="0" tIns="0" bIns="0" anchor="t">
            <a:noAutofit/>
          </a:bodyPr>
          <a:p>
            <a:r>
              <a:rPr b="0" lang="en-US" sz="2160" spc="-1" strike="noStrike">
                <a:solidFill>
                  <a:srgbClr val="000000"/>
                </a:solidFill>
                <a:latin typeface="Noto Sans"/>
              </a:rPr>
              <a:t>Nicht in Deutschland; möglicherweise vertauscht</a:t>
            </a:r>
            <a:endParaRPr b="0" lang="en-US" sz="2160" spc="-1" strike="noStrike">
              <a:solidFill>
                <a:srgbClr val="000000"/>
              </a:solidFill>
              <a:latin typeface="Arial"/>
            </a:endParaRPr>
          </a:p>
        </p:txBody>
      </p:sp>
      <p:sp>
        <p:nvSpPr>
          <p:cNvPr id="292" name=""/>
          <p:cNvSpPr/>
          <p:nvPr/>
        </p:nvSpPr>
        <p:spPr>
          <a:xfrm>
            <a:off x="647640" y="3291840"/>
            <a:ext cx="134892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3" name=""/>
          <p:cNvSpPr txBox="1"/>
          <p:nvPr/>
        </p:nvSpPr>
        <p:spPr>
          <a:xfrm>
            <a:off x="784800" y="3421440"/>
            <a:ext cx="1097280" cy="411480"/>
          </a:xfrm>
          <a:prstGeom prst="rect">
            <a:avLst/>
          </a:prstGeom>
          <a:noFill/>
          <a:ln w="0">
            <a:noFill/>
          </a:ln>
        </p:spPr>
        <p:txBody>
          <a:bodyPr lIns="0" rIns="0" tIns="0" bIns="0" anchor="t">
            <a:noAutofit/>
          </a:bodyPr>
          <a:p>
            <a:r>
              <a:rPr b="0" lang="en-US" sz="2160" spc="-1" strike="noStrike">
                <a:solidFill>
                  <a:srgbClr val="000000"/>
                </a:solidFill>
                <a:latin typeface="Noto Sans"/>
              </a:rPr>
              <a:t>3</a:t>
            </a:r>
            <a:endParaRPr b="0" lang="en-US" sz="2160" spc="-1" strike="noStrike">
              <a:solidFill>
                <a:srgbClr val="000000"/>
              </a:solidFill>
              <a:latin typeface="Arial"/>
            </a:endParaRPr>
          </a:p>
        </p:txBody>
      </p:sp>
      <p:sp>
        <p:nvSpPr>
          <p:cNvPr id="294" name=""/>
          <p:cNvSpPr/>
          <p:nvPr/>
        </p:nvSpPr>
        <p:spPr>
          <a:xfrm>
            <a:off x="2019240" y="3291840"/>
            <a:ext cx="950220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5" name=""/>
          <p:cNvSpPr txBox="1"/>
          <p:nvPr/>
        </p:nvSpPr>
        <p:spPr>
          <a:xfrm>
            <a:off x="2156400" y="3421440"/>
            <a:ext cx="9250920" cy="411480"/>
          </a:xfrm>
          <a:prstGeom prst="rect">
            <a:avLst/>
          </a:prstGeom>
          <a:noFill/>
          <a:ln w="0">
            <a:noFill/>
          </a:ln>
        </p:spPr>
        <p:txBody>
          <a:bodyPr lIns="0" rIns="0" tIns="0" bIns="0" anchor="t">
            <a:noAutofit/>
          </a:bodyPr>
          <a:p>
            <a:r>
              <a:rPr b="0" lang="en-US" sz="2160" spc="-1" strike="noStrike">
                <a:solidFill>
                  <a:srgbClr val="000000"/>
                </a:solidFill>
                <a:latin typeface="Noto Sans"/>
              </a:rPr>
              <a:t>Länge über 180°: ungültig</a:t>
            </a:r>
            <a:endParaRPr b="0" lang="en-US" sz="2160" spc="-1" strike="noStrike">
              <a:solidFill>
                <a:srgbClr val="000000"/>
              </a:solidFill>
              <a:latin typeface="Arial"/>
            </a:endParaRPr>
          </a:p>
        </p:txBody>
      </p:sp>
      <p:sp>
        <p:nvSpPr>
          <p:cNvPr id="296" name=""/>
          <p:cNvSpPr/>
          <p:nvPr/>
        </p:nvSpPr>
        <p:spPr>
          <a:xfrm>
            <a:off x="647640" y="3855600"/>
            <a:ext cx="134892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7" name=""/>
          <p:cNvSpPr txBox="1"/>
          <p:nvPr/>
        </p:nvSpPr>
        <p:spPr>
          <a:xfrm>
            <a:off x="784800" y="3985200"/>
            <a:ext cx="1097280" cy="411480"/>
          </a:xfrm>
          <a:prstGeom prst="rect">
            <a:avLst/>
          </a:prstGeom>
          <a:noFill/>
          <a:ln w="0">
            <a:noFill/>
          </a:ln>
        </p:spPr>
        <p:txBody>
          <a:bodyPr lIns="0" rIns="0" tIns="0" bIns="0" anchor="t">
            <a:noAutofit/>
          </a:bodyPr>
          <a:p>
            <a:r>
              <a:rPr b="0" lang="en-US" sz="2160" spc="-1" strike="noStrike">
                <a:solidFill>
                  <a:srgbClr val="000000"/>
                </a:solidFill>
                <a:latin typeface="Noto Sans"/>
              </a:rPr>
              <a:t>4</a:t>
            </a:r>
            <a:endParaRPr b="0" lang="en-US" sz="2160" spc="-1" strike="noStrike">
              <a:solidFill>
                <a:srgbClr val="000000"/>
              </a:solidFill>
              <a:latin typeface="Arial"/>
            </a:endParaRPr>
          </a:p>
        </p:txBody>
      </p:sp>
      <p:sp>
        <p:nvSpPr>
          <p:cNvPr id="298" name=""/>
          <p:cNvSpPr/>
          <p:nvPr/>
        </p:nvSpPr>
        <p:spPr>
          <a:xfrm>
            <a:off x="2019240" y="3855600"/>
            <a:ext cx="9502200" cy="541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9" name=""/>
          <p:cNvSpPr txBox="1"/>
          <p:nvPr/>
        </p:nvSpPr>
        <p:spPr>
          <a:xfrm>
            <a:off x="2156400" y="3985200"/>
            <a:ext cx="9250920" cy="411480"/>
          </a:xfrm>
          <a:prstGeom prst="rect">
            <a:avLst/>
          </a:prstGeom>
          <a:noFill/>
          <a:ln w="0">
            <a:noFill/>
          </a:ln>
        </p:spPr>
        <p:txBody>
          <a:bodyPr lIns="0" rIns="0" tIns="0" bIns="0" anchor="t">
            <a:noAutofit/>
          </a:bodyPr>
          <a:p>
            <a:r>
              <a:rPr b="0" lang="en-US" sz="2160" spc="-1" strike="noStrike">
                <a:solidFill>
                  <a:srgbClr val="000000"/>
                </a:solidFill>
                <a:latin typeface="Noto Sans"/>
              </a:rPr>
              <a:t>Breite negativ: Südhalbkugel</a:t>
            </a:r>
            <a:endParaRPr b="0" lang="en-US" sz="2160" spc="-1" strike="noStrike">
              <a:solidFill>
                <a:srgbClr val="000000"/>
              </a:solidFill>
              <a:latin typeface="Arial"/>
            </a:endParaRPr>
          </a:p>
        </p:txBody>
      </p:sp>
      <p:sp>
        <p:nvSpPr>
          <p:cNvPr id="300" name=""/>
          <p:cNvSpPr/>
          <p:nvPr/>
        </p:nvSpPr>
        <p:spPr>
          <a:xfrm>
            <a:off x="647640" y="4419720"/>
            <a:ext cx="134892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1" name=""/>
          <p:cNvSpPr txBox="1"/>
          <p:nvPr/>
        </p:nvSpPr>
        <p:spPr>
          <a:xfrm>
            <a:off x="784800" y="4549320"/>
            <a:ext cx="1097280" cy="411480"/>
          </a:xfrm>
          <a:prstGeom prst="rect">
            <a:avLst/>
          </a:prstGeom>
          <a:noFill/>
          <a:ln w="0">
            <a:noFill/>
          </a:ln>
        </p:spPr>
        <p:txBody>
          <a:bodyPr lIns="0" rIns="0" tIns="0" bIns="0" anchor="t">
            <a:noAutofit/>
          </a:bodyPr>
          <a:p>
            <a:r>
              <a:rPr b="0" lang="en-US" sz="2160" spc="-1" strike="noStrike">
                <a:solidFill>
                  <a:srgbClr val="000000"/>
                </a:solidFill>
                <a:latin typeface="Noto Sans"/>
              </a:rPr>
              <a:t>5</a:t>
            </a:r>
            <a:endParaRPr b="0" lang="en-US" sz="2160" spc="-1" strike="noStrike">
              <a:solidFill>
                <a:srgbClr val="000000"/>
              </a:solidFill>
              <a:latin typeface="Arial"/>
            </a:endParaRPr>
          </a:p>
        </p:txBody>
      </p:sp>
      <p:sp>
        <p:nvSpPr>
          <p:cNvPr id="302" name=""/>
          <p:cNvSpPr/>
          <p:nvPr/>
        </p:nvSpPr>
        <p:spPr>
          <a:xfrm>
            <a:off x="2019240" y="4419720"/>
            <a:ext cx="9502200" cy="54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3" name=""/>
          <p:cNvSpPr txBox="1"/>
          <p:nvPr/>
        </p:nvSpPr>
        <p:spPr>
          <a:xfrm>
            <a:off x="2156400" y="4549320"/>
            <a:ext cx="9250920" cy="411480"/>
          </a:xfrm>
          <a:prstGeom prst="rect">
            <a:avLst/>
          </a:prstGeom>
          <a:noFill/>
          <a:ln w="0">
            <a:noFill/>
          </a:ln>
        </p:spPr>
        <p:txBody>
          <a:bodyPr lIns="0" rIns="0" tIns="0" bIns="0" anchor="t">
            <a:noAutofit/>
          </a:bodyPr>
          <a:p>
            <a:r>
              <a:rPr b="0" lang="en-US" sz="2160" spc="-1" strike="noStrike">
                <a:solidFill>
                  <a:srgbClr val="000000"/>
                </a:solidFill>
                <a:latin typeface="Noto Sans"/>
              </a:rPr>
              <a:t>Formal gültig, aber nicht in Deutschland</a:t>
            </a:r>
            <a:endParaRPr b="0" lang="en-US" sz="2160" spc="-1" strike="noStrike">
              <a:solidFill>
                <a:srgbClr val="000000"/>
              </a:solidFill>
              <a:latin typeface="Arial"/>
            </a:endParaRPr>
          </a:p>
        </p:txBody>
      </p:sp>
      <p:sp>
        <p:nvSpPr>
          <p:cNvPr id="30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5"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Auffälligkeit dokumentieren → Quelle prüfen → begründet korrigieren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Koordinaten brauchen ein Bezugssystem</a:t>
            </a:r>
            <a:endParaRPr b="0" lang="en-US" sz="3190" spc="-1" strike="noStrike">
              <a:solidFill>
                <a:srgbClr val="000000"/>
              </a:solidFill>
              <a:latin typeface="Arial"/>
            </a:endParaRPr>
          </a:p>
        </p:txBody>
      </p:sp>
      <p:sp>
        <p:nvSpPr>
          <p:cNvPr id="30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03 · CRS UND PROJEKTIONEN</a:t>
            </a:r>
            <a:endParaRPr b="0" lang="en-US" sz="1130" spc="-1" strike="noStrike">
              <a:solidFill>
                <a:srgbClr val="000000"/>
              </a:solidFill>
              <a:latin typeface="Arial"/>
            </a:endParaRPr>
          </a:p>
        </p:txBody>
      </p:sp>
      <p:sp>
        <p:nvSpPr>
          <p:cNvPr id="30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0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pic>
        <p:nvPicPr>
          <p:cNvPr id="310" name="" descr="Zwei Koordinatengitter zeigen denselben Referenzpunkt einmal als 8,77 Grad Ost und 50,81 Grad Nord in WGS 84 und einmal als 483795 Meter Ost und 5628722 Meter Nord in ETRS89 UTM Zone 32N."/>
          <p:cNvPicPr/>
          <p:nvPr/>
        </p:nvPicPr>
        <p:blipFill>
          <a:blip r:embed="rId1">
            <a:extLst>
              <a:ext uri="{96DAC541-7B7A-43D3-8B79-37D633B846F1}">
                <asvg:svgBlip xmlns:asvg="http://schemas.microsoft.com/office/drawing/2016/SVG/main" r:embed="rId2"/>
              </a:ext>
            </a:extLst>
          </a:blip>
          <a:stretch/>
        </p:blipFill>
        <p:spPr>
          <a:xfrm>
            <a:off x="1905120" y="1676520"/>
            <a:ext cx="8382240" cy="3604320"/>
          </a:xfrm>
          <a:prstGeom prst="rect">
            <a:avLst/>
          </a:prstGeom>
          <a:ln w="0">
            <a:noFill/>
          </a:ln>
        </p:spPr>
      </p:pic>
      <p:sp>
        <p:nvSpPr>
          <p:cNvPr id="31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2"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Derselbe ungefähre Ort bei Marburg – unterschiedliche Zahlen.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Winkel oder Meter?</a:t>
            </a:r>
            <a:endParaRPr b="0" lang="en-US" sz="3190" spc="-1" strike="noStrike">
              <a:solidFill>
                <a:srgbClr val="000000"/>
              </a:solidFill>
              <a:latin typeface="Arial"/>
            </a:endParaRPr>
          </a:p>
        </p:txBody>
      </p:sp>
      <p:sp>
        <p:nvSpPr>
          <p:cNvPr id="31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03 · CRS UND PROJEKTIONEN</a:t>
            </a:r>
            <a:endParaRPr b="0" lang="en-US" sz="1130" spc="-1" strike="noStrike">
              <a:solidFill>
                <a:srgbClr val="000000"/>
              </a:solidFill>
              <a:latin typeface="Arial"/>
            </a:endParaRPr>
          </a:p>
        </p:txBody>
      </p:sp>
      <p:sp>
        <p:nvSpPr>
          <p:cNvPr id="31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1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sp>
        <p:nvSpPr>
          <p:cNvPr id="317" name=""/>
          <p:cNvSpPr/>
          <p:nvPr/>
        </p:nvSpPr>
        <p:spPr>
          <a:xfrm>
            <a:off x="647640" y="1790640"/>
            <a:ext cx="5295960" cy="3162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8" name=""/>
          <p:cNvSpPr/>
          <p:nvPr/>
        </p:nvSpPr>
        <p:spPr>
          <a:xfrm>
            <a:off x="647640" y="1790640"/>
            <a:ext cx="53280" cy="31622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9" name=""/>
          <p:cNvSpPr txBox="1"/>
          <p:nvPr/>
        </p:nvSpPr>
        <p:spPr>
          <a:xfrm>
            <a:off x="853560" y="1973520"/>
            <a:ext cx="4884480" cy="647640"/>
          </a:xfrm>
          <a:prstGeom prst="rect">
            <a:avLst/>
          </a:prstGeom>
          <a:noFill/>
          <a:ln w="0">
            <a:noFill/>
          </a:ln>
        </p:spPr>
        <p:txBody>
          <a:bodyPr lIns="0" rIns="0" tIns="0" bIns="0" anchor="t">
            <a:noAutofit/>
          </a:bodyPr>
          <a:p>
            <a:r>
              <a:rPr b="1" lang="en-US" sz="2540" spc="-1" strike="noStrike">
                <a:solidFill>
                  <a:srgbClr val="004899"/>
                </a:solidFill>
                <a:latin typeface="Noto Sans"/>
              </a:rPr>
              <a:t>Geographisches CRS</a:t>
            </a:r>
            <a:endParaRPr b="0" lang="en-US" sz="2540" spc="-1" strike="noStrike">
              <a:solidFill>
                <a:srgbClr val="000000"/>
              </a:solidFill>
              <a:latin typeface="Arial"/>
            </a:endParaRPr>
          </a:p>
        </p:txBody>
      </p:sp>
      <p:sp>
        <p:nvSpPr>
          <p:cNvPr id="320" name=""/>
          <p:cNvSpPr txBox="1"/>
          <p:nvPr/>
        </p:nvSpPr>
        <p:spPr>
          <a:xfrm>
            <a:off x="853560" y="2735640"/>
            <a:ext cx="4884480" cy="2080440"/>
          </a:xfrm>
          <a:prstGeom prst="rect">
            <a:avLst/>
          </a:prstGeom>
          <a:noFill/>
          <a:ln w="0">
            <a:noFill/>
          </a:ln>
        </p:spPr>
        <p:txBody>
          <a:bodyPr lIns="0" rIns="0" tIns="0" bIns="0" anchor="t">
            <a:noAutofit/>
          </a:bodyPr>
          <a:p>
            <a:r>
              <a:rPr b="0" lang="en-US" sz="2630" spc="-1" strike="noStrike">
                <a:solidFill>
                  <a:srgbClr val="000000"/>
                </a:solidFill>
                <a:latin typeface="Noto Sans"/>
              </a:rPr>
              <a:t>Position auf dem Erdmodell</a:t>
            </a:r>
            <a:endParaRPr b="0" lang="en-US" sz="2630" spc="-1" strike="noStrike">
              <a:solidFill>
                <a:srgbClr val="000000"/>
              </a:solidFill>
              <a:latin typeface="Arial"/>
            </a:endParaRPr>
          </a:p>
          <a:p>
            <a:endParaRPr b="0" lang="en-US" sz="2630" spc="-1" strike="noStrike">
              <a:solidFill>
                <a:srgbClr val="000000"/>
              </a:solidFill>
              <a:latin typeface="Arial"/>
            </a:endParaRPr>
          </a:p>
          <a:p>
            <a:r>
              <a:rPr b="0" lang="en-US" sz="2630" spc="-1" strike="noStrike">
                <a:solidFill>
                  <a:srgbClr val="000000"/>
                </a:solidFill>
                <a:latin typeface="Noto Sans"/>
              </a:rPr>
              <a:t>Länge und Breite</a:t>
            </a:r>
            <a:endParaRPr b="0" lang="en-US" sz="2630" spc="-1" strike="noStrike">
              <a:solidFill>
                <a:srgbClr val="000000"/>
              </a:solidFill>
              <a:latin typeface="Arial"/>
            </a:endParaRPr>
          </a:p>
          <a:p>
            <a:r>
              <a:rPr b="0" lang="en-US" sz="2630" spc="-1" strike="noStrike">
                <a:solidFill>
                  <a:srgbClr val="000000"/>
                </a:solidFill>
                <a:latin typeface="Noto Sans"/>
              </a:rPr>
              <a:t>Einheit: Grad</a:t>
            </a:r>
            <a:endParaRPr b="0" lang="en-US" sz="2630" spc="-1" strike="noStrike">
              <a:solidFill>
                <a:srgbClr val="000000"/>
              </a:solidFill>
              <a:latin typeface="Arial"/>
            </a:endParaRPr>
          </a:p>
        </p:txBody>
      </p:sp>
      <p:sp>
        <p:nvSpPr>
          <p:cNvPr id="321" name=""/>
          <p:cNvSpPr/>
          <p:nvPr/>
        </p:nvSpPr>
        <p:spPr>
          <a:xfrm>
            <a:off x="6248520" y="1790640"/>
            <a:ext cx="5295960" cy="3162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2" name=""/>
          <p:cNvSpPr/>
          <p:nvPr/>
        </p:nvSpPr>
        <p:spPr>
          <a:xfrm>
            <a:off x="6248520" y="1790640"/>
            <a:ext cx="53280" cy="31622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3" name=""/>
          <p:cNvSpPr txBox="1"/>
          <p:nvPr/>
        </p:nvSpPr>
        <p:spPr>
          <a:xfrm>
            <a:off x="6454080" y="1973520"/>
            <a:ext cx="4884480" cy="647640"/>
          </a:xfrm>
          <a:prstGeom prst="rect">
            <a:avLst/>
          </a:prstGeom>
          <a:noFill/>
          <a:ln w="0">
            <a:noFill/>
          </a:ln>
        </p:spPr>
        <p:txBody>
          <a:bodyPr lIns="0" rIns="0" tIns="0" bIns="0" anchor="t">
            <a:noAutofit/>
          </a:bodyPr>
          <a:p>
            <a:r>
              <a:rPr b="1" lang="en-US" sz="2540" spc="-1" strike="noStrike">
                <a:solidFill>
                  <a:srgbClr val="004899"/>
                </a:solidFill>
                <a:latin typeface="Noto Sans"/>
              </a:rPr>
              <a:t>Projiziertes CRS</a:t>
            </a:r>
            <a:endParaRPr b="0" lang="en-US" sz="2540" spc="-1" strike="noStrike">
              <a:solidFill>
                <a:srgbClr val="000000"/>
              </a:solidFill>
              <a:latin typeface="Arial"/>
            </a:endParaRPr>
          </a:p>
        </p:txBody>
      </p:sp>
      <p:sp>
        <p:nvSpPr>
          <p:cNvPr id="324" name=""/>
          <p:cNvSpPr txBox="1"/>
          <p:nvPr/>
        </p:nvSpPr>
        <p:spPr>
          <a:xfrm>
            <a:off x="6454080" y="2735640"/>
            <a:ext cx="4884480" cy="2080440"/>
          </a:xfrm>
          <a:prstGeom prst="rect">
            <a:avLst/>
          </a:prstGeom>
          <a:noFill/>
          <a:ln w="0">
            <a:noFill/>
          </a:ln>
        </p:spPr>
        <p:txBody>
          <a:bodyPr lIns="0" rIns="0" tIns="0" bIns="0" anchor="t">
            <a:noAutofit/>
          </a:bodyPr>
          <a:p>
            <a:r>
              <a:rPr b="0" lang="en-US" sz="2630" spc="-1" strike="noStrike">
                <a:solidFill>
                  <a:srgbClr val="000000"/>
                </a:solidFill>
                <a:latin typeface="Noto Sans"/>
              </a:rPr>
              <a:t>Position in einer Ebene</a:t>
            </a:r>
            <a:endParaRPr b="0" lang="en-US" sz="2630" spc="-1" strike="noStrike">
              <a:solidFill>
                <a:srgbClr val="000000"/>
              </a:solidFill>
              <a:latin typeface="Arial"/>
            </a:endParaRPr>
          </a:p>
          <a:p>
            <a:endParaRPr b="0" lang="en-US" sz="2630" spc="-1" strike="noStrike">
              <a:solidFill>
                <a:srgbClr val="000000"/>
              </a:solidFill>
              <a:latin typeface="Arial"/>
            </a:endParaRPr>
          </a:p>
          <a:p>
            <a:r>
              <a:rPr b="0" lang="en-US" sz="2630" spc="-1" strike="noStrike">
                <a:solidFill>
                  <a:srgbClr val="000000"/>
                </a:solidFill>
                <a:latin typeface="Noto Sans"/>
              </a:rPr>
              <a:t>x und y</a:t>
            </a:r>
            <a:endParaRPr b="0" lang="en-US" sz="2630" spc="-1" strike="noStrike">
              <a:solidFill>
                <a:srgbClr val="000000"/>
              </a:solidFill>
              <a:latin typeface="Arial"/>
            </a:endParaRPr>
          </a:p>
          <a:p>
            <a:r>
              <a:rPr b="0" lang="en-US" sz="2630" spc="-1" strike="noStrike">
                <a:solidFill>
                  <a:srgbClr val="000000"/>
                </a:solidFill>
                <a:latin typeface="Noto Sans"/>
              </a:rPr>
              <a:t>Einheit: hier Meter</a:t>
            </a:r>
            <a:endParaRPr b="0" lang="en-US" sz="2630" spc="-1" strike="noStrike">
              <a:solidFill>
                <a:srgbClr val="000000"/>
              </a:solidFill>
              <a:latin typeface="Arial"/>
            </a:endParaRPr>
          </a:p>
        </p:txBody>
      </p:sp>
      <p:sp>
        <p:nvSpPr>
          <p:cNvPr id="32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6"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Die Einheit „Meter“ allein garantiert keine genaue Messung.</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Von der gekrümmten Erde auf die Ebene</a:t>
            </a:r>
            <a:endParaRPr b="0" lang="en-US" sz="3190" spc="-1" strike="noStrike">
              <a:solidFill>
                <a:srgbClr val="000000"/>
              </a:solidFill>
              <a:latin typeface="Arial"/>
            </a:endParaRPr>
          </a:p>
        </p:txBody>
      </p:sp>
      <p:sp>
        <p:nvSpPr>
          <p:cNvPr id="32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03 · KARTENPROJEKTIONEN</a:t>
            </a:r>
            <a:endParaRPr b="0" lang="en-US" sz="1130" spc="-1" strike="noStrike">
              <a:solidFill>
                <a:srgbClr val="000000"/>
              </a:solidFill>
              <a:latin typeface="Arial"/>
            </a:endParaRPr>
          </a:p>
        </p:txBody>
      </p:sp>
      <p:sp>
        <p:nvSpPr>
          <p:cNvPr id="32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3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sp>
        <p:nvSpPr>
          <p:cNvPr id="331" name=""/>
          <p:cNvSpPr/>
          <p:nvPr/>
        </p:nvSpPr>
        <p:spPr>
          <a:xfrm>
            <a:off x="1371600" y="2118240"/>
            <a:ext cx="2209680" cy="2209680"/>
          </a:xfrm>
          <a:prstGeom prst="ellipse">
            <a:avLst/>
          </a:prstGeom>
          <a:solidFill>
            <a:srgbClr val="eaf5f7"/>
          </a:solidFill>
          <a:ln w="16200">
            <a:solidFill>
              <a:srgbClr val="000000"/>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332" name=""/>
          <p:cNvSpPr/>
          <p:nvPr/>
        </p:nvSpPr>
        <p:spPr>
          <a:xfrm>
            <a:off x="1924200" y="4180320"/>
            <a:ext cx="1104840" cy="0"/>
          </a:xfrm>
          <a:prstGeom prst="line">
            <a:avLst/>
          </a:prstGeom>
          <a:ln w="9000">
            <a:solidFill>
              <a:srgbClr val="a6d9e2"/>
            </a:solidFill>
            <a:round/>
          </a:ln>
        </p:spPr>
        <p:style>
          <a:lnRef idx="0"/>
          <a:fillRef idx="0"/>
          <a:effectRef idx="0"/>
          <a:fontRef idx="minor"/>
        </p:style>
        <p:txBody>
          <a:bodyPr lIns="94320" rIns="94320" tIns="-49320" bIns="-49320" anchor="ctr" anchorCtr="1">
            <a:noAutofit/>
          </a:bodyPr>
          <a:p>
            <a:endParaRPr b="0" lang="en-US" sz="1800" spc="-1" strike="noStrike">
              <a:solidFill>
                <a:srgbClr val="000000"/>
              </a:solidFill>
              <a:latin typeface="Arial"/>
            </a:endParaRPr>
          </a:p>
        </p:txBody>
      </p:sp>
      <p:sp>
        <p:nvSpPr>
          <p:cNvPr id="333" name=""/>
          <p:cNvSpPr/>
          <p:nvPr/>
        </p:nvSpPr>
        <p:spPr>
          <a:xfrm>
            <a:off x="1519560" y="3775680"/>
            <a:ext cx="1913760" cy="0"/>
          </a:xfrm>
          <a:prstGeom prst="line">
            <a:avLst/>
          </a:prstGeom>
          <a:ln w="9000">
            <a:solidFill>
              <a:srgbClr val="a6d9e2"/>
            </a:solidFill>
            <a:round/>
          </a:ln>
        </p:spPr>
        <p:style>
          <a:lnRef idx="0"/>
          <a:fillRef idx="0"/>
          <a:effectRef idx="0"/>
          <a:fontRef idx="minor"/>
        </p:style>
        <p:txBody>
          <a:bodyPr lIns="94320" rIns="94320" tIns="-49320" bIns="-49320" anchor="ctr" anchorCtr="1">
            <a:noAutofit/>
          </a:bodyPr>
          <a:p>
            <a:endParaRPr b="0" lang="en-US" sz="1800" spc="-1" strike="noStrike">
              <a:solidFill>
                <a:srgbClr val="000000"/>
              </a:solidFill>
              <a:latin typeface="Arial"/>
            </a:endParaRPr>
          </a:p>
        </p:txBody>
      </p:sp>
      <p:sp>
        <p:nvSpPr>
          <p:cNvPr id="334" name=""/>
          <p:cNvSpPr/>
          <p:nvPr/>
        </p:nvSpPr>
        <p:spPr>
          <a:xfrm>
            <a:off x="1371600" y="3223440"/>
            <a:ext cx="2209680" cy="0"/>
          </a:xfrm>
          <a:prstGeom prst="line">
            <a:avLst/>
          </a:prstGeom>
          <a:ln w="21600">
            <a:solidFill>
              <a:srgbClr val="004899"/>
            </a:solidFill>
            <a:round/>
          </a:ln>
        </p:spPr>
        <p:style>
          <a:lnRef idx="0"/>
          <a:fillRef idx="0"/>
          <a:effectRef idx="0"/>
          <a:fontRef idx="minor"/>
        </p:style>
        <p:txBody>
          <a:bodyPr lIns="100800" rIns="100800" tIns="-55800" bIns="-55800" anchor="ctr" anchorCtr="1">
            <a:noAutofit/>
          </a:bodyPr>
          <a:p>
            <a:endParaRPr b="0" lang="en-US" sz="1800" spc="-1" strike="noStrike">
              <a:solidFill>
                <a:srgbClr val="000000"/>
              </a:solidFill>
              <a:latin typeface="Arial"/>
            </a:endParaRPr>
          </a:p>
        </p:txBody>
      </p:sp>
      <p:sp>
        <p:nvSpPr>
          <p:cNvPr id="335" name=""/>
          <p:cNvSpPr/>
          <p:nvPr/>
        </p:nvSpPr>
        <p:spPr>
          <a:xfrm>
            <a:off x="1519560" y="2670840"/>
            <a:ext cx="1913760" cy="0"/>
          </a:xfrm>
          <a:prstGeom prst="line">
            <a:avLst/>
          </a:prstGeom>
          <a:ln w="9000">
            <a:solidFill>
              <a:srgbClr val="a6d9e2"/>
            </a:solidFill>
            <a:round/>
          </a:ln>
        </p:spPr>
        <p:style>
          <a:lnRef idx="0"/>
          <a:fillRef idx="0"/>
          <a:effectRef idx="0"/>
          <a:fontRef idx="minor"/>
        </p:style>
        <p:txBody>
          <a:bodyPr lIns="94320" rIns="94320" tIns="-49320" bIns="-49320" anchor="ctr" anchorCtr="1">
            <a:noAutofit/>
          </a:bodyPr>
          <a:p>
            <a:endParaRPr b="0" lang="en-US" sz="1800" spc="-1" strike="noStrike">
              <a:solidFill>
                <a:srgbClr val="000000"/>
              </a:solidFill>
              <a:latin typeface="Arial"/>
            </a:endParaRPr>
          </a:p>
        </p:txBody>
      </p:sp>
      <p:sp>
        <p:nvSpPr>
          <p:cNvPr id="336" name=""/>
          <p:cNvSpPr/>
          <p:nvPr/>
        </p:nvSpPr>
        <p:spPr>
          <a:xfrm>
            <a:off x="1924200" y="2266560"/>
            <a:ext cx="1104840" cy="0"/>
          </a:xfrm>
          <a:prstGeom prst="line">
            <a:avLst/>
          </a:prstGeom>
          <a:ln w="9000">
            <a:solidFill>
              <a:srgbClr val="a6d9e2"/>
            </a:solidFill>
            <a:round/>
          </a:ln>
        </p:spPr>
        <p:style>
          <a:lnRef idx="0"/>
          <a:fillRef idx="0"/>
          <a:effectRef idx="0"/>
          <a:fontRef idx="minor"/>
        </p:style>
        <p:txBody>
          <a:bodyPr lIns="94320" rIns="94320" tIns="-49320" bIns="-49320" anchor="ctr" anchorCtr="1">
            <a:noAutofit/>
          </a:bodyPr>
          <a:p>
            <a:endParaRPr b="0" lang="en-US" sz="1800" spc="-1" strike="noStrike">
              <a:solidFill>
                <a:srgbClr val="000000"/>
              </a:solidFill>
              <a:latin typeface="Arial"/>
            </a:endParaRPr>
          </a:p>
        </p:txBody>
      </p:sp>
      <p:sp>
        <p:nvSpPr>
          <p:cNvPr id="337" name=""/>
          <p:cNvSpPr/>
          <p:nvPr/>
        </p:nvSpPr>
        <p:spPr>
          <a:xfrm>
            <a:off x="1519560" y="2118240"/>
            <a:ext cx="956880" cy="2210040"/>
          </a:xfrm>
          <a:custGeom>
            <a:avLst/>
            <a:gdLst/>
            <a:ahLst/>
            <a:rect l="0" t="0" r="r" b="b"/>
            <a:pathLst>
              <a:path fill="none" w="2658" h="6139">
                <a:moveTo>
                  <a:pt x="2658" y="6139"/>
                </a:moveTo>
                <a:lnTo>
                  <a:pt x="2519" y="6135"/>
                </a:lnTo>
                <a:lnTo>
                  <a:pt x="2380" y="6122"/>
                </a:lnTo>
                <a:lnTo>
                  <a:pt x="2242" y="6101"/>
                </a:lnTo>
                <a:lnTo>
                  <a:pt x="2106" y="6072"/>
                </a:lnTo>
                <a:lnTo>
                  <a:pt x="1970" y="6034"/>
                </a:lnTo>
                <a:lnTo>
                  <a:pt x="1837" y="5989"/>
                </a:lnTo>
                <a:lnTo>
                  <a:pt x="1706" y="5935"/>
                </a:lnTo>
                <a:lnTo>
                  <a:pt x="1577" y="5873"/>
                </a:lnTo>
                <a:lnTo>
                  <a:pt x="1452" y="5804"/>
                </a:lnTo>
                <a:lnTo>
                  <a:pt x="1329" y="5728"/>
                </a:lnTo>
                <a:lnTo>
                  <a:pt x="1211" y="5644"/>
                </a:lnTo>
                <a:lnTo>
                  <a:pt x="1096" y="5553"/>
                </a:lnTo>
                <a:lnTo>
                  <a:pt x="985" y="5455"/>
                </a:lnTo>
                <a:lnTo>
                  <a:pt x="880" y="5350"/>
                </a:lnTo>
                <a:lnTo>
                  <a:pt x="779" y="5240"/>
                </a:lnTo>
                <a:lnTo>
                  <a:pt x="683" y="5123"/>
                </a:lnTo>
                <a:lnTo>
                  <a:pt x="593" y="5001"/>
                </a:lnTo>
                <a:lnTo>
                  <a:pt x="508" y="4874"/>
                </a:lnTo>
                <a:lnTo>
                  <a:pt x="429" y="4741"/>
                </a:lnTo>
                <a:lnTo>
                  <a:pt x="356" y="4604"/>
                </a:lnTo>
                <a:lnTo>
                  <a:pt x="290" y="4463"/>
                </a:lnTo>
                <a:lnTo>
                  <a:pt x="230" y="4318"/>
                </a:lnTo>
                <a:lnTo>
                  <a:pt x="177" y="4169"/>
                </a:lnTo>
                <a:lnTo>
                  <a:pt x="130" y="4018"/>
                </a:lnTo>
                <a:lnTo>
                  <a:pt x="91" y="3864"/>
                </a:lnTo>
                <a:lnTo>
                  <a:pt x="58" y="3708"/>
                </a:lnTo>
                <a:lnTo>
                  <a:pt x="33" y="3550"/>
                </a:lnTo>
                <a:lnTo>
                  <a:pt x="15" y="3390"/>
                </a:lnTo>
                <a:lnTo>
                  <a:pt x="4" y="3230"/>
                </a:lnTo>
                <a:lnTo>
                  <a:pt x="0" y="3070"/>
                </a:lnTo>
                <a:lnTo>
                  <a:pt x="4" y="2909"/>
                </a:lnTo>
                <a:lnTo>
                  <a:pt x="15" y="2749"/>
                </a:lnTo>
                <a:lnTo>
                  <a:pt x="33" y="2589"/>
                </a:lnTo>
                <a:lnTo>
                  <a:pt x="58" y="2431"/>
                </a:lnTo>
                <a:lnTo>
                  <a:pt x="91" y="2275"/>
                </a:lnTo>
                <a:lnTo>
                  <a:pt x="130" y="2121"/>
                </a:lnTo>
                <a:lnTo>
                  <a:pt x="177" y="1970"/>
                </a:lnTo>
                <a:lnTo>
                  <a:pt x="230" y="1821"/>
                </a:lnTo>
                <a:lnTo>
                  <a:pt x="290" y="1676"/>
                </a:lnTo>
                <a:lnTo>
                  <a:pt x="356" y="1535"/>
                </a:lnTo>
                <a:lnTo>
                  <a:pt x="429" y="1398"/>
                </a:lnTo>
                <a:lnTo>
                  <a:pt x="508" y="1266"/>
                </a:lnTo>
                <a:lnTo>
                  <a:pt x="593" y="1138"/>
                </a:lnTo>
                <a:lnTo>
                  <a:pt x="683" y="1016"/>
                </a:lnTo>
                <a:lnTo>
                  <a:pt x="779" y="899"/>
                </a:lnTo>
                <a:lnTo>
                  <a:pt x="880" y="789"/>
                </a:lnTo>
                <a:lnTo>
                  <a:pt x="985" y="684"/>
                </a:lnTo>
                <a:lnTo>
                  <a:pt x="1096" y="587"/>
                </a:lnTo>
                <a:lnTo>
                  <a:pt x="1211" y="496"/>
                </a:lnTo>
                <a:lnTo>
                  <a:pt x="1329" y="412"/>
                </a:lnTo>
                <a:lnTo>
                  <a:pt x="1452" y="335"/>
                </a:lnTo>
                <a:lnTo>
                  <a:pt x="1577" y="266"/>
                </a:lnTo>
                <a:lnTo>
                  <a:pt x="1706" y="204"/>
                </a:lnTo>
                <a:lnTo>
                  <a:pt x="1837" y="151"/>
                </a:lnTo>
                <a:lnTo>
                  <a:pt x="1970" y="105"/>
                </a:lnTo>
                <a:lnTo>
                  <a:pt x="2106" y="67"/>
                </a:lnTo>
                <a:lnTo>
                  <a:pt x="2242" y="38"/>
                </a:lnTo>
                <a:lnTo>
                  <a:pt x="2380" y="17"/>
                </a:lnTo>
                <a:lnTo>
                  <a:pt x="2519" y="5"/>
                </a:lnTo>
                <a:lnTo>
                  <a:pt x="2658" y="0"/>
                </a:lnTo>
              </a:path>
            </a:pathLst>
          </a:custGeom>
          <a:ln w="9000">
            <a:solidFill>
              <a:srgbClr val="a6d9e2"/>
            </a:solidFill>
            <a:round/>
          </a:ln>
        </p:spPr>
        <p:txBody>
          <a:bodyPr lIns="94320" rIns="94320" tIns="49320" bIns="49320" anchor="ctr" anchorCtr="1">
            <a:noAutofit/>
          </a:bodyPr>
          <a:p>
            <a:endParaRPr b="0" lang="en-US" sz="1800" spc="-1" strike="noStrike">
              <a:solidFill>
                <a:srgbClr val="000000"/>
              </a:solidFill>
              <a:latin typeface="Arial"/>
            </a:endParaRPr>
          </a:p>
        </p:txBody>
      </p:sp>
      <p:sp>
        <p:nvSpPr>
          <p:cNvPr id="338" name=""/>
          <p:cNvSpPr/>
          <p:nvPr/>
        </p:nvSpPr>
        <p:spPr>
          <a:xfrm>
            <a:off x="1924200" y="2118240"/>
            <a:ext cx="552240" cy="2210040"/>
          </a:xfrm>
          <a:custGeom>
            <a:avLst/>
            <a:gdLst/>
            <a:ahLst/>
            <a:rect l="0" t="0" r="r" b="b"/>
            <a:pathLst>
              <a:path fill="none" w="1534" h="6139">
                <a:moveTo>
                  <a:pt x="1534" y="6139"/>
                </a:moveTo>
                <a:lnTo>
                  <a:pt x="1454" y="6135"/>
                </a:lnTo>
                <a:lnTo>
                  <a:pt x="1374" y="6122"/>
                </a:lnTo>
                <a:lnTo>
                  <a:pt x="1294" y="6101"/>
                </a:lnTo>
                <a:lnTo>
                  <a:pt x="1215" y="6072"/>
                </a:lnTo>
                <a:lnTo>
                  <a:pt x="1137" y="6034"/>
                </a:lnTo>
                <a:lnTo>
                  <a:pt x="1060" y="5989"/>
                </a:lnTo>
                <a:lnTo>
                  <a:pt x="984" y="5935"/>
                </a:lnTo>
                <a:lnTo>
                  <a:pt x="910" y="5873"/>
                </a:lnTo>
                <a:lnTo>
                  <a:pt x="838" y="5804"/>
                </a:lnTo>
                <a:lnTo>
                  <a:pt x="767" y="5728"/>
                </a:lnTo>
                <a:lnTo>
                  <a:pt x="698" y="5644"/>
                </a:lnTo>
                <a:lnTo>
                  <a:pt x="632" y="5553"/>
                </a:lnTo>
                <a:lnTo>
                  <a:pt x="568" y="5455"/>
                </a:lnTo>
                <a:lnTo>
                  <a:pt x="507" y="5350"/>
                </a:lnTo>
                <a:lnTo>
                  <a:pt x="449" y="5240"/>
                </a:lnTo>
                <a:lnTo>
                  <a:pt x="394" y="5123"/>
                </a:lnTo>
                <a:lnTo>
                  <a:pt x="342" y="5001"/>
                </a:lnTo>
                <a:lnTo>
                  <a:pt x="293" y="4874"/>
                </a:lnTo>
                <a:lnTo>
                  <a:pt x="247" y="4741"/>
                </a:lnTo>
                <a:lnTo>
                  <a:pt x="205" y="4604"/>
                </a:lnTo>
                <a:lnTo>
                  <a:pt x="167" y="4463"/>
                </a:lnTo>
                <a:lnTo>
                  <a:pt x="132" y="4318"/>
                </a:lnTo>
                <a:lnTo>
                  <a:pt x="102" y="4169"/>
                </a:lnTo>
                <a:lnTo>
                  <a:pt x="75" y="4018"/>
                </a:lnTo>
                <a:lnTo>
                  <a:pt x="52" y="3864"/>
                </a:lnTo>
                <a:lnTo>
                  <a:pt x="33" y="3708"/>
                </a:lnTo>
                <a:lnTo>
                  <a:pt x="19" y="3550"/>
                </a:lnTo>
                <a:lnTo>
                  <a:pt x="8" y="3390"/>
                </a:lnTo>
                <a:lnTo>
                  <a:pt x="2" y="3230"/>
                </a:lnTo>
                <a:lnTo>
                  <a:pt x="0" y="3070"/>
                </a:lnTo>
                <a:lnTo>
                  <a:pt x="2" y="2909"/>
                </a:lnTo>
                <a:lnTo>
                  <a:pt x="8" y="2749"/>
                </a:lnTo>
                <a:lnTo>
                  <a:pt x="19" y="2589"/>
                </a:lnTo>
                <a:lnTo>
                  <a:pt x="33" y="2431"/>
                </a:lnTo>
                <a:lnTo>
                  <a:pt x="52" y="2275"/>
                </a:lnTo>
                <a:lnTo>
                  <a:pt x="75" y="2121"/>
                </a:lnTo>
                <a:lnTo>
                  <a:pt x="102" y="1970"/>
                </a:lnTo>
                <a:lnTo>
                  <a:pt x="132" y="1821"/>
                </a:lnTo>
                <a:lnTo>
                  <a:pt x="167" y="1676"/>
                </a:lnTo>
                <a:lnTo>
                  <a:pt x="205" y="1535"/>
                </a:lnTo>
                <a:lnTo>
                  <a:pt x="247" y="1398"/>
                </a:lnTo>
                <a:lnTo>
                  <a:pt x="293" y="1266"/>
                </a:lnTo>
                <a:lnTo>
                  <a:pt x="342" y="1138"/>
                </a:lnTo>
                <a:lnTo>
                  <a:pt x="394" y="1016"/>
                </a:lnTo>
                <a:lnTo>
                  <a:pt x="449" y="899"/>
                </a:lnTo>
                <a:lnTo>
                  <a:pt x="507" y="789"/>
                </a:lnTo>
                <a:lnTo>
                  <a:pt x="568" y="684"/>
                </a:lnTo>
                <a:lnTo>
                  <a:pt x="632" y="587"/>
                </a:lnTo>
                <a:lnTo>
                  <a:pt x="698" y="496"/>
                </a:lnTo>
                <a:lnTo>
                  <a:pt x="767" y="412"/>
                </a:lnTo>
                <a:lnTo>
                  <a:pt x="838" y="335"/>
                </a:lnTo>
                <a:lnTo>
                  <a:pt x="910" y="266"/>
                </a:lnTo>
                <a:lnTo>
                  <a:pt x="984" y="204"/>
                </a:lnTo>
                <a:lnTo>
                  <a:pt x="1060" y="151"/>
                </a:lnTo>
                <a:lnTo>
                  <a:pt x="1137" y="105"/>
                </a:lnTo>
                <a:lnTo>
                  <a:pt x="1215" y="67"/>
                </a:lnTo>
                <a:lnTo>
                  <a:pt x="1294" y="38"/>
                </a:lnTo>
                <a:lnTo>
                  <a:pt x="1374" y="17"/>
                </a:lnTo>
                <a:lnTo>
                  <a:pt x="1454" y="5"/>
                </a:lnTo>
                <a:lnTo>
                  <a:pt x="1534" y="0"/>
                </a:lnTo>
              </a:path>
            </a:pathLst>
          </a:custGeom>
          <a:ln w="9000">
            <a:solidFill>
              <a:srgbClr val="a6d9e2"/>
            </a:solidFill>
            <a:round/>
          </a:ln>
        </p:spPr>
        <p:txBody>
          <a:bodyPr lIns="94320" rIns="94320" tIns="49320" bIns="49320" anchor="ctr" anchorCtr="1">
            <a:noAutofit/>
          </a:bodyPr>
          <a:p>
            <a:endParaRPr b="0" lang="en-US" sz="1800" spc="-1" strike="noStrike">
              <a:solidFill>
                <a:srgbClr val="000000"/>
              </a:solidFill>
              <a:latin typeface="Arial"/>
            </a:endParaRPr>
          </a:p>
        </p:txBody>
      </p:sp>
      <p:sp>
        <p:nvSpPr>
          <p:cNvPr id="339" name=""/>
          <p:cNvSpPr/>
          <p:nvPr/>
        </p:nvSpPr>
        <p:spPr>
          <a:xfrm>
            <a:off x="2476440" y="2118240"/>
            <a:ext cx="0" cy="2210040"/>
          </a:xfrm>
          <a:custGeom>
            <a:avLst/>
            <a:gdLst/>
            <a:ahLst/>
            <a:rect l="0" t="0" r="r" b="b"/>
            <a:pathLst>
              <a:path fill="none" w="0" h="6139">
                <a:moveTo>
                  <a:pt x="0" y="6139"/>
                </a:moveTo>
                <a:lnTo>
                  <a:pt x="0" y="6135"/>
                </a:lnTo>
                <a:lnTo>
                  <a:pt x="0" y="6122"/>
                </a:lnTo>
                <a:lnTo>
                  <a:pt x="0" y="6101"/>
                </a:lnTo>
                <a:lnTo>
                  <a:pt x="0" y="6072"/>
                </a:lnTo>
                <a:lnTo>
                  <a:pt x="0" y="6034"/>
                </a:lnTo>
                <a:lnTo>
                  <a:pt x="0" y="5989"/>
                </a:lnTo>
                <a:lnTo>
                  <a:pt x="0" y="5935"/>
                </a:lnTo>
                <a:lnTo>
                  <a:pt x="0" y="5873"/>
                </a:lnTo>
                <a:lnTo>
                  <a:pt x="0" y="5804"/>
                </a:lnTo>
                <a:lnTo>
                  <a:pt x="0" y="5728"/>
                </a:lnTo>
                <a:lnTo>
                  <a:pt x="0" y="5644"/>
                </a:lnTo>
                <a:lnTo>
                  <a:pt x="0" y="5553"/>
                </a:lnTo>
                <a:lnTo>
                  <a:pt x="0" y="5455"/>
                </a:lnTo>
                <a:lnTo>
                  <a:pt x="0" y="5350"/>
                </a:lnTo>
                <a:lnTo>
                  <a:pt x="0" y="5240"/>
                </a:lnTo>
                <a:lnTo>
                  <a:pt x="0" y="5123"/>
                </a:lnTo>
                <a:lnTo>
                  <a:pt x="0" y="5001"/>
                </a:lnTo>
                <a:lnTo>
                  <a:pt x="0" y="4874"/>
                </a:lnTo>
                <a:lnTo>
                  <a:pt x="0" y="4741"/>
                </a:lnTo>
                <a:lnTo>
                  <a:pt x="0" y="4604"/>
                </a:lnTo>
                <a:lnTo>
                  <a:pt x="0" y="4463"/>
                </a:lnTo>
                <a:lnTo>
                  <a:pt x="0" y="4318"/>
                </a:lnTo>
                <a:lnTo>
                  <a:pt x="0" y="4169"/>
                </a:lnTo>
                <a:lnTo>
                  <a:pt x="0" y="4018"/>
                </a:lnTo>
                <a:lnTo>
                  <a:pt x="0" y="3864"/>
                </a:lnTo>
                <a:lnTo>
                  <a:pt x="0" y="3708"/>
                </a:lnTo>
                <a:lnTo>
                  <a:pt x="0" y="3550"/>
                </a:lnTo>
                <a:lnTo>
                  <a:pt x="0" y="3390"/>
                </a:lnTo>
                <a:lnTo>
                  <a:pt x="0" y="3230"/>
                </a:lnTo>
                <a:lnTo>
                  <a:pt x="0" y="3070"/>
                </a:lnTo>
                <a:lnTo>
                  <a:pt x="0" y="2909"/>
                </a:lnTo>
                <a:lnTo>
                  <a:pt x="0" y="2749"/>
                </a:lnTo>
                <a:lnTo>
                  <a:pt x="0" y="2589"/>
                </a:lnTo>
                <a:lnTo>
                  <a:pt x="0" y="2431"/>
                </a:lnTo>
                <a:lnTo>
                  <a:pt x="0" y="2275"/>
                </a:lnTo>
                <a:lnTo>
                  <a:pt x="0" y="2121"/>
                </a:lnTo>
                <a:lnTo>
                  <a:pt x="0" y="1970"/>
                </a:lnTo>
                <a:lnTo>
                  <a:pt x="0" y="1821"/>
                </a:lnTo>
                <a:lnTo>
                  <a:pt x="0" y="1676"/>
                </a:lnTo>
                <a:lnTo>
                  <a:pt x="0" y="1535"/>
                </a:lnTo>
                <a:lnTo>
                  <a:pt x="0" y="1398"/>
                </a:lnTo>
                <a:lnTo>
                  <a:pt x="0" y="1266"/>
                </a:lnTo>
                <a:lnTo>
                  <a:pt x="0" y="1138"/>
                </a:lnTo>
                <a:lnTo>
                  <a:pt x="0" y="1016"/>
                </a:lnTo>
                <a:lnTo>
                  <a:pt x="0" y="899"/>
                </a:lnTo>
                <a:lnTo>
                  <a:pt x="0" y="789"/>
                </a:lnTo>
                <a:lnTo>
                  <a:pt x="0" y="684"/>
                </a:lnTo>
                <a:lnTo>
                  <a:pt x="0" y="587"/>
                </a:lnTo>
                <a:lnTo>
                  <a:pt x="0" y="496"/>
                </a:lnTo>
                <a:lnTo>
                  <a:pt x="0" y="412"/>
                </a:lnTo>
                <a:lnTo>
                  <a:pt x="0" y="335"/>
                </a:lnTo>
                <a:lnTo>
                  <a:pt x="0" y="266"/>
                </a:lnTo>
                <a:lnTo>
                  <a:pt x="0" y="204"/>
                </a:lnTo>
                <a:lnTo>
                  <a:pt x="0" y="151"/>
                </a:lnTo>
                <a:lnTo>
                  <a:pt x="0" y="105"/>
                </a:lnTo>
                <a:lnTo>
                  <a:pt x="0" y="67"/>
                </a:lnTo>
                <a:lnTo>
                  <a:pt x="0" y="38"/>
                </a:lnTo>
                <a:lnTo>
                  <a:pt x="0" y="17"/>
                </a:lnTo>
                <a:lnTo>
                  <a:pt x="0" y="5"/>
                </a:lnTo>
                <a:lnTo>
                  <a:pt x="0" y="0"/>
                </a:lnTo>
              </a:path>
            </a:pathLst>
          </a:custGeom>
          <a:ln w="21600">
            <a:solidFill>
              <a:srgbClr val="a32123"/>
            </a:solidFill>
            <a:round/>
          </a:ln>
        </p:spPr>
        <p:txBody>
          <a:bodyPr lIns="100800" rIns="100800" tIns="55800" bIns="55800" anchor="ctr" anchorCtr="1">
            <a:noAutofit/>
          </a:bodyPr>
          <a:p>
            <a:endParaRPr b="0" lang="en-US" sz="1800" spc="-1" strike="noStrike">
              <a:solidFill>
                <a:srgbClr val="000000"/>
              </a:solidFill>
              <a:latin typeface="Arial"/>
            </a:endParaRPr>
          </a:p>
        </p:txBody>
      </p:sp>
      <p:sp>
        <p:nvSpPr>
          <p:cNvPr id="340" name=""/>
          <p:cNvSpPr/>
          <p:nvPr/>
        </p:nvSpPr>
        <p:spPr>
          <a:xfrm>
            <a:off x="2476440" y="2118240"/>
            <a:ext cx="552600" cy="2210040"/>
          </a:xfrm>
          <a:custGeom>
            <a:avLst/>
            <a:gdLst/>
            <a:ahLst/>
            <a:rect l="0" t="0" r="r" b="b"/>
            <a:pathLst>
              <a:path fill="none" w="1535" h="6139">
                <a:moveTo>
                  <a:pt x="0" y="6139"/>
                </a:moveTo>
                <a:lnTo>
                  <a:pt x="81" y="6135"/>
                </a:lnTo>
                <a:lnTo>
                  <a:pt x="161" y="6122"/>
                </a:lnTo>
                <a:lnTo>
                  <a:pt x="240" y="6101"/>
                </a:lnTo>
                <a:lnTo>
                  <a:pt x="319" y="6072"/>
                </a:lnTo>
                <a:lnTo>
                  <a:pt x="397" y="6034"/>
                </a:lnTo>
                <a:lnTo>
                  <a:pt x="474" y="5989"/>
                </a:lnTo>
                <a:lnTo>
                  <a:pt x="550" y="5935"/>
                </a:lnTo>
                <a:lnTo>
                  <a:pt x="624" y="5873"/>
                </a:lnTo>
                <a:lnTo>
                  <a:pt x="697" y="5804"/>
                </a:lnTo>
                <a:lnTo>
                  <a:pt x="768" y="5728"/>
                </a:lnTo>
                <a:lnTo>
                  <a:pt x="836" y="5644"/>
                </a:lnTo>
                <a:lnTo>
                  <a:pt x="902" y="5553"/>
                </a:lnTo>
                <a:lnTo>
                  <a:pt x="966" y="5455"/>
                </a:lnTo>
                <a:lnTo>
                  <a:pt x="1027" y="5350"/>
                </a:lnTo>
                <a:lnTo>
                  <a:pt x="1085" y="5240"/>
                </a:lnTo>
                <a:lnTo>
                  <a:pt x="1141" y="5123"/>
                </a:lnTo>
                <a:lnTo>
                  <a:pt x="1193" y="5001"/>
                </a:lnTo>
                <a:lnTo>
                  <a:pt x="1242" y="4874"/>
                </a:lnTo>
                <a:lnTo>
                  <a:pt x="1287" y="4741"/>
                </a:lnTo>
                <a:lnTo>
                  <a:pt x="1329" y="4604"/>
                </a:lnTo>
                <a:lnTo>
                  <a:pt x="1368" y="4463"/>
                </a:lnTo>
                <a:lnTo>
                  <a:pt x="1402" y="4318"/>
                </a:lnTo>
                <a:lnTo>
                  <a:pt x="1433" y="4169"/>
                </a:lnTo>
                <a:lnTo>
                  <a:pt x="1460" y="4018"/>
                </a:lnTo>
                <a:lnTo>
                  <a:pt x="1483" y="3864"/>
                </a:lnTo>
                <a:lnTo>
                  <a:pt x="1501" y="3708"/>
                </a:lnTo>
                <a:lnTo>
                  <a:pt x="1516" y="3550"/>
                </a:lnTo>
                <a:lnTo>
                  <a:pt x="1526" y="3390"/>
                </a:lnTo>
                <a:lnTo>
                  <a:pt x="1533" y="3230"/>
                </a:lnTo>
                <a:lnTo>
                  <a:pt x="1535" y="3070"/>
                </a:lnTo>
                <a:lnTo>
                  <a:pt x="1533" y="2909"/>
                </a:lnTo>
                <a:lnTo>
                  <a:pt x="1526" y="2749"/>
                </a:lnTo>
                <a:lnTo>
                  <a:pt x="1516" y="2589"/>
                </a:lnTo>
                <a:lnTo>
                  <a:pt x="1501" y="2431"/>
                </a:lnTo>
                <a:lnTo>
                  <a:pt x="1483" y="2275"/>
                </a:lnTo>
                <a:lnTo>
                  <a:pt x="1460" y="2121"/>
                </a:lnTo>
                <a:lnTo>
                  <a:pt x="1433" y="1970"/>
                </a:lnTo>
                <a:lnTo>
                  <a:pt x="1402" y="1821"/>
                </a:lnTo>
                <a:lnTo>
                  <a:pt x="1368" y="1676"/>
                </a:lnTo>
                <a:lnTo>
                  <a:pt x="1329" y="1535"/>
                </a:lnTo>
                <a:lnTo>
                  <a:pt x="1287" y="1398"/>
                </a:lnTo>
                <a:lnTo>
                  <a:pt x="1242" y="1266"/>
                </a:lnTo>
                <a:lnTo>
                  <a:pt x="1193" y="1138"/>
                </a:lnTo>
                <a:lnTo>
                  <a:pt x="1141" y="1016"/>
                </a:lnTo>
                <a:lnTo>
                  <a:pt x="1085" y="899"/>
                </a:lnTo>
                <a:lnTo>
                  <a:pt x="1027" y="789"/>
                </a:lnTo>
                <a:lnTo>
                  <a:pt x="966" y="684"/>
                </a:lnTo>
                <a:lnTo>
                  <a:pt x="902" y="587"/>
                </a:lnTo>
                <a:lnTo>
                  <a:pt x="836" y="496"/>
                </a:lnTo>
                <a:lnTo>
                  <a:pt x="768" y="412"/>
                </a:lnTo>
                <a:lnTo>
                  <a:pt x="697" y="335"/>
                </a:lnTo>
                <a:lnTo>
                  <a:pt x="624" y="266"/>
                </a:lnTo>
                <a:lnTo>
                  <a:pt x="550" y="204"/>
                </a:lnTo>
                <a:lnTo>
                  <a:pt x="474" y="151"/>
                </a:lnTo>
                <a:lnTo>
                  <a:pt x="397" y="105"/>
                </a:lnTo>
                <a:lnTo>
                  <a:pt x="319" y="67"/>
                </a:lnTo>
                <a:lnTo>
                  <a:pt x="240" y="38"/>
                </a:lnTo>
                <a:lnTo>
                  <a:pt x="161" y="17"/>
                </a:lnTo>
                <a:lnTo>
                  <a:pt x="81" y="5"/>
                </a:lnTo>
                <a:lnTo>
                  <a:pt x="0" y="0"/>
                </a:lnTo>
              </a:path>
            </a:pathLst>
          </a:custGeom>
          <a:ln w="9000">
            <a:solidFill>
              <a:srgbClr val="a6d9e2"/>
            </a:solidFill>
            <a:round/>
          </a:ln>
        </p:spPr>
        <p:txBody>
          <a:bodyPr lIns="94320" rIns="94320" tIns="49320" bIns="49320" anchor="ctr" anchorCtr="1">
            <a:noAutofit/>
          </a:bodyPr>
          <a:p>
            <a:endParaRPr b="0" lang="en-US" sz="1800" spc="-1" strike="noStrike">
              <a:solidFill>
                <a:srgbClr val="000000"/>
              </a:solidFill>
              <a:latin typeface="Arial"/>
            </a:endParaRPr>
          </a:p>
        </p:txBody>
      </p:sp>
      <p:sp>
        <p:nvSpPr>
          <p:cNvPr id="341" name=""/>
          <p:cNvSpPr/>
          <p:nvPr/>
        </p:nvSpPr>
        <p:spPr>
          <a:xfrm>
            <a:off x="2476440" y="2118240"/>
            <a:ext cx="956880" cy="2210040"/>
          </a:xfrm>
          <a:custGeom>
            <a:avLst/>
            <a:gdLst/>
            <a:ahLst/>
            <a:rect l="0" t="0" r="r" b="b"/>
            <a:pathLst>
              <a:path fill="none" w="2658" h="6139">
                <a:moveTo>
                  <a:pt x="0" y="6139"/>
                </a:moveTo>
                <a:lnTo>
                  <a:pt x="139" y="6135"/>
                </a:lnTo>
                <a:lnTo>
                  <a:pt x="278" y="6122"/>
                </a:lnTo>
                <a:lnTo>
                  <a:pt x="416" y="6101"/>
                </a:lnTo>
                <a:lnTo>
                  <a:pt x="553" y="6072"/>
                </a:lnTo>
                <a:lnTo>
                  <a:pt x="688" y="6034"/>
                </a:lnTo>
                <a:lnTo>
                  <a:pt x="822" y="5989"/>
                </a:lnTo>
                <a:lnTo>
                  <a:pt x="953" y="5935"/>
                </a:lnTo>
                <a:lnTo>
                  <a:pt x="1081" y="5873"/>
                </a:lnTo>
                <a:lnTo>
                  <a:pt x="1207" y="5804"/>
                </a:lnTo>
                <a:lnTo>
                  <a:pt x="1329" y="5728"/>
                </a:lnTo>
                <a:lnTo>
                  <a:pt x="1448" y="5644"/>
                </a:lnTo>
                <a:lnTo>
                  <a:pt x="1563" y="5553"/>
                </a:lnTo>
                <a:lnTo>
                  <a:pt x="1673" y="5455"/>
                </a:lnTo>
                <a:lnTo>
                  <a:pt x="1779" y="5350"/>
                </a:lnTo>
                <a:lnTo>
                  <a:pt x="1880" y="5240"/>
                </a:lnTo>
                <a:lnTo>
                  <a:pt x="1976" y="5123"/>
                </a:lnTo>
                <a:lnTo>
                  <a:pt x="2066" y="5001"/>
                </a:lnTo>
                <a:lnTo>
                  <a:pt x="2151" y="4874"/>
                </a:lnTo>
                <a:lnTo>
                  <a:pt x="2229" y="4741"/>
                </a:lnTo>
                <a:lnTo>
                  <a:pt x="2302" y="4604"/>
                </a:lnTo>
                <a:lnTo>
                  <a:pt x="2369" y="4463"/>
                </a:lnTo>
                <a:lnTo>
                  <a:pt x="2428" y="4318"/>
                </a:lnTo>
                <a:lnTo>
                  <a:pt x="2482" y="4169"/>
                </a:lnTo>
                <a:lnTo>
                  <a:pt x="2528" y="4018"/>
                </a:lnTo>
                <a:lnTo>
                  <a:pt x="2568" y="3864"/>
                </a:lnTo>
                <a:lnTo>
                  <a:pt x="2600" y="3708"/>
                </a:lnTo>
                <a:lnTo>
                  <a:pt x="2626" y="3550"/>
                </a:lnTo>
                <a:lnTo>
                  <a:pt x="2644" y="3390"/>
                </a:lnTo>
                <a:lnTo>
                  <a:pt x="2655" y="3230"/>
                </a:lnTo>
                <a:lnTo>
                  <a:pt x="2658" y="3070"/>
                </a:lnTo>
                <a:lnTo>
                  <a:pt x="2655" y="2909"/>
                </a:lnTo>
                <a:lnTo>
                  <a:pt x="2644" y="2749"/>
                </a:lnTo>
                <a:lnTo>
                  <a:pt x="2626" y="2589"/>
                </a:lnTo>
                <a:lnTo>
                  <a:pt x="2600" y="2431"/>
                </a:lnTo>
                <a:lnTo>
                  <a:pt x="2568" y="2275"/>
                </a:lnTo>
                <a:lnTo>
                  <a:pt x="2528" y="2121"/>
                </a:lnTo>
                <a:lnTo>
                  <a:pt x="2482" y="1970"/>
                </a:lnTo>
                <a:lnTo>
                  <a:pt x="2428" y="1821"/>
                </a:lnTo>
                <a:lnTo>
                  <a:pt x="2369" y="1676"/>
                </a:lnTo>
                <a:lnTo>
                  <a:pt x="2302" y="1535"/>
                </a:lnTo>
                <a:lnTo>
                  <a:pt x="2229" y="1398"/>
                </a:lnTo>
                <a:lnTo>
                  <a:pt x="2151" y="1266"/>
                </a:lnTo>
                <a:lnTo>
                  <a:pt x="2066" y="1138"/>
                </a:lnTo>
                <a:lnTo>
                  <a:pt x="1976" y="1016"/>
                </a:lnTo>
                <a:lnTo>
                  <a:pt x="1880" y="899"/>
                </a:lnTo>
                <a:lnTo>
                  <a:pt x="1779" y="789"/>
                </a:lnTo>
                <a:lnTo>
                  <a:pt x="1673" y="684"/>
                </a:lnTo>
                <a:lnTo>
                  <a:pt x="1563" y="587"/>
                </a:lnTo>
                <a:lnTo>
                  <a:pt x="1448" y="496"/>
                </a:lnTo>
                <a:lnTo>
                  <a:pt x="1329" y="412"/>
                </a:lnTo>
                <a:lnTo>
                  <a:pt x="1207" y="335"/>
                </a:lnTo>
                <a:lnTo>
                  <a:pt x="1081" y="266"/>
                </a:lnTo>
                <a:lnTo>
                  <a:pt x="953" y="204"/>
                </a:lnTo>
                <a:lnTo>
                  <a:pt x="822" y="151"/>
                </a:lnTo>
                <a:lnTo>
                  <a:pt x="688" y="105"/>
                </a:lnTo>
                <a:lnTo>
                  <a:pt x="553" y="67"/>
                </a:lnTo>
                <a:lnTo>
                  <a:pt x="416" y="38"/>
                </a:lnTo>
                <a:lnTo>
                  <a:pt x="278" y="17"/>
                </a:lnTo>
                <a:lnTo>
                  <a:pt x="139" y="5"/>
                </a:lnTo>
                <a:lnTo>
                  <a:pt x="0" y="0"/>
                </a:lnTo>
              </a:path>
            </a:pathLst>
          </a:custGeom>
          <a:ln w="9000">
            <a:solidFill>
              <a:srgbClr val="a6d9e2"/>
            </a:solidFill>
            <a:round/>
          </a:ln>
        </p:spPr>
        <p:txBody>
          <a:bodyPr lIns="94320" rIns="94320" tIns="49320" bIns="49320" anchor="ctr" anchorCtr="1">
            <a:noAutofit/>
          </a:bodyPr>
          <a:p>
            <a:endParaRPr b="0" lang="en-US" sz="1800" spc="-1" strike="noStrike">
              <a:solidFill>
                <a:srgbClr val="000000"/>
              </a:solidFill>
              <a:latin typeface="Arial"/>
            </a:endParaRPr>
          </a:p>
        </p:txBody>
      </p:sp>
      <p:sp>
        <p:nvSpPr>
          <p:cNvPr id="342" name=""/>
          <p:cNvSpPr txBox="1"/>
          <p:nvPr/>
        </p:nvSpPr>
        <p:spPr>
          <a:xfrm>
            <a:off x="1371600" y="4648320"/>
            <a:ext cx="2209680" cy="495360"/>
          </a:xfrm>
          <a:prstGeom prst="rect">
            <a:avLst/>
          </a:prstGeom>
          <a:noFill/>
          <a:ln w="0">
            <a:noFill/>
          </a:ln>
        </p:spPr>
        <p:txBody>
          <a:bodyPr lIns="0" rIns="0" tIns="0" bIns="0" anchor="t">
            <a:noAutofit/>
          </a:bodyPr>
          <a:p>
            <a:pPr algn="ctr"/>
            <a:r>
              <a:rPr b="1" lang="en-US" sz="2630" spc="-1" strike="noStrike">
                <a:solidFill>
                  <a:srgbClr val="004899"/>
                </a:solidFill>
                <a:latin typeface="Noto Sans"/>
              </a:rPr>
              <a:t>gekrümmt</a:t>
            </a:r>
            <a:endParaRPr b="0" lang="en-US" sz="2630" spc="-1" strike="noStrike">
              <a:solidFill>
                <a:srgbClr val="000000"/>
              </a:solidFill>
              <a:latin typeface="Arial"/>
            </a:endParaRPr>
          </a:p>
        </p:txBody>
      </p:sp>
      <p:sp>
        <p:nvSpPr>
          <p:cNvPr id="343" name=""/>
          <p:cNvSpPr txBox="1"/>
          <p:nvPr/>
        </p:nvSpPr>
        <p:spPr>
          <a:xfrm>
            <a:off x="4343400" y="2819520"/>
            <a:ext cx="3581280" cy="609480"/>
          </a:xfrm>
          <a:prstGeom prst="rect">
            <a:avLst/>
          </a:prstGeom>
          <a:noFill/>
          <a:ln w="0">
            <a:noFill/>
          </a:ln>
        </p:spPr>
        <p:txBody>
          <a:bodyPr lIns="0" rIns="0" tIns="0" bIns="0" anchor="t">
            <a:noAutofit/>
          </a:bodyPr>
          <a:p>
            <a:pPr algn="ctr"/>
            <a:r>
              <a:rPr b="1" lang="en-US" sz="2720" spc="-1" strike="noStrike">
                <a:solidFill>
                  <a:srgbClr val="000000"/>
                </a:solidFill>
                <a:latin typeface="Noto Sans"/>
              </a:rPr>
              <a:t>Kartenprojektion</a:t>
            </a:r>
            <a:endParaRPr b="0" lang="en-US" sz="2720" spc="-1" strike="noStrike">
              <a:solidFill>
                <a:srgbClr val="000000"/>
              </a:solidFill>
              <a:latin typeface="Arial"/>
            </a:endParaRPr>
          </a:p>
        </p:txBody>
      </p:sp>
      <p:sp>
        <p:nvSpPr>
          <p:cNvPr id="344" name=""/>
          <p:cNvSpPr/>
          <p:nvPr/>
        </p:nvSpPr>
        <p:spPr>
          <a:xfrm>
            <a:off x="4800600" y="3657600"/>
            <a:ext cx="2362320" cy="0"/>
          </a:xfrm>
          <a:prstGeom prst="line">
            <a:avLst/>
          </a:prstGeom>
          <a:ln w="36000">
            <a:solidFill>
              <a:srgbClr val="004899"/>
            </a:solidFill>
            <a:round/>
          </a:ln>
        </p:spPr>
        <p:style>
          <a:lnRef idx="0"/>
          <a:fillRef idx="0"/>
          <a:effectRef idx="0"/>
          <a:fontRef idx="minor"/>
        </p:style>
        <p:txBody>
          <a:bodyPr lIns="108000" rIns="108000" tIns="-63000" bIns="-63000" anchor="ctr" anchorCtr="1">
            <a:noAutofit/>
          </a:bodyPr>
          <a:p>
            <a:endParaRPr b="0" lang="en-US" sz="1800" spc="-1" strike="noStrike">
              <a:solidFill>
                <a:srgbClr val="000000"/>
              </a:solidFill>
              <a:latin typeface="Arial"/>
            </a:endParaRPr>
          </a:p>
        </p:txBody>
      </p:sp>
      <p:sp>
        <p:nvSpPr>
          <p:cNvPr id="345" name=""/>
          <p:cNvSpPr/>
          <p:nvPr/>
        </p:nvSpPr>
        <p:spPr>
          <a:xfrm>
            <a:off x="6987600" y="3497760"/>
            <a:ext cx="198000" cy="320040"/>
          </a:xfrm>
          <a:custGeom>
            <a:avLst/>
            <a:gdLst/>
            <a:ahLst/>
            <a:rect l="0" t="0" r="r" b="b"/>
            <a:pathLst>
              <a:path fill="none" w="550" h="889">
                <a:moveTo>
                  <a:pt x="0" y="0"/>
                </a:moveTo>
                <a:lnTo>
                  <a:pt x="550" y="444"/>
                </a:lnTo>
                <a:lnTo>
                  <a:pt x="0" y="889"/>
                </a:lnTo>
              </a:path>
            </a:pathLst>
          </a:custGeom>
          <a:ln w="36000">
            <a:solidFill>
              <a:srgbClr val="004899"/>
            </a:solidFill>
            <a:round/>
          </a:ln>
        </p:spPr>
        <p:txBody>
          <a:bodyPr lIns="108000" rIns="108000" tIns="63000" bIns="63000" anchor="ctr" anchorCtr="1">
            <a:noAutofit/>
          </a:bodyPr>
          <a:p>
            <a:endParaRPr b="0" lang="en-US" sz="1800" spc="-1" strike="noStrike">
              <a:solidFill>
                <a:srgbClr val="000000"/>
              </a:solidFill>
              <a:latin typeface="Arial"/>
            </a:endParaRPr>
          </a:p>
        </p:txBody>
      </p:sp>
      <p:sp>
        <p:nvSpPr>
          <p:cNvPr id="346" name=""/>
          <p:cNvSpPr/>
          <p:nvPr/>
        </p:nvSpPr>
        <p:spPr>
          <a:xfrm>
            <a:off x="8458200" y="2324160"/>
            <a:ext cx="2552760" cy="1790640"/>
          </a:xfrm>
          <a:prstGeom prst="rect">
            <a:avLst/>
          </a:prstGeom>
          <a:solidFill>
            <a:srgbClr val="eaf5f7"/>
          </a:solidFill>
          <a:ln w="16200">
            <a:solidFill>
              <a:srgbClr val="004899"/>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347" name=""/>
          <p:cNvSpPr/>
          <p:nvPr/>
        </p:nvSpPr>
        <p:spPr>
          <a:xfrm>
            <a:off x="9096480" y="2324160"/>
            <a:ext cx="0" cy="1790640"/>
          </a:xfrm>
          <a:prstGeom prst="line">
            <a:avLst/>
          </a:prstGeom>
          <a:ln w="16200">
            <a:solidFill>
              <a:srgbClr val="a6d9e2"/>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48" name=""/>
          <p:cNvSpPr/>
          <p:nvPr/>
        </p:nvSpPr>
        <p:spPr>
          <a:xfrm>
            <a:off x="8458200" y="2771640"/>
            <a:ext cx="2552760" cy="0"/>
          </a:xfrm>
          <a:prstGeom prst="line">
            <a:avLst/>
          </a:prstGeom>
          <a:ln w="16200">
            <a:solidFill>
              <a:srgbClr val="a6d9e2"/>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49" name=""/>
          <p:cNvSpPr/>
          <p:nvPr/>
        </p:nvSpPr>
        <p:spPr>
          <a:xfrm>
            <a:off x="9734760" y="2324160"/>
            <a:ext cx="0" cy="1790640"/>
          </a:xfrm>
          <a:prstGeom prst="line">
            <a:avLst/>
          </a:prstGeom>
          <a:ln w="16200">
            <a:solidFill>
              <a:srgbClr val="a6d9e2"/>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50" name=""/>
          <p:cNvSpPr/>
          <p:nvPr/>
        </p:nvSpPr>
        <p:spPr>
          <a:xfrm>
            <a:off x="8458200" y="3219480"/>
            <a:ext cx="2552760" cy="0"/>
          </a:xfrm>
          <a:prstGeom prst="line">
            <a:avLst/>
          </a:prstGeom>
          <a:ln w="16200">
            <a:solidFill>
              <a:srgbClr val="a6d9e2"/>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51" name=""/>
          <p:cNvSpPr/>
          <p:nvPr/>
        </p:nvSpPr>
        <p:spPr>
          <a:xfrm>
            <a:off x="10372680" y="2324160"/>
            <a:ext cx="0" cy="1790640"/>
          </a:xfrm>
          <a:prstGeom prst="line">
            <a:avLst/>
          </a:prstGeom>
          <a:ln w="16200">
            <a:solidFill>
              <a:srgbClr val="a6d9e2"/>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52" name=""/>
          <p:cNvSpPr/>
          <p:nvPr/>
        </p:nvSpPr>
        <p:spPr>
          <a:xfrm>
            <a:off x="8458200" y="3667320"/>
            <a:ext cx="2552760" cy="0"/>
          </a:xfrm>
          <a:prstGeom prst="line">
            <a:avLst/>
          </a:prstGeom>
          <a:ln w="16200">
            <a:solidFill>
              <a:srgbClr val="a6d9e2"/>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53" name=""/>
          <p:cNvSpPr txBox="1"/>
          <p:nvPr/>
        </p:nvSpPr>
        <p:spPr>
          <a:xfrm>
            <a:off x="8458200" y="4648320"/>
            <a:ext cx="2552760" cy="495360"/>
          </a:xfrm>
          <a:prstGeom prst="rect">
            <a:avLst/>
          </a:prstGeom>
          <a:noFill/>
          <a:ln w="0">
            <a:noFill/>
          </a:ln>
        </p:spPr>
        <p:txBody>
          <a:bodyPr lIns="0" rIns="0" tIns="0" bIns="0" anchor="t">
            <a:noAutofit/>
          </a:bodyPr>
          <a:p>
            <a:pPr algn="ctr"/>
            <a:r>
              <a:rPr b="1" lang="en-US" sz="2630" spc="-1" strike="noStrike">
                <a:solidFill>
                  <a:srgbClr val="004899"/>
                </a:solidFill>
                <a:latin typeface="Noto Sans"/>
              </a:rPr>
              <a:t>eben</a:t>
            </a:r>
            <a:endParaRPr b="0" lang="en-US" sz="2630" spc="-1" strike="noStrike">
              <a:solidFill>
                <a:srgbClr val="000000"/>
              </a:solidFill>
              <a:latin typeface="Arial"/>
            </a:endParaRPr>
          </a:p>
        </p:txBody>
      </p:sp>
      <p:sp>
        <p:nvSpPr>
          <p:cNvPr id="35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5"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Jede ebene Weltkarte verzerrt bestimmte Eigenschaften.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Gleich große Gebiete – anders dargestellt</a:t>
            </a:r>
            <a:endParaRPr b="0" lang="en-US" sz="3190" spc="-1" strike="noStrike">
              <a:solidFill>
                <a:srgbClr val="000000"/>
              </a:solidFill>
              <a:latin typeface="Arial"/>
            </a:endParaRPr>
          </a:p>
        </p:txBody>
      </p:sp>
      <p:sp>
        <p:nvSpPr>
          <p:cNvPr id="35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VERGLEICH · KARTENPROJEKTIONEN</a:t>
            </a:r>
            <a:endParaRPr b="0" lang="en-US" sz="1130" spc="-1" strike="noStrike">
              <a:solidFill>
                <a:srgbClr val="000000"/>
              </a:solidFill>
              <a:latin typeface="Arial"/>
            </a:endParaRPr>
          </a:p>
        </p:txBody>
      </p:sp>
      <p:sp>
        <p:nvSpPr>
          <p:cNvPr id="35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5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pic>
        <p:nvPicPr>
          <p:cNvPr id="360" name="" descr="Dieselben geodätischen Referenzflächen mit 1000 Kilometern Radius liegen am Äquator und bei 70 Grad Nord. World Mercator vergrößert die polnahe Fläche stark. Equal Earth erhält die Flächenverhältnisse, verändert jedoch ihre Form."/>
          <p:cNvPicPr/>
          <p:nvPr/>
        </p:nvPicPr>
        <p:blipFill>
          <a:blip r:embed="rId1">
            <a:extLst>
              <a:ext uri="{96DAC541-7B7A-43D3-8B79-37D633B846F1}">
                <asvg:svgBlip xmlns:asvg="http://schemas.microsoft.com/office/drawing/2016/SVG/main" r:embed="rId2"/>
              </a:ext>
            </a:extLst>
          </a:blip>
          <a:stretch/>
        </p:blipFill>
        <p:spPr>
          <a:xfrm>
            <a:off x="1219320" y="1600200"/>
            <a:ext cx="9753840" cy="45871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 Karte passt zum Flächenvergleich?</a:t>
            </a:r>
            <a:endParaRPr b="0" lang="en-US" sz="3190" spc="-1" strike="noStrike">
              <a:solidFill>
                <a:srgbClr val="000000"/>
              </a:solidFill>
              <a:latin typeface="Arial"/>
            </a:endParaRPr>
          </a:p>
        </p:txBody>
      </p:sp>
      <p:sp>
        <p:nvSpPr>
          <p:cNvPr id="36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ABSTIMMUNG · KARTENPROJEKTIONEN</a:t>
            </a:r>
            <a:endParaRPr b="0" lang="en-US" sz="1130" spc="-1" strike="noStrike">
              <a:solidFill>
                <a:srgbClr val="000000"/>
              </a:solidFill>
              <a:latin typeface="Arial"/>
            </a:endParaRPr>
          </a:p>
        </p:txBody>
      </p:sp>
      <p:sp>
        <p:nvSpPr>
          <p:cNvPr id="36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6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sp>
        <p:nvSpPr>
          <p:cNvPr id="365" name=""/>
          <p:cNvSpPr txBox="1"/>
          <p:nvPr/>
        </p:nvSpPr>
        <p:spPr>
          <a:xfrm>
            <a:off x="762120" y="1661040"/>
            <a:ext cx="10668240" cy="762120"/>
          </a:xfrm>
          <a:prstGeom prst="rect">
            <a:avLst/>
          </a:prstGeom>
          <a:noFill/>
          <a:ln w="0">
            <a:noFill/>
          </a:ln>
        </p:spPr>
        <p:txBody>
          <a:bodyPr lIns="0" rIns="0" tIns="0" bIns="0" anchor="t">
            <a:noAutofit/>
          </a:bodyPr>
          <a:p>
            <a:r>
              <a:rPr b="1" lang="en-US" sz="2720" spc="-1" strike="noStrike">
                <a:solidFill>
                  <a:srgbClr val="000000"/>
                </a:solidFill>
                <a:latin typeface="Noto Sans"/>
              </a:rPr>
              <a:t>Wir möchten die Flächen verschiedener Länder vergleichen.</a:t>
            </a:r>
            <a:endParaRPr b="0" lang="en-US" sz="2720" spc="-1" strike="noStrike">
              <a:solidFill>
                <a:srgbClr val="000000"/>
              </a:solidFill>
              <a:latin typeface="Arial"/>
            </a:endParaRPr>
          </a:p>
        </p:txBody>
      </p:sp>
      <p:sp>
        <p:nvSpPr>
          <p:cNvPr id="366" name=""/>
          <p:cNvSpPr/>
          <p:nvPr/>
        </p:nvSpPr>
        <p:spPr>
          <a:xfrm>
            <a:off x="647640" y="26290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67" name=""/>
          <p:cNvSpPr txBox="1"/>
          <p:nvPr/>
        </p:nvSpPr>
        <p:spPr>
          <a:xfrm>
            <a:off x="647640" y="26899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368" name=""/>
          <p:cNvSpPr txBox="1"/>
          <p:nvPr/>
        </p:nvSpPr>
        <p:spPr>
          <a:xfrm>
            <a:off x="1371600" y="26290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Mercator</a:t>
            </a:r>
            <a:endParaRPr b="0" lang="en-US" sz="2720" spc="-1" strike="noStrike">
              <a:solidFill>
                <a:srgbClr val="000000"/>
              </a:solidFill>
              <a:latin typeface="Arial"/>
            </a:endParaRPr>
          </a:p>
        </p:txBody>
      </p:sp>
      <p:sp>
        <p:nvSpPr>
          <p:cNvPr id="369" name=""/>
          <p:cNvSpPr txBox="1"/>
          <p:nvPr/>
        </p:nvSpPr>
        <p:spPr>
          <a:xfrm>
            <a:off x="1371600" y="31014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Die Formen wirken vertraut.</a:t>
            </a:r>
            <a:endParaRPr b="0" lang="en-US" sz="2260" spc="-1" strike="noStrike">
              <a:solidFill>
                <a:srgbClr val="000000"/>
              </a:solidFill>
              <a:latin typeface="Arial"/>
            </a:endParaRPr>
          </a:p>
        </p:txBody>
      </p:sp>
      <p:sp>
        <p:nvSpPr>
          <p:cNvPr id="370" name=""/>
          <p:cNvSpPr/>
          <p:nvPr/>
        </p:nvSpPr>
        <p:spPr>
          <a:xfrm>
            <a:off x="647640" y="34822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1" name=""/>
          <p:cNvSpPr txBox="1"/>
          <p:nvPr/>
        </p:nvSpPr>
        <p:spPr>
          <a:xfrm>
            <a:off x="647640" y="35434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372" name=""/>
          <p:cNvSpPr txBox="1"/>
          <p:nvPr/>
        </p:nvSpPr>
        <p:spPr>
          <a:xfrm>
            <a:off x="1371600" y="34822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Eine flächentreue Projektion</a:t>
            </a:r>
            <a:endParaRPr b="0" lang="en-US" sz="2720" spc="-1" strike="noStrike">
              <a:solidFill>
                <a:srgbClr val="000000"/>
              </a:solidFill>
              <a:latin typeface="Arial"/>
            </a:endParaRPr>
          </a:p>
        </p:txBody>
      </p:sp>
      <p:sp>
        <p:nvSpPr>
          <p:cNvPr id="373" name=""/>
          <p:cNvSpPr txBox="1"/>
          <p:nvPr/>
        </p:nvSpPr>
        <p:spPr>
          <a:xfrm>
            <a:off x="1371600" y="39549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Die Flächenverhältnisse sollen erhalten bleiben.</a:t>
            </a:r>
            <a:endParaRPr b="0" lang="en-US" sz="2260" spc="-1" strike="noStrike">
              <a:solidFill>
                <a:srgbClr val="000000"/>
              </a:solidFill>
              <a:latin typeface="Arial"/>
            </a:endParaRPr>
          </a:p>
        </p:txBody>
      </p:sp>
      <p:sp>
        <p:nvSpPr>
          <p:cNvPr id="374" name=""/>
          <p:cNvSpPr/>
          <p:nvPr/>
        </p:nvSpPr>
        <p:spPr>
          <a:xfrm>
            <a:off x="647640" y="43358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5" name=""/>
          <p:cNvSpPr txBox="1"/>
          <p:nvPr/>
        </p:nvSpPr>
        <p:spPr>
          <a:xfrm>
            <a:off x="647640" y="439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376" name=""/>
          <p:cNvSpPr txBox="1"/>
          <p:nvPr/>
        </p:nvSpPr>
        <p:spPr>
          <a:xfrm>
            <a:off x="1371600" y="43358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Jede Projektion ist gleich geeignet</a:t>
            </a:r>
            <a:endParaRPr b="0" lang="en-US" sz="2720" spc="-1" strike="noStrike">
              <a:solidFill>
                <a:srgbClr val="000000"/>
              </a:solidFill>
              <a:latin typeface="Arial"/>
            </a:endParaRPr>
          </a:p>
        </p:txBody>
      </p:sp>
      <p:sp>
        <p:nvSpPr>
          <p:cNvPr id="377" name=""/>
          <p:cNvSpPr txBox="1"/>
          <p:nvPr/>
        </p:nvSpPr>
        <p:spPr>
          <a:xfrm>
            <a:off x="1371600" y="480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Alle stellen doch dieselbe Erde dar.</a:t>
            </a:r>
            <a:endParaRPr b="0" lang="en-US" sz="2260" spc="-1" strike="noStrike">
              <a:solidFill>
                <a:srgbClr val="000000"/>
              </a:solidFill>
              <a:latin typeface="Arial"/>
            </a:endParaRPr>
          </a:p>
        </p:txBody>
      </p:sp>
      <p:sp>
        <p:nvSpPr>
          <p:cNvPr id="37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9"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A, B oder C? Entscheiden Sie und begründen Sie Ihre Wahl.</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Der Zweck entscheidet über die Projektion</a:t>
            </a:r>
            <a:endParaRPr b="0" lang="en-US" sz="3190" spc="-1" strike="noStrike">
              <a:solidFill>
                <a:srgbClr val="000000"/>
              </a:solidFill>
              <a:latin typeface="Arial"/>
            </a:endParaRPr>
          </a:p>
        </p:txBody>
      </p:sp>
      <p:sp>
        <p:nvSpPr>
          <p:cNvPr id="38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KARTENPROJEKTIONEN</a:t>
            </a:r>
            <a:endParaRPr b="0" lang="en-US" sz="1130" spc="-1" strike="noStrike">
              <a:solidFill>
                <a:srgbClr val="000000"/>
              </a:solidFill>
              <a:latin typeface="Arial"/>
            </a:endParaRPr>
          </a:p>
        </p:txBody>
      </p:sp>
      <p:sp>
        <p:nvSpPr>
          <p:cNvPr id="38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8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384" name=""/>
          <p:cNvSpPr/>
          <p:nvPr/>
        </p:nvSpPr>
        <p:spPr>
          <a:xfrm>
            <a:off x="647640" y="1790640"/>
            <a:ext cx="10896840" cy="1981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85" name=""/>
          <p:cNvSpPr/>
          <p:nvPr/>
        </p:nvSpPr>
        <p:spPr>
          <a:xfrm>
            <a:off x="647640" y="1790640"/>
            <a:ext cx="53280" cy="19810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6" name=""/>
          <p:cNvSpPr txBox="1"/>
          <p:nvPr/>
        </p:nvSpPr>
        <p:spPr>
          <a:xfrm>
            <a:off x="853560" y="1973520"/>
            <a:ext cx="10485360" cy="647640"/>
          </a:xfrm>
          <a:prstGeom prst="rect">
            <a:avLst/>
          </a:prstGeom>
          <a:noFill/>
          <a:ln w="0">
            <a:noFill/>
          </a:ln>
        </p:spPr>
        <p:txBody>
          <a:bodyPr lIns="0" rIns="0" tIns="0" bIns="0" anchor="t">
            <a:noAutofit/>
          </a:bodyPr>
          <a:p>
            <a:r>
              <a:rPr b="1" lang="en-US" sz="2540" spc="-1" strike="noStrike">
                <a:solidFill>
                  <a:srgbClr val="004899"/>
                </a:solidFill>
                <a:latin typeface="Noto Sans"/>
              </a:rPr>
              <a:t>B · Flächentreu für den Flächenvergleich</a:t>
            </a:r>
            <a:endParaRPr b="0" lang="en-US" sz="2540" spc="-1" strike="noStrike">
              <a:solidFill>
                <a:srgbClr val="000000"/>
              </a:solidFill>
              <a:latin typeface="Arial"/>
            </a:endParaRPr>
          </a:p>
        </p:txBody>
      </p:sp>
      <p:sp>
        <p:nvSpPr>
          <p:cNvPr id="387" name=""/>
          <p:cNvSpPr txBox="1"/>
          <p:nvPr/>
        </p:nvSpPr>
        <p:spPr>
          <a:xfrm>
            <a:off x="853560" y="2735640"/>
            <a:ext cx="10485360" cy="899280"/>
          </a:xfrm>
          <a:prstGeom prst="rect">
            <a:avLst/>
          </a:prstGeom>
          <a:noFill/>
          <a:ln w="0">
            <a:noFill/>
          </a:ln>
        </p:spPr>
        <p:txBody>
          <a:bodyPr lIns="0" rIns="0" tIns="0" bIns="0" anchor="t">
            <a:noAutofit/>
          </a:bodyPr>
          <a:p>
            <a:r>
              <a:rPr b="0" lang="en-US" sz="2820" spc="-1" strike="noStrike">
                <a:solidFill>
                  <a:srgbClr val="000000"/>
                </a:solidFill>
                <a:latin typeface="Noto Sans"/>
              </a:rPr>
              <a:t>Gleich große Gebiete auf der Erde erscheinen gleich groß auf der Karte.</a:t>
            </a:r>
            <a:endParaRPr b="0" lang="en-US" sz="2820" spc="-1" strike="noStrike">
              <a:solidFill>
                <a:srgbClr val="000000"/>
              </a:solidFill>
              <a:latin typeface="Arial"/>
            </a:endParaRPr>
          </a:p>
        </p:txBody>
      </p:sp>
      <p:sp>
        <p:nvSpPr>
          <p:cNvPr id="388" name=""/>
          <p:cNvSpPr txBox="1"/>
          <p:nvPr/>
        </p:nvSpPr>
        <p:spPr>
          <a:xfrm>
            <a:off x="838080" y="4152960"/>
            <a:ext cx="10591920" cy="876240"/>
          </a:xfrm>
          <a:prstGeom prst="rect">
            <a:avLst/>
          </a:prstGeom>
          <a:noFill/>
          <a:ln w="0">
            <a:noFill/>
          </a:ln>
        </p:spPr>
        <p:txBody>
          <a:bodyPr lIns="0" rIns="0" tIns="0" bIns="0" anchor="t">
            <a:noAutofit/>
          </a:bodyPr>
          <a:p>
            <a:r>
              <a:rPr b="0" lang="en-US" sz="2630" spc="-1" strike="noStrike">
                <a:solidFill>
                  <a:srgbClr val="000000"/>
                </a:solidFill>
                <a:latin typeface="Noto Sans"/>
              </a:rPr>
              <a:t>Dafür können Formen und Winkel verändert sein.</a:t>
            </a:r>
            <a:endParaRPr b="0" lang="en-US" sz="2630" spc="-1" strike="noStrike">
              <a:solidFill>
                <a:srgbClr val="000000"/>
              </a:solidFill>
              <a:latin typeface="Arial"/>
            </a:endParaRPr>
          </a:p>
          <a:p>
            <a:r>
              <a:rPr b="0" lang="en-US" sz="2630" spc="-1" strike="noStrike">
                <a:solidFill>
                  <a:srgbClr val="000000"/>
                </a:solidFill>
                <a:latin typeface="Noto Sans"/>
              </a:rPr>
              <a:t>Eine vertraute Darstellung ist kein Beleg für Flächentreue.</a:t>
            </a:r>
            <a:endParaRPr b="0" lang="en-US" sz="2630" spc="-1" strike="noStrike">
              <a:solidFill>
                <a:srgbClr val="000000"/>
              </a:solidFill>
              <a:latin typeface="Arial"/>
            </a:endParaRPr>
          </a:p>
        </p:txBody>
      </p:sp>
      <p:sp>
        <p:nvSpPr>
          <p:cNvPr id="38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0"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Erst die Frage klären, dann die Projektion auswählen.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Drei CRS, die uns im Kurs begegnen</a:t>
            </a:r>
            <a:endParaRPr b="0" lang="en-US" sz="3190" spc="-1" strike="noStrike">
              <a:solidFill>
                <a:srgbClr val="000000"/>
              </a:solidFill>
              <a:latin typeface="Arial"/>
            </a:endParaRPr>
          </a:p>
        </p:txBody>
      </p:sp>
      <p:sp>
        <p:nvSpPr>
          <p:cNvPr id="39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03 · EPSG-CODES</a:t>
            </a:r>
            <a:endParaRPr b="0" lang="en-US" sz="1130" spc="-1" strike="noStrike">
              <a:solidFill>
                <a:srgbClr val="000000"/>
              </a:solidFill>
              <a:latin typeface="Arial"/>
            </a:endParaRPr>
          </a:p>
        </p:txBody>
      </p:sp>
      <p:sp>
        <p:nvSpPr>
          <p:cNvPr id="39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39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395" name=""/>
          <p:cNvSpPr/>
          <p:nvPr/>
        </p:nvSpPr>
        <p:spPr>
          <a:xfrm>
            <a:off x="647640" y="1790640"/>
            <a:ext cx="3429000" cy="3581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6" name=""/>
          <p:cNvSpPr/>
          <p:nvPr/>
        </p:nvSpPr>
        <p:spPr>
          <a:xfrm>
            <a:off x="647640" y="1790640"/>
            <a:ext cx="53280" cy="3581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7" name=""/>
          <p:cNvSpPr txBox="1"/>
          <p:nvPr/>
        </p:nvSpPr>
        <p:spPr>
          <a:xfrm>
            <a:off x="853560" y="1973520"/>
            <a:ext cx="3017520" cy="647640"/>
          </a:xfrm>
          <a:prstGeom prst="rect">
            <a:avLst/>
          </a:prstGeom>
          <a:noFill/>
          <a:ln w="0">
            <a:noFill/>
          </a:ln>
        </p:spPr>
        <p:txBody>
          <a:bodyPr lIns="0" rIns="0" tIns="0" bIns="0" anchor="t">
            <a:noAutofit/>
          </a:bodyPr>
          <a:p>
            <a:r>
              <a:rPr b="1" lang="en-US" sz="2540" spc="-1" strike="noStrike">
                <a:solidFill>
                  <a:srgbClr val="004899"/>
                </a:solidFill>
                <a:latin typeface="Noto Sans"/>
              </a:rPr>
              <a:t>EPSG:4326</a:t>
            </a:r>
            <a:endParaRPr b="0" lang="en-US" sz="2540" spc="-1" strike="noStrike">
              <a:solidFill>
                <a:srgbClr val="000000"/>
              </a:solidFill>
              <a:latin typeface="Arial"/>
            </a:endParaRPr>
          </a:p>
        </p:txBody>
      </p:sp>
      <p:sp>
        <p:nvSpPr>
          <p:cNvPr id="398" name=""/>
          <p:cNvSpPr txBox="1"/>
          <p:nvPr/>
        </p:nvSpPr>
        <p:spPr>
          <a:xfrm>
            <a:off x="853560" y="2735640"/>
            <a:ext cx="3017520" cy="2499480"/>
          </a:xfrm>
          <a:prstGeom prst="rect">
            <a:avLst/>
          </a:prstGeom>
          <a:noFill/>
          <a:ln w="0">
            <a:noFill/>
          </a:ln>
        </p:spPr>
        <p:txBody>
          <a:bodyPr lIns="0" rIns="0" tIns="0" bIns="0" anchor="t">
            <a:noAutofit/>
          </a:bodyPr>
          <a:p>
            <a:r>
              <a:rPr b="0" lang="en-US" sz="2450" spc="-1" strike="noStrike">
                <a:solidFill>
                  <a:srgbClr val="000000"/>
                </a:solidFill>
                <a:latin typeface="Noto Sans"/>
              </a:rPr>
              <a:t>WGS 84</a:t>
            </a:r>
            <a:endParaRPr b="0" lang="en-US" sz="2450" spc="-1" strike="noStrike">
              <a:solidFill>
                <a:srgbClr val="000000"/>
              </a:solidFill>
              <a:latin typeface="Arial"/>
            </a:endParaRPr>
          </a:p>
          <a:p>
            <a:endParaRPr b="0" lang="en-US" sz="2450" spc="-1" strike="noStrike">
              <a:solidFill>
                <a:srgbClr val="000000"/>
              </a:solidFill>
              <a:latin typeface="Arial"/>
            </a:endParaRPr>
          </a:p>
          <a:p>
            <a:r>
              <a:rPr b="0" lang="en-US" sz="2450" spc="-1" strike="noStrike">
                <a:solidFill>
                  <a:srgbClr val="000000"/>
                </a:solidFill>
                <a:latin typeface="Noto Sans"/>
              </a:rPr>
              <a:t>Grad</a:t>
            </a:r>
            <a:endParaRPr b="0" lang="en-US" sz="2450" spc="-1" strike="noStrike">
              <a:solidFill>
                <a:srgbClr val="000000"/>
              </a:solidFill>
              <a:latin typeface="Arial"/>
            </a:endParaRPr>
          </a:p>
          <a:p>
            <a:endParaRPr b="0" lang="en-US" sz="2450" spc="-1" strike="noStrike">
              <a:solidFill>
                <a:srgbClr val="000000"/>
              </a:solidFill>
              <a:latin typeface="Arial"/>
            </a:endParaRPr>
          </a:p>
          <a:p>
            <a:r>
              <a:rPr b="0" lang="en-US" sz="2450" spc="-1" strike="noStrike">
                <a:solidFill>
                  <a:srgbClr val="000000"/>
                </a:solidFill>
                <a:latin typeface="Noto Sans"/>
              </a:rPr>
              <a:t>Weltweite Positionen</a:t>
            </a:r>
            <a:endParaRPr b="0" lang="en-US" sz="2450" spc="-1" strike="noStrike">
              <a:solidFill>
                <a:srgbClr val="000000"/>
              </a:solidFill>
              <a:latin typeface="Arial"/>
            </a:endParaRPr>
          </a:p>
        </p:txBody>
      </p:sp>
      <p:sp>
        <p:nvSpPr>
          <p:cNvPr id="399" name=""/>
          <p:cNvSpPr/>
          <p:nvPr/>
        </p:nvSpPr>
        <p:spPr>
          <a:xfrm>
            <a:off x="4381560" y="1790640"/>
            <a:ext cx="3429000" cy="3581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0" name=""/>
          <p:cNvSpPr/>
          <p:nvPr/>
        </p:nvSpPr>
        <p:spPr>
          <a:xfrm>
            <a:off x="4381560" y="1790640"/>
            <a:ext cx="53280" cy="3581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1" name=""/>
          <p:cNvSpPr txBox="1"/>
          <p:nvPr/>
        </p:nvSpPr>
        <p:spPr>
          <a:xfrm>
            <a:off x="4587120" y="1973520"/>
            <a:ext cx="3017520" cy="647640"/>
          </a:xfrm>
          <a:prstGeom prst="rect">
            <a:avLst/>
          </a:prstGeom>
          <a:noFill/>
          <a:ln w="0">
            <a:noFill/>
          </a:ln>
        </p:spPr>
        <p:txBody>
          <a:bodyPr lIns="0" rIns="0" tIns="0" bIns="0" anchor="t">
            <a:noAutofit/>
          </a:bodyPr>
          <a:p>
            <a:r>
              <a:rPr b="1" lang="en-US" sz="2540" spc="-1" strike="noStrike">
                <a:solidFill>
                  <a:srgbClr val="004899"/>
                </a:solidFill>
                <a:latin typeface="Noto Sans"/>
              </a:rPr>
              <a:t>EPSG:25832</a:t>
            </a:r>
            <a:endParaRPr b="0" lang="en-US" sz="2540" spc="-1" strike="noStrike">
              <a:solidFill>
                <a:srgbClr val="000000"/>
              </a:solidFill>
              <a:latin typeface="Arial"/>
            </a:endParaRPr>
          </a:p>
        </p:txBody>
      </p:sp>
      <p:sp>
        <p:nvSpPr>
          <p:cNvPr id="402" name=""/>
          <p:cNvSpPr txBox="1"/>
          <p:nvPr/>
        </p:nvSpPr>
        <p:spPr>
          <a:xfrm>
            <a:off x="4587120" y="2735640"/>
            <a:ext cx="3017520" cy="2499480"/>
          </a:xfrm>
          <a:prstGeom prst="rect">
            <a:avLst/>
          </a:prstGeom>
          <a:noFill/>
          <a:ln w="0">
            <a:noFill/>
          </a:ln>
        </p:spPr>
        <p:txBody>
          <a:bodyPr lIns="0" rIns="0" tIns="0" bIns="0" anchor="t">
            <a:noAutofit/>
          </a:bodyPr>
          <a:p>
            <a:r>
              <a:rPr b="0" lang="en-US" sz="2450" spc="-1" strike="noStrike">
                <a:solidFill>
                  <a:srgbClr val="000000"/>
                </a:solidFill>
                <a:latin typeface="Noto Sans"/>
              </a:rPr>
              <a:t>ETRS89 /</a:t>
            </a:r>
            <a:endParaRPr b="0" lang="en-US" sz="2450" spc="-1" strike="noStrike">
              <a:solidFill>
                <a:srgbClr val="000000"/>
              </a:solidFill>
              <a:latin typeface="Arial"/>
            </a:endParaRPr>
          </a:p>
          <a:p>
            <a:r>
              <a:rPr b="0" lang="en-US" sz="2450" spc="-1" strike="noStrike">
                <a:solidFill>
                  <a:srgbClr val="000000"/>
                </a:solidFill>
                <a:latin typeface="Noto Sans"/>
              </a:rPr>
              <a:t>UTM Zone 32N</a:t>
            </a:r>
            <a:endParaRPr b="0" lang="en-US" sz="2450" spc="-1" strike="noStrike">
              <a:solidFill>
                <a:srgbClr val="000000"/>
              </a:solidFill>
              <a:latin typeface="Arial"/>
            </a:endParaRPr>
          </a:p>
          <a:p>
            <a:endParaRPr b="0" lang="en-US" sz="2450" spc="-1" strike="noStrike">
              <a:solidFill>
                <a:srgbClr val="000000"/>
              </a:solidFill>
              <a:latin typeface="Arial"/>
            </a:endParaRPr>
          </a:p>
          <a:p>
            <a:r>
              <a:rPr b="0" lang="en-US" sz="2450" spc="-1" strike="noStrike">
                <a:solidFill>
                  <a:srgbClr val="000000"/>
                </a:solidFill>
                <a:latin typeface="Noto Sans"/>
              </a:rPr>
              <a:t>Meter</a:t>
            </a:r>
            <a:endParaRPr b="0" lang="en-US" sz="2450" spc="-1" strike="noStrike">
              <a:solidFill>
                <a:srgbClr val="000000"/>
              </a:solidFill>
              <a:latin typeface="Arial"/>
            </a:endParaRPr>
          </a:p>
          <a:p>
            <a:r>
              <a:rPr b="0" lang="en-US" sz="2450" spc="-1" strike="noStrike">
                <a:solidFill>
                  <a:srgbClr val="000000"/>
                </a:solidFill>
                <a:latin typeface="Noto Sans"/>
              </a:rPr>
              <a:t>Regional um Marburg</a:t>
            </a:r>
            <a:endParaRPr b="0" lang="en-US" sz="2450" spc="-1" strike="noStrike">
              <a:solidFill>
                <a:srgbClr val="000000"/>
              </a:solidFill>
              <a:latin typeface="Arial"/>
            </a:endParaRPr>
          </a:p>
        </p:txBody>
      </p:sp>
      <p:sp>
        <p:nvSpPr>
          <p:cNvPr id="403" name=""/>
          <p:cNvSpPr/>
          <p:nvPr/>
        </p:nvSpPr>
        <p:spPr>
          <a:xfrm>
            <a:off x="8115480" y="1790640"/>
            <a:ext cx="3429000" cy="3581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4" name=""/>
          <p:cNvSpPr/>
          <p:nvPr/>
        </p:nvSpPr>
        <p:spPr>
          <a:xfrm>
            <a:off x="8115480" y="1790640"/>
            <a:ext cx="53280" cy="3581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5" name=""/>
          <p:cNvSpPr txBox="1"/>
          <p:nvPr/>
        </p:nvSpPr>
        <p:spPr>
          <a:xfrm>
            <a:off x="8321040" y="1973520"/>
            <a:ext cx="3017520" cy="647640"/>
          </a:xfrm>
          <a:prstGeom prst="rect">
            <a:avLst/>
          </a:prstGeom>
          <a:noFill/>
          <a:ln w="0">
            <a:noFill/>
          </a:ln>
        </p:spPr>
        <p:txBody>
          <a:bodyPr lIns="0" rIns="0" tIns="0" bIns="0" anchor="t">
            <a:noAutofit/>
          </a:bodyPr>
          <a:p>
            <a:r>
              <a:rPr b="1" lang="en-US" sz="2540" spc="-1" strike="noStrike">
                <a:solidFill>
                  <a:srgbClr val="004899"/>
                </a:solidFill>
                <a:latin typeface="Noto Sans"/>
              </a:rPr>
              <a:t>EPSG:3857</a:t>
            </a:r>
            <a:endParaRPr b="0" lang="en-US" sz="2540" spc="-1" strike="noStrike">
              <a:solidFill>
                <a:srgbClr val="000000"/>
              </a:solidFill>
              <a:latin typeface="Arial"/>
            </a:endParaRPr>
          </a:p>
        </p:txBody>
      </p:sp>
      <p:sp>
        <p:nvSpPr>
          <p:cNvPr id="406" name=""/>
          <p:cNvSpPr txBox="1"/>
          <p:nvPr/>
        </p:nvSpPr>
        <p:spPr>
          <a:xfrm>
            <a:off x="8321040" y="2735640"/>
            <a:ext cx="3017520" cy="2499480"/>
          </a:xfrm>
          <a:prstGeom prst="rect">
            <a:avLst/>
          </a:prstGeom>
          <a:noFill/>
          <a:ln w="0">
            <a:noFill/>
          </a:ln>
        </p:spPr>
        <p:txBody>
          <a:bodyPr lIns="0" rIns="0" tIns="0" bIns="0" anchor="t">
            <a:noAutofit/>
          </a:bodyPr>
          <a:p>
            <a:r>
              <a:rPr b="0" lang="en-US" sz="2450" spc="-1" strike="noStrike">
                <a:solidFill>
                  <a:srgbClr val="000000"/>
                </a:solidFill>
                <a:latin typeface="Noto Sans"/>
              </a:rPr>
              <a:t>WGS 84 /</a:t>
            </a:r>
            <a:endParaRPr b="0" lang="en-US" sz="2450" spc="-1" strike="noStrike">
              <a:solidFill>
                <a:srgbClr val="000000"/>
              </a:solidFill>
              <a:latin typeface="Arial"/>
            </a:endParaRPr>
          </a:p>
          <a:p>
            <a:r>
              <a:rPr b="0" lang="en-US" sz="2450" spc="-1" strike="noStrike">
                <a:solidFill>
                  <a:srgbClr val="000000"/>
                </a:solidFill>
                <a:latin typeface="Noto Sans"/>
              </a:rPr>
              <a:t>Pseudo-Mercator</a:t>
            </a:r>
            <a:endParaRPr b="0" lang="en-US" sz="2450" spc="-1" strike="noStrike">
              <a:solidFill>
                <a:srgbClr val="000000"/>
              </a:solidFill>
              <a:latin typeface="Arial"/>
            </a:endParaRPr>
          </a:p>
          <a:p>
            <a:endParaRPr b="0" lang="en-US" sz="2450" spc="-1" strike="noStrike">
              <a:solidFill>
                <a:srgbClr val="000000"/>
              </a:solidFill>
              <a:latin typeface="Arial"/>
            </a:endParaRPr>
          </a:p>
          <a:p>
            <a:r>
              <a:rPr b="0" lang="en-US" sz="2450" spc="-1" strike="noStrike">
                <a:solidFill>
                  <a:srgbClr val="000000"/>
                </a:solidFill>
                <a:latin typeface="Noto Sans"/>
              </a:rPr>
              <a:t>Meter</a:t>
            </a:r>
            <a:endParaRPr b="0" lang="en-US" sz="2450" spc="-1" strike="noStrike">
              <a:solidFill>
                <a:srgbClr val="000000"/>
              </a:solidFill>
              <a:latin typeface="Arial"/>
            </a:endParaRPr>
          </a:p>
          <a:p>
            <a:r>
              <a:rPr b="0" lang="en-US" sz="2450" spc="-1" strike="noStrike">
                <a:solidFill>
                  <a:srgbClr val="000000"/>
                </a:solidFill>
                <a:latin typeface="Noto Sans"/>
              </a:rPr>
              <a:t>Viele Webkarten</a:t>
            </a:r>
            <a:endParaRPr b="0" lang="en-US" sz="2450" spc="-1" strike="noStrike">
              <a:solidFill>
                <a:srgbClr val="000000"/>
              </a:solidFill>
              <a:latin typeface="Arial"/>
            </a:endParaRPr>
          </a:p>
        </p:txBody>
      </p:sp>
      <p:sp>
        <p:nvSpPr>
          <p:cNvPr id="40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8"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Ein EPSG-Code identifiziert ein CRS. Er bewertet nicht seine Eignung.</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UTM: Die Zone muss zum Gebiet passen</a:t>
            </a:r>
            <a:endParaRPr b="0" lang="en-US" sz="3190" spc="-1" strike="noStrike">
              <a:solidFill>
                <a:srgbClr val="000000"/>
              </a:solidFill>
              <a:latin typeface="Arial"/>
            </a:endParaRPr>
          </a:p>
        </p:txBody>
      </p:sp>
      <p:sp>
        <p:nvSpPr>
          <p:cNvPr id="41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03 · REGIONALE KOORDINATEN</a:t>
            </a:r>
            <a:endParaRPr b="0" lang="en-US" sz="1130" spc="-1" strike="noStrike">
              <a:solidFill>
                <a:srgbClr val="000000"/>
              </a:solidFill>
              <a:latin typeface="Arial"/>
            </a:endParaRPr>
          </a:p>
        </p:txBody>
      </p:sp>
      <p:sp>
        <p:nvSpPr>
          <p:cNvPr id="41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41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sp>
        <p:nvSpPr>
          <p:cNvPr id="413" name=""/>
          <p:cNvSpPr/>
          <p:nvPr/>
        </p:nvSpPr>
        <p:spPr>
          <a:xfrm>
            <a:off x="1219320" y="2247840"/>
            <a:ext cx="3276720" cy="2057400"/>
          </a:xfrm>
          <a:prstGeom prst="rect">
            <a:avLst/>
          </a:prstGeom>
          <a:solidFill>
            <a:srgbClr val="ffffff"/>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14" name=""/>
          <p:cNvSpPr txBox="1"/>
          <p:nvPr/>
        </p:nvSpPr>
        <p:spPr>
          <a:xfrm>
            <a:off x="1371600" y="2438280"/>
            <a:ext cx="2971800" cy="495360"/>
          </a:xfrm>
          <a:prstGeom prst="rect">
            <a:avLst/>
          </a:prstGeom>
          <a:noFill/>
          <a:ln w="0">
            <a:noFill/>
          </a:ln>
        </p:spPr>
        <p:txBody>
          <a:bodyPr lIns="0" rIns="0" tIns="0" bIns="0" anchor="t">
            <a:noAutofit/>
          </a:bodyPr>
          <a:p>
            <a:pPr algn="ctr"/>
            <a:r>
              <a:rPr b="1" lang="en-US" sz="2910" spc="-1" strike="noStrike">
                <a:solidFill>
                  <a:srgbClr val="004899"/>
                </a:solidFill>
                <a:latin typeface="Noto Sans"/>
              </a:rPr>
              <a:t>Zone 31</a:t>
            </a:r>
            <a:endParaRPr b="0" lang="en-US" sz="2910" spc="-1" strike="noStrike">
              <a:solidFill>
                <a:srgbClr val="000000"/>
              </a:solidFill>
              <a:latin typeface="Arial"/>
            </a:endParaRPr>
          </a:p>
        </p:txBody>
      </p:sp>
      <p:sp>
        <p:nvSpPr>
          <p:cNvPr id="415" name=""/>
          <p:cNvSpPr/>
          <p:nvPr/>
        </p:nvSpPr>
        <p:spPr>
          <a:xfrm>
            <a:off x="4495680" y="2247840"/>
            <a:ext cx="3276720" cy="205740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16" name=""/>
          <p:cNvSpPr txBox="1"/>
          <p:nvPr/>
        </p:nvSpPr>
        <p:spPr>
          <a:xfrm>
            <a:off x="4648320" y="2438280"/>
            <a:ext cx="2971800" cy="495360"/>
          </a:xfrm>
          <a:prstGeom prst="rect">
            <a:avLst/>
          </a:prstGeom>
          <a:noFill/>
          <a:ln w="0">
            <a:noFill/>
          </a:ln>
        </p:spPr>
        <p:txBody>
          <a:bodyPr lIns="0" rIns="0" tIns="0" bIns="0" anchor="t">
            <a:noAutofit/>
          </a:bodyPr>
          <a:p>
            <a:pPr algn="ctr"/>
            <a:r>
              <a:rPr b="1" lang="en-US" sz="2910" spc="-1" strike="noStrike">
                <a:solidFill>
                  <a:srgbClr val="004899"/>
                </a:solidFill>
                <a:latin typeface="Noto Sans"/>
              </a:rPr>
              <a:t>Zone 32</a:t>
            </a:r>
            <a:endParaRPr b="0" lang="en-US" sz="2910" spc="-1" strike="noStrike">
              <a:solidFill>
                <a:srgbClr val="000000"/>
              </a:solidFill>
              <a:latin typeface="Arial"/>
            </a:endParaRPr>
          </a:p>
        </p:txBody>
      </p:sp>
      <p:sp>
        <p:nvSpPr>
          <p:cNvPr id="417" name=""/>
          <p:cNvSpPr/>
          <p:nvPr/>
        </p:nvSpPr>
        <p:spPr>
          <a:xfrm>
            <a:off x="7772400" y="2247840"/>
            <a:ext cx="3276720" cy="2057400"/>
          </a:xfrm>
          <a:prstGeom prst="rect">
            <a:avLst/>
          </a:prstGeom>
          <a:solidFill>
            <a:srgbClr val="ffffff"/>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18" name=""/>
          <p:cNvSpPr txBox="1"/>
          <p:nvPr/>
        </p:nvSpPr>
        <p:spPr>
          <a:xfrm>
            <a:off x="7925040" y="2438280"/>
            <a:ext cx="2971800" cy="495360"/>
          </a:xfrm>
          <a:prstGeom prst="rect">
            <a:avLst/>
          </a:prstGeom>
          <a:noFill/>
          <a:ln w="0">
            <a:noFill/>
          </a:ln>
        </p:spPr>
        <p:txBody>
          <a:bodyPr lIns="0" rIns="0" tIns="0" bIns="0" anchor="t">
            <a:noAutofit/>
          </a:bodyPr>
          <a:p>
            <a:pPr algn="ctr"/>
            <a:r>
              <a:rPr b="1" lang="en-US" sz="2910" spc="-1" strike="noStrike">
                <a:solidFill>
                  <a:srgbClr val="004899"/>
                </a:solidFill>
                <a:latin typeface="Noto Sans"/>
              </a:rPr>
              <a:t>Zone 33</a:t>
            </a:r>
            <a:endParaRPr b="0" lang="en-US" sz="2910" spc="-1" strike="noStrike">
              <a:solidFill>
                <a:srgbClr val="000000"/>
              </a:solidFill>
              <a:latin typeface="Arial"/>
            </a:endParaRPr>
          </a:p>
        </p:txBody>
      </p:sp>
      <p:sp>
        <p:nvSpPr>
          <p:cNvPr id="419" name=""/>
          <p:cNvSpPr txBox="1"/>
          <p:nvPr/>
        </p:nvSpPr>
        <p:spPr>
          <a:xfrm>
            <a:off x="685800" y="4457880"/>
            <a:ext cx="1066680" cy="419040"/>
          </a:xfrm>
          <a:prstGeom prst="rect">
            <a:avLst/>
          </a:prstGeom>
          <a:noFill/>
          <a:ln w="0">
            <a:noFill/>
          </a:ln>
        </p:spPr>
        <p:txBody>
          <a:bodyPr lIns="0" rIns="0" tIns="0" bIns="0" anchor="t">
            <a:noAutofit/>
          </a:bodyPr>
          <a:p>
            <a:pPr algn="ctr"/>
            <a:r>
              <a:rPr b="0" lang="en-US" sz="2260" spc="-1" strike="noStrike">
                <a:solidFill>
                  <a:srgbClr val="414141"/>
                </a:solidFill>
                <a:latin typeface="Noto Sans"/>
              </a:rPr>
              <a:t>0° E</a:t>
            </a:r>
            <a:endParaRPr b="0" lang="en-US" sz="2260" spc="-1" strike="noStrike">
              <a:solidFill>
                <a:srgbClr val="000000"/>
              </a:solidFill>
              <a:latin typeface="Arial"/>
            </a:endParaRPr>
          </a:p>
        </p:txBody>
      </p:sp>
      <p:sp>
        <p:nvSpPr>
          <p:cNvPr id="420" name=""/>
          <p:cNvSpPr txBox="1"/>
          <p:nvPr/>
        </p:nvSpPr>
        <p:spPr>
          <a:xfrm>
            <a:off x="3962520" y="4457880"/>
            <a:ext cx="1066680" cy="419040"/>
          </a:xfrm>
          <a:prstGeom prst="rect">
            <a:avLst/>
          </a:prstGeom>
          <a:noFill/>
          <a:ln w="0">
            <a:noFill/>
          </a:ln>
        </p:spPr>
        <p:txBody>
          <a:bodyPr lIns="0" rIns="0" tIns="0" bIns="0" anchor="t">
            <a:noAutofit/>
          </a:bodyPr>
          <a:p>
            <a:pPr algn="ctr"/>
            <a:r>
              <a:rPr b="0" lang="en-US" sz="2260" spc="-1" strike="noStrike">
                <a:solidFill>
                  <a:srgbClr val="414141"/>
                </a:solidFill>
                <a:latin typeface="Noto Sans"/>
              </a:rPr>
              <a:t>6° E</a:t>
            </a:r>
            <a:endParaRPr b="0" lang="en-US" sz="2260" spc="-1" strike="noStrike">
              <a:solidFill>
                <a:srgbClr val="000000"/>
              </a:solidFill>
              <a:latin typeface="Arial"/>
            </a:endParaRPr>
          </a:p>
        </p:txBody>
      </p:sp>
      <p:sp>
        <p:nvSpPr>
          <p:cNvPr id="421" name=""/>
          <p:cNvSpPr txBox="1"/>
          <p:nvPr/>
        </p:nvSpPr>
        <p:spPr>
          <a:xfrm>
            <a:off x="7239240" y="4457880"/>
            <a:ext cx="1066680" cy="419040"/>
          </a:xfrm>
          <a:prstGeom prst="rect">
            <a:avLst/>
          </a:prstGeom>
          <a:noFill/>
          <a:ln w="0">
            <a:noFill/>
          </a:ln>
        </p:spPr>
        <p:txBody>
          <a:bodyPr lIns="0" rIns="0" tIns="0" bIns="0" anchor="t">
            <a:noAutofit/>
          </a:bodyPr>
          <a:p>
            <a:pPr algn="ctr"/>
            <a:r>
              <a:rPr b="0" lang="en-US" sz="2260" spc="-1" strike="noStrike">
                <a:solidFill>
                  <a:srgbClr val="414141"/>
                </a:solidFill>
                <a:latin typeface="Noto Sans"/>
              </a:rPr>
              <a:t>12° E</a:t>
            </a:r>
            <a:endParaRPr b="0" lang="en-US" sz="2260" spc="-1" strike="noStrike">
              <a:solidFill>
                <a:srgbClr val="000000"/>
              </a:solidFill>
              <a:latin typeface="Arial"/>
            </a:endParaRPr>
          </a:p>
        </p:txBody>
      </p:sp>
      <p:sp>
        <p:nvSpPr>
          <p:cNvPr id="422" name=""/>
          <p:cNvSpPr txBox="1"/>
          <p:nvPr/>
        </p:nvSpPr>
        <p:spPr>
          <a:xfrm>
            <a:off x="10515600" y="4457880"/>
            <a:ext cx="1066680" cy="419040"/>
          </a:xfrm>
          <a:prstGeom prst="rect">
            <a:avLst/>
          </a:prstGeom>
          <a:noFill/>
          <a:ln w="0">
            <a:noFill/>
          </a:ln>
        </p:spPr>
        <p:txBody>
          <a:bodyPr lIns="0" rIns="0" tIns="0" bIns="0" anchor="t">
            <a:noAutofit/>
          </a:bodyPr>
          <a:p>
            <a:pPr algn="ctr"/>
            <a:r>
              <a:rPr b="0" lang="en-US" sz="2260" spc="-1" strike="noStrike">
                <a:solidFill>
                  <a:srgbClr val="414141"/>
                </a:solidFill>
                <a:latin typeface="Noto Sans"/>
              </a:rPr>
              <a:t>18° E</a:t>
            </a:r>
            <a:endParaRPr b="0" lang="en-US" sz="2260" spc="-1" strike="noStrike">
              <a:solidFill>
                <a:srgbClr val="000000"/>
              </a:solidFill>
              <a:latin typeface="Arial"/>
            </a:endParaRPr>
          </a:p>
        </p:txBody>
      </p:sp>
      <p:sp>
        <p:nvSpPr>
          <p:cNvPr id="423" name=""/>
          <p:cNvSpPr/>
          <p:nvPr/>
        </p:nvSpPr>
        <p:spPr>
          <a:xfrm>
            <a:off x="5909400" y="3429000"/>
            <a:ext cx="198000" cy="198000"/>
          </a:xfrm>
          <a:prstGeom prst="ellipse">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24" name=""/>
          <p:cNvSpPr txBox="1"/>
          <p:nvPr/>
        </p:nvSpPr>
        <p:spPr>
          <a:xfrm>
            <a:off x="4648320" y="3718440"/>
            <a:ext cx="2971800" cy="380880"/>
          </a:xfrm>
          <a:prstGeom prst="rect">
            <a:avLst/>
          </a:prstGeom>
          <a:noFill/>
          <a:ln w="0">
            <a:noFill/>
          </a:ln>
        </p:spPr>
        <p:txBody>
          <a:bodyPr lIns="0" rIns="0" tIns="0" bIns="0" anchor="t">
            <a:noAutofit/>
          </a:bodyPr>
          <a:p>
            <a:r>
              <a:rPr b="1" lang="en-US" sz="2160" spc="-1" strike="noStrike">
                <a:solidFill>
                  <a:srgbClr val="a32123"/>
                </a:solidFill>
                <a:latin typeface="Noto Sans"/>
              </a:rPr>
              <a:t>Marburg · 8,77° E</a:t>
            </a:r>
            <a:endParaRPr b="0" lang="en-US" sz="2160" spc="-1" strike="noStrike">
              <a:solidFill>
                <a:srgbClr val="000000"/>
              </a:solidFill>
              <a:latin typeface="Arial"/>
            </a:endParaRPr>
          </a:p>
        </p:txBody>
      </p:sp>
      <p:sp>
        <p:nvSpPr>
          <p:cNvPr id="425" name=""/>
          <p:cNvSpPr txBox="1"/>
          <p:nvPr/>
        </p:nvSpPr>
        <p:spPr>
          <a:xfrm>
            <a:off x="838080" y="5105520"/>
            <a:ext cx="10515600" cy="304920"/>
          </a:xfrm>
          <a:prstGeom prst="rect">
            <a:avLst/>
          </a:prstGeom>
          <a:noFill/>
          <a:ln w="0">
            <a:noFill/>
          </a:ln>
        </p:spPr>
        <p:txBody>
          <a:bodyPr lIns="0" rIns="0" tIns="0" bIns="0" anchor="t">
            <a:noAutofit/>
          </a:bodyPr>
          <a:p>
            <a:r>
              <a:rPr b="0" lang="en-US" sz="1879" spc="-1" strike="noStrike">
                <a:solidFill>
                  <a:srgbClr val="414141"/>
                </a:solidFill>
                <a:latin typeface="Noto Sans"/>
              </a:rPr>
              <a:t>Längengradintervalle · schematisch · Nordhalbkugel</a:t>
            </a:r>
            <a:endParaRPr b="0" lang="en-US" sz="1879" spc="-1" strike="noStrike">
              <a:solidFill>
                <a:srgbClr val="000000"/>
              </a:solidFill>
              <a:latin typeface="Arial"/>
            </a:endParaRPr>
          </a:p>
        </p:txBody>
      </p:sp>
      <p:sp>
        <p:nvSpPr>
          <p:cNvPr id="42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7"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Vollständig: ETRS89 / UTM Zone 32N · EPSG:25832</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Welches CRS würden Sie auswählen?</a:t>
            </a:r>
            <a:endParaRPr b="0" lang="en-US" sz="3190" spc="-1" strike="noStrike">
              <a:solidFill>
                <a:srgbClr val="000000"/>
              </a:solidFill>
              <a:latin typeface="Arial"/>
            </a:endParaRPr>
          </a:p>
        </p:txBody>
      </p:sp>
      <p:sp>
        <p:nvSpPr>
          <p:cNvPr id="42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ÜBUNG · ENTSCHEIDEN UND BEGRÜNDEN</a:t>
            </a:r>
            <a:endParaRPr b="0" lang="en-US" sz="1130" spc="-1" strike="noStrike">
              <a:solidFill>
                <a:srgbClr val="000000"/>
              </a:solidFill>
              <a:latin typeface="Arial"/>
            </a:endParaRPr>
          </a:p>
        </p:txBody>
      </p:sp>
      <p:sp>
        <p:nvSpPr>
          <p:cNvPr id="43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43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432"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3"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434"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Artenbeobachtungen weltweit speichern</a:t>
            </a:r>
            <a:endParaRPr b="0" lang="en-US" sz="2720" spc="-1" strike="noStrike">
              <a:solidFill>
                <a:srgbClr val="000000"/>
              </a:solidFill>
              <a:latin typeface="Arial"/>
            </a:endParaRPr>
          </a:p>
        </p:txBody>
      </p:sp>
      <p:sp>
        <p:nvSpPr>
          <p:cNvPr id="435"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Die Positionen liegen als Länge und Breite vor.</a:t>
            </a:r>
            <a:endParaRPr b="0" lang="en-US" sz="2260" spc="-1" strike="noStrike">
              <a:solidFill>
                <a:srgbClr val="000000"/>
              </a:solidFill>
              <a:latin typeface="Arial"/>
            </a:endParaRPr>
          </a:p>
        </p:txBody>
      </p:sp>
      <p:sp>
        <p:nvSpPr>
          <p:cNvPr id="436"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7"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438"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Entfernungen rund um Marburg berechnen</a:t>
            </a:r>
            <a:endParaRPr b="0" lang="en-US" sz="2720" spc="-1" strike="noStrike">
              <a:solidFill>
                <a:srgbClr val="000000"/>
              </a:solidFill>
              <a:latin typeface="Arial"/>
            </a:endParaRPr>
          </a:p>
        </p:txBody>
      </p:sp>
      <p:sp>
        <p:nvSpPr>
          <p:cNvPr id="439"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Sie benötigen eine geeignete Ebene mit Meterkoordinaten.</a:t>
            </a:r>
            <a:endParaRPr b="0" lang="en-US" sz="2260" spc="-1" strike="noStrike">
              <a:solidFill>
                <a:srgbClr val="000000"/>
              </a:solidFill>
              <a:latin typeface="Arial"/>
            </a:endParaRPr>
          </a:p>
        </p:txBody>
      </p:sp>
      <p:sp>
        <p:nvSpPr>
          <p:cNvPr id="440"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1"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442"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Daten mit üblichen Webkartenkacheln anzeigen</a:t>
            </a:r>
            <a:endParaRPr b="0" lang="en-US" sz="2720" spc="-1" strike="noStrike">
              <a:solidFill>
                <a:srgbClr val="000000"/>
              </a:solidFill>
              <a:latin typeface="Arial"/>
            </a:endParaRPr>
          </a:p>
        </p:txBody>
      </p:sp>
      <p:sp>
        <p:nvSpPr>
          <p:cNvPr id="443"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Es geht um die Darstellung im Browser.</a:t>
            </a:r>
            <a:endParaRPr b="0" lang="en-US" sz="2260" spc="-1" strike="noStrike">
              <a:solidFill>
                <a:srgbClr val="000000"/>
              </a:solidFill>
              <a:latin typeface="Arial"/>
            </a:endParaRPr>
          </a:p>
        </p:txBody>
      </p:sp>
      <p:sp>
        <p:nvSpPr>
          <p:cNvPr id="44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5"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Zur Wahl: EPSG:4326   /   EPSG:25832   /   EPSG:3857</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Gebiet, Einheit und Zweck zusammen prüfen</a:t>
            </a:r>
            <a:endParaRPr b="0" lang="en-US" sz="3190" spc="-1" strike="noStrike">
              <a:solidFill>
                <a:srgbClr val="000000"/>
              </a:solidFill>
              <a:latin typeface="Arial"/>
            </a:endParaRPr>
          </a:p>
        </p:txBody>
      </p:sp>
      <p:sp>
        <p:nvSpPr>
          <p:cNvPr id="44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CRS AUSWÄHLEN</a:t>
            </a:r>
            <a:endParaRPr b="0" lang="en-US" sz="1130" spc="-1" strike="noStrike">
              <a:solidFill>
                <a:srgbClr val="000000"/>
              </a:solidFill>
              <a:latin typeface="Arial"/>
            </a:endParaRPr>
          </a:p>
        </p:txBody>
      </p:sp>
      <p:sp>
        <p:nvSpPr>
          <p:cNvPr id="44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44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sp>
        <p:nvSpPr>
          <p:cNvPr id="450" name=""/>
          <p:cNvSpPr/>
          <p:nvPr/>
        </p:nvSpPr>
        <p:spPr>
          <a:xfrm>
            <a:off x="647640" y="1790640"/>
            <a:ext cx="2720520" cy="8002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1" name=""/>
          <p:cNvSpPr txBox="1"/>
          <p:nvPr/>
        </p:nvSpPr>
        <p:spPr>
          <a:xfrm>
            <a:off x="784800" y="1920240"/>
            <a:ext cx="2468880" cy="670680"/>
          </a:xfrm>
          <a:prstGeom prst="rect">
            <a:avLst/>
          </a:prstGeom>
          <a:noFill/>
          <a:ln w="0">
            <a:noFill/>
          </a:ln>
        </p:spPr>
        <p:txBody>
          <a:bodyPr lIns="0" rIns="0" tIns="0" bIns="0" anchor="t">
            <a:noAutofit/>
          </a:bodyPr>
          <a:p>
            <a:r>
              <a:rPr b="1" lang="en-US" sz="2260" spc="-1" strike="noStrike">
                <a:solidFill>
                  <a:srgbClr val="ffffff"/>
                </a:solidFill>
                <a:latin typeface="Noto Sans"/>
              </a:rPr>
              <a:t>Zweck</a:t>
            </a:r>
            <a:endParaRPr b="0" lang="en-US" sz="2260" spc="-1" strike="noStrike">
              <a:solidFill>
                <a:srgbClr val="000000"/>
              </a:solidFill>
              <a:latin typeface="Arial"/>
            </a:endParaRPr>
          </a:p>
        </p:txBody>
      </p:sp>
      <p:sp>
        <p:nvSpPr>
          <p:cNvPr id="452" name=""/>
          <p:cNvSpPr/>
          <p:nvPr/>
        </p:nvSpPr>
        <p:spPr>
          <a:xfrm>
            <a:off x="3390840" y="1790640"/>
            <a:ext cx="2949120" cy="8002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3" name=""/>
          <p:cNvSpPr txBox="1"/>
          <p:nvPr/>
        </p:nvSpPr>
        <p:spPr>
          <a:xfrm>
            <a:off x="3528000" y="1920240"/>
            <a:ext cx="2697480" cy="670680"/>
          </a:xfrm>
          <a:prstGeom prst="rect">
            <a:avLst/>
          </a:prstGeom>
          <a:noFill/>
          <a:ln w="0">
            <a:noFill/>
          </a:ln>
        </p:spPr>
        <p:txBody>
          <a:bodyPr lIns="0" rIns="0" tIns="0" bIns="0" anchor="t">
            <a:noAutofit/>
          </a:bodyPr>
          <a:p>
            <a:r>
              <a:rPr b="1" lang="en-US" sz="2260" spc="-1" strike="noStrike">
                <a:solidFill>
                  <a:srgbClr val="ffffff"/>
                </a:solidFill>
                <a:latin typeface="Noto Sans"/>
              </a:rPr>
              <a:t>CRS</a:t>
            </a:r>
            <a:endParaRPr b="0" lang="en-US" sz="2260" spc="-1" strike="noStrike">
              <a:solidFill>
                <a:srgbClr val="000000"/>
              </a:solidFill>
              <a:latin typeface="Arial"/>
            </a:endParaRPr>
          </a:p>
        </p:txBody>
      </p:sp>
      <p:sp>
        <p:nvSpPr>
          <p:cNvPr id="454" name=""/>
          <p:cNvSpPr/>
          <p:nvPr/>
        </p:nvSpPr>
        <p:spPr>
          <a:xfrm>
            <a:off x="6362640" y="1790640"/>
            <a:ext cx="5158800" cy="8002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5" name=""/>
          <p:cNvSpPr txBox="1"/>
          <p:nvPr/>
        </p:nvSpPr>
        <p:spPr>
          <a:xfrm>
            <a:off x="6499800" y="1920240"/>
            <a:ext cx="4907160" cy="670680"/>
          </a:xfrm>
          <a:prstGeom prst="rect">
            <a:avLst/>
          </a:prstGeom>
          <a:noFill/>
          <a:ln w="0">
            <a:noFill/>
          </a:ln>
        </p:spPr>
        <p:txBody>
          <a:bodyPr lIns="0" rIns="0" tIns="0" bIns="0" anchor="t">
            <a:noAutofit/>
          </a:bodyPr>
          <a:p>
            <a:r>
              <a:rPr b="1" lang="en-US" sz="2260" spc="-1" strike="noStrike">
                <a:solidFill>
                  <a:srgbClr val="ffffff"/>
                </a:solidFill>
                <a:latin typeface="Noto Sans"/>
              </a:rPr>
              <a:t>Begründung</a:t>
            </a:r>
            <a:endParaRPr b="0" lang="en-US" sz="2260" spc="-1" strike="noStrike">
              <a:solidFill>
                <a:srgbClr val="000000"/>
              </a:solidFill>
              <a:latin typeface="Arial"/>
            </a:endParaRPr>
          </a:p>
        </p:txBody>
      </p:sp>
      <p:sp>
        <p:nvSpPr>
          <p:cNvPr id="456" name=""/>
          <p:cNvSpPr/>
          <p:nvPr/>
        </p:nvSpPr>
        <p:spPr>
          <a:xfrm>
            <a:off x="647640" y="2613600"/>
            <a:ext cx="2720520" cy="800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7" name=""/>
          <p:cNvSpPr txBox="1"/>
          <p:nvPr/>
        </p:nvSpPr>
        <p:spPr>
          <a:xfrm>
            <a:off x="784800" y="2743200"/>
            <a:ext cx="2468880" cy="670680"/>
          </a:xfrm>
          <a:prstGeom prst="rect">
            <a:avLst/>
          </a:prstGeom>
          <a:noFill/>
          <a:ln w="0">
            <a:noFill/>
          </a:ln>
        </p:spPr>
        <p:txBody>
          <a:bodyPr lIns="0" rIns="0" tIns="0" bIns="0" anchor="t">
            <a:noAutofit/>
          </a:bodyPr>
          <a:p>
            <a:r>
              <a:rPr b="0" lang="en-US" sz="2260" spc="-1" strike="noStrike">
                <a:solidFill>
                  <a:srgbClr val="000000"/>
                </a:solidFill>
                <a:latin typeface="Noto Sans"/>
              </a:rPr>
              <a:t>A · Speichern</a:t>
            </a:r>
            <a:endParaRPr b="0" lang="en-US" sz="2260" spc="-1" strike="noStrike">
              <a:solidFill>
                <a:srgbClr val="000000"/>
              </a:solidFill>
              <a:latin typeface="Arial"/>
            </a:endParaRPr>
          </a:p>
        </p:txBody>
      </p:sp>
      <p:sp>
        <p:nvSpPr>
          <p:cNvPr id="458" name=""/>
          <p:cNvSpPr/>
          <p:nvPr/>
        </p:nvSpPr>
        <p:spPr>
          <a:xfrm>
            <a:off x="3390840" y="2613600"/>
            <a:ext cx="2949120" cy="800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9" name=""/>
          <p:cNvSpPr txBox="1"/>
          <p:nvPr/>
        </p:nvSpPr>
        <p:spPr>
          <a:xfrm>
            <a:off x="3528000" y="2743200"/>
            <a:ext cx="2697480" cy="670680"/>
          </a:xfrm>
          <a:prstGeom prst="rect">
            <a:avLst/>
          </a:prstGeom>
          <a:noFill/>
          <a:ln w="0">
            <a:noFill/>
          </a:ln>
        </p:spPr>
        <p:txBody>
          <a:bodyPr lIns="0" rIns="0" tIns="0" bIns="0" anchor="t">
            <a:noAutofit/>
          </a:bodyPr>
          <a:p>
            <a:r>
              <a:rPr b="0" lang="en-US" sz="2260" spc="-1" strike="noStrike">
                <a:solidFill>
                  <a:srgbClr val="000000"/>
                </a:solidFill>
                <a:latin typeface="Noto Sans"/>
              </a:rPr>
              <a:t>EPSG:4326</a:t>
            </a:r>
            <a:endParaRPr b="0" lang="en-US" sz="2260" spc="-1" strike="noStrike">
              <a:solidFill>
                <a:srgbClr val="000000"/>
              </a:solidFill>
              <a:latin typeface="Arial"/>
            </a:endParaRPr>
          </a:p>
        </p:txBody>
      </p:sp>
      <p:sp>
        <p:nvSpPr>
          <p:cNvPr id="460" name=""/>
          <p:cNvSpPr/>
          <p:nvPr/>
        </p:nvSpPr>
        <p:spPr>
          <a:xfrm>
            <a:off x="6362640" y="2613600"/>
            <a:ext cx="5158800" cy="800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1" name=""/>
          <p:cNvSpPr txBox="1"/>
          <p:nvPr/>
        </p:nvSpPr>
        <p:spPr>
          <a:xfrm>
            <a:off x="6499800" y="2743200"/>
            <a:ext cx="4907160" cy="670680"/>
          </a:xfrm>
          <a:prstGeom prst="rect">
            <a:avLst/>
          </a:prstGeom>
          <a:noFill/>
          <a:ln w="0">
            <a:noFill/>
          </a:ln>
        </p:spPr>
        <p:txBody>
          <a:bodyPr lIns="0" rIns="0" tIns="0" bIns="0" anchor="t">
            <a:noAutofit/>
          </a:bodyPr>
          <a:p>
            <a:r>
              <a:rPr b="0" lang="en-US" sz="2260" spc="-1" strike="noStrike">
                <a:solidFill>
                  <a:srgbClr val="000000"/>
                </a:solidFill>
                <a:latin typeface="Noto Sans"/>
              </a:rPr>
              <a:t>Weltweite Winkelkoordinaten</a:t>
            </a:r>
            <a:endParaRPr b="0" lang="en-US" sz="2260" spc="-1" strike="noStrike">
              <a:solidFill>
                <a:srgbClr val="000000"/>
              </a:solidFill>
              <a:latin typeface="Arial"/>
            </a:endParaRPr>
          </a:p>
        </p:txBody>
      </p:sp>
      <p:sp>
        <p:nvSpPr>
          <p:cNvPr id="462" name=""/>
          <p:cNvSpPr/>
          <p:nvPr/>
        </p:nvSpPr>
        <p:spPr>
          <a:xfrm>
            <a:off x="647640" y="3436560"/>
            <a:ext cx="2720520" cy="8002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3" name=""/>
          <p:cNvSpPr txBox="1"/>
          <p:nvPr/>
        </p:nvSpPr>
        <p:spPr>
          <a:xfrm>
            <a:off x="784800" y="3566160"/>
            <a:ext cx="2468880" cy="670680"/>
          </a:xfrm>
          <a:prstGeom prst="rect">
            <a:avLst/>
          </a:prstGeom>
          <a:noFill/>
          <a:ln w="0">
            <a:noFill/>
          </a:ln>
        </p:spPr>
        <p:txBody>
          <a:bodyPr lIns="0" rIns="0" tIns="0" bIns="0" anchor="t">
            <a:noAutofit/>
          </a:bodyPr>
          <a:p>
            <a:r>
              <a:rPr b="0" lang="en-US" sz="2260" spc="-1" strike="noStrike">
                <a:solidFill>
                  <a:srgbClr val="000000"/>
                </a:solidFill>
                <a:latin typeface="Noto Sans"/>
              </a:rPr>
              <a:t>B · Messen</a:t>
            </a:r>
            <a:endParaRPr b="0" lang="en-US" sz="2260" spc="-1" strike="noStrike">
              <a:solidFill>
                <a:srgbClr val="000000"/>
              </a:solidFill>
              <a:latin typeface="Arial"/>
            </a:endParaRPr>
          </a:p>
        </p:txBody>
      </p:sp>
      <p:sp>
        <p:nvSpPr>
          <p:cNvPr id="464" name=""/>
          <p:cNvSpPr/>
          <p:nvPr/>
        </p:nvSpPr>
        <p:spPr>
          <a:xfrm>
            <a:off x="3390840" y="3436560"/>
            <a:ext cx="2949120" cy="8002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5" name=""/>
          <p:cNvSpPr txBox="1"/>
          <p:nvPr/>
        </p:nvSpPr>
        <p:spPr>
          <a:xfrm>
            <a:off x="3528000" y="3566160"/>
            <a:ext cx="2697480" cy="670680"/>
          </a:xfrm>
          <a:prstGeom prst="rect">
            <a:avLst/>
          </a:prstGeom>
          <a:noFill/>
          <a:ln w="0">
            <a:noFill/>
          </a:ln>
        </p:spPr>
        <p:txBody>
          <a:bodyPr lIns="0" rIns="0" tIns="0" bIns="0" anchor="t">
            <a:noAutofit/>
          </a:bodyPr>
          <a:p>
            <a:r>
              <a:rPr b="0" lang="en-US" sz="2260" spc="-1" strike="noStrike">
                <a:solidFill>
                  <a:srgbClr val="000000"/>
                </a:solidFill>
                <a:latin typeface="Noto Sans"/>
              </a:rPr>
              <a:t>EPSG:25832</a:t>
            </a:r>
            <a:endParaRPr b="0" lang="en-US" sz="2260" spc="-1" strike="noStrike">
              <a:solidFill>
                <a:srgbClr val="000000"/>
              </a:solidFill>
              <a:latin typeface="Arial"/>
            </a:endParaRPr>
          </a:p>
        </p:txBody>
      </p:sp>
      <p:sp>
        <p:nvSpPr>
          <p:cNvPr id="466" name=""/>
          <p:cNvSpPr/>
          <p:nvPr/>
        </p:nvSpPr>
        <p:spPr>
          <a:xfrm>
            <a:off x="6362640" y="3436560"/>
            <a:ext cx="5158800" cy="8002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7" name=""/>
          <p:cNvSpPr txBox="1"/>
          <p:nvPr/>
        </p:nvSpPr>
        <p:spPr>
          <a:xfrm>
            <a:off x="6499800" y="3566160"/>
            <a:ext cx="4907160" cy="670680"/>
          </a:xfrm>
          <a:prstGeom prst="rect">
            <a:avLst/>
          </a:prstGeom>
          <a:noFill/>
          <a:ln w="0">
            <a:noFill/>
          </a:ln>
        </p:spPr>
        <p:txBody>
          <a:bodyPr lIns="0" rIns="0" tIns="0" bIns="0" anchor="t">
            <a:noAutofit/>
          </a:bodyPr>
          <a:p>
            <a:r>
              <a:rPr b="0" lang="en-US" sz="2260" spc="-1" strike="noStrike">
                <a:solidFill>
                  <a:srgbClr val="000000"/>
                </a:solidFill>
                <a:latin typeface="Noto Sans"/>
              </a:rPr>
              <a:t>Passende Zone, Meter</a:t>
            </a:r>
            <a:endParaRPr b="0" lang="en-US" sz="2260" spc="-1" strike="noStrike">
              <a:solidFill>
                <a:srgbClr val="000000"/>
              </a:solidFill>
              <a:latin typeface="Arial"/>
            </a:endParaRPr>
          </a:p>
        </p:txBody>
      </p:sp>
      <p:sp>
        <p:nvSpPr>
          <p:cNvPr id="468" name=""/>
          <p:cNvSpPr/>
          <p:nvPr/>
        </p:nvSpPr>
        <p:spPr>
          <a:xfrm>
            <a:off x="647640" y="4259520"/>
            <a:ext cx="2720520" cy="800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9" name=""/>
          <p:cNvSpPr txBox="1"/>
          <p:nvPr/>
        </p:nvSpPr>
        <p:spPr>
          <a:xfrm>
            <a:off x="784800" y="4389120"/>
            <a:ext cx="2468880" cy="670680"/>
          </a:xfrm>
          <a:prstGeom prst="rect">
            <a:avLst/>
          </a:prstGeom>
          <a:noFill/>
          <a:ln w="0">
            <a:noFill/>
          </a:ln>
        </p:spPr>
        <p:txBody>
          <a:bodyPr lIns="0" rIns="0" tIns="0" bIns="0" anchor="t">
            <a:noAutofit/>
          </a:bodyPr>
          <a:p>
            <a:r>
              <a:rPr b="0" lang="en-US" sz="2260" spc="-1" strike="noStrike">
                <a:solidFill>
                  <a:srgbClr val="000000"/>
                </a:solidFill>
                <a:latin typeface="Noto Sans"/>
              </a:rPr>
              <a:t>C · Webkarte</a:t>
            </a:r>
            <a:endParaRPr b="0" lang="en-US" sz="2260" spc="-1" strike="noStrike">
              <a:solidFill>
                <a:srgbClr val="000000"/>
              </a:solidFill>
              <a:latin typeface="Arial"/>
            </a:endParaRPr>
          </a:p>
        </p:txBody>
      </p:sp>
      <p:sp>
        <p:nvSpPr>
          <p:cNvPr id="470" name=""/>
          <p:cNvSpPr/>
          <p:nvPr/>
        </p:nvSpPr>
        <p:spPr>
          <a:xfrm>
            <a:off x="3390840" y="4259520"/>
            <a:ext cx="2949120" cy="800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1" name=""/>
          <p:cNvSpPr txBox="1"/>
          <p:nvPr/>
        </p:nvSpPr>
        <p:spPr>
          <a:xfrm>
            <a:off x="3528000" y="4389120"/>
            <a:ext cx="2697480" cy="670680"/>
          </a:xfrm>
          <a:prstGeom prst="rect">
            <a:avLst/>
          </a:prstGeom>
          <a:noFill/>
          <a:ln w="0">
            <a:noFill/>
          </a:ln>
        </p:spPr>
        <p:txBody>
          <a:bodyPr lIns="0" rIns="0" tIns="0" bIns="0" anchor="t">
            <a:noAutofit/>
          </a:bodyPr>
          <a:p>
            <a:r>
              <a:rPr b="0" lang="en-US" sz="2260" spc="-1" strike="noStrike">
                <a:solidFill>
                  <a:srgbClr val="000000"/>
                </a:solidFill>
                <a:latin typeface="Noto Sans"/>
              </a:rPr>
              <a:t>EPSG:3857</a:t>
            </a:r>
            <a:endParaRPr b="0" lang="en-US" sz="2260" spc="-1" strike="noStrike">
              <a:solidFill>
                <a:srgbClr val="000000"/>
              </a:solidFill>
              <a:latin typeface="Arial"/>
            </a:endParaRPr>
          </a:p>
        </p:txBody>
      </p:sp>
      <p:sp>
        <p:nvSpPr>
          <p:cNvPr id="472" name=""/>
          <p:cNvSpPr/>
          <p:nvPr/>
        </p:nvSpPr>
        <p:spPr>
          <a:xfrm>
            <a:off x="6362640" y="4259520"/>
            <a:ext cx="5158800" cy="800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3" name=""/>
          <p:cNvSpPr txBox="1"/>
          <p:nvPr/>
        </p:nvSpPr>
        <p:spPr>
          <a:xfrm>
            <a:off x="6499800" y="4389120"/>
            <a:ext cx="4907160" cy="670680"/>
          </a:xfrm>
          <a:prstGeom prst="rect">
            <a:avLst/>
          </a:prstGeom>
          <a:noFill/>
          <a:ln w="0">
            <a:noFill/>
          </a:ln>
        </p:spPr>
        <p:txBody>
          <a:bodyPr lIns="0" rIns="0" tIns="0" bIns="0" anchor="t">
            <a:noAutofit/>
          </a:bodyPr>
          <a:p>
            <a:r>
              <a:rPr b="0" lang="en-US" sz="2260" spc="-1" strike="noStrike">
                <a:solidFill>
                  <a:srgbClr val="000000"/>
                </a:solidFill>
                <a:latin typeface="Noto Sans"/>
              </a:rPr>
              <a:t>Passend zu den Kartenkacheln</a:t>
            </a:r>
            <a:endParaRPr b="0" lang="en-US" sz="2260" spc="-1" strike="noStrike">
              <a:solidFill>
                <a:srgbClr val="000000"/>
              </a:solidFill>
              <a:latin typeface="Arial"/>
            </a:endParaRPr>
          </a:p>
        </p:txBody>
      </p:sp>
      <p:sp>
        <p:nvSpPr>
          <p:cNvPr id="474" name=""/>
          <p:cNvSpPr txBox="1"/>
          <p:nvPr/>
        </p:nvSpPr>
        <p:spPr>
          <a:xfrm>
            <a:off x="838080" y="5257800"/>
            <a:ext cx="10591920" cy="723960"/>
          </a:xfrm>
          <a:prstGeom prst="rect">
            <a:avLst/>
          </a:prstGeom>
          <a:noFill/>
          <a:ln w="0">
            <a:noFill/>
          </a:ln>
        </p:spPr>
        <p:txBody>
          <a:bodyPr lIns="0" rIns="0" tIns="0" bIns="0" anchor="t">
            <a:noAutofit/>
          </a:bodyPr>
          <a:p>
            <a:r>
              <a:rPr b="1" lang="en-US" sz="2350" spc="-1" strike="noStrike">
                <a:solidFill>
                  <a:srgbClr val="004899"/>
                </a:solidFill>
                <a:latin typeface="Noto Sans"/>
              </a:rPr>
              <a:t>Webkarte und ausgegebene Positionskoordinaten</a:t>
            </a:r>
            <a:endParaRPr b="0" lang="en-US" sz="2350" spc="-1" strike="noStrike">
              <a:solidFill>
                <a:srgbClr val="000000"/>
              </a:solidFill>
              <a:latin typeface="Arial"/>
            </a:endParaRPr>
          </a:p>
          <a:p>
            <a:r>
              <a:rPr b="1" lang="en-US" sz="2350" spc="-1" strike="noStrike">
                <a:solidFill>
                  <a:srgbClr val="004899"/>
                </a:solidFill>
                <a:latin typeface="Noto Sans"/>
              </a:rPr>
              <a:t>können unterschiedliche CRS verwenden.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Zuweisen und Transformieren unterscheiden</a:t>
            </a:r>
            <a:endParaRPr b="0" lang="en-US" sz="3190" spc="-1" strike="noStrike">
              <a:solidFill>
                <a:srgbClr val="000000"/>
              </a:solidFill>
              <a:latin typeface="Arial"/>
            </a:endParaRPr>
          </a:p>
        </p:txBody>
      </p:sp>
      <p:sp>
        <p:nvSpPr>
          <p:cNvPr id="47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03 · TYPISCHE FEHLER VERMEIDEN</a:t>
            </a:r>
            <a:endParaRPr b="0" lang="en-US" sz="1130" spc="-1" strike="noStrike">
              <a:solidFill>
                <a:srgbClr val="000000"/>
              </a:solidFill>
              <a:latin typeface="Arial"/>
            </a:endParaRPr>
          </a:p>
        </p:txBody>
      </p:sp>
      <p:sp>
        <p:nvSpPr>
          <p:cNvPr id="47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47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479" name=""/>
          <p:cNvSpPr/>
          <p:nvPr/>
        </p:nvSpPr>
        <p:spPr>
          <a:xfrm>
            <a:off x="647640" y="1790640"/>
            <a:ext cx="632484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0" name=""/>
          <p:cNvSpPr/>
          <p:nvPr/>
        </p:nvSpPr>
        <p:spPr>
          <a:xfrm>
            <a:off x="647640" y="179064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81" name=""/>
          <p:cNvSpPr txBox="1"/>
          <p:nvPr/>
        </p:nvSpPr>
        <p:spPr>
          <a:xfrm>
            <a:off x="853560" y="1973520"/>
            <a:ext cx="5913000" cy="647640"/>
          </a:xfrm>
          <a:prstGeom prst="rect">
            <a:avLst/>
          </a:prstGeom>
          <a:noFill/>
          <a:ln w="0">
            <a:noFill/>
          </a:ln>
        </p:spPr>
        <p:txBody>
          <a:bodyPr lIns="0" rIns="0" tIns="0" bIns="0" anchor="t">
            <a:noAutofit/>
          </a:bodyPr>
          <a:p>
            <a:r>
              <a:rPr b="1" lang="en-US" sz="2540" spc="-1" strike="noStrike">
                <a:solidFill>
                  <a:srgbClr val="004899"/>
                </a:solidFill>
                <a:latin typeface="Noto Sans"/>
              </a:rPr>
              <a:t>CRS zuweisen</a:t>
            </a:r>
            <a:endParaRPr b="0" lang="en-US" sz="2540" spc="-1" strike="noStrike">
              <a:solidFill>
                <a:srgbClr val="000000"/>
              </a:solidFill>
              <a:latin typeface="Arial"/>
            </a:endParaRPr>
          </a:p>
        </p:txBody>
      </p:sp>
      <p:sp>
        <p:nvSpPr>
          <p:cNvPr id="482" name=""/>
          <p:cNvSpPr txBox="1"/>
          <p:nvPr/>
        </p:nvSpPr>
        <p:spPr>
          <a:xfrm>
            <a:off x="853560" y="2552760"/>
            <a:ext cx="5913000" cy="663120"/>
          </a:xfrm>
          <a:prstGeom prst="rect">
            <a:avLst/>
          </a:prstGeom>
          <a:noFill/>
          <a:ln w="0">
            <a:noFill/>
          </a:ln>
        </p:spPr>
        <p:txBody>
          <a:bodyPr lIns="0" rIns="0" tIns="0" bIns="0" anchor="t">
            <a:noAutofit/>
          </a:bodyPr>
          <a:p>
            <a:r>
              <a:rPr b="0" lang="en-US" sz="2350" spc="-1" strike="noStrike">
                <a:solidFill>
                  <a:srgbClr val="000000"/>
                </a:solidFill>
                <a:latin typeface="Noto Sans"/>
              </a:rPr>
              <a:t>Koordinaten bleiben gleich.</a:t>
            </a:r>
            <a:endParaRPr b="0" lang="en-US" sz="2350" spc="-1" strike="noStrike">
              <a:solidFill>
                <a:srgbClr val="000000"/>
              </a:solidFill>
              <a:latin typeface="Arial"/>
            </a:endParaRPr>
          </a:p>
          <a:p>
            <a:r>
              <a:rPr b="0" lang="en-US" sz="2350" spc="-1" strike="noStrike">
                <a:solidFill>
                  <a:srgbClr val="000000"/>
                </a:solidFill>
                <a:latin typeface="Noto Sans"/>
              </a:rPr>
              <a:t>Die bekannte Interpretation wird ergänzt.</a:t>
            </a:r>
            <a:endParaRPr b="0" lang="en-US" sz="2350" spc="-1" strike="noStrike">
              <a:solidFill>
                <a:srgbClr val="000000"/>
              </a:solidFill>
              <a:latin typeface="Arial"/>
            </a:endParaRPr>
          </a:p>
        </p:txBody>
      </p:sp>
      <p:sp>
        <p:nvSpPr>
          <p:cNvPr id="483" name=""/>
          <p:cNvSpPr/>
          <p:nvPr/>
        </p:nvSpPr>
        <p:spPr>
          <a:xfrm>
            <a:off x="647640" y="3619440"/>
            <a:ext cx="632484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4" name=""/>
          <p:cNvSpPr/>
          <p:nvPr/>
        </p:nvSpPr>
        <p:spPr>
          <a:xfrm>
            <a:off x="647640" y="361944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85" name=""/>
          <p:cNvSpPr txBox="1"/>
          <p:nvPr/>
        </p:nvSpPr>
        <p:spPr>
          <a:xfrm>
            <a:off x="853560" y="3802320"/>
            <a:ext cx="5913000" cy="647640"/>
          </a:xfrm>
          <a:prstGeom prst="rect">
            <a:avLst/>
          </a:prstGeom>
          <a:noFill/>
          <a:ln w="0">
            <a:noFill/>
          </a:ln>
        </p:spPr>
        <p:txBody>
          <a:bodyPr lIns="0" rIns="0" tIns="0" bIns="0" anchor="t">
            <a:noAutofit/>
          </a:bodyPr>
          <a:p>
            <a:r>
              <a:rPr b="1" lang="en-US" sz="2540" spc="-1" strike="noStrike">
                <a:solidFill>
                  <a:srgbClr val="004899"/>
                </a:solidFill>
                <a:latin typeface="Noto Sans"/>
              </a:rPr>
              <a:t>Daten transformieren</a:t>
            </a:r>
            <a:endParaRPr b="0" lang="en-US" sz="2540" spc="-1" strike="noStrike">
              <a:solidFill>
                <a:srgbClr val="000000"/>
              </a:solidFill>
              <a:latin typeface="Arial"/>
            </a:endParaRPr>
          </a:p>
        </p:txBody>
      </p:sp>
      <p:sp>
        <p:nvSpPr>
          <p:cNvPr id="486" name=""/>
          <p:cNvSpPr txBox="1"/>
          <p:nvPr/>
        </p:nvSpPr>
        <p:spPr>
          <a:xfrm>
            <a:off x="853560" y="4381560"/>
            <a:ext cx="5913000" cy="663120"/>
          </a:xfrm>
          <a:prstGeom prst="rect">
            <a:avLst/>
          </a:prstGeom>
          <a:noFill/>
          <a:ln w="0">
            <a:noFill/>
          </a:ln>
        </p:spPr>
        <p:txBody>
          <a:bodyPr lIns="0" rIns="0" tIns="0" bIns="0" anchor="t">
            <a:noAutofit/>
          </a:bodyPr>
          <a:p>
            <a:r>
              <a:rPr b="0" lang="en-US" sz="2350" spc="-1" strike="noStrike">
                <a:solidFill>
                  <a:srgbClr val="000000"/>
                </a:solidFill>
                <a:latin typeface="Noto Sans"/>
              </a:rPr>
              <a:t>Koordinaten werden umgerechnet.</a:t>
            </a:r>
            <a:endParaRPr b="0" lang="en-US" sz="2350" spc="-1" strike="noStrike">
              <a:solidFill>
                <a:srgbClr val="000000"/>
              </a:solidFill>
              <a:latin typeface="Arial"/>
            </a:endParaRPr>
          </a:p>
          <a:p>
            <a:r>
              <a:rPr b="0" lang="en-US" sz="2350" spc="-1" strike="noStrike">
                <a:solidFill>
                  <a:srgbClr val="000000"/>
                </a:solidFill>
                <a:latin typeface="Noto Sans"/>
              </a:rPr>
              <a:t>Der reale Ort bleibt derselbe.</a:t>
            </a:r>
            <a:endParaRPr b="0" lang="en-US" sz="2350" spc="-1" strike="noStrike">
              <a:solidFill>
                <a:srgbClr val="000000"/>
              </a:solidFill>
              <a:latin typeface="Arial"/>
            </a:endParaRPr>
          </a:p>
        </p:txBody>
      </p:sp>
      <p:pic>
        <p:nvPicPr>
          <p:cNvPr id="487" name="" descr="Bekannte WGS-84-Koordinaten ohne CRS-Angabe erhalten EPSG:4326, ohne Zahlenänderung. Transformation nach EPSG:25832 ändert die Zahlen zu 483795 und 5628722 Metern. Bloßes Zuweisen von EPSG:25832 zu Gradwerten ist falsch."/>
          <p:cNvPicPr/>
          <p:nvPr/>
        </p:nvPicPr>
        <p:blipFill>
          <a:blip r:embed="rId1">
            <a:extLst>
              <a:ext uri="{96DAC541-7B7A-43D3-8B79-37D633B846F1}">
                <asvg:svgBlip xmlns:asvg="http://schemas.microsoft.com/office/drawing/2016/SVG/main" r:embed="rId2"/>
              </a:ext>
            </a:extLst>
          </a:blip>
          <a:stretch/>
        </p:blipFill>
        <p:spPr>
          <a:xfrm>
            <a:off x="7925040" y="1600200"/>
            <a:ext cx="3429000" cy="45036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wäre hier der richtige nächste Schritt?</a:t>
            </a:r>
            <a:endParaRPr b="0" lang="en-US" sz="3190" spc="-1" strike="noStrike">
              <a:solidFill>
                <a:srgbClr val="000000"/>
              </a:solidFill>
              <a:latin typeface="Arial"/>
            </a:endParaRPr>
          </a:p>
        </p:txBody>
      </p:sp>
      <p:sp>
        <p:nvSpPr>
          <p:cNvPr id="48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ABSTIMMUNG · CRS-FEHLER</a:t>
            </a:r>
            <a:endParaRPr b="0" lang="en-US" sz="1130" spc="-1" strike="noStrike">
              <a:solidFill>
                <a:srgbClr val="000000"/>
              </a:solidFill>
              <a:latin typeface="Arial"/>
            </a:endParaRPr>
          </a:p>
        </p:txBody>
      </p:sp>
      <p:sp>
        <p:nvSpPr>
          <p:cNvPr id="49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49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sp>
        <p:nvSpPr>
          <p:cNvPr id="492" name=""/>
          <p:cNvSpPr txBox="1"/>
          <p:nvPr/>
        </p:nvSpPr>
        <p:spPr>
          <a:xfrm>
            <a:off x="762120" y="1638360"/>
            <a:ext cx="10668240" cy="1082160"/>
          </a:xfrm>
          <a:prstGeom prst="rect">
            <a:avLst/>
          </a:prstGeom>
          <a:noFill/>
          <a:ln w="0">
            <a:noFill/>
          </a:ln>
        </p:spPr>
        <p:txBody>
          <a:bodyPr lIns="0" rIns="0" tIns="0" bIns="0" anchor="t">
            <a:noAutofit/>
          </a:bodyPr>
          <a:p>
            <a:r>
              <a:rPr b="1" lang="en-US" sz="2450" spc="-1" strike="noStrike">
                <a:solidFill>
                  <a:srgbClr val="000000"/>
                </a:solidFill>
                <a:latin typeface="Noto Sans"/>
              </a:rPr>
              <a:t>Die Quelle nennt WGS 84 und (longitude, latitude).</a:t>
            </a:r>
            <a:endParaRPr b="0" lang="en-US" sz="2450" spc="-1" strike="noStrike">
              <a:solidFill>
                <a:srgbClr val="000000"/>
              </a:solidFill>
              <a:latin typeface="Arial"/>
            </a:endParaRPr>
          </a:p>
          <a:p>
            <a:r>
              <a:rPr b="1" lang="en-US" sz="2450" spc="-1" strike="noStrike">
                <a:solidFill>
                  <a:srgbClr val="000000"/>
                </a:solidFill>
                <a:latin typeface="Noto Sans"/>
              </a:rPr>
              <a:t>Werte: (8.77, 50.81). In der Datei fehlt die CRS-Angabe.</a:t>
            </a:r>
            <a:endParaRPr b="0" lang="en-US" sz="2450" spc="-1" strike="noStrike">
              <a:solidFill>
                <a:srgbClr val="000000"/>
              </a:solidFill>
              <a:latin typeface="Arial"/>
            </a:endParaRPr>
          </a:p>
          <a:p>
            <a:r>
              <a:rPr b="1" lang="en-US" sz="2450" spc="-1" strike="noStrike">
                <a:solidFill>
                  <a:srgbClr val="000000"/>
                </a:solidFill>
                <a:latin typeface="Noto Sans"/>
              </a:rPr>
              <a:t>Ziel: später Entfernungen rund um Marburg berechnen.</a:t>
            </a:r>
            <a:endParaRPr b="0" lang="en-US" sz="2450" spc="-1" strike="noStrike">
              <a:solidFill>
                <a:srgbClr val="000000"/>
              </a:solidFill>
              <a:latin typeface="Arial"/>
            </a:endParaRPr>
          </a:p>
        </p:txBody>
      </p:sp>
      <p:sp>
        <p:nvSpPr>
          <p:cNvPr id="493" name=""/>
          <p:cNvSpPr/>
          <p:nvPr/>
        </p:nvSpPr>
        <p:spPr>
          <a:xfrm>
            <a:off x="647640" y="304812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4" name=""/>
          <p:cNvSpPr txBox="1"/>
          <p:nvPr/>
        </p:nvSpPr>
        <p:spPr>
          <a:xfrm>
            <a:off x="647640" y="310896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495" name=""/>
          <p:cNvSpPr txBox="1"/>
          <p:nvPr/>
        </p:nvSpPr>
        <p:spPr>
          <a:xfrm>
            <a:off x="1371600" y="304812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Direkt UTM zuweisen</a:t>
            </a:r>
            <a:endParaRPr b="0" lang="en-US" sz="2720" spc="-1" strike="noStrike">
              <a:solidFill>
                <a:srgbClr val="000000"/>
              </a:solidFill>
              <a:latin typeface="Arial"/>
            </a:endParaRPr>
          </a:p>
        </p:txBody>
      </p:sp>
      <p:sp>
        <p:nvSpPr>
          <p:cNvPr id="496" name=""/>
          <p:cNvSpPr txBox="1"/>
          <p:nvPr/>
        </p:nvSpPr>
        <p:spPr>
          <a:xfrm>
            <a:off x="1371600" y="352044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Die Werte sollen schließlich Meter sein.</a:t>
            </a:r>
            <a:endParaRPr b="0" lang="en-US" sz="2260" spc="-1" strike="noStrike">
              <a:solidFill>
                <a:srgbClr val="000000"/>
              </a:solidFill>
              <a:latin typeface="Arial"/>
            </a:endParaRPr>
          </a:p>
        </p:txBody>
      </p:sp>
      <p:sp>
        <p:nvSpPr>
          <p:cNvPr id="497" name=""/>
          <p:cNvSpPr/>
          <p:nvPr/>
        </p:nvSpPr>
        <p:spPr>
          <a:xfrm>
            <a:off x="647640" y="3840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8" name=""/>
          <p:cNvSpPr txBox="1"/>
          <p:nvPr/>
        </p:nvSpPr>
        <p:spPr>
          <a:xfrm>
            <a:off x="647640" y="39013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499" name=""/>
          <p:cNvSpPr txBox="1"/>
          <p:nvPr/>
        </p:nvSpPr>
        <p:spPr>
          <a:xfrm>
            <a:off x="1371600" y="3840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WGS 84 zuweisen, dann nach UTM transformieren</a:t>
            </a:r>
            <a:endParaRPr b="0" lang="en-US" sz="2720" spc="-1" strike="noStrike">
              <a:solidFill>
                <a:srgbClr val="000000"/>
              </a:solidFill>
              <a:latin typeface="Arial"/>
            </a:endParaRPr>
          </a:p>
        </p:txBody>
      </p:sp>
      <p:sp>
        <p:nvSpPr>
          <p:cNvPr id="500" name=""/>
          <p:cNvSpPr txBox="1"/>
          <p:nvPr/>
        </p:nvSpPr>
        <p:spPr>
          <a:xfrm>
            <a:off x="1371600" y="43128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Zuerst die vorhandenen Werte korrekt interpretieren.</a:t>
            </a:r>
            <a:endParaRPr b="0" lang="en-US" sz="2260" spc="-1" strike="noStrike">
              <a:solidFill>
                <a:srgbClr val="000000"/>
              </a:solidFill>
              <a:latin typeface="Arial"/>
            </a:endParaRPr>
          </a:p>
        </p:txBody>
      </p:sp>
      <p:sp>
        <p:nvSpPr>
          <p:cNvPr id="501" name=""/>
          <p:cNvSpPr/>
          <p:nvPr/>
        </p:nvSpPr>
        <p:spPr>
          <a:xfrm>
            <a:off x="647640" y="46328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02" name=""/>
          <p:cNvSpPr txBox="1"/>
          <p:nvPr/>
        </p:nvSpPr>
        <p:spPr>
          <a:xfrm>
            <a:off x="647640" y="46940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503" name=""/>
          <p:cNvSpPr txBox="1"/>
          <p:nvPr/>
        </p:nvSpPr>
        <p:spPr>
          <a:xfrm>
            <a:off x="1371600" y="46328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Verschiedene CRS ausprobieren</a:t>
            </a:r>
            <a:endParaRPr b="0" lang="en-US" sz="2720" spc="-1" strike="noStrike">
              <a:solidFill>
                <a:srgbClr val="000000"/>
              </a:solidFill>
              <a:latin typeface="Arial"/>
            </a:endParaRPr>
          </a:p>
        </p:txBody>
      </p:sp>
      <p:sp>
        <p:nvSpPr>
          <p:cNvPr id="504" name=""/>
          <p:cNvSpPr txBox="1"/>
          <p:nvPr/>
        </p:nvSpPr>
        <p:spPr>
          <a:xfrm>
            <a:off x="1371600" y="51055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Bis der Punkt ungefähr richtig aussieht.</a:t>
            </a:r>
            <a:endParaRPr b="0" lang="en-US" sz="2260" spc="-1" strike="noStrike">
              <a:solidFill>
                <a:srgbClr val="000000"/>
              </a:solidFill>
              <a:latin typeface="Arial"/>
            </a:endParaRPr>
          </a:p>
        </p:txBody>
      </p:sp>
      <p:sp>
        <p:nvSpPr>
          <p:cNvPr id="50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6"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A, B oder C? Welche Begründung überzeugt Sie?</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Erst richtig zuweisen, dann umrechnen</a:t>
            </a:r>
            <a:endParaRPr b="0" lang="en-US" sz="3190" spc="-1" strike="noStrike">
              <a:solidFill>
                <a:srgbClr val="000000"/>
              </a:solidFill>
              <a:latin typeface="Arial"/>
            </a:endParaRPr>
          </a:p>
        </p:txBody>
      </p:sp>
      <p:sp>
        <p:nvSpPr>
          <p:cNvPr id="50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CRS-FEHLER</a:t>
            </a:r>
            <a:endParaRPr b="0" lang="en-US" sz="1130" spc="-1" strike="noStrike">
              <a:solidFill>
                <a:srgbClr val="000000"/>
              </a:solidFill>
              <a:latin typeface="Arial"/>
            </a:endParaRPr>
          </a:p>
        </p:txBody>
      </p:sp>
      <p:sp>
        <p:nvSpPr>
          <p:cNvPr id="50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51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sp>
        <p:nvSpPr>
          <p:cNvPr id="511"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2"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513"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Quelle prüfen</a:t>
            </a:r>
            <a:endParaRPr b="0" lang="en-US" sz="2720" spc="-1" strike="noStrike">
              <a:solidFill>
                <a:srgbClr val="000000"/>
              </a:solidFill>
              <a:latin typeface="Arial"/>
            </a:endParaRPr>
          </a:p>
        </p:txBody>
      </p:sp>
      <p:sp>
        <p:nvSpPr>
          <p:cNvPr id="514"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WGS 84 und Reihenfolge sind dokumentiert.</a:t>
            </a:r>
            <a:endParaRPr b="0" lang="en-US" sz="2260" spc="-1" strike="noStrike">
              <a:solidFill>
                <a:srgbClr val="000000"/>
              </a:solidFill>
              <a:latin typeface="Arial"/>
            </a:endParaRPr>
          </a:p>
        </p:txBody>
      </p:sp>
      <p:sp>
        <p:nvSpPr>
          <p:cNvPr id="515"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6"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17"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EPSG:4326 zuweisen</a:t>
            </a:r>
            <a:endParaRPr b="0" lang="en-US" sz="2720" spc="-1" strike="noStrike">
              <a:solidFill>
                <a:srgbClr val="000000"/>
              </a:solidFill>
              <a:latin typeface="Arial"/>
            </a:endParaRPr>
          </a:p>
        </p:txBody>
      </p:sp>
      <p:sp>
        <p:nvSpPr>
          <p:cNvPr id="518"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Die vorhandenen Gradwerte bleiben unverändert.</a:t>
            </a:r>
            <a:endParaRPr b="0" lang="en-US" sz="2260" spc="-1" strike="noStrike">
              <a:solidFill>
                <a:srgbClr val="000000"/>
              </a:solidFill>
              <a:latin typeface="Arial"/>
            </a:endParaRPr>
          </a:p>
        </p:txBody>
      </p:sp>
      <p:sp>
        <p:nvSpPr>
          <p:cNvPr id="519"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0"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21"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Nach EPSG:25832 transformieren</a:t>
            </a:r>
            <a:endParaRPr b="0" lang="en-US" sz="2720" spc="-1" strike="noStrike">
              <a:solidFill>
                <a:srgbClr val="000000"/>
              </a:solidFill>
              <a:latin typeface="Arial"/>
            </a:endParaRPr>
          </a:p>
        </p:txBody>
      </p:sp>
      <p:sp>
        <p:nvSpPr>
          <p:cNvPr id="522"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Neue Meterwerte, derselbe Ort bei Marburg.</a:t>
            </a:r>
            <a:endParaRPr b="0" lang="en-US" sz="2260" spc="-1" strike="noStrike">
              <a:solidFill>
                <a:srgbClr val="000000"/>
              </a:solidFill>
              <a:latin typeface="Arial"/>
            </a:endParaRPr>
          </a:p>
        </p:txBody>
      </p:sp>
      <p:sp>
        <p:nvSpPr>
          <p:cNvPr id="52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24"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B ist richtig: Zuweisen ersetzt keine Transformation.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Exit-Ticket: Was nehmen Sie mit?</a:t>
            </a:r>
            <a:endParaRPr b="0" lang="en-US" sz="3190" spc="-1" strike="noStrike">
              <a:solidFill>
                <a:srgbClr val="000000"/>
              </a:solidFill>
              <a:latin typeface="Arial"/>
            </a:endParaRPr>
          </a:p>
        </p:txBody>
      </p:sp>
      <p:sp>
        <p:nvSpPr>
          <p:cNvPr id="52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ABSCHLUSS · OHNE NACHSCHLAGEN</a:t>
            </a:r>
            <a:endParaRPr b="0" lang="en-US" sz="1130" spc="-1" strike="noStrike">
              <a:solidFill>
                <a:srgbClr val="000000"/>
              </a:solidFill>
              <a:latin typeface="Arial"/>
            </a:endParaRPr>
          </a:p>
        </p:txBody>
      </p:sp>
      <p:sp>
        <p:nvSpPr>
          <p:cNvPr id="52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52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27</a:t>
            </a:r>
            <a:endParaRPr b="0" lang="en-US" sz="939" spc="-1" strike="noStrike">
              <a:solidFill>
                <a:srgbClr val="000000"/>
              </a:solidFill>
              <a:latin typeface="Arial"/>
            </a:endParaRPr>
          </a:p>
        </p:txBody>
      </p:sp>
      <p:sp>
        <p:nvSpPr>
          <p:cNvPr id="529"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0"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531"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Was fehlt bei (8.77, 50.81)?</a:t>
            </a:r>
            <a:endParaRPr b="0" lang="en-US" sz="2720" spc="-1" strike="noStrike">
              <a:solidFill>
                <a:srgbClr val="000000"/>
              </a:solidFill>
              <a:latin typeface="Arial"/>
            </a:endParaRPr>
          </a:p>
        </p:txBody>
      </p:sp>
      <p:sp>
        <p:nvSpPr>
          <p:cNvPr id="532"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Nennen Sie die nötigen Zusatzangaben.</a:t>
            </a:r>
            <a:endParaRPr b="0" lang="en-US" sz="2260" spc="-1" strike="noStrike">
              <a:solidFill>
                <a:srgbClr val="000000"/>
              </a:solidFill>
              <a:latin typeface="Arial"/>
            </a:endParaRPr>
          </a:p>
        </p:txBody>
      </p:sp>
      <p:sp>
        <p:nvSpPr>
          <p:cNvPr id="533"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4"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535"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Welches CRS würden Sie für Marburg prüfen?</a:t>
            </a:r>
            <a:endParaRPr b="0" lang="en-US" sz="2720" spc="-1" strike="noStrike">
              <a:solidFill>
                <a:srgbClr val="000000"/>
              </a:solidFill>
              <a:latin typeface="Arial"/>
            </a:endParaRPr>
          </a:p>
        </p:txBody>
      </p:sp>
      <p:sp>
        <p:nvSpPr>
          <p:cNvPr id="536"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Begründen Sie Ihre Wahl für Entfernungsmessungen.</a:t>
            </a:r>
            <a:endParaRPr b="0" lang="en-US" sz="2260" spc="-1" strike="noStrike">
              <a:solidFill>
                <a:srgbClr val="000000"/>
              </a:solidFill>
              <a:latin typeface="Arial"/>
            </a:endParaRPr>
          </a:p>
        </p:txBody>
      </p:sp>
      <p:sp>
        <p:nvSpPr>
          <p:cNvPr id="537"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8"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539"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Was passiert beim Transformieren?</a:t>
            </a:r>
            <a:endParaRPr b="0" lang="en-US" sz="2720" spc="-1" strike="noStrike">
              <a:solidFill>
                <a:srgbClr val="000000"/>
              </a:solidFill>
              <a:latin typeface="Arial"/>
            </a:endParaRPr>
          </a:p>
        </p:txBody>
      </p:sp>
      <p:sp>
        <p:nvSpPr>
          <p:cNvPr id="540"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Was ändert sich – und was bleibt gleich?</a:t>
            </a:r>
            <a:endParaRPr b="0" lang="en-US" sz="2260" spc="-1" strike="noStrike">
              <a:solidFill>
                <a:srgbClr val="000000"/>
              </a:solidFill>
              <a:latin typeface="Arial"/>
            </a:endParaRPr>
          </a:p>
        </p:txBody>
      </p:sp>
      <p:sp>
        <p:nvSpPr>
          <p:cNvPr id="54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2"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Eine Frage auswählen → zu zweit formulieren → gemeinsam sichern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Nachbereitung und nächster Schritt</a:t>
            </a:r>
            <a:endParaRPr b="0" lang="en-US" sz="3190" spc="-1" strike="noStrike">
              <a:solidFill>
                <a:srgbClr val="000000"/>
              </a:solidFill>
              <a:latin typeface="Arial"/>
            </a:endParaRPr>
          </a:p>
        </p:txBody>
      </p:sp>
      <p:sp>
        <p:nvSpPr>
          <p:cNvPr id="54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ABSCHLUSS · UNIT 09</a:t>
            </a:r>
            <a:endParaRPr b="0" lang="en-US" sz="1130" spc="-1" strike="noStrike">
              <a:solidFill>
                <a:srgbClr val="000000"/>
              </a:solidFill>
              <a:latin typeface="Arial"/>
            </a:endParaRPr>
          </a:p>
        </p:txBody>
      </p:sp>
      <p:sp>
        <p:nvSpPr>
          <p:cNvPr id="54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54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28</a:t>
            </a:r>
            <a:endParaRPr b="0" lang="en-US" sz="939" spc="-1" strike="noStrike">
              <a:solidFill>
                <a:srgbClr val="000000"/>
              </a:solidFill>
              <a:latin typeface="Arial"/>
            </a:endParaRPr>
          </a:p>
        </p:txBody>
      </p:sp>
      <p:sp>
        <p:nvSpPr>
          <p:cNvPr id="547" name=""/>
          <p:cNvSpPr/>
          <p:nvPr/>
        </p:nvSpPr>
        <p:spPr>
          <a:xfrm>
            <a:off x="647640" y="1790640"/>
            <a:ext cx="5295960" cy="3200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8" name=""/>
          <p:cNvSpPr/>
          <p:nvPr/>
        </p:nvSpPr>
        <p:spPr>
          <a:xfrm>
            <a:off x="647640" y="1790640"/>
            <a:ext cx="53280" cy="32004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9" name=""/>
          <p:cNvSpPr txBox="1"/>
          <p:nvPr/>
        </p:nvSpPr>
        <p:spPr>
          <a:xfrm>
            <a:off x="853560" y="1973520"/>
            <a:ext cx="4884480" cy="647640"/>
          </a:xfrm>
          <a:prstGeom prst="rect">
            <a:avLst/>
          </a:prstGeom>
          <a:noFill/>
          <a:ln w="0">
            <a:noFill/>
          </a:ln>
        </p:spPr>
        <p:txBody>
          <a:bodyPr lIns="0" rIns="0" tIns="0" bIns="0" anchor="t">
            <a:noAutofit/>
          </a:bodyPr>
          <a:p>
            <a:r>
              <a:rPr b="1" lang="en-US" sz="2540" spc="-1" strike="noStrike">
                <a:solidFill>
                  <a:srgbClr val="004899"/>
                </a:solidFill>
                <a:latin typeface="Noto Sans"/>
              </a:rPr>
              <a:t>Übungsaufgabe: JiTT-Fragen</a:t>
            </a:r>
            <a:endParaRPr b="0" lang="en-US" sz="2540" spc="-1" strike="noStrike">
              <a:solidFill>
                <a:srgbClr val="000000"/>
              </a:solidFill>
              <a:latin typeface="Arial"/>
            </a:endParaRPr>
          </a:p>
        </p:txBody>
      </p:sp>
      <p:sp>
        <p:nvSpPr>
          <p:cNvPr id="550" name=""/>
          <p:cNvSpPr txBox="1"/>
          <p:nvPr/>
        </p:nvSpPr>
        <p:spPr>
          <a:xfrm>
            <a:off x="853560" y="2735640"/>
            <a:ext cx="4884480" cy="2118240"/>
          </a:xfrm>
          <a:prstGeom prst="rect">
            <a:avLst/>
          </a:prstGeom>
          <a:noFill/>
          <a:ln w="0">
            <a:noFill/>
          </a:ln>
        </p:spPr>
        <p:txBody>
          <a:bodyPr lIns="0" rIns="0" tIns="0" bIns="0" anchor="t">
            <a:noAutofit/>
          </a:bodyPr>
          <a:p>
            <a:r>
              <a:rPr b="0" lang="en-US" sz="2350" spc="-1" strike="noStrike">
                <a:solidFill>
                  <a:srgbClr val="000000"/>
                </a:solidFill>
                <a:latin typeface="Noto Sans"/>
              </a:rPr>
              <a:t>Beantworten Sie die JiTT-Fragen</a:t>
            </a:r>
            <a:endParaRPr b="0" lang="en-US" sz="2350" spc="-1" strike="noStrike">
              <a:solidFill>
                <a:srgbClr val="000000"/>
              </a:solidFill>
              <a:latin typeface="Arial"/>
            </a:endParaRPr>
          </a:p>
          <a:p>
            <a:r>
              <a:rPr b="0" lang="en-US" sz="2350" spc="-1" strike="noStrike">
                <a:solidFill>
                  <a:srgbClr val="000000"/>
                </a:solidFill>
                <a:latin typeface="Noto Sans"/>
              </a:rPr>
              <a:t>zu Unit 09 im ILIAS-Kurs.</a:t>
            </a:r>
            <a:endParaRPr b="0" lang="en-US" sz="2350" spc="-1" strike="noStrike">
              <a:solidFill>
                <a:srgbClr val="000000"/>
              </a:solidFill>
              <a:latin typeface="Arial"/>
            </a:endParaRPr>
          </a:p>
          <a:p>
            <a:endParaRPr b="0" lang="en-US" sz="2350" spc="-1" strike="noStrike">
              <a:solidFill>
                <a:srgbClr val="000000"/>
              </a:solidFill>
              <a:latin typeface="Arial"/>
            </a:endParaRPr>
          </a:p>
          <a:p>
            <a:r>
              <a:rPr b="0" lang="en-US" sz="2350" spc="-1" strike="noStrike">
                <a:solidFill>
                  <a:srgbClr val="000000"/>
                </a:solidFill>
                <a:latin typeface="Noto Sans"/>
              </a:rPr>
              <a:t>Die Fragen und die Frist</a:t>
            </a:r>
            <a:endParaRPr b="0" lang="en-US" sz="2350" spc="-1" strike="noStrike">
              <a:solidFill>
                <a:srgbClr val="000000"/>
              </a:solidFill>
              <a:latin typeface="Arial"/>
            </a:endParaRPr>
          </a:p>
          <a:p>
            <a:r>
              <a:rPr b="0" lang="en-US" sz="2350" spc="-1" strike="noStrike">
                <a:solidFill>
                  <a:srgbClr val="000000"/>
                </a:solidFill>
                <a:latin typeface="Noto Sans"/>
              </a:rPr>
              <a:t>finden Sie in ILIAS.</a:t>
            </a:r>
            <a:endParaRPr b="0" lang="en-US" sz="2350" spc="-1" strike="noStrike">
              <a:solidFill>
                <a:srgbClr val="000000"/>
              </a:solidFill>
              <a:latin typeface="Arial"/>
            </a:endParaRPr>
          </a:p>
        </p:txBody>
      </p:sp>
      <p:sp>
        <p:nvSpPr>
          <p:cNvPr id="551" name=""/>
          <p:cNvSpPr/>
          <p:nvPr/>
        </p:nvSpPr>
        <p:spPr>
          <a:xfrm>
            <a:off x="6248520" y="1790640"/>
            <a:ext cx="5295960" cy="3200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2" name=""/>
          <p:cNvSpPr/>
          <p:nvPr/>
        </p:nvSpPr>
        <p:spPr>
          <a:xfrm>
            <a:off x="6248520" y="1790640"/>
            <a:ext cx="53280" cy="32004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3" name=""/>
          <p:cNvSpPr txBox="1"/>
          <p:nvPr/>
        </p:nvSpPr>
        <p:spPr>
          <a:xfrm>
            <a:off x="6454080" y="1973520"/>
            <a:ext cx="4884480" cy="647640"/>
          </a:xfrm>
          <a:prstGeom prst="rect">
            <a:avLst/>
          </a:prstGeom>
          <a:noFill/>
          <a:ln w="0">
            <a:noFill/>
          </a:ln>
        </p:spPr>
        <p:txBody>
          <a:bodyPr lIns="0" rIns="0" tIns="0" bIns="0" anchor="t">
            <a:noAutofit/>
          </a:bodyPr>
          <a:p>
            <a:r>
              <a:rPr b="1" lang="en-US" sz="2540" spc="-1" strike="noStrike">
                <a:solidFill>
                  <a:srgbClr val="004899"/>
                </a:solidFill>
                <a:latin typeface="Noto Sans"/>
              </a:rPr>
              <a:t>Ausblick: Unit 10</a:t>
            </a:r>
            <a:endParaRPr b="0" lang="en-US" sz="2540" spc="-1" strike="noStrike">
              <a:solidFill>
                <a:srgbClr val="000000"/>
              </a:solidFill>
              <a:latin typeface="Arial"/>
            </a:endParaRPr>
          </a:p>
        </p:txBody>
      </p:sp>
      <p:sp>
        <p:nvSpPr>
          <p:cNvPr id="554" name=""/>
          <p:cNvSpPr txBox="1"/>
          <p:nvPr/>
        </p:nvSpPr>
        <p:spPr>
          <a:xfrm>
            <a:off x="6454080" y="2735640"/>
            <a:ext cx="4884480" cy="2118240"/>
          </a:xfrm>
          <a:prstGeom prst="rect">
            <a:avLst/>
          </a:prstGeom>
          <a:noFill/>
          <a:ln w="0">
            <a:noFill/>
          </a:ln>
        </p:spPr>
        <p:txBody>
          <a:bodyPr lIns="0" rIns="0" tIns="0" bIns="0" anchor="t">
            <a:noAutofit/>
          </a:bodyPr>
          <a:p>
            <a:r>
              <a:rPr b="0" lang="en-US" sz="2540" spc="-1" strike="noStrike">
                <a:solidFill>
                  <a:srgbClr val="000000"/>
                </a:solidFill>
                <a:latin typeface="Noto Sans"/>
              </a:rPr>
              <a:t>Die Grundlagen in QGIS nutzen.</a:t>
            </a:r>
            <a:endParaRPr b="0" lang="en-US" sz="2540" spc="-1" strike="noStrike">
              <a:solidFill>
                <a:srgbClr val="000000"/>
              </a:solidFill>
              <a:latin typeface="Arial"/>
            </a:endParaRPr>
          </a:p>
          <a:p>
            <a:endParaRPr b="0" lang="en-US" sz="2540" spc="-1" strike="noStrike">
              <a:solidFill>
                <a:srgbClr val="000000"/>
              </a:solidFill>
              <a:latin typeface="Arial"/>
            </a:endParaRPr>
          </a:p>
          <a:p>
            <a:r>
              <a:rPr b="0" lang="en-US" sz="2540" spc="-1" strike="noStrike">
                <a:solidFill>
                  <a:srgbClr val="000000"/>
                </a:solidFill>
                <a:latin typeface="Noto Sans"/>
              </a:rPr>
              <a:t>Das Onlinematerial steht zur freiwilligen Vorbereitung bereit.</a:t>
            </a:r>
            <a:endParaRPr b="0" lang="en-US" sz="2540" spc="-1" strike="noStrike">
              <a:solidFill>
                <a:srgbClr val="000000"/>
              </a:solidFill>
              <a:latin typeface="Arial"/>
            </a:endParaRPr>
          </a:p>
        </p:txBody>
      </p:sp>
      <p:sp>
        <p:nvSpPr>
          <p:cNvPr id="555" name=""/>
          <p:cNvSpPr txBox="1"/>
          <p:nvPr/>
        </p:nvSpPr>
        <p:spPr>
          <a:xfrm>
            <a:off x="838080" y="5067360"/>
            <a:ext cx="10515600" cy="365760"/>
          </a:xfrm>
          <a:prstGeom prst="rect">
            <a:avLst/>
          </a:prstGeom>
          <a:noFill/>
          <a:ln w="0">
            <a:noFill/>
          </a:ln>
        </p:spPr>
        <p:txBody>
          <a:bodyPr lIns="0" rIns="0" tIns="0" bIns="0" anchor="t">
            <a:noAutofit/>
          </a:bodyPr>
          <a:p>
            <a:r>
              <a:rPr b="1" lang="en-US" sz="2160" spc="-1" strike="noStrike">
                <a:solidFill>
                  <a:srgbClr val="004899"/>
                </a:solidFill>
                <a:latin typeface="Noto Sans"/>
                <a:hlinkClick r:id="rId1"/>
              </a:rPr>
              <a:t>Hinweis zu den JiTT-Fragen: HTML-Lernumgebung → Unit 09</a:t>
            </a:r>
            <a:endParaRPr b="0" lang="en-US" sz="2160" spc="-1" strike="noStrike">
              <a:solidFill>
                <a:srgbClr val="000000"/>
              </a:solidFill>
              <a:latin typeface="Arial"/>
            </a:endParaRPr>
          </a:p>
        </p:txBody>
      </p:sp>
      <p:sp>
        <p:nvSpPr>
          <p:cNvPr id="55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7"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Die JiTT-Fragen sind Ihre einzige Übungsaufgabe zu Unit 09.</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Dezimalgrad selbst berechnen</a:t>
            </a:r>
            <a:endParaRPr b="0" lang="en-US" sz="3190" spc="-1" strike="noStrike">
              <a:solidFill>
                <a:srgbClr val="000000"/>
              </a:solidFill>
              <a:latin typeface="Arial"/>
            </a:endParaRPr>
          </a:p>
        </p:txBody>
      </p:sp>
      <p:sp>
        <p:nvSpPr>
          <p:cNvPr id="55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KOORDINATENFORMATE</a:t>
            </a:r>
            <a:endParaRPr b="0" lang="en-US" sz="1130" spc="-1" strike="noStrike">
              <a:solidFill>
                <a:srgbClr val="000000"/>
              </a:solidFill>
              <a:latin typeface="Arial"/>
            </a:endParaRPr>
          </a:p>
        </p:txBody>
      </p:sp>
      <p:sp>
        <p:nvSpPr>
          <p:cNvPr id="56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56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29</a:t>
            </a:r>
            <a:endParaRPr b="0" lang="en-US" sz="939" spc="-1" strike="noStrike">
              <a:solidFill>
                <a:srgbClr val="000000"/>
              </a:solidFill>
              <a:latin typeface="Arial"/>
            </a:endParaRPr>
          </a:p>
        </p:txBody>
      </p:sp>
      <p:sp>
        <p:nvSpPr>
          <p:cNvPr id="562" name=""/>
          <p:cNvSpPr txBox="1"/>
          <p:nvPr/>
        </p:nvSpPr>
        <p:spPr>
          <a:xfrm>
            <a:off x="838080" y="1752480"/>
            <a:ext cx="10515600" cy="762120"/>
          </a:xfrm>
          <a:prstGeom prst="rect">
            <a:avLst/>
          </a:prstGeom>
          <a:noFill/>
          <a:ln w="0">
            <a:noFill/>
          </a:ln>
        </p:spPr>
        <p:txBody>
          <a:bodyPr lIns="0" rIns="0" tIns="0" bIns="0" anchor="t">
            <a:noAutofit/>
          </a:bodyPr>
          <a:p>
            <a:r>
              <a:rPr b="1" lang="en-US" sz="2820" spc="-1" strike="noStrike">
                <a:solidFill>
                  <a:srgbClr val="004899"/>
                </a:solidFill>
                <a:latin typeface="Noto Sans"/>
              </a:rPr>
              <a:t>Dezimalgrad = Grad + Minuten / 60 + Sekunden / 3600</a:t>
            </a:r>
            <a:endParaRPr b="0" lang="en-US" sz="2820" spc="-1" strike="noStrike">
              <a:solidFill>
                <a:srgbClr val="000000"/>
              </a:solidFill>
              <a:latin typeface="Arial"/>
            </a:endParaRPr>
          </a:p>
        </p:txBody>
      </p:sp>
      <p:sp>
        <p:nvSpPr>
          <p:cNvPr id="563" name=""/>
          <p:cNvSpPr/>
          <p:nvPr/>
        </p:nvSpPr>
        <p:spPr>
          <a:xfrm>
            <a:off x="647640" y="2781360"/>
            <a:ext cx="10896840" cy="1828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4" name=""/>
          <p:cNvSpPr/>
          <p:nvPr/>
        </p:nvSpPr>
        <p:spPr>
          <a:xfrm>
            <a:off x="647640" y="2781360"/>
            <a:ext cx="53280" cy="18288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65" name=""/>
          <p:cNvSpPr txBox="1"/>
          <p:nvPr/>
        </p:nvSpPr>
        <p:spPr>
          <a:xfrm>
            <a:off x="853560" y="2964240"/>
            <a:ext cx="10485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Beispiel: 50° 48′ 36″ N</a:t>
            </a:r>
            <a:endParaRPr b="0" lang="en-US" sz="2540" spc="-1" strike="noStrike">
              <a:solidFill>
                <a:srgbClr val="000000"/>
              </a:solidFill>
              <a:latin typeface="Arial"/>
            </a:endParaRPr>
          </a:p>
        </p:txBody>
      </p:sp>
      <p:sp>
        <p:nvSpPr>
          <p:cNvPr id="566" name=""/>
          <p:cNvSpPr txBox="1"/>
          <p:nvPr/>
        </p:nvSpPr>
        <p:spPr>
          <a:xfrm>
            <a:off x="853560" y="3726360"/>
            <a:ext cx="10485360" cy="746640"/>
          </a:xfrm>
          <a:prstGeom prst="rect">
            <a:avLst/>
          </a:prstGeom>
          <a:noFill/>
          <a:ln w="0">
            <a:noFill/>
          </a:ln>
        </p:spPr>
        <p:txBody>
          <a:bodyPr lIns="0" rIns="0" tIns="0" bIns="0" anchor="t">
            <a:noAutofit/>
          </a:bodyPr>
          <a:p>
            <a:r>
              <a:rPr b="0" lang="en-US" sz="3480" spc="-1" strike="noStrike">
                <a:solidFill>
                  <a:srgbClr val="000000"/>
                </a:solidFill>
                <a:latin typeface="Noto Sans"/>
              </a:rPr>
              <a:t>50 + 48/60 + 36/3600 = 50,81°</a:t>
            </a:r>
            <a:endParaRPr b="0" lang="en-US" sz="3480" spc="-1" strike="noStrike">
              <a:solidFill>
                <a:srgbClr val="000000"/>
              </a:solidFill>
              <a:latin typeface="Arial"/>
            </a:endParaRPr>
          </a:p>
        </p:txBody>
      </p:sp>
      <p:sp>
        <p:nvSpPr>
          <p:cNvPr id="56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8"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Probieren Sie: 8° 46′ 12″ E. Passt das ungefähr zu Marburg?</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Materialien und fachliche Quellen</a:t>
            </a:r>
            <a:endParaRPr b="0" lang="en-US" sz="3190" spc="-1" strike="noStrike">
              <a:solidFill>
                <a:srgbClr val="000000"/>
              </a:solidFill>
              <a:latin typeface="Arial"/>
            </a:endParaRPr>
          </a:p>
        </p:txBody>
      </p:sp>
      <p:sp>
        <p:nvSpPr>
          <p:cNvPr id="57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ZUM NACHSCHLAGEN</a:t>
            </a:r>
            <a:endParaRPr b="0" lang="en-US" sz="1130" spc="-1" strike="noStrike">
              <a:solidFill>
                <a:srgbClr val="000000"/>
              </a:solidFill>
              <a:latin typeface="Arial"/>
            </a:endParaRPr>
          </a:p>
        </p:txBody>
      </p:sp>
      <p:sp>
        <p:nvSpPr>
          <p:cNvPr id="57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09</a:t>
            </a:r>
            <a:endParaRPr b="0" lang="en-US" sz="939" spc="-1" strike="noStrike">
              <a:solidFill>
                <a:srgbClr val="000000"/>
              </a:solidFill>
              <a:latin typeface="Arial"/>
            </a:endParaRPr>
          </a:p>
        </p:txBody>
      </p:sp>
      <p:sp>
        <p:nvSpPr>
          <p:cNvPr id="57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30</a:t>
            </a:r>
            <a:endParaRPr b="0" lang="en-US" sz="939" spc="-1" strike="noStrike">
              <a:solidFill>
                <a:srgbClr val="000000"/>
              </a:solidFill>
              <a:latin typeface="Arial"/>
            </a:endParaRPr>
          </a:p>
        </p:txBody>
      </p:sp>
      <p:sp>
        <p:nvSpPr>
          <p:cNvPr id="573" name=""/>
          <p:cNvSpPr txBox="1"/>
          <p:nvPr/>
        </p:nvSpPr>
        <p:spPr>
          <a:xfrm>
            <a:off x="838080" y="169164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1"/>
              </a:rPr>
              <a:t>GeoMOER · Kursmaterial und JiTT-Hinweis</a:t>
            </a:r>
            <a:endParaRPr b="0" lang="en-US" sz="2350" spc="-1" strike="noStrike">
              <a:solidFill>
                <a:srgbClr val="000000"/>
              </a:solidFill>
              <a:latin typeface="Arial"/>
            </a:endParaRPr>
          </a:p>
        </p:txBody>
      </p:sp>
      <p:sp>
        <p:nvSpPr>
          <p:cNvPr id="574" name=""/>
          <p:cNvSpPr txBox="1"/>
          <p:nvPr/>
        </p:nvSpPr>
        <p:spPr>
          <a:xfrm>
            <a:off x="838080" y="223272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2"/>
              </a:rPr>
              <a:t>PROJ · Achsenreihenfolge / FAQ</a:t>
            </a:r>
            <a:endParaRPr b="0" lang="en-US" sz="2350" spc="-1" strike="noStrike">
              <a:solidFill>
                <a:srgbClr val="000000"/>
              </a:solidFill>
              <a:latin typeface="Arial"/>
            </a:endParaRPr>
          </a:p>
        </p:txBody>
      </p:sp>
      <p:sp>
        <p:nvSpPr>
          <p:cNvPr id="575" name=""/>
          <p:cNvSpPr txBox="1"/>
          <p:nvPr/>
        </p:nvSpPr>
        <p:spPr>
          <a:xfrm>
            <a:off x="838080" y="277380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3"/>
              </a:rPr>
              <a:t>PROJ · WGS 84 und UTM / Quick start</a:t>
            </a:r>
            <a:endParaRPr b="0" lang="en-US" sz="2350" spc="-1" strike="noStrike">
              <a:solidFill>
                <a:srgbClr val="000000"/>
              </a:solidFill>
              <a:latin typeface="Arial"/>
            </a:endParaRPr>
          </a:p>
        </p:txBody>
      </p:sp>
      <p:sp>
        <p:nvSpPr>
          <p:cNvPr id="576" name=""/>
          <p:cNvSpPr txBox="1"/>
          <p:nvPr/>
        </p:nvSpPr>
        <p:spPr>
          <a:xfrm>
            <a:off x="838080" y="331488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4"/>
              </a:rPr>
              <a:t>PROJ · Mercator</a:t>
            </a:r>
            <a:endParaRPr b="0" lang="en-US" sz="2350" spc="-1" strike="noStrike">
              <a:solidFill>
                <a:srgbClr val="000000"/>
              </a:solidFill>
              <a:latin typeface="Arial"/>
            </a:endParaRPr>
          </a:p>
        </p:txBody>
      </p:sp>
      <p:sp>
        <p:nvSpPr>
          <p:cNvPr id="577" name=""/>
          <p:cNvSpPr txBox="1"/>
          <p:nvPr/>
        </p:nvSpPr>
        <p:spPr>
          <a:xfrm>
            <a:off x="838080" y="385560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5"/>
              </a:rPr>
              <a:t>PROJ · Flächentreue Zylinderprojektion</a:t>
            </a:r>
            <a:endParaRPr b="0" lang="en-US" sz="2350" spc="-1" strike="noStrike">
              <a:solidFill>
                <a:srgbClr val="000000"/>
              </a:solidFill>
              <a:latin typeface="Arial"/>
            </a:endParaRPr>
          </a:p>
        </p:txBody>
      </p:sp>
      <p:sp>
        <p:nvSpPr>
          <p:cNvPr id="578" name=""/>
          <p:cNvSpPr txBox="1"/>
          <p:nvPr/>
        </p:nvSpPr>
        <p:spPr>
          <a:xfrm>
            <a:off x="838080" y="439668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6"/>
              </a:rPr>
              <a:t>PROJ · Web Mercator</a:t>
            </a:r>
            <a:endParaRPr b="0" lang="en-US" sz="2350" spc="-1" strike="noStrike">
              <a:solidFill>
                <a:srgbClr val="000000"/>
              </a:solidFill>
              <a:latin typeface="Arial"/>
            </a:endParaRPr>
          </a:p>
        </p:txBody>
      </p:sp>
      <p:sp>
        <p:nvSpPr>
          <p:cNvPr id="579" name=""/>
          <p:cNvSpPr txBox="1"/>
          <p:nvPr/>
        </p:nvSpPr>
        <p:spPr>
          <a:xfrm>
            <a:off x="838080" y="5151240"/>
            <a:ext cx="10591920" cy="945000"/>
          </a:xfrm>
          <a:prstGeom prst="rect">
            <a:avLst/>
          </a:prstGeom>
          <a:noFill/>
          <a:ln w="0">
            <a:noFill/>
          </a:ln>
        </p:spPr>
        <p:txBody>
          <a:bodyPr lIns="0" rIns="0" tIns="0" bIns="0" anchor="t">
            <a:noAutofit/>
          </a:bodyPr>
          <a:p>
            <a:r>
              <a:rPr b="0" lang="en-US" sz="1600" spc="-1" strike="noStrike">
                <a:solidFill>
                  <a:srgbClr val="414141"/>
                </a:solidFill>
                <a:latin typeface="Noto Sans"/>
              </a:rPr>
              <a:t>Layout: Uni-Marburg-Vorlage · Titel-/Abschlussbild: FB19-Vorlage</a:t>
            </a:r>
            <a:endParaRPr b="0" lang="en-US" sz="1600" spc="-1" strike="noStrike">
              <a:solidFill>
                <a:srgbClr val="000000"/>
              </a:solidFill>
              <a:latin typeface="Arial"/>
            </a:endParaRPr>
          </a:p>
          <a:p>
            <a:r>
              <a:rPr b="0" lang="en-US" sz="1600" spc="-1" strike="noStrike">
                <a:solidFill>
                  <a:srgbClr val="414141"/>
                </a:solidFill>
                <a:latin typeface="Noto Sans"/>
              </a:rPr>
              <a:t>Diagramme: eigene Vektordarstellungen · Kursillustration: KI-generiert</a:t>
            </a:r>
            <a:endParaRPr b="0" lang="en-US" sz="1600" spc="-1" strike="noStrike">
              <a:solidFill>
                <a:srgbClr val="000000"/>
              </a:solidFill>
              <a:latin typeface="Arial"/>
            </a:endParaRPr>
          </a:p>
          <a:p>
            <a:r>
              <a:rPr b="0" lang="en-US" sz="1600" spc="-1" strike="noStrike">
                <a:solidFill>
                  <a:srgbClr val="414141"/>
                </a:solidFill>
                <a:latin typeface="Noto Sans"/>
              </a:rPr>
              <a:t>Fachliche Prüfung: 07.09.2026</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581" name="" descr=""/>
          <p:cNvPicPr/>
          <p:nvPr/>
        </p:nvPicPr>
        <p:blipFill>
          <a:blip r:embed="rId1"/>
          <a:stretch/>
        </p:blipFill>
        <p:spPr>
          <a:xfrm>
            <a:off x="6972480" y="2666880"/>
            <a:ext cx="4876920" cy="1671120"/>
          </a:xfrm>
          <a:prstGeom prst="rect">
            <a:avLst/>
          </a:prstGeom>
          <a:ln w="0">
            <a:noFill/>
          </a:ln>
        </p:spPr>
      </p:pic>
      <p:sp>
        <p:nvSpPr>
          <p:cNvPr id="582"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eure Aufmerksamkeit</a:t>
            </a:r>
            <a:endParaRPr b="0" lang="en-US" sz="3859" spc="-1" strike="noStrike">
              <a:solidFill>
                <a:srgbClr val="ffffff"/>
              </a:solidFill>
              <a:latin typeface="Arial"/>
            </a:endParaRPr>
          </a:p>
        </p:txBody>
      </p:sp>
      <p:sp>
        <p:nvSpPr>
          <p:cNvPr id="583"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09</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2026-09-11T16:23:20Z</dcterms:modified>
  <cp:revision>35</cp:revision>
  <dc:subject>Geodaten · Unit 09 · Präsenzlehre</dc:subject>
  <dc:title>Unit 09 – Geodaten, Koordinaten und Projektionen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