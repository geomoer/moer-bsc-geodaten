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svg" ContentType="image/svg"/>
  <Override PartName="/ppt/media/image14.svg" ContentType="image/svg"/>
  <Override PartName="/ppt/media/image1.png" ContentType="image/png"/>
  <Override PartName="/ppt/media/image2.jpeg" ContentType="image/jpeg"/>
  <Override PartName="/ppt/media/image3.png" ContentType="image/png"/>
  <Override PartName="/ppt/media/image5.png" ContentType="image/png"/>
  <Override PartName="/ppt/media/image6.svg" ContentType="image/svg"/>
  <Override PartName="/ppt/media/image9.png" ContentType="image/png"/>
  <Override PartName="/ppt/media/image10.svg" ContentType="image/svg"/>
  <Override PartName="/ppt/media/image4.png" ContentType="image/png"/>
  <Override PartName="/ppt/media/image13.png" ContentType="image/png"/>
  <Override PartName="/ppt/media/image7.png" ContentType="image/png"/>
  <Override PartName="/ppt/media/image11.png" ContentType="image/png"/>
  <Override PartName="/ppt/media/image8.svg" ContentType="image/sv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2.xml.rels" ContentType="application/vnd.openxmlformats-package.relationships+xml"/>
  <Override PartName="/ppt/slides/slide38.xml" ContentType="application/vnd.openxmlformats-officedocument.presentationml.slide+xml"/>
  <Override PartName="/ppt/slides/slide3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 Id="rId58" Type="http://schemas.openxmlformats.org/officeDocument/2006/relationships/slide" Target="slides/slide39.xml"/><Relationship Id="rId5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5B9FAD5-07B8-486F-863C-2588548DF03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216000" y="812520"/>
            <a:ext cx="7127280" cy="4008960"/>
          </a:xfrm>
          <a:prstGeom prst="rect">
            <a:avLst/>
          </a:prstGeom>
          <a:ln w="0">
            <a:noFill/>
          </a:ln>
        </p:spPr>
      </p:sp>
      <p:sp>
        <p:nvSpPr>
          <p:cNvPr id="71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dem Einstieg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Titelfolie beim Ankommen zeigen. Die Sitzung ist für 90 Minuten mit 100–150 Bachelor- und Lehramtsstudierenden ausgelegt. Vorbereitendes Lesen wird nicht vorausgesetzt. QGIS 3.40 und das vollständig entpackte Marburger Übungspaket müssen verfügbar sein. Alle beginnen mit unit14_start.qgz; eigene Ergebnisse aus Unit 13 sind nur Vertiefung.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216000" y="812520"/>
            <a:ext cx="7127280" cy="4008960"/>
          </a:xfrm>
          <a:prstGeom prst="rect">
            <a:avLst/>
          </a:prstGeom>
          <a:ln w="0">
            <a:noFill/>
          </a:ln>
        </p:spPr>
      </p:sp>
      <p:sp>
        <p:nvSpPr>
          <p:cNvPr id="71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Den gesamten Platzhalter durch die aktuelle JiTT-Auswertung zu Unit 13 ersetzen. Bei Bedarf die Folie duplizieren. Nur tatsächliche, zusammengefasste und anonymisierte Rückmeldungen einsetzen. Die gesamte Phase dauert zehn Minuten. Verständnisfragen zu Rasterzellen, NoData, DGM oder hoehe_m klären.</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216000" y="812520"/>
            <a:ext cx="7127280" cy="4008960"/>
          </a:xfrm>
          <a:prstGeom prst="rect">
            <a:avLst/>
          </a:prstGeom>
          <a:ln w="0">
            <a:noFill/>
          </a:ln>
        </p:spPr>
      </p:sp>
      <p:sp>
        <p:nvSpPr>
          <p:cNvPr id="71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10–11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Ablauf ankündigen: Ausgangsprojekt prüfen, zwei Klassifizierungen vergleichen, eine Variante begründet gestalten, das vorbereitete Layout überarbeiten, beide Formate exportieren und eine Aussagegrenze dokumentieren.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216000" y="812520"/>
            <a:ext cx="7127280" cy="4008960"/>
          </a:xfrm>
          <a:prstGeom prst="rect">
            <a:avLst/>
          </a:prstGeom>
          <a:ln w="0">
            <a:noFill/>
          </a:ln>
        </p:spPr>
      </p:sp>
      <p:sp>
        <p:nvSpPr>
          <p:cNvPr id="72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11–14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Alle öffnen unit14_start.qgz im vollständig entpackten Paket und speichern sofort als unit14_abschluss.qgz. Nicht mit einem leeren Projekt beginnen und keine Analysen aus Units 11 bis 13 wiederholen. Bei technischen Problemen unit14_beispiel.qgz verwenden.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https://geomoer.github.io/moer-bsc-geodaten/material/qgis-kernpfade.html#unit14</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216000" y="812520"/>
            <a:ext cx="7127280" cy="4008960"/>
          </a:xfrm>
          <a:prstGeom prst="rect">
            <a:avLst/>
          </a:prstGeom>
          <a:ln w="0">
            <a:noFill/>
          </a:ln>
        </p:spPr>
      </p:sp>
      <p:sp>
        <p:nvSpPr>
          <p:cNvPr id="72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14–16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Beispielkarte richtet sich an fachlich interessierte Personen ohne Detailkenntnis des Datensatzes. Titel, Legende und Symbolisierung müssen genau diese vorsichtige Frage beantworten. Zwei Minuten kurze Nachbarschaftsabsprache.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216000" y="812520"/>
            <a:ext cx="7127280" cy="4008960"/>
          </a:xfrm>
          <a:prstGeom prst="rect">
            <a:avLst/>
          </a:prstGeom>
          <a:ln w="0">
            <a:noFill/>
          </a:ln>
        </p:spPr>
      </p:sp>
      <p:sp>
        <p:nvSpPr>
          <p:cNvPr id="72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16–18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vorbereiteten Punktlayer prüfen: 35 Features, numerisches Feld hoehe_m, EPSG:25832. Die 21 weiteren qualitätsgeprüften Nachweise ohne DGM-Höhe sind nicht in dieser Höhenklassenkarte dargestellt. Diese Einschränkung muss sichtbar dokumentiert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https://geomoer.github.io/moer-bsc-geodaten/material/qgis-kernpfade.html#unit14</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216000" y="812520"/>
            <a:ext cx="7127280" cy="4008960"/>
          </a:xfrm>
          <a:prstGeom prst="rect">
            <a:avLst/>
          </a:prstGeom>
          <a:ln w="0">
            <a:noFill/>
          </a:ln>
        </p:spPr>
      </p:sp>
      <p:sp>
        <p:nvSpPr>
          <p:cNvPr id="72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18–20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Klassifizierung fasst einzelne Zahlenwerte zu wenigen Gruppen zusammen. Dadurch wird die Karte übersichtlicher, aber Information geht verloren. Ein Punktwert bleibt gleich; nur seine Zuordnung zu einer visuellen Klasse kann sich ändern.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216000" y="812520"/>
            <a:ext cx="7127280" cy="4008960"/>
          </a:xfrm>
          <a:prstGeom prst="rect">
            <a:avLst/>
          </a:prstGeom>
          <a:ln w="0">
            <a:noFill/>
          </a:ln>
        </p:spPr>
      </p:sp>
      <p:sp>
        <p:nvSpPr>
          <p:cNvPr id="7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20–22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Bei gleichen Intervallen ist der gesamte Wertebereich in fünf gleich breite Abschnitte geteilt. Die Methode ist leicht erklärbar; bei ungleich verteilen Werten können die Klassen aber sehr unterschiedlich besetzt sein.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216000" y="812520"/>
            <a:ext cx="7127280" cy="4008960"/>
          </a:xfrm>
          <a:prstGeom prst="rect">
            <a:avLst/>
          </a:prstGeom>
          <a:ln w="0">
            <a:noFill/>
          </a:ln>
        </p:spPr>
      </p:sp>
      <p:sp>
        <p:nvSpPr>
          <p:cNvPr id="73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Quantile teilen die sortierten Werte so, dass jede Klasse ungefähr gleich viele Features enthält. Dadurch erscheinen meist alle Farben, aber die Wertebereiche sind unterschiedlich breit und ähnliche Werte können getrennt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216000" y="812520"/>
            <a:ext cx="7127280" cy="4008960"/>
          </a:xfrm>
          <a:prstGeom prst="rect">
            <a:avLst/>
          </a:prstGeom>
          <a:ln w="0">
            <a:noFill/>
          </a:ln>
        </p:spPr>
      </p:sp>
      <p:sp>
        <p:nvSpPr>
          <p:cNvPr id="73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24–27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Beide Karten zeigen dieselben 35 Punkte, denselben Ausschnitt, dieselbe Symbolgröße und dieselbe Farbpalette. Links gleiche Intervalle, rechts Quantile. Erst still vergleichen, dann Unterschiede zu zweit benennen. Die 21 Punkte ohne Höhe fehlen in beiden Darstellungen.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216000" y="812520"/>
            <a:ext cx="7127280" cy="4008960"/>
          </a:xfrm>
          <a:prstGeom prst="rect">
            <a:avLst/>
          </a:prstGeom>
          <a:ln w="0">
            <a:noFill/>
          </a:ln>
        </p:spPr>
      </p:sp>
      <p:sp>
        <p:nvSpPr>
          <p:cNvPr id="73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27–29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erklärt das Rechenprinzip mit zehn erfundenen Höhenwerten, nicht mit den 35 Marburger Nachweisen. Links entstehen bei gleichen Intervallen die Besetzungen 8/1/0/0/1; rechts enthalten die interpolierten Quantile je zwei Werte. Softwarekonventionen können bei kleinen Datensätzen abweichen.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216000" y="812520"/>
            <a:ext cx="7127280" cy="4008960"/>
          </a:xfrm>
          <a:prstGeom prst="rect">
            <a:avLst/>
          </a:prstGeom>
          <a:ln w="0">
            <a:noFill/>
          </a:ln>
        </p:spPr>
      </p:sp>
      <p:sp>
        <p:nvSpPr>
          <p:cNvPr id="73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29–30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Grenzen aus den beiden vorbereiteten Legenden ablesen. Die Quantilgrenzen liegen bei etwa 214,3, 230,0, 245,0 und 267,7 m. Bei gleichen Intervallen liegen die inneren Grenzen ungefähr bei 207,6, 236,7, 265,8 und 294,8 m. Werte bleiben unverändert; nur Klassen ändern sich.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216000" y="812520"/>
            <a:ext cx="7127280" cy="4008960"/>
          </a:xfrm>
          <a:prstGeom prst="rect">
            <a:avLst/>
          </a:prstGeom>
          <a:ln w="0">
            <a:noFill/>
          </a:ln>
        </p:spPr>
      </p:sp>
      <p:sp>
        <p:nvSpPr>
          <p:cNvPr id="7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30–33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Layereigenschaften → Symbolisierung öffnen. Abgestuft wählen, hoehe_m als Wert, eine sequentielle Palette und genau fünf Klassen einstellen. Erst danach die gewählte Methode anwenden. Keine neue Datenquelle und keine zusätzliche Analyse starten.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https://geomoer.github.io/moer-bsc-geodaten/unit14/unit14-01_symbolisierung.html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https://docs.qgis.org/3.40/en/docs/user_manual/</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216000" y="812520"/>
            <a:ext cx="7127280" cy="4008960"/>
          </a:xfrm>
          <a:prstGeom prst="rect">
            <a:avLst/>
          </a:prstGeom>
          <a:ln w="0">
            <a:noFill/>
          </a:ln>
        </p:spPr>
      </p:sp>
      <p:sp>
        <p:nvSpPr>
          <p:cNvPr id="74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33–36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Zwei Minuten zu zweit entscheiden, danach die gewählte Methode anwenden. Die Begründung muss sich auf Frage, Zielgruppe und sichtbare Wirkung beziehen. „Sieht schöner aus“ reicht nicht. Es gibt nicht für jeden Datensatz genau eine einzig richtige Methode.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216000" y="812520"/>
            <a:ext cx="7127280" cy="4008960"/>
          </a:xfrm>
          <a:prstGeom prst="rect">
            <a:avLst/>
          </a:prstGeom>
          <a:ln w="0">
            <a:noFill/>
          </a:ln>
        </p:spPr>
      </p:sp>
      <p:sp>
        <p:nvSpPr>
          <p:cNvPr id="74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36–38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QGIS-Grenzen nicht unbesehen übernehmen. Legendenwerte sinnvoll runden, Einheit ergänzen und Überschneidungen vermeiden. Die tatsächlichen Grenzen bleiben korrekt, auch wenn die sichtbaren Beschriftungen lesefreundlich formuliert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https://geomoer.github.io/moer-bsc-geodaten/unit14/unit14-02_klassifizierung.html</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216000" y="812520"/>
            <a:ext cx="7127280" cy="4008960"/>
          </a:xfrm>
          <a:prstGeom prst="rect">
            <a:avLst/>
          </a:prstGeom>
          <a:ln w="0">
            <a:noFill/>
          </a:ln>
        </p:spPr>
      </p:sp>
      <p:sp>
        <p:nvSpPr>
          <p:cNvPr id="74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38–40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Palette muss zur fachlichen Bedeutung passen. Qualitative Farben zeigen gleichrangige Kategorien, sequentielle Farben eine geordnete Zahl und divergierende Farben Abweichungen um einen Bezugspunkt. Für Geländehöhe verwenden wir heute eine sequentielle Palette.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https://geomoer.github.io/moer-bsc-geodaten/unit14/unit14-01_symbolisierung.html</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216000" y="812520"/>
            <a:ext cx="7127280" cy="4008960"/>
          </a:xfrm>
          <a:prstGeom prst="rect">
            <a:avLst/>
          </a:prstGeom>
          <a:ln w="0">
            <a:noFill/>
          </a:ln>
        </p:spPr>
      </p:sp>
      <p:sp>
        <p:nvSpPr>
          <p:cNvPr id="74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40–42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zeigt dieselben drei Positionen. Formen beantworten die kategoriale Typfrage; geordnete Helligkeit beantwortet die numerische Höhenfrage. Die Beispieldaten sind erfunden. Heute ist hoehe_m die Hauptinformation.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https://geomoer.github.io/moer-bsc-geodaten/unit14/unit14-01_symbolisierung.html</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sldImg"/>
          </p:nvPr>
        </p:nvSpPr>
        <p:spPr>
          <a:xfrm>
            <a:off x="216000" y="812520"/>
            <a:ext cx="7127280" cy="4008960"/>
          </a:xfrm>
          <a:prstGeom prst="rect">
            <a:avLst/>
          </a:prstGeom>
          <a:ln w="0">
            <a:noFill/>
          </a:ln>
        </p:spPr>
      </p:sp>
      <p:sp>
        <p:nvSpPr>
          <p:cNvPr id="74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42–44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Beide schematischen Karten zeigen identische Positionen, Fluss und Höhenlinien. Links dominiert der Hintergrund, rechts die Punktinformation. Im Startprojekt höchstens den vorbereiteten Hintergrund verwenden; zusätzliche Layer sind Vertiefung. Spätestens nach dieser Folie zum Layout wechseln.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https://geomoer.github.io/moer-bsc-geodaten/unit14/unit14-01_symbolisierung.html</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216000" y="812520"/>
            <a:ext cx="7127280" cy="4008960"/>
          </a:xfrm>
          <a:prstGeom prst="rect">
            <a:avLst/>
          </a:prstGeom>
          <a:ln w="0">
            <a:noFill/>
          </a:ln>
        </p:spPr>
      </p:sp>
      <p:sp>
        <p:nvSpPr>
          <p:cNvPr id="7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44–45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Gemeinsam kurz prüfen: gewählte Methode, fünf Klassen, hoehe_m, sequentielle Palette, lesbare Klassenbezeichnungen und zurückhaltender Hintergrund. Auch wenn einzelne Personen noch optimieren möchten, jetzt zum vorbereiteten Layout wechseln.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https://geomoer.github.io/moer-bsc-geodaten/material/qgis-kernpfade.html#unit14</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216000" y="812520"/>
            <a:ext cx="7127280" cy="4008960"/>
          </a:xfrm>
          <a:prstGeom prst="rect">
            <a:avLst/>
          </a:prstGeom>
          <a:ln w="0">
            <a:noFill/>
          </a:ln>
        </p:spPr>
      </p:sp>
      <p:sp>
        <p:nvSpPr>
          <p:cNvPr id="75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45–46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Im Projekt das vorhandene A4-Querformatlayout abschlusskarte_unit14 öffnen. Kein neues Layout anlegen. Aktiv geändert werden Titel und Legende; Kartenausschnitt, Maßstab und Quellen werden kontrolliert und nur bei einem konkreten Fehler korrigiert.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https://geomoer.github.io/moer-bsc-geodaten/material/qgis-kernpfade.html#unit14</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type="sldImg"/>
          </p:nvPr>
        </p:nvSpPr>
        <p:spPr>
          <a:xfrm>
            <a:off x="216000" y="812520"/>
            <a:ext cx="7127280" cy="4008960"/>
          </a:xfrm>
          <a:prstGeom prst="rect">
            <a:avLst/>
          </a:prstGeom>
          <a:ln w="0">
            <a:noFill/>
          </a:ln>
        </p:spPr>
      </p:sp>
      <p:sp>
        <p:nvSpPr>
          <p:cNvPr id="75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46–49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Beispielkarte gemeinsam lesen: Was fällt zuerst auf, welche Information liefert die Legende, wo stehen Datenumfang und Quellen? Sie ist bei technischen Problemen eine Arbeitsgrundlage, aber kein Grund, Entscheidungen ungeprüft zu kopieren.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216000" y="812520"/>
            <a:ext cx="7127280" cy="4008960"/>
          </a:xfrm>
          <a:prstGeom prst="rect">
            <a:avLst/>
          </a:prstGeom>
          <a:ln w="0">
            <a:noFill/>
          </a:ln>
        </p:spPr>
      </p:sp>
      <p:sp>
        <p:nvSpPr>
          <p:cNvPr id="75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49–51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 in der Vorlage aktiv überarbeiten. Die Formulierung muss dokumentierte Nachweise statt vollständiger Verbreitung benennen und den Raumbezug verständlich machen.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216000" y="812520"/>
            <a:ext cx="7127280" cy="4008960"/>
          </a:xfrm>
          <a:prstGeom prst="rect">
            <a:avLst/>
          </a:prstGeom>
          <a:ln w="0">
            <a:noFill/>
          </a:ln>
        </p:spPr>
      </p:sp>
      <p:sp>
        <p:nvSpPr>
          <p:cNvPr id="7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51–54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Legendentitel und Klassentexte fachlich überarbeiten. Technische Layernamen und nicht sichtbare oder nicht benötigte Einträge entfernen. Höhenbezug verständlich als Geländehöhe am Nachweisort in Metern benennen.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type="sldImg"/>
          </p:nvPr>
        </p:nvSpPr>
        <p:spPr>
          <a:xfrm>
            <a:off x="216000" y="812520"/>
            <a:ext cx="7127280" cy="4008960"/>
          </a:xfrm>
          <a:prstGeom prst="rect">
            <a:avLst/>
          </a:prstGeom>
          <a:ln w="0">
            <a:noFill/>
          </a:ln>
        </p:spPr>
      </p:sp>
      <p:sp>
        <p:nvSpPr>
          <p:cNvPr id="76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54–56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Alle relevanten Punkte müssen sichtbar sein, leere Flächen sollen die Karte nicht unnötig verkleinern. Maßstabseinheit und Teilung müssen zur Ausdehnung passen. Nur bei einem erkennbaren Fehler verändern; heute wird kein neuer Ausschnitt gestaltet.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216000" y="812520"/>
            <a:ext cx="7127280" cy="4008960"/>
          </a:xfrm>
          <a:prstGeom prst="rect">
            <a:avLst/>
          </a:prstGeom>
          <a:ln w="0">
            <a:noFill/>
          </a:ln>
        </p:spPr>
      </p:sp>
      <p:sp>
        <p:nvSpPr>
          <p:cNvPr id="76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56–59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vorbereiteten Quellenangaben kontrollieren: NABU|naturgucker via GBIF, DGM1 des Hessen Geodatenmanagements, Bearbeitung und Datenabruf. Keinen neuen DOI erfinden. Zusätzlich 35 gültige Höhenpunkte und die 21 nicht dargestellten Nachweise transparent benennen.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https://www.gbif.org/dataset/6ac3f774-d9fb-4796-b3e9-92bf6c81c084</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https://hvbg.hessen.de/landesvermessung/geotopographie/3d-daten/digitale-gelaendemodelle</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Img"/>
          </p:nvPr>
        </p:nvSpPr>
        <p:spPr>
          <a:xfrm>
            <a:off x="216000" y="812520"/>
            <a:ext cx="7127280" cy="4008960"/>
          </a:xfrm>
          <a:prstGeom prst="rect">
            <a:avLst/>
          </a:prstGeom>
          <a:ln w="0">
            <a:noFill/>
          </a:ln>
        </p:spPr>
      </p:sp>
      <p:sp>
        <p:nvSpPr>
          <p:cNvPr id="76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59–62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Export die Seite als Ganzes prüfen. Titel, fünf Klassen, Einheiten und Quellen müssen ohne starkes Zoomen lesbar sein. Hintergrund und Nebenelemente dürfen nicht mit den Punkten konkurrieren. Spätestens jetzt zum Export wechseln.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PlaceHolder 1"/>
          <p:cNvSpPr>
            <a:spLocks noGrp="1"/>
          </p:cNvSpPr>
          <p:nvPr>
            <p:ph type="sldImg"/>
          </p:nvPr>
        </p:nvSpPr>
        <p:spPr>
          <a:xfrm>
            <a:off x="216000" y="812520"/>
            <a:ext cx="7127280" cy="4008960"/>
          </a:xfrm>
          <a:prstGeom prst="rect">
            <a:avLst/>
          </a:prstGeom>
          <a:ln w="0">
            <a:noFill/>
          </a:ln>
        </p:spPr>
      </p:sp>
      <p:sp>
        <p:nvSpPr>
          <p:cNvPr id="76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62–65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Im Layout zuerst PDF exportieren, danach als Bild PNG wählen und 150 dpi einstellen. Beide Dateien gehören in figures. Vorhandene Beispielausgaben nicht versehentlich überschreiben; die eigenen Ausgaben tragen die verbindlichen Namen.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https://geomoer.github.io/moer-bsc-geodaten/material/qgis-kernpfade.html#unit14</a:t>
            </a:r>
            <a:endParaRPr b="0" lang="en-US" sz="20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216000" y="812520"/>
            <a:ext cx="7127280" cy="4008960"/>
          </a:xfrm>
          <a:prstGeom prst="rect">
            <a:avLst/>
          </a:prstGeom>
          <a:ln w="0">
            <a:noFill/>
          </a:ln>
        </p:spPr>
      </p:sp>
      <p:sp>
        <p:nvSpPr>
          <p:cNvPr id="7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65–68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Beide Dateien mit einem unabhängigen Anzeigeprogramm öffnen und in der vorgesehenen Größe prüfen. Auf abgeschnittene Elemente, Ersatzschriften, unlesbare Klassen, unerwartete Rasterflächen und unvollständige Quellen achten.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https://geomoer.github.io/moer-bsc-geodaten/unit14/unit14-03_kartenlayout.html</a:t>
            </a:r>
            <a:endParaRPr b="0" lang="en-US" sz="20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216000" y="812520"/>
            <a:ext cx="7127280" cy="4008960"/>
          </a:xfrm>
          <a:prstGeom prst="rect">
            <a:avLst/>
          </a:prstGeom>
          <a:ln w="0">
            <a:noFill/>
          </a:ln>
        </p:spPr>
      </p:sp>
      <p:sp>
        <p:nvSpPr>
          <p:cNvPr id="77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68–70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Arbeitsprojekt speichern und prüfen, ob beide Exporte und das vorbereitete Protokoll am erwarteten Ort vorhanden sind. Die Dokumentation wird erst nach dem Partnercheck vervollständigt.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PlaceHolder 1"/>
          <p:cNvSpPr>
            <a:spLocks noGrp="1"/>
          </p:cNvSpPr>
          <p:nvPr>
            <p:ph type="sldImg"/>
          </p:nvPr>
        </p:nvSpPr>
        <p:spPr>
          <a:xfrm>
            <a:off x="216000" y="812520"/>
            <a:ext cx="7127280" cy="4008960"/>
          </a:xfrm>
          <a:prstGeom prst="rect">
            <a:avLst/>
          </a:prstGeom>
          <a:ln w="0">
            <a:noFill/>
          </a:ln>
        </p:spPr>
      </p:sp>
      <p:sp>
        <p:nvSpPr>
          <p:cNvPr id="77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70–73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Zu zweit die exportierten Karten tauschen. Drei Minuten: Die betrachtende Person beschreibt zuerst ohne Erklärung die sichtbare Kernaussage. Bei technischen Problemen die bereitgestellte Beispielkarte verwenden.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216000" y="812520"/>
            <a:ext cx="7127280" cy="4008960"/>
          </a:xfrm>
          <a:prstGeom prst="rect">
            <a:avLst/>
          </a:prstGeom>
          <a:ln w="0">
            <a:noFill/>
          </a:ln>
        </p:spPr>
      </p:sp>
      <p:sp>
        <p:nvSpPr>
          <p:cNvPr id="77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73–76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Zwei Minuten Rückmeldung: Nur die wichtigste fachliche oder gestalterische Verbesserung auswählen. Priorität haben missverständliche Aussagen, unklare Klassen oder fehlende Quellen, nicht persönliche Geschmacksfragen.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216000" y="812520"/>
            <a:ext cx="7127280" cy="4008960"/>
          </a:xfrm>
          <a:prstGeom prst="rect">
            <a:avLst/>
          </a:prstGeom>
          <a:ln w="0">
            <a:noFill/>
          </a:ln>
        </p:spPr>
      </p:sp>
      <p:sp>
        <p:nvSpPr>
          <p:cNvPr id="77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76–80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wichtigste Korrektur direkt in Projekt oder Layout übernehmen. Betrifft sie Karteninhalt, Klassen oder gemeinsame Texte, beide Formate erneut exportieren und öffnen. Betrifft sie ausschließlich ein formatbezogenes Exportproblem, nur den betroffenen Export erneuern. Projekt danach speichern.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https://geomoer.github.io/moer-bsc-geodaten/material/qgis-kernpfade.html#unit14</a:t>
            </a:r>
            <a:endParaRPr b="0" lang="en-US" sz="20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sldImg"/>
          </p:nvPr>
        </p:nvSpPr>
        <p:spPr>
          <a:xfrm>
            <a:off x="216000" y="812520"/>
            <a:ext cx="7127280" cy="4008960"/>
          </a:xfrm>
          <a:prstGeom prst="rect">
            <a:avLst/>
          </a:prstGeom>
          <a:ln w="0">
            <a:noFill/>
          </a:ln>
        </p:spPr>
      </p:sp>
      <p:sp>
        <p:nvSpPr>
          <p:cNvPr id="77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80–83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den vorhandenen Abschnitt Unit 14: Abschlusskarte ergänzen. Gewählte Methode, fünf Klassengrenzen, Palette, Datenquellen, 35/21-Einschränkung, Partnerkorrektur und Exportpfade dokumentieren. Keine vollständige Workflowdokumentation neu schreiben.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https://geomoer.github.io/moer-bsc-geodaten/unit14/unit14-05_workflow.html</a:t>
            </a:r>
            <a:endParaRPr b="0" lang="en-US" sz="20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216000" y="812520"/>
            <a:ext cx="7127280" cy="4008960"/>
          </a:xfrm>
          <a:prstGeom prst="rect">
            <a:avLst/>
          </a:prstGeom>
          <a:ln w="0">
            <a:noFill/>
          </a:ln>
        </p:spPr>
      </p:sp>
      <p:sp>
        <p:nvSpPr>
          <p:cNvPr id="78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83–85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Gemeinsam eine belastbare und eine unzulässige Formulierung unterscheiden. Die Karte zeigt räumlich und zeitlich ungleich erhobene Nachweise; sie belegt weder vollständige Verbreitung noch eine ursächliche Höhenpräferenz. Außerdem fehlen 21 Nachweise ohne gültige DGM-Höhe.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https://geomoer.github.io/moer-bsc-geodaten/unit14/unit14-05_workflow.html</a:t>
            </a:r>
            <a:endParaRPr b="0" lang="en-US" sz="20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type="sldImg"/>
          </p:nvPr>
        </p:nvSpPr>
        <p:spPr>
          <a:xfrm>
            <a:off x="216000" y="812520"/>
            <a:ext cx="7127280" cy="4008960"/>
          </a:xfrm>
          <a:prstGeom prst="rect">
            <a:avLst/>
          </a:prstGeom>
          <a:ln w="0">
            <a:noFill/>
          </a:ln>
        </p:spPr>
      </p:sp>
      <p:sp>
        <p:nvSpPr>
          <p:cNvPr id="7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85–88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Eine der drei Fragen passend zum tatsächlichen Sitzungsverlauf auswählen. Zwei Minuten einzeln notieren, danach per Handzeichen oder mit zwei bis drei kurzen Antworten auflösen. Nicht alle drei Fragen bearbeiten lassen.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4" name="PlaceHolder 1"/>
          <p:cNvSpPr>
            <a:spLocks noGrp="1"/>
          </p:cNvSpPr>
          <p:nvPr>
            <p:ph type="sldImg"/>
          </p:nvPr>
        </p:nvSpPr>
        <p:spPr>
          <a:xfrm>
            <a:off x="216000" y="812520"/>
            <a:ext cx="7127280" cy="4008960"/>
          </a:xfrm>
          <a:prstGeom prst="rect">
            <a:avLst/>
          </a:prstGeom>
          <a:ln w="0">
            <a:noFill/>
          </a:ln>
        </p:spPr>
      </p:sp>
      <p:sp>
        <p:nvSpPr>
          <p:cNvPr id="78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88–90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einzige Übungsaufgabe ankündigen: JiTT-Fragen zu Unit 14 im ILIAS-Kurs. Fragen und Frist ausschließlich aus ILIAS nennen; der Link auf der Kursseite ist noch ein sichtbarer Platzhalter. Nicht abgeschlossene Layoutvarianten werden nicht als zusätzliche Übungsaufgabe aufgegeben. Unit 15 beginnt mit der JiTT-Auswertung und schließt den Kurs ab.</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https://geomoer.github.io/moer-bsc-geodaten/unit14/unit14-04_assignment.html</a:t>
            </a:r>
            <a:endParaRPr b="0" lang="en-US" sz="2000" spc="-1" strike="noStrike">
              <a:solidFill>
                <a:srgbClr val="000000"/>
              </a:solidFill>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216000" y="812520"/>
            <a:ext cx="7127280" cy="4008960"/>
          </a:xfrm>
          <a:prstGeom prst="rect">
            <a:avLst/>
          </a:prstGeom>
          <a:ln w="0">
            <a:noFill/>
          </a:ln>
        </p:spPr>
      </p:sp>
      <p:sp>
        <p:nvSpPr>
          <p:cNvPr id="78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zeigen. Der verbindliche Präsenzweg beginnt mit dem vorbereiteten Projekt. Die Rekonstruktion von Datenprüfung, Auswahl, Rasterabtastung und neuem Layout ist freiwillige Vertiefung und darf nicht den Export- und Partnercheck verdrängen.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https://geomoer.github.io/moer-bsc-geodaten/unit14/unit14-05_workflow.html</a:t>
            </a:r>
            <a:endParaRPr b="0" lang="en-US" sz="2000" spc="-1" strike="noStrike">
              <a:solidFill>
                <a:srgbClr val="000000"/>
              </a:solidFill>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sldImg"/>
          </p:nvPr>
        </p:nvSpPr>
        <p:spPr>
          <a:xfrm>
            <a:off x="216000" y="812520"/>
            <a:ext cx="7127280" cy="4008960"/>
          </a:xfrm>
          <a:prstGeom prst="rect">
            <a:avLst/>
          </a:prstGeom>
          <a:ln w="0">
            <a:noFill/>
          </a:ln>
        </p:spPr>
      </p:sp>
      <p:sp>
        <p:nvSpPr>
          <p:cNvPr id="7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zeigen. Die Folie dokumentiert Kursseiten, QGIS-Dokumentation und Datenquellen. Die Live-Erreichbarkeit externer Seiten ist für den Präsenzkern nicht erforderlich.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PlaceHolder 1"/>
          <p:cNvSpPr>
            <a:spLocks noGrp="1"/>
          </p:cNvSpPr>
          <p:nvPr>
            <p:ph type="sldImg"/>
          </p:nvPr>
        </p:nvSpPr>
        <p:spPr>
          <a:xfrm>
            <a:off x="216000" y="812520"/>
            <a:ext cx="7127280" cy="4008960"/>
          </a:xfrm>
          <a:prstGeom prst="rect">
            <a:avLst/>
          </a:prstGeom>
          <a:ln w="0">
            <a:noFill/>
          </a:ln>
        </p:spPr>
      </p:sp>
      <p:sp>
        <p:nvSpPr>
          <p:cNvPr id="79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Abschluss nach der Nachbereitung;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Die Abschlussgestaltung nutzt den Kontakt-Master der universitären Vorlage sowie das originale Foto-/Kartenmotiv aus der FB19-Titelseite.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7CD76CA0-BA94-409B-8E07-14FD94613CAC}"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9827C7FE-8474-420A-AF6E-D45E63B6B52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87F5D5C-52F8-4C5E-916D-43F83431897E}"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33923CCF-442D-40C0-85A6-79A58FCB7CEC}"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331E55C2-6E36-4570-A3A4-BE2D3B92FAD3}"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6FB08C34-12E0-4809-B35B-F1B9C7EE047F}"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29BA5D86-8CCD-4D69-99B3-895D2357F416}"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5A98A5DB-790E-4A7A-9FCB-9A6F9F6E1CD9}"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322C5DF2-041F-43A7-A7AA-241E1C2F668F}"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14EA3217-4101-4ACC-8B8B-EE6667F83637}"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FD937F94-B246-4540-9D71-3AFB5350D6B3}"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7713872E-BD8E-4CDB-A48A-CE12DDACF8E6}"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5175C95D-9088-4268-B599-07696EC6D045}"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0241C6DD-C4DD-40D5-B1B7-A26A8ED76C5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29CF33EE-C571-446D-A245-F93C08E1E9BF}"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7538E6D-DD41-4494-B6D5-ABC951034E1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2EB42792-A99E-4D59-841B-4C265997A788}"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600C1DFE-0393-4431-847B-22B57C32AACD}"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ADE4678B-F115-44D0-A062-40B34B32A245}"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654A4CB7-F26B-4980-9814-B7CAC0E36191}"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CADA64EE-7499-4E83-97B8-D1537D85E013}"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19E4D7CA-74B2-43B2-965F-322192E05438}"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982C37F-0324-41CB-8C8B-27C18904D1DA}"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06C6C45-BFC4-4CE4-BA40-6E9AC89EADB4}"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A597E500-2F03-4CD3-B6A1-D0391C953F9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6.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6.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16.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16.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6.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6.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slideLayout" Target="../slideLayouts/slideLayout16.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hyperlink" Target="https://geomoer.github.io/moer-bsc-geodaten/unit14/unit14-00_overview.html" TargetMode="External"/><Relationship Id="rId2" Type="http://schemas.openxmlformats.org/officeDocument/2006/relationships/hyperlink" Target="https://geomoer.github.io/moer-bsc-geodaten/unit14/unit14-01_symbolisierung.html" TargetMode="External"/><Relationship Id="rId3" Type="http://schemas.openxmlformats.org/officeDocument/2006/relationships/hyperlink" Target="https://geomoer.github.io/moer-bsc-geodaten/unit14/unit14-02_klassifizierung.html" TargetMode="External"/><Relationship Id="rId4" Type="http://schemas.openxmlformats.org/officeDocument/2006/relationships/hyperlink" Target="https://geomoer.github.io/moer-bsc-geodaten/unit14/unit14-03_kartenlayout.html" TargetMode="External"/><Relationship Id="rId5" Type="http://schemas.openxmlformats.org/officeDocument/2006/relationships/hyperlink" Target="https://geomoer.github.io/moer-bsc-geodaten/unit14/unit14-05_workflow.html" TargetMode="External"/><Relationship Id="rId6" Type="http://schemas.openxmlformats.org/officeDocument/2006/relationships/hyperlink" Target="https://docs.qgis.org/3.40/en/docs/user_manual/" TargetMode="External"/><Relationship Id="rId7" Type="http://schemas.openxmlformats.org/officeDocument/2006/relationships/hyperlink" Target="https://geomoer.github.io/moer-bsc-geodaten/material/marburg.html" TargetMode="External"/><Relationship Id="rId8" Type="http://schemas.openxmlformats.org/officeDocument/2006/relationships/hyperlink" Target="https://www.gbif.org/dataset/6ac3f774-d9fb-4796-b3e9-92bf6c81c084" TargetMode="External"/><Relationship Id="rId9" Type="http://schemas.openxmlformats.org/officeDocument/2006/relationships/hyperlink" Target="https://hvbg.hessen.de/landesvermessung/geotopographie/3d-daten/digitale-gelaendemodelle" TargetMode="External"/><Relationship Id="rId10" Type="http://schemas.openxmlformats.org/officeDocument/2006/relationships/slideLayout" Target="../slideLayouts/slideLayout16.xml"/><Relationship Id="rId11"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3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095560"/>
            <a:ext cx="6553440" cy="2400480"/>
          </a:xfrm>
          <a:prstGeom prst="rect">
            <a:avLst/>
          </a:prstGeom>
          <a:noFill/>
          <a:ln w="0">
            <a:noFill/>
          </a:ln>
        </p:spPr>
        <p:txBody>
          <a:bodyPr lIns="0" rIns="0" tIns="0" bIns="0" anchor="t">
            <a:noAutofit/>
          </a:bodyPr>
          <a:p>
            <a:r>
              <a:rPr b="0" lang="en-US" sz="4040" spc="-1" strike="noStrike">
                <a:solidFill>
                  <a:srgbClr val="ffffff"/>
                </a:solidFill>
                <a:latin typeface="Noto Sans"/>
              </a:rPr>
              <a:t>Kartengestaltung und</a:t>
            </a:r>
            <a:endParaRPr b="0" lang="en-US" sz="4040" spc="-1" strike="noStrike">
              <a:solidFill>
                <a:srgbClr val="ffffff"/>
              </a:solidFill>
              <a:latin typeface="Arial"/>
            </a:endParaRPr>
          </a:p>
          <a:p>
            <a:r>
              <a:rPr b="0" lang="en-US" sz="4040" spc="-1" strike="noStrike">
                <a:solidFill>
                  <a:srgbClr val="ffffff"/>
                </a:solidFill>
                <a:latin typeface="Noto Sans"/>
              </a:rPr>
              <a:t>Abschlusskarte</a:t>
            </a:r>
            <a:endParaRPr b="0" lang="en-US" sz="40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14</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 Rückblick auf Unit 13</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3276720"/>
            <a:ext cx="9448920" cy="990720"/>
          </a:xfrm>
          <a:prstGeom prst="rect">
            <a:avLst/>
          </a:prstGeom>
          <a:noFill/>
          <a:ln w="0">
            <a:noFill/>
          </a:ln>
        </p:spPr>
        <p:txBody>
          <a:bodyPr lIns="0" rIns="0" tIns="0" bIns="0" anchor="t">
            <a:noAutofit/>
          </a:bodyPr>
          <a:p>
            <a:pPr algn="ctr"/>
            <a:r>
              <a:rPr b="0" lang="en-US" sz="3570" spc="-1" strike="noStrike">
                <a:solidFill>
                  <a:srgbClr val="004899"/>
                </a:solidFill>
                <a:latin typeface="Noto Sans"/>
              </a:rPr>
              <a:t>[Hier den vollständigen</a:t>
            </a:r>
            <a:endParaRPr b="0" lang="en-US" sz="3570" spc="-1" strike="noStrike">
              <a:solidFill>
                <a:srgbClr val="000000"/>
              </a:solidFill>
              <a:latin typeface="Arial"/>
            </a:endParaRPr>
          </a:p>
          <a:p>
            <a:pPr algn="ctr"/>
            <a:r>
              <a:rPr b="0" lang="en-US" sz="3570" spc="-1" strike="noStrike">
                <a:solidFill>
                  <a:srgbClr val="004899"/>
                </a:solidFill>
                <a:latin typeface="Noto Sans"/>
              </a:rPr>
              <a:t>JiTT-Block einfügen]</a:t>
            </a:r>
            <a:endParaRPr b="0" lang="en-US" sz="35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Von geprüften Höhenpunkten zur lesbaren Karte</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UNIT 14 · ORIENTIERUNG</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pic>
        <p:nvPicPr>
          <p:cNvPr id="105" name="" descr=""/>
          <p:cNvPicPr/>
          <p:nvPr/>
        </p:nvPicPr>
        <p:blipFill>
          <a:blip r:embed="rId1"/>
          <a:stretch/>
        </p:blipFill>
        <p:spPr>
          <a:xfrm>
            <a:off x="647640" y="1714680"/>
            <a:ext cx="10896840" cy="1816200"/>
          </a:xfrm>
          <a:prstGeom prst="rect">
            <a:avLst/>
          </a:prstGeom>
          <a:ln w="0">
            <a:noFill/>
          </a:ln>
        </p:spPr>
      </p:pic>
      <p:sp>
        <p:nvSpPr>
          <p:cNvPr id="106" name=""/>
          <p:cNvSpPr/>
          <p:nvPr/>
        </p:nvSpPr>
        <p:spPr>
          <a:xfrm>
            <a:off x="64764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07" name=""/>
          <p:cNvSpPr/>
          <p:nvPr/>
        </p:nvSpPr>
        <p:spPr>
          <a:xfrm>
            <a:off x="64764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8" name=""/>
          <p:cNvSpPr txBox="1"/>
          <p:nvPr/>
        </p:nvSpPr>
        <p:spPr>
          <a:xfrm>
            <a:off x="85356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Vergleichen</a:t>
            </a:r>
            <a:endParaRPr b="0" lang="en-US" sz="2540" spc="-1" strike="noStrike">
              <a:solidFill>
                <a:srgbClr val="000000"/>
              </a:solidFill>
              <a:latin typeface="Arial"/>
            </a:endParaRPr>
          </a:p>
        </p:txBody>
      </p:sp>
      <p:sp>
        <p:nvSpPr>
          <p:cNvPr id="109" name=""/>
          <p:cNvSpPr txBox="1"/>
          <p:nvPr/>
        </p:nvSpPr>
        <p:spPr>
          <a:xfrm>
            <a:off x="85356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gleiche Intervalle</a:t>
            </a:r>
            <a:endParaRPr b="0" lang="en-US" sz="2070" spc="-1" strike="noStrike">
              <a:solidFill>
                <a:srgbClr val="000000"/>
              </a:solidFill>
              <a:latin typeface="Arial"/>
            </a:endParaRPr>
          </a:p>
          <a:p>
            <a:r>
              <a:rPr b="0" lang="en-US" sz="2070" spc="-1" strike="noStrike">
                <a:solidFill>
                  <a:srgbClr val="000000"/>
                </a:solidFill>
                <a:latin typeface="Noto Sans"/>
              </a:rPr>
              <a:t>und Quantile</a:t>
            </a:r>
            <a:endParaRPr b="0" lang="en-US" sz="2070" spc="-1" strike="noStrike">
              <a:solidFill>
                <a:srgbClr val="000000"/>
              </a:solidFill>
              <a:latin typeface="Arial"/>
            </a:endParaRPr>
          </a:p>
        </p:txBody>
      </p:sp>
      <p:sp>
        <p:nvSpPr>
          <p:cNvPr id="110" name=""/>
          <p:cNvSpPr/>
          <p:nvPr/>
        </p:nvSpPr>
        <p:spPr>
          <a:xfrm>
            <a:off x="434340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1" name=""/>
          <p:cNvSpPr/>
          <p:nvPr/>
        </p:nvSpPr>
        <p:spPr>
          <a:xfrm>
            <a:off x="434340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2" name=""/>
          <p:cNvSpPr txBox="1"/>
          <p:nvPr/>
        </p:nvSpPr>
        <p:spPr>
          <a:xfrm>
            <a:off x="454932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Gestalten</a:t>
            </a:r>
            <a:endParaRPr b="0" lang="en-US" sz="2540" spc="-1" strike="noStrike">
              <a:solidFill>
                <a:srgbClr val="000000"/>
              </a:solidFill>
              <a:latin typeface="Arial"/>
            </a:endParaRPr>
          </a:p>
        </p:txBody>
      </p:sp>
      <p:sp>
        <p:nvSpPr>
          <p:cNvPr id="113" name=""/>
          <p:cNvSpPr txBox="1"/>
          <p:nvPr/>
        </p:nvSpPr>
        <p:spPr>
          <a:xfrm>
            <a:off x="454932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Hauptinformation, Titel</a:t>
            </a:r>
            <a:endParaRPr b="0" lang="en-US" sz="2070" spc="-1" strike="noStrike">
              <a:solidFill>
                <a:srgbClr val="000000"/>
              </a:solidFill>
              <a:latin typeface="Arial"/>
            </a:endParaRPr>
          </a:p>
          <a:p>
            <a:r>
              <a:rPr b="0" lang="en-US" sz="2070" spc="-1" strike="noStrike">
                <a:solidFill>
                  <a:srgbClr val="000000"/>
                </a:solidFill>
                <a:latin typeface="Noto Sans"/>
              </a:rPr>
              <a:t>und Legende</a:t>
            </a:r>
            <a:endParaRPr b="0" lang="en-US" sz="2070" spc="-1" strike="noStrike">
              <a:solidFill>
                <a:srgbClr val="000000"/>
              </a:solidFill>
              <a:latin typeface="Arial"/>
            </a:endParaRPr>
          </a:p>
        </p:txBody>
      </p:sp>
      <p:sp>
        <p:nvSpPr>
          <p:cNvPr id="114" name=""/>
          <p:cNvSpPr/>
          <p:nvPr/>
        </p:nvSpPr>
        <p:spPr>
          <a:xfrm>
            <a:off x="803916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5" name=""/>
          <p:cNvSpPr/>
          <p:nvPr/>
        </p:nvSpPr>
        <p:spPr>
          <a:xfrm>
            <a:off x="803916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6" name=""/>
          <p:cNvSpPr txBox="1"/>
          <p:nvPr/>
        </p:nvSpPr>
        <p:spPr>
          <a:xfrm>
            <a:off x="824508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Prüfen</a:t>
            </a:r>
            <a:endParaRPr b="0" lang="en-US" sz="2540" spc="-1" strike="noStrike">
              <a:solidFill>
                <a:srgbClr val="000000"/>
              </a:solidFill>
              <a:latin typeface="Arial"/>
            </a:endParaRPr>
          </a:p>
        </p:txBody>
      </p:sp>
      <p:sp>
        <p:nvSpPr>
          <p:cNvPr id="117" name=""/>
          <p:cNvSpPr txBox="1"/>
          <p:nvPr/>
        </p:nvSpPr>
        <p:spPr>
          <a:xfrm>
            <a:off x="824508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PDF + PNG öffnen</a:t>
            </a:r>
            <a:endParaRPr b="0" lang="en-US" sz="2070" spc="-1" strike="noStrike">
              <a:solidFill>
                <a:srgbClr val="000000"/>
              </a:solidFill>
              <a:latin typeface="Arial"/>
            </a:endParaRPr>
          </a:p>
          <a:p>
            <a:r>
              <a:rPr b="0" lang="en-US" sz="2070" spc="-1" strike="noStrike">
                <a:solidFill>
                  <a:srgbClr val="000000"/>
                </a:solidFill>
                <a:latin typeface="Noto Sans"/>
              </a:rPr>
              <a:t>Grenzen dokumentieren</a:t>
            </a:r>
            <a:endParaRPr b="0" lang="en-US" sz="2070" spc="-1" strike="noStrike">
              <a:solidFill>
                <a:srgbClr val="000000"/>
              </a:solidFill>
              <a:latin typeface="Arial"/>
            </a:endParaRPr>
          </a:p>
        </p:txBody>
      </p:sp>
      <p:sp>
        <p:nvSpPr>
          <p:cNvPr id="11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9" name=""/>
          <p:cNvSpPr txBox="1"/>
          <p:nvPr/>
        </p:nvSpPr>
        <p:spPr>
          <a:xfrm>
            <a:off x="838080" y="5623560"/>
            <a:ext cx="10515600" cy="442080"/>
          </a:xfrm>
          <a:prstGeom prst="rect">
            <a:avLst/>
          </a:prstGeom>
          <a:noFill/>
          <a:ln w="0">
            <a:noFill/>
          </a:ln>
        </p:spPr>
        <p:txBody>
          <a:bodyPr lIns="0" rIns="0" tIns="0" bIns="0" anchor="t">
            <a:noAutofit/>
          </a:bodyPr>
          <a:p>
            <a:r>
              <a:rPr b="1" lang="en-US" sz="1879" spc="-1" strike="noStrike">
                <a:solidFill>
                  <a:srgbClr val="004899"/>
                </a:solidFill>
                <a:latin typeface="Noto Sans"/>
              </a:rPr>
              <a:t>Leitfrage: Wo liegen die dokumentierten Nachweise – und welchen Höhenklassen sind sie zugeordnet?</a:t>
            </a:r>
            <a:endParaRPr b="0" lang="en-US" sz="18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Startprojekt sofort als Arbeitskopie speichern</a:t>
            </a:r>
            <a:endParaRPr b="0" lang="en-US" sz="3190" spc="-1" strike="noStrike">
              <a:solidFill>
                <a:srgbClr val="000000"/>
              </a:solidFill>
              <a:latin typeface="Arial"/>
            </a:endParaRPr>
          </a:p>
        </p:txBody>
      </p:sp>
      <p:sp>
        <p:nvSpPr>
          <p:cNvPr id="1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EINSTIEG · VERBINDLICHER START</a:t>
            </a:r>
            <a:endParaRPr b="0" lang="en-US" sz="1130" spc="-1" strike="noStrike">
              <a:solidFill>
                <a:srgbClr val="000000"/>
              </a:solidFill>
              <a:latin typeface="Arial"/>
            </a:endParaRPr>
          </a:p>
        </p:txBody>
      </p:sp>
      <p:sp>
        <p:nvSpPr>
          <p:cNvPr id="1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sp>
        <p:nvSpPr>
          <p:cNvPr id="124"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5"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126"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Start öffnen</a:t>
            </a:r>
            <a:endParaRPr b="0" lang="en-US" sz="2720" spc="-1" strike="noStrike">
              <a:solidFill>
                <a:srgbClr val="000000"/>
              </a:solidFill>
              <a:latin typeface="Arial"/>
            </a:endParaRPr>
          </a:p>
        </p:txBody>
      </p:sp>
      <p:sp>
        <p:nvSpPr>
          <p:cNvPr id="127"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unit14_start.qgz im Paket-Hauptordner.</a:t>
            </a:r>
            <a:endParaRPr b="0" lang="en-US" sz="2260" spc="-1" strike="noStrike">
              <a:solidFill>
                <a:srgbClr val="000000"/>
              </a:solidFill>
              <a:latin typeface="Arial"/>
            </a:endParaRPr>
          </a:p>
        </p:txBody>
      </p:sp>
      <p:sp>
        <p:nvSpPr>
          <p:cNvPr id="128"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9"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130"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Arbeitskopie</a:t>
            </a:r>
            <a:endParaRPr b="0" lang="en-US" sz="2720" spc="-1" strike="noStrike">
              <a:solidFill>
                <a:srgbClr val="000000"/>
              </a:solidFill>
              <a:latin typeface="Arial"/>
            </a:endParaRPr>
          </a:p>
        </p:txBody>
      </p:sp>
      <p:sp>
        <p:nvSpPr>
          <p:cNvPr id="131"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Speichern unter: unit14_abschluss.qgz.</a:t>
            </a:r>
            <a:endParaRPr b="0" lang="en-US" sz="2260" spc="-1" strike="noStrike">
              <a:solidFill>
                <a:srgbClr val="000000"/>
              </a:solidFill>
              <a:latin typeface="Arial"/>
            </a:endParaRPr>
          </a:p>
        </p:txBody>
      </p:sp>
      <p:sp>
        <p:nvSpPr>
          <p:cNvPr id="132"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3"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134"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Fallback</a:t>
            </a:r>
            <a:endParaRPr b="0" lang="en-US" sz="2720" spc="-1" strike="noStrike">
              <a:solidFill>
                <a:srgbClr val="000000"/>
              </a:solidFill>
              <a:latin typeface="Arial"/>
            </a:endParaRPr>
          </a:p>
        </p:txBody>
      </p:sp>
      <p:sp>
        <p:nvSpPr>
          <p:cNvPr id="135"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Bei Ausfall mit unit14_beispiel.qgz weiterarbeiten.</a:t>
            </a:r>
            <a:endParaRPr b="0" lang="en-US" sz="2260" spc="-1" strike="noStrike">
              <a:solidFill>
                <a:srgbClr val="000000"/>
              </a:solidFill>
              <a:latin typeface="Arial"/>
            </a:endParaRPr>
          </a:p>
        </p:txBody>
      </p:sp>
      <p:sp>
        <p:nvSpPr>
          <p:cNvPr id="13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7"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Spätestens jetzt speichern – das Startprojekt bleibt unverändert.</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Kartenfrage und Zielgruppe zuerst festlegen</a:t>
            </a:r>
            <a:endParaRPr b="0" lang="en-US" sz="3190" spc="-1" strike="noStrike">
              <a:solidFill>
                <a:srgbClr val="000000"/>
              </a:solidFill>
              <a:latin typeface="Arial"/>
            </a:endParaRPr>
          </a:p>
        </p:txBody>
      </p:sp>
      <p:sp>
        <p:nvSpPr>
          <p:cNvPr id="13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EINSTIEG · AUSSAGE</a:t>
            </a:r>
            <a:endParaRPr b="0" lang="en-US" sz="1130" spc="-1" strike="noStrike">
              <a:solidFill>
                <a:srgbClr val="000000"/>
              </a:solidFill>
              <a:latin typeface="Arial"/>
            </a:endParaRPr>
          </a:p>
        </p:txBody>
      </p:sp>
      <p:sp>
        <p:nvSpPr>
          <p:cNvPr id="14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4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sp>
        <p:nvSpPr>
          <p:cNvPr id="142" name=""/>
          <p:cNvSpPr/>
          <p:nvPr/>
        </p:nvSpPr>
        <p:spPr>
          <a:xfrm>
            <a:off x="876240" y="1866960"/>
            <a:ext cx="10439640" cy="1866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43" name=""/>
          <p:cNvSpPr txBox="1"/>
          <p:nvPr/>
        </p:nvSpPr>
        <p:spPr>
          <a:xfrm>
            <a:off x="1295280" y="2286000"/>
            <a:ext cx="9601200" cy="914400"/>
          </a:xfrm>
          <a:prstGeom prst="rect">
            <a:avLst/>
          </a:prstGeom>
          <a:noFill/>
          <a:ln w="0">
            <a:noFill/>
          </a:ln>
        </p:spPr>
        <p:txBody>
          <a:bodyPr lIns="0" rIns="0" tIns="0" bIns="0" anchor="t">
            <a:noAutofit/>
          </a:bodyPr>
          <a:p>
            <a:pPr algn="ctr"/>
            <a:r>
              <a:rPr b="1" lang="en-US" sz="3190" spc="-1" strike="noStrike">
                <a:solidFill>
                  <a:srgbClr val="000000"/>
                </a:solidFill>
                <a:latin typeface="Noto Sans"/>
              </a:rPr>
              <a:t>Wo liegen die dokumentierten Feuersalamander-Nachweise</a:t>
            </a:r>
            <a:endParaRPr b="0" lang="en-US" sz="3190" spc="-1" strike="noStrike">
              <a:solidFill>
                <a:srgbClr val="000000"/>
              </a:solidFill>
              <a:latin typeface="Arial"/>
            </a:endParaRPr>
          </a:p>
          <a:p>
            <a:pPr algn="ctr"/>
            <a:r>
              <a:rPr b="1" lang="en-US" sz="3190" spc="-1" strike="noStrike">
                <a:solidFill>
                  <a:srgbClr val="000000"/>
                </a:solidFill>
                <a:latin typeface="Noto Sans"/>
              </a:rPr>
              <a:t>und welchen Höhenklassen sind sie zugeordnet?</a:t>
            </a:r>
            <a:endParaRPr b="0" lang="en-US" sz="3190" spc="-1" strike="noStrike">
              <a:solidFill>
                <a:srgbClr val="000000"/>
              </a:solidFill>
              <a:latin typeface="Arial"/>
            </a:endParaRPr>
          </a:p>
        </p:txBody>
      </p:sp>
      <p:sp>
        <p:nvSpPr>
          <p:cNvPr id="144" name=""/>
          <p:cNvSpPr/>
          <p:nvPr/>
        </p:nvSpPr>
        <p:spPr>
          <a:xfrm>
            <a:off x="1371600" y="4152960"/>
            <a:ext cx="426708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5" name=""/>
          <p:cNvSpPr/>
          <p:nvPr/>
        </p:nvSpPr>
        <p:spPr>
          <a:xfrm>
            <a:off x="1371600" y="4152960"/>
            <a:ext cx="53280" cy="11811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6" name=""/>
          <p:cNvSpPr txBox="1"/>
          <p:nvPr/>
        </p:nvSpPr>
        <p:spPr>
          <a:xfrm>
            <a:off x="1577520" y="433584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Zielgruppe</a:t>
            </a:r>
            <a:endParaRPr b="0" lang="en-US" sz="2540" spc="-1" strike="noStrike">
              <a:solidFill>
                <a:srgbClr val="000000"/>
              </a:solidFill>
              <a:latin typeface="Arial"/>
            </a:endParaRPr>
          </a:p>
        </p:txBody>
      </p:sp>
      <p:sp>
        <p:nvSpPr>
          <p:cNvPr id="147" name=""/>
          <p:cNvSpPr txBox="1"/>
          <p:nvPr/>
        </p:nvSpPr>
        <p:spPr>
          <a:xfrm>
            <a:off x="1577520" y="4915080"/>
            <a:ext cx="3855600" cy="281880"/>
          </a:xfrm>
          <a:prstGeom prst="rect">
            <a:avLst/>
          </a:prstGeom>
          <a:noFill/>
          <a:ln w="0">
            <a:noFill/>
          </a:ln>
        </p:spPr>
        <p:txBody>
          <a:bodyPr lIns="0" rIns="0" tIns="0" bIns="0" anchor="t">
            <a:noAutofit/>
          </a:bodyPr>
          <a:p>
            <a:r>
              <a:rPr b="0" lang="en-US" sz="2070" spc="-1" strike="noStrike">
                <a:solidFill>
                  <a:srgbClr val="000000"/>
                </a:solidFill>
                <a:latin typeface="Noto Sans"/>
              </a:rPr>
              <a:t>fachlich interessiert</a:t>
            </a:r>
            <a:endParaRPr b="0" lang="en-US" sz="2070" spc="-1" strike="noStrike">
              <a:solidFill>
                <a:srgbClr val="000000"/>
              </a:solidFill>
              <a:latin typeface="Arial"/>
            </a:endParaRPr>
          </a:p>
          <a:p>
            <a:r>
              <a:rPr b="0" lang="en-US" sz="2070" spc="-1" strike="noStrike">
                <a:solidFill>
                  <a:srgbClr val="000000"/>
                </a:solidFill>
                <a:latin typeface="Noto Sans"/>
              </a:rPr>
              <a:t>ohne Datensatzkenntnis</a:t>
            </a:r>
            <a:endParaRPr b="0" lang="en-US" sz="2070" spc="-1" strike="noStrike">
              <a:solidFill>
                <a:srgbClr val="000000"/>
              </a:solidFill>
              <a:latin typeface="Arial"/>
            </a:endParaRPr>
          </a:p>
        </p:txBody>
      </p:sp>
      <p:sp>
        <p:nvSpPr>
          <p:cNvPr id="148" name=""/>
          <p:cNvSpPr/>
          <p:nvPr/>
        </p:nvSpPr>
        <p:spPr>
          <a:xfrm>
            <a:off x="6553440" y="4152960"/>
            <a:ext cx="426708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9" name=""/>
          <p:cNvSpPr/>
          <p:nvPr/>
        </p:nvSpPr>
        <p:spPr>
          <a:xfrm>
            <a:off x="6553440" y="41529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0" name=""/>
          <p:cNvSpPr txBox="1"/>
          <p:nvPr/>
        </p:nvSpPr>
        <p:spPr>
          <a:xfrm>
            <a:off x="6759000" y="433584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Nicht behaupten</a:t>
            </a:r>
            <a:endParaRPr b="0" lang="en-US" sz="2540" spc="-1" strike="noStrike">
              <a:solidFill>
                <a:srgbClr val="000000"/>
              </a:solidFill>
              <a:latin typeface="Arial"/>
            </a:endParaRPr>
          </a:p>
        </p:txBody>
      </p:sp>
      <p:sp>
        <p:nvSpPr>
          <p:cNvPr id="151" name=""/>
          <p:cNvSpPr txBox="1"/>
          <p:nvPr/>
        </p:nvSpPr>
        <p:spPr>
          <a:xfrm>
            <a:off x="6759000" y="4915080"/>
            <a:ext cx="3855600" cy="281880"/>
          </a:xfrm>
          <a:prstGeom prst="rect">
            <a:avLst/>
          </a:prstGeom>
          <a:noFill/>
          <a:ln w="0">
            <a:noFill/>
          </a:ln>
        </p:spPr>
        <p:txBody>
          <a:bodyPr lIns="0" rIns="0" tIns="0" bIns="0" anchor="t">
            <a:noAutofit/>
          </a:bodyPr>
          <a:p>
            <a:r>
              <a:rPr b="0" lang="en-US" sz="2070" spc="-1" strike="noStrike">
                <a:solidFill>
                  <a:srgbClr val="000000"/>
                </a:solidFill>
                <a:latin typeface="Noto Sans"/>
              </a:rPr>
              <a:t>vollständige Verbreitung</a:t>
            </a:r>
            <a:endParaRPr b="0" lang="en-US" sz="2070" spc="-1" strike="noStrike">
              <a:solidFill>
                <a:srgbClr val="000000"/>
              </a:solidFill>
              <a:latin typeface="Arial"/>
            </a:endParaRPr>
          </a:p>
          <a:p>
            <a:r>
              <a:rPr b="0" lang="en-US" sz="2070" spc="-1" strike="noStrike">
                <a:solidFill>
                  <a:srgbClr val="000000"/>
                </a:solidFill>
                <a:latin typeface="Noto Sans"/>
              </a:rPr>
              <a:t>oder Höhenpräferenz</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Der Karteneingang umfasst 35 gültige Höhenwerte</a:t>
            </a:r>
            <a:endParaRPr b="0" lang="en-US" sz="3190" spc="-1" strike="noStrike">
              <a:solidFill>
                <a:srgbClr val="000000"/>
              </a:solidFill>
              <a:latin typeface="Arial"/>
            </a:endParaRPr>
          </a:p>
        </p:txBody>
      </p:sp>
      <p:sp>
        <p:nvSpPr>
          <p:cNvPr id="15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EINSTIEG · DATENPRÜFUNG</a:t>
            </a:r>
            <a:endParaRPr b="0" lang="en-US" sz="1130" spc="-1" strike="noStrike">
              <a:solidFill>
                <a:srgbClr val="000000"/>
              </a:solidFill>
              <a:latin typeface="Arial"/>
            </a:endParaRPr>
          </a:p>
        </p:txBody>
      </p:sp>
      <p:sp>
        <p:nvSpPr>
          <p:cNvPr id="15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5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sp>
        <p:nvSpPr>
          <p:cNvPr id="156" name=""/>
          <p:cNvSpPr/>
          <p:nvPr/>
        </p:nvSpPr>
        <p:spPr>
          <a:xfrm>
            <a:off x="914400" y="2057400"/>
            <a:ext cx="44956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7" name=""/>
          <p:cNvSpPr/>
          <p:nvPr/>
        </p:nvSpPr>
        <p:spPr>
          <a:xfrm>
            <a:off x="914400" y="205740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8" name=""/>
          <p:cNvSpPr txBox="1"/>
          <p:nvPr/>
        </p:nvSpPr>
        <p:spPr>
          <a:xfrm>
            <a:off x="1120320" y="2240280"/>
            <a:ext cx="4084200" cy="647640"/>
          </a:xfrm>
          <a:prstGeom prst="rect">
            <a:avLst/>
          </a:prstGeom>
          <a:noFill/>
          <a:ln w="0">
            <a:noFill/>
          </a:ln>
        </p:spPr>
        <p:txBody>
          <a:bodyPr lIns="0" rIns="0" tIns="0" bIns="0" anchor="t">
            <a:noAutofit/>
          </a:bodyPr>
          <a:p>
            <a:r>
              <a:rPr b="1" lang="en-US" sz="2540" spc="-1" strike="noStrike">
                <a:solidFill>
                  <a:srgbClr val="004899"/>
                </a:solidFill>
                <a:latin typeface="Noto Sans"/>
              </a:rPr>
              <a:t>35</a:t>
            </a:r>
            <a:endParaRPr b="0" lang="en-US" sz="2540" spc="-1" strike="noStrike">
              <a:solidFill>
                <a:srgbClr val="000000"/>
              </a:solidFill>
              <a:latin typeface="Arial"/>
            </a:endParaRPr>
          </a:p>
        </p:txBody>
      </p:sp>
      <p:sp>
        <p:nvSpPr>
          <p:cNvPr id="159" name=""/>
          <p:cNvSpPr txBox="1"/>
          <p:nvPr/>
        </p:nvSpPr>
        <p:spPr>
          <a:xfrm>
            <a:off x="1120320" y="3002400"/>
            <a:ext cx="4084200" cy="1203840"/>
          </a:xfrm>
          <a:prstGeom prst="rect">
            <a:avLst/>
          </a:prstGeom>
          <a:noFill/>
          <a:ln w="0">
            <a:noFill/>
          </a:ln>
        </p:spPr>
        <p:txBody>
          <a:bodyPr lIns="0" rIns="0" tIns="0" bIns="0" anchor="t">
            <a:noAutofit/>
          </a:bodyPr>
          <a:p>
            <a:r>
              <a:rPr b="0" lang="en-US" sz="2720" spc="-1" strike="noStrike">
                <a:solidFill>
                  <a:srgbClr val="000000"/>
                </a:solidFill>
                <a:latin typeface="Noto Sans"/>
              </a:rPr>
              <a:t>Nachweise mit gültigem</a:t>
            </a:r>
            <a:endParaRPr b="0" lang="en-US" sz="2720" spc="-1" strike="noStrike">
              <a:solidFill>
                <a:srgbClr val="000000"/>
              </a:solidFill>
              <a:latin typeface="Arial"/>
            </a:endParaRPr>
          </a:p>
          <a:p>
            <a:r>
              <a:rPr b="0" lang="en-US" sz="2720" spc="-1" strike="noStrike">
                <a:solidFill>
                  <a:srgbClr val="000000"/>
                </a:solidFill>
                <a:latin typeface="Noto Sans"/>
              </a:rPr>
              <a:t>hoehe_m</a:t>
            </a:r>
            <a:endParaRPr b="0" lang="en-US" sz="2720" spc="-1" strike="noStrike">
              <a:solidFill>
                <a:srgbClr val="000000"/>
              </a:solidFill>
              <a:latin typeface="Arial"/>
            </a:endParaRPr>
          </a:p>
        </p:txBody>
      </p:sp>
      <p:sp>
        <p:nvSpPr>
          <p:cNvPr id="160" name=""/>
          <p:cNvSpPr/>
          <p:nvPr/>
        </p:nvSpPr>
        <p:spPr>
          <a:xfrm>
            <a:off x="6782040" y="2057400"/>
            <a:ext cx="44956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61" name=""/>
          <p:cNvSpPr/>
          <p:nvPr/>
        </p:nvSpPr>
        <p:spPr>
          <a:xfrm>
            <a:off x="6782040" y="205740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2" name=""/>
          <p:cNvSpPr txBox="1"/>
          <p:nvPr/>
        </p:nvSpPr>
        <p:spPr>
          <a:xfrm>
            <a:off x="6987600" y="2240280"/>
            <a:ext cx="4084200" cy="647640"/>
          </a:xfrm>
          <a:prstGeom prst="rect">
            <a:avLst/>
          </a:prstGeom>
          <a:noFill/>
          <a:ln w="0">
            <a:noFill/>
          </a:ln>
        </p:spPr>
        <p:txBody>
          <a:bodyPr lIns="0" rIns="0" tIns="0" bIns="0" anchor="t">
            <a:noAutofit/>
          </a:bodyPr>
          <a:p>
            <a:r>
              <a:rPr b="1" lang="en-US" sz="2540" spc="-1" strike="noStrike">
                <a:solidFill>
                  <a:srgbClr val="a32123"/>
                </a:solidFill>
                <a:latin typeface="Noto Sans"/>
              </a:rPr>
              <a:t>21</a:t>
            </a:r>
            <a:endParaRPr b="0" lang="en-US" sz="2540" spc="-1" strike="noStrike">
              <a:solidFill>
                <a:srgbClr val="000000"/>
              </a:solidFill>
              <a:latin typeface="Arial"/>
            </a:endParaRPr>
          </a:p>
        </p:txBody>
      </p:sp>
      <p:sp>
        <p:nvSpPr>
          <p:cNvPr id="163" name=""/>
          <p:cNvSpPr txBox="1"/>
          <p:nvPr/>
        </p:nvSpPr>
        <p:spPr>
          <a:xfrm>
            <a:off x="6987600" y="3002400"/>
            <a:ext cx="4084200" cy="1203840"/>
          </a:xfrm>
          <a:prstGeom prst="rect">
            <a:avLst/>
          </a:prstGeom>
          <a:noFill/>
          <a:ln w="0">
            <a:noFill/>
          </a:ln>
        </p:spPr>
        <p:txBody>
          <a:bodyPr lIns="0" rIns="0" tIns="0" bIns="0" anchor="t">
            <a:noAutofit/>
          </a:bodyPr>
          <a:p>
            <a:r>
              <a:rPr b="0" lang="en-US" sz="2540" spc="-1" strike="noStrike">
                <a:solidFill>
                  <a:srgbClr val="000000"/>
                </a:solidFill>
                <a:latin typeface="Noto Sans"/>
              </a:rPr>
              <a:t>weitere geprüfte Nachweise</a:t>
            </a:r>
            <a:endParaRPr b="0" lang="en-US" sz="2540" spc="-1" strike="noStrike">
              <a:solidFill>
                <a:srgbClr val="000000"/>
              </a:solidFill>
              <a:latin typeface="Arial"/>
            </a:endParaRPr>
          </a:p>
          <a:p>
            <a:r>
              <a:rPr b="0" lang="en-US" sz="2540" spc="-1" strike="noStrike">
                <a:solidFill>
                  <a:srgbClr val="000000"/>
                </a:solidFill>
                <a:latin typeface="Noto Sans"/>
              </a:rPr>
              <a:t>ohne DGM-Höhe</a:t>
            </a:r>
            <a:endParaRPr b="0" lang="en-US" sz="2540" spc="-1" strike="noStrike">
              <a:solidFill>
                <a:srgbClr val="000000"/>
              </a:solidFill>
              <a:latin typeface="Arial"/>
            </a:endParaRPr>
          </a:p>
        </p:txBody>
      </p:sp>
      <p:sp>
        <p:nvSpPr>
          <p:cNvPr id="16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65"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Kartenaussage: 35 Höhenpunkte – nicht alle 56 geprüften Nachweise.</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Klassengrenzen verändern die sichtbare Aussage</a:t>
            </a:r>
            <a:endParaRPr b="0" lang="en-US" sz="3190" spc="-1" strike="noStrike">
              <a:solidFill>
                <a:srgbClr val="000000"/>
              </a:solidFill>
              <a:latin typeface="Arial"/>
            </a:endParaRPr>
          </a:p>
        </p:txBody>
      </p:sp>
      <p:sp>
        <p:nvSpPr>
          <p:cNvPr id="16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KLASSIFIZIEREN · GRUNDIDEE</a:t>
            </a:r>
            <a:endParaRPr b="0" lang="en-US" sz="1130" spc="-1" strike="noStrike">
              <a:solidFill>
                <a:srgbClr val="000000"/>
              </a:solidFill>
              <a:latin typeface="Arial"/>
            </a:endParaRPr>
          </a:p>
        </p:txBody>
      </p:sp>
      <p:sp>
        <p:nvSpPr>
          <p:cNvPr id="16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6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sp>
        <p:nvSpPr>
          <p:cNvPr id="170" name=""/>
          <p:cNvSpPr/>
          <p:nvPr/>
        </p:nvSpPr>
        <p:spPr>
          <a:xfrm>
            <a:off x="914400" y="2095560"/>
            <a:ext cx="44956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1" name=""/>
          <p:cNvSpPr/>
          <p:nvPr/>
        </p:nvSpPr>
        <p:spPr>
          <a:xfrm>
            <a:off x="914400" y="2095560"/>
            <a:ext cx="53280" cy="2362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2" name=""/>
          <p:cNvSpPr txBox="1"/>
          <p:nvPr/>
        </p:nvSpPr>
        <p:spPr>
          <a:xfrm>
            <a:off x="1120320" y="2278440"/>
            <a:ext cx="4084200" cy="647640"/>
          </a:xfrm>
          <a:prstGeom prst="rect">
            <a:avLst/>
          </a:prstGeom>
          <a:noFill/>
          <a:ln w="0">
            <a:noFill/>
          </a:ln>
        </p:spPr>
        <p:txBody>
          <a:bodyPr lIns="0" rIns="0" tIns="0" bIns="0" anchor="t">
            <a:noAutofit/>
          </a:bodyPr>
          <a:p>
            <a:r>
              <a:rPr b="1" lang="en-US" sz="2540" spc="-1" strike="noStrike">
                <a:solidFill>
                  <a:srgbClr val="004899"/>
                </a:solidFill>
                <a:latin typeface="Noto Sans"/>
              </a:rPr>
              <a:t>Eingabe</a:t>
            </a:r>
            <a:endParaRPr b="0" lang="en-US" sz="2540" spc="-1" strike="noStrike">
              <a:solidFill>
                <a:srgbClr val="000000"/>
              </a:solidFill>
              <a:latin typeface="Arial"/>
            </a:endParaRPr>
          </a:p>
        </p:txBody>
      </p:sp>
      <p:sp>
        <p:nvSpPr>
          <p:cNvPr id="173" name=""/>
          <p:cNvSpPr txBox="1"/>
          <p:nvPr/>
        </p:nvSpPr>
        <p:spPr>
          <a:xfrm>
            <a:off x="1120320" y="3040560"/>
            <a:ext cx="4084200" cy="1280160"/>
          </a:xfrm>
          <a:prstGeom prst="rect">
            <a:avLst/>
          </a:prstGeom>
          <a:noFill/>
          <a:ln w="0">
            <a:noFill/>
          </a:ln>
        </p:spPr>
        <p:txBody>
          <a:bodyPr lIns="0" rIns="0" tIns="0" bIns="0" anchor="t">
            <a:noAutofit/>
          </a:bodyPr>
          <a:p>
            <a:r>
              <a:rPr b="0" lang="en-US" sz="2350" spc="-1" strike="noStrike">
                <a:solidFill>
                  <a:srgbClr val="000000"/>
                </a:solidFill>
                <a:latin typeface="Noto Sans"/>
              </a:rPr>
              <a:t>35 einzelne Höhenwerte</a:t>
            </a:r>
            <a:endParaRPr b="0" lang="en-US" sz="2350" spc="-1" strike="noStrike">
              <a:solidFill>
                <a:srgbClr val="000000"/>
              </a:solidFill>
              <a:latin typeface="Arial"/>
            </a:endParaRPr>
          </a:p>
          <a:p>
            <a:r>
              <a:rPr b="0" lang="en-US" sz="2350" spc="-1" strike="noStrike">
                <a:solidFill>
                  <a:srgbClr val="000000"/>
                </a:solidFill>
                <a:latin typeface="Noto Sans"/>
              </a:rPr>
              <a:t>178,55 bis 323,90 m</a:t>
            </a:r>
            <a:endParaRPr b="0" lang="en-US" sz="2350" spc="-1" strike="noStrike">
              <a:solidFill>
                <a:srgbClr val="000000"/>
              </a:solidFill>
              <a:latin typeface="Arial"/>
            </a:endParaRPr>
          </a:p>
        </p:txBody>
      </p:sp>
      <p:sp>
        <p:nvSpPr>
          <p:cNvPr id="174" name=""/>
          <p:cNvSpPr/>
          <p:nvPr/>
        </p:nvSpPr>
        <p:spPr>
          <a:xfrm>
            <a:off x="6782040" y="2095560"/>
            <a:ext cx="44956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5" name=""/>
          <p:cNvSpPr/>
          <p:nvPr/>
        </p:nvSpPr>
        <p:spPr>
          <a:xfrm>
            <a:off x="6782040" y="2095560"/>
            <a:ext cx="53280" cy="23623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6" name=""/>
          <p:cNvSpPr txBox="1"/>
          <p:nvPr/>
        </p:nvSpPr>
        <p:spPr>
          <a:xfrm>
            <a:off x="6987600" y="2278440"/>
            <a:ext cx="4084200" cy="647640"/>
          </a:xfrm>
          <a:prstGeom prst="rect">
            <a:avLst/>
          </a:prstGeom>
          <a:noFill/>
          <a:ln w="0">
            <a:noFill/>
          </a:ln>
        </p:spPr>
        <p:txBody>
          <a:bodyPr lIns="0" rIns="0" tIns="0" bIns="0" anchor="t">
            <a:noAutofit/>
          </a:bodyPr>
          <a:p>
            <a:r>
              <a:rPr b="1" lang="en-US" sz="2540" spc="-1" strike="noStrike">
                <a:solidFill>
                  <a:srgbClr val="a32123"/>
                </a:solidFill>
                <a:latin typeface="Noto Sans"/>
              </a:rPr>
              <a:t>Darstellung</a:t>
            </a:r>
            <a:endParaRPr b="0" lang="en-US" sz="2540" spc="-1" strike="noStrike">
              <a:solidFill>
                <a:srgbClr val="000000"/>
              </a:solidFill>
              <a:latin typeface="Arial"/>
            </a:endParaRPr>
          </a:p>
        </p:txBody>
      </p:sp>
      <p:sp>
        <p:nvSpPr>
          <p:cNvPr id="177" name=""/>
          <p:cNvSpPr txBox="1"/>
          <p:nvPr/>
        </p:nvSpPr>
        <p:spPr>
          <a:xfrm>
            <a:off x="6987600" y="3040560"/>
            <a:ext cx="4084200" cy="1280160"/>
          </a:xfrm>
          <a:prstGeom prst="rect">
            <a:avLst/>
          </a:prstGeom>
          <a:noFill/>
          <a:ln w="0">
            <a:noFill/>
          </a:ln>
        </p:spPr>
        <p:txBody>
          <a:bodyPr lIns="0" rIns="0" tIns="0" bIns="0" anchor="t">
            <a:noAutofit/>
          </a:bodyPr>
          <a:p>
            <a:r>
              <a:rPr b="0" lang="en-US" sz="2350" spc="-1" strike="noStrike">
                <a:solidFill>
                  <a:srgbClr val="000000"/>
                </a:solidFill>
                <a:latin typeface="Noto Sans"/>
              </a:rPr>
              <a:t>fünf Klassen</a:t>
            </a:r>
            <a:endParaRPr b="0" lang="en-US" sz="2350" spc="-1" strike="noStrike">
              <a:solidFill>
                <a:srgbClr val="000000"/>
              </a:solidFill>
              <a:latin typeface="Arial"/>
            </a:endParaRPr>
          </a:p>
          <a:p>
            <a:r>
              <a:rPr b="0" lang="en-US" sz="2350" spc="-1" strike="noStrike">
                <a:solidFill>
                  <a:srgbClr val="000000"/>
                </a:solidFill>
                <a:latin typeface="Noto Sans"/>
              </a:rPr>
              <a:t>mit geordneten Farben</a:t>
            </a:r>
            <a:endParaRPr b="0" lang="en-US" sz="2350" spc="-1" strike="noStrike">
              <a:solidFill>
                <a:srgbClr val="000000"/>
              </a:solidFill>
              <a:latin typeface="Arial"/>
            </a:endParaRPr>
          </a:p>
        </p:txBody>
      </p:sp>
      <p:sp>
        <p:nvSpPr>
          <p:cNvPr id="17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9"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Klassengrenzen sind eine begründungspflichtige Entscheidung.</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Gleiche Intervalle: gleiche Breite</a:t>
            </a:r>
            <a:endParaRPr b="0" lang="en-US" sz="3190" spc="-1" strike="noStrike">
              <a:solidFill>
                <a:srgbClr val="000000"/>
              </a:solidFill>
              <a:latin typeface="Arial"/>
            </a:endParaRPr>
          </a:p>
        </p:txBody>
      </p:sp>
      <p:sp>
        <p:nvSpPr>
          <p:cNvPr id="18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KLASSIFIZIEREN · METHODE 1</a:t>
            </a:r>
            <a:endParaRPr b="0" lang="en-US" sz="1130" spc="-1" strike="noStrike">
              <a:solidFill>
                <a:srgbClr val="000000"/>
              </a:solidFill>
              <a:latin typeface="Arial"/>
            </a:endParaRPr>
          </a:p>
        </p:txBody>
      </p:sp>
      <p:sp>
        <p:nvSpPr>
          <p:cNvPr id="18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8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sp>
        <p:nvSpPr>
          <p:cNvPr id="184" name=""/>
          <p:cNvSpPr/>
          <p:nvPr/>
        </p:nvSpPr>
        <p:spPr>
          <a:xfrm>
            <a:off x="914400" y="2019240"/>
            <a:ext cx="464832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5" name=""/>
          <p:cNvSpPr/>
          <p:nvPr/>
        </p:nvSpPr>
        <p:spPr>
          <a:xfrm>
            <a:off x="914400" y="201924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6" name=""/>
          <p:cNvSpPr txBox="1"/>
          <p:nvPr/>
        </p:nvSpPr>
        <p:spPr>
          <a:xfrm>
            <a:off x="1120320" y="2202120"/>
            <a:ext cx="4236840" cy="647640"/>
          </a:xfrm>
          <a:prstGeom prst="rect">
            <a:avLst/>
          </a:prstGeom>
          <a:noFill/>
          <a:ln w="0">
            <a:noFill/>
          </a:ln>
        </p:spPr>
        <p:txBody>
          <a:bodyPr lIns="0" rIns="0" tIns="0" bIns="0" anchor="t">
            <a:noAutofit/>
          </a:bodyPr>
          <a:p>
            <a:r>
              <a:rPr b="1" lang="en-US" sz="2540" spc="-1" strike="noStrike">
                <a:solidFill>
                  <a:srgbClr val="004899"/>
                </a:solidFill>
                <a:latin typeface="Noto Sans"/>
              </a:rPr>
              <a:t>Prinzip</a:t>
            </a:r>
            <a:endParaRPr b="0" lang="en-US" sz="2540" spc="-1" strike="noStrike">
              <a:solidFill>
                <a:srgbClr val="000000"/>
              </a:solidFill>
              <a:latin typeface="Arial"/>
            </a:endParaRPr>
          </a:p>
        </p:txBody>
      </p:sp>
      <p:sp>
        <p:nvSpPr>
          <p:cNvPr id="187" name=""/>
          <p:cNvSpPr txBox="1"/>
          <p:nvPr/>
        </p:nvSpPr>
        <p:spPr>
          <a:xfrm>
            <a:off x="1120320" y="2964240"/>
            <a:ext cx="4236840" cy="1432440"/>
          </a:xfrm>
          <a:prstGeom prst="rect">
            <a:avLst/>
          </a:prstGeom>
          <a:noFill/>
          <a:ln w="0">
            <a:noFill/>
          </a:ln>
        </p:spPr>
        <p:txBody>
          <a:bodyPr lIns="0" rIns="0" tIns="0" bIns="0" anchor="t">
            <a:noAutofit/>
          </a:bodyPr>
          <a:p>
            <a:r>
              <a:rPr b="0" lang="en-US" sz="2450" spc="-1" strike="noStrike">
                <a:solidFill>
                  <a:srgbClr val="000000"/>
                </a:solidFill>
                <a:latin typeface="Noto Sans"/>
              </a:rPr>
              <a:t>gleich breite Wertebereiche</a:t>
            </a:r>
            <a:endParaRPr b="0" lang="en-US" sz="2450" spc="-1" strike="noStrike">
              <a:solidFill>
                <a:srgbClr val="000000"/>
              </a:solidFill>
              <a:latin typeface="Arial"/>
            </a:endParaRPr>
          </a:p>
          <a:p>
            <a:r>
              <a:rPr b="0" lang="en-US" sz="2450" spc="-1" strike="noStrike">
                <a:solidFill>
                  <a:srgbClr val="000000"/>
                </a:solidFill>
                <a:latin typeface="Noto Sans"/>
              </a:rPr>
              <a:t>leichte Vergleichbarkeit</a:t>
            </a:r>
            <a:endParaRPr b="0" lang="en-US" sz="2450" spc="-1" strike="noStrike">
              <a:solidFill>
                <a:srgbClr val="000000"/>
              </a:solidFill>
              <a:latin typeface="Arial"/>
            </a:endParaRPr>
          </a:p>
        </p:txBody>
      </p:sp>
      <p:sp>
        <p:nvSpPr>
          <p:cNvPr id="188" name=""/>
          <p:cNvSpPr/>
          <p:nvPr/>
        </p:nvSpPr>
        <p:spPr>
          <a:xfrm>
            <a:off x="6629400" y="2019240"/>
            <a:ext cx="464832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9" name=""/>
          <p:cNvSpPr/>
          <p:nvPr/>
        </p:nvSpPr>
        <p:spPr>
          <a:xfrm>
            <a:off x="6629400" y="2019240"/>
            <a:ext cx="53280" cy="25146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0" name=""/>
          <p:cNvSpPr txBox="1"/>
          <p:nvPr/>
        </p:nvSpPr>
        <p:spPr>
          <a:xfrm>
            <a:off x="6835320" y="2202120"/>
            <a:ext cx="4236840" cy="647640"/>
          </a:xfrm>
          <a:prstGeom prst="rect">
            <a:avLst/>
          </a:prstGeom>
          <a:noFill/>
          <a:ln w="0">
            <a:noFill/>
          </a:ln>
        </p:spPr>
        <p:txBody>
          <a:bodyPr lIns="0" rIns="0" tIns="0" bIns="0" anchor="t">
            <a:noAutofit/>
          </a:bodyPr>
          <a:p>
            <a:r>
              <a:rPr b="1" lang="en-US" sz="2540" spc="-1" strike="noStrike">
                <a:solidFill>
                  <a:srgbClr val="a32123"/>
                </a:solidFill>
                <a:latin typeface="Noto Sans"/>
              </a:rPr>
              <a:t>Risiko</a:t>
            </a:r>
            <a:endParaRPr b="0" lang="en-US" sz="2540" spc="-1" strike="noStrike">
              <a:solidFill>
                <a:srgbClr val="000000"/>
              </a:solidFill>
              <a:latin typeface="Arial"/>
            </a:endParaRPr>
          </a:p>
        </p:txBody>
      </p:sp>
      <p:sp>
        <p:nvSpPr>
          <p:cNvPr id="191" name=""/>
          <p:cNvSpPr txBox="1"/>
          <p:nvPr/>
        </p:nvSpPr>
        <p:spPr>
          <a:xfrm>
            <a:off x="6835320" y="2964240"/>
            <a:ext cx="4236840" cy="1432440"/>
          </a:xfrm>
          <a:prstGeom prst="rect">
            <a:avLst/>
          </a:prstGeom>
          <a:noFill/>
          <a:ln w="0">
            <a:noFill/>
          </a:ln>
        </p:spPr>
        <p:txBody>
          <a:bodyPr lIns="0" rIns="0" tIns="0" bIns="0" anchor="t">
            <a:noAutofit/>
          </a:bodyPr>
          <a:p>
            <a:r>
              <a:rPr b="0" lang="en-US" sz="2450" spc="-1" strike="noStrike">
                <a:solidFill>
                  <a:srgbClr val="000000"/>
                </a:solidFill>
                <a:latin typeface="Noto Sans"/>
              </a:rPr>
              <a:t>ungleich viele Punkte</a:t>
            </a:r>
            <a:endParaRPr b="0" lang="en-US" sz="2450" spc="-1" strike="noStrike">
              <a:solidFill>
                <a:srgbClr val="000000"/>
              </a:solidFill>
              <a:latin typeface="Arial"/>
            </a:endParaRPr>
          </a:p>
          <a:p>
            <a:r>
              <a:rPr b="0" lang="en-US" sz="2450" spc="-1" strike="noStrike">
                <a:solidFill>
                  <a:srgbClr val="000000"/>
                </a:solidFill>
                <a:latin typeface="Noto Sans"/>
              </a:rPr>
              <a:t>leere Klassen möglich</a:t>
            </a:r>
            <a:endParaRPr b="0" lang="en-US" sz="2450" spc="-1" strike="noStrike">
              <a:solidFill>
                <a:srgbClr val="000000"/>
              </a:solidFill>
              <a:latin typeface="Arial"/>
            </a:endParaRPr>
          </a:p>
        </p:txBody>
      </p:sp>
      <p:sp>
        <p:nvSpPr>
          <p:cNvPr id="19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3"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Hier: fünf Klassen von 178,5 bis 323,9 m.</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Quantile: ungefähr gleich viele Punkte</a:t>
            </a:r>
            <a:endParaRPr b="0" lang="en-US" sz="3190" spc="-1" strike="noStrike">
              <a:solidFill>
                <a:srgbClr val="000000"/>
              </a:solidFill>
              <a:latin typeface="Arial"/>
            </a:endParaRPr>
          </a:p>
        </p:txBody>
      </p:sp>
      <p:sp>
        <p:nvSpPr>
          <p:cNvPr id="19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KLASSIFIZIEREN · METHODE 2</a:t>
            </a:r>
            <a:endParaRPr b="0" lang="en-US" sz="1130" spc="-1" strike="noStrike">
              <a:solidFill>
                <a:srgbClr val="000000"/>
              </a:solidFill>
              <a:latin typeface="Arial"/>
            </a:endParaRPr>
          </a:p>
        </p:txBody>
      </p:sp>
      <p:sp>
        <p:nvSpPr>
          <p:cNvPr id="19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19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sp>
        <p:nvSpPr>
          <p:cNvPr id="198" name=""/>
          <p:cNvSpPr/>
          <p:nvPr/>
        </p:nvSpPr>
        <p:spPr>
          <a:xfrm>
            <a:off x="914400" y="2019240"/>
            <a:ext cx="464832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9" name=""/>
          <p:cNvSpPr/>
          <p:nvPr/>
        </p:nvSpPr>
        <p:spPr>
          <a:xfrm>
            <a:off x="914400" y="201924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0" name=""/>
          <p:cNvSpPr txBox="1"/>
          <p:nvPr/>
        </p:nvSpPr>
        <p:spPr>
          <a:xfrm>
            <a:off x="1120320" y="2202120"/>
            <a:ext cx="4236840" cy="647640"/>
          </a:xfrm>
          <a:prstGeom prst="rect">
            <a:avLst/>
          </a:prstGeom>
          <a:noFill/>
          <a:ln w="0">
            <a:noFill/>
          </a:ln>
        </p:spPr>
        <p:txBody>
          <a:bodyPr lIns="0" rIns="0" tIns="0" bIns="0" anchor="t">
            <a:noAutofit/>
          </a:bodyPr>
          <a:p>
            <a:r>
              <a:rPr b="1" lang="en-US" sz="2540" spc="-1" strike="noStrike">
                <a:solidFill>
                  <a:srgbClr val="004899"/>
                </a:solidFill>
                <a:latin typeface="Noto Sans"/>
              </a:rPr>
              <a:t>Prinzip</a:t>
            </a:r>
            <a:endParaRPr b="0" lang="en-US" sz="2540" spc="-1" strike="noStrike">
              <a:solidFill>
                <a:srgbClr val="000000"/>
              </a:solidFill>
              <a:latin typeface="Arial"/>
            </a:endParaRPr>
          </a:p>
        </p:txBody>
      </p:sp>
      <p:sp>
        <p:nvSpPr>
          <p:cNvPr id="201" name=""/>
          <p:cNvSpPr txBox="1"/>
          <p:nvPr/>
        </p:nvSpPr>
        <p:spPr>
          <a:xfrm>
            <a:off x="1120320" y="2964240"/>
            <a:ext cx="4236840" cy="1432440"/>
          </a:xfrm>
          <a:prstGeom prst="rect">
            <a:avLst/>
          </a:prstGeom>
          <a:noFill/>
          <a:ln w="0">
            <a:noFill/>
          </a:ln>
        </p:spPr>
        <p:txBody>
          <a:bodyPr lIns="0" rIns="0" tIns="0" bIns="0" anchor="t">
            <a:noAutofit/>
          </a:bodyPr>
          <a:p>
            <a:r>
              <a:rPr b="0" lang="en-US" sz="2450" spc="-1" strike="noStrike">
                <a:solidFill>
                  <a:srgbClr val="000000"/>
                </a:solidFill>
                <a:latin typeface="Noto Sans"/>
              </a:rPr>
              <a:t>ähnliche Zahl von Punkten</a:t>
            </a:r>
            <a:endParaRPr b="0" lang="en-US" sz="2450" spc="-1" strike="noStrike">
              <a:solidFill>
                <a:srgbClr val="000000"/>
              </a:solidFill>
              <a:latin typeface="Arial"/>
            </a:endParaRPr>
          </a:p>
          <a:p>
            <a:r>
              <a:rPr b="0" lang="en-US" sz="2450" spc="-1" strike="noStrike">
                <a:solidFill>
                  <a:srgbClr val="000000"/>
                </a:solidFill>
                <a:latin typeface="Noto Sans"/>
              </a:rPr>
              <a:t>je Klasse</a:t>
            </a:r>
            <a:endParaRPr b="0" lang="en-US" sz="2450" spc="-1" strike="noStrike">
              <a:solidFill>
                <a:srgbClr val="000000"/>
              </a:solidFill>
              <a:latin typeface="Arial"/>
            </a:endParaRPr>
          </a:p>
        </p:txBody>
      </p:sp>
      <p:sp>
        <p:nvSpPr>
          <p:cNvPr id="202" name=""/>
          <p:cNvSpPr/>
          <p:nvPr/>
        </p:nvSpPr>
        <p:spPr>
          <a:xfrm>
            <a:off x="6629400" y="2019240"/>
            <a:ext cx="464832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3" name=""/>
          <p:cNvSpPr/>
          <p:nvPr/>
        </p:nvSpPr>
        <p:spPr>
          <a:xfrm>
            <a:off x="6629400" y="2019240"/>
            <a:ext cx="53280" cy="25146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4" name=""/>
          <p:cNvSpPr txBox="1"/>
          <p:nvPr/>
        </p:nvSpPr>
        <p:spPr>
          <a:xfrm>
            <a:off x="6835320" y="2202120"/>
            <a:ext cx="4236840" cy="647640"/>
          </a:xfrm>
          <a:prstGeom prst="rect">
            <a:avLst/>
          </a:prstGeom>
          <a:noFill/>
          <a:ln w="0">
            <a:noFill/>
          </a:ln>
        </p:spPr>
        <p:txBody>
          <a:bodyPr lIns="0" rIns="0" tIns="0" bIns="0" anchor="t">
            <a:noAutofit/>
          </a:bodyPr>
          <a:p>
            <a:r>
              <a:rPr b="1" lang="en-US" sz="2540" spc="-1" strike="noStrike">
                <a:solidFill>
                  <a:srgbClr val="a32123"/>
                </a:solidFill>
                <a:latin typeface="Noto Sans"/>
              </a:rPr>
              <a:t>Risiko</a:t>
            </a:r>
            <a:endParaRPr b="0" lang="en-US" sz="2540" spc="-1" strike="noStrike">
              <a:solidFill>
                <a:srgbClr val="000000"/>
              </a:solidFill>
              <a:latin typeface="Arial"/>
            </a:endParaRPr>
          </a:p>
        </p:txBody>
      </p:sp>
      <p:sp>
        <p:nvSpPr>
          <p:cNvPr id="205" name=""/>
          <p:cNvSpPr txBox="1"/>
          <p:nvPr/>
        </p:nvSpPr>
        <p:spPr>
          <a:xfrm>
            <a:off x="6835320" y="2964240"/>
            <a:ext cx="4236840" cy="1432440"/>
          </a:xfrm>
          <a:prstGeom prst="rect">
            <a:avLst/>
          </a:prstGeom>
          <a:noFill/>
          <a:ln w="0">
            <a:noFill/>
          </a:ln>
        </p:spPr>
        <p:txBody>
          <a:bodyPr lIns="0" rIns="0" tIns="0" bIns="0" anchor="t">
            <a:noAutofit/>
          </a:bodyPr>
          <a:p>
            <a:r>
              <a:rPr b="0" lang="en-US" sz="2260" spc="-1" strike="noStrike">
                <a:solidFill>
                  <a:srgbClr val="000000"/>
                </a:solidFill>
                <a:latin typeface="Noto Sans"/>
              </a:rPr>
              <a:t>unterschiedliche Klassenbreiten</a:t>
            </a:r>
            <a:endParaRPr b="0" lang="en-US" sz="2260" spc="-1" strike="noStrike">
              <a:solidFill>
                <a:srgbClr val="000000"/>
              </a:solidFill>
              <a:latin typeface="Arial"/>
            </a:endParaRPr>
          </a:p>
          <a:p>
            <a:r>
              <a:rPr b="0" lang="en-US" sz="2260" spc="-1" strike="noStrike">
                <a:solidFill>
                  <a:srgbClr val="000000"/>
                </a:solidFill>
                <a:latin typeface="Noto Sans"/>
              </a:rPr>
              <a:t>relative statt absolute Lage</a:t>
            </a:r>
            <a:endParaRPr b="0" lang="en-US" sz="2260" spc="-1" strike="noStrike">
              <a:solidFill>
                <a:srgbClr val="000000"/>
              </a:solidFill>
              <a:latin typeface="Arial"/>
            </a:endParaRPr>
          </a:p>
        </p:txBody>
      </p:sp>
      <p:sp>
        <p:nvSpPr>
          <p:cNvPr id="20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7"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Hier: fünf Klassen mit ungefähr sieben Punkten.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Dieselben 35 Punkte – zwei sichtbare Muster</a:t>
            </a:r>
            <a:endParaRPr b="0" lang="en-US" sz="3190" spc="-1" strike="noStrike">
              <a:solidFill>
                <a:srgbClr val="000000"/>
              </a:solidFill>
              <a:latin typeface="Arial"/>
            </a:endParaRPr>
          </a:p>
        </p:txBody>
      </p:sp>
      <p:sp>
        <p:nvSpPr>
          <p:cNvPr id="20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KLASSIFIZIEREN · KARTENVERGLEICH</a:t>
            </a:r>
            <a:endParaRPr b="0" lang="en-US" sz="1130" spc="-1" strike="noStrike">
              <a:solidFill>
                <a:srgbClr val="000000"/>
              </a:solidFill>
              <a:latin typeface="Arial"/>
            </a:endParaRPr>
          </a:p>
        </p:txBody>
      </p:sp>
      <p:sp>
        <p:nvSpPr>
          <p:cNvPr id="21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21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pic>
        <p:nvPicPr>
          <p:cNvPr id="212" name="" descr=""/>
          <p:cNvPicPr/>
          <p:nvPr/>
        </p:nvPicPr>
        <p:blipFill>
          <a:blip r:embed="rId1"/>
          <a:stretch/>
        </p:blipFill>
        <p:spPr>
          <a:xfrm>
            <a:off x="685800" y="1676520"/>
            <a:ext cx="4952880" cy="3503520"/>
          </a:xfrm>
          <a:prstGeom prst="rect">
            <a:avLst/>
          </a:prstGeom>
          <a:ln w="0">
            <a:noFill/>
          </a:ln>
        </p:spPr>
      </p:pic>
      <p:pic>
        <p:nvPicPr>
          <p:cNvPr id="213" name="" descr=""/>
          <p:cNvPicPr/>
          <p:nvPr/>
        </p:nvPicPr>
        <p:blipFill>
          <a:blip r:embed="rId2"/>
          <a:stretch/>
        </p:blipFill>
        <p:spPr>
          <a:xfrm>
            <a:off x="6553440" y="1676520"/>
            <a:ext cx="4952880" cy="3503520"/>
          </a:xfrm>
          <a:prstGeom prst="rect">
            <a:avLst/>
          </a:prstGeom>
          <a:ln w="0">
            <a:noFill/>
          </a:ln>
        </p:spPr>
      </p:pic>
      <p:sp>
        <p:nvSpPr>
          <p:cNvPr id="214" name=""/>
          <p:cNvSpPr txBox="1"/>
          <p:nvPr/>
        </p:nvSpPr>
        <p:spPr>
          <a:xfrm>
            <a:off x="685800" y="5272920"/>
            <a:ext cx="4952880" cy="335160"/>
          </a:xfrm>
          <a:prstGeom prst="rect">
            <a:avLst/>
          </a:prstGeom>
          <a:noFill/>
          <a:ln w="0">
            <a:noFill/>
          </a:ln>
        </p:spPr>
        <p:txBody>
          <a:bodyPr lIns="0" rIns="0" tIns="0" bIns="0" anchor="t">
            <a:noAutofit/>
          </a:bodyPr>
          <a:p>
            <a:pPr algn="ctr"/>
            <a:r>
              <a:rPr b="1" lang="en-US" sz="1879" spc="-1" strike="noStrike">
                <a:solidFill>
                  <a:srgbClr val="004899"/>
                </a:solidFill>
                <a:latin typeface="Noto Sans"/>
              </a:rPr>
              <a:t>Gleiche Intervalle · fünf Klassen</a:t>
            </a:r>
            <a:endParaRPr b="0" lang="en-US" sz="1879" spc="-1" strike="noStrike">
              <a:solidFill>
                <a:srgbClr val="000000"/>
              </a:solidFill>
              <a:latin typeface="Arial"/>
            </a:endParaRPr>
          </a:p>
        </p:txBody>
      </p:sp>
      <p:sp>
        <p:nvSpPr>
          <p:cNvPr id="215" name=""/>
          <p:cNvSpPr txBox="1"/>
          <p:nvPr/>
        </p:nvSpPr>
        <p:spPr>
          <a:xfrm>
            <a:off x="6553440" y="5272920"/>
            <a:ext cx="4952880" cy="335160"/>
          </a:xfrm>
          <a:prstGeom prst="rect">
            <a:avLst/>
          </a:prstGeom>
          <a:noFill/>
          <a:ln w="0">
            <a:noFill/>
          </a:ln>
        </p:spPr>
        <p:txBody>
          <a:bodyPr lIns="0" rIns="0" tIns="0" bIns="0" anchor="t">
            <a:noAutofit/>
          </a:bodyPr>
          <a:p>
            <a:pPr algn="ctr"/>
            <a:r>
              <a:rPr b="1" lang="en-US" sz="1879" spc="-1" strike="noStrike">
                <a:solidFill>
                  <a:srgbClr val="004899"/>
                </a:solidFill>
                <a:latin typeface="Noto Sans"/>
              </a:rPr>
              <a:t>Quantile · fünf Klassen</a:t>
            </a:r>
            <a:endParaRPr b="0" lang="en-US" sz="1879" spc="-1" strike="noStrike">
              <a:solidFill>
                <a:srgbClr val="000000"/>
              </a:solidFill>
              <a:latin typeface="Arial"/>
            </a:endParaRPr>
          </a:p>
        </p:txBody>
      </p:sp>
      <p:sp>
        <p:nvSpPr>
          <p:cNvPr id="216" name=""/>
          <p:cNvSpPr/>
          <p:nvPr/>
        </p:nvSpPr>
        <p:spPr>
          <a:xfrm>
            <a:off x="647640" y="5715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7" name=""/>
          <p:cNvSpPr txBox="1"/>
          <p:nvPr/>
        </p:nvSpPr>
        <p:spPr>
          <a:xfrm>
            <a:off x="838080" y="5821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Was ändert sich sichtbar – obwohl kein Höhenwert verändert wurde?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Rechenprinzip und Klassenbesetzung</a:t>
            </a:r>
            <a:endParaRPr b="0" lang="en-US" sz="3190" spc="-1" strike="noStrike">
              <a:solidFill>
                <a:srgbClr val="000000"/>
              </a:solidFill>
              <a:latin typeface="Arial"/>
            </a:endParaRPr>
          </a:p>
        </p:txBody>
      </p:sp>
      <p:sp>
        <p:nvSpPr>
          <p:cNvPr id="21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KLASSIFIZIEREN · SCHEMATISCHES BEISPIEL</a:t>
            </a:r>
            <a:endParaRPr b="0" lang="en-US" sz="1130" spc="-1" strike="noStrike">
              <a:solidFill>
                <a:srgbClr val="000000"/>
              </a:solidFill>
              <a:latin typeface="Arial"/>
            </a:endParaRPr>
          </a:p>
        </p:txBody>
      </p:sp>
      <p:sp>
        <p:nvSpPr>
          <p:cNvPr id="22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22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pic>
        <p:nvPicPr>
          <p:cNvPr id="222" name="" descr="Zehn Höhen von 100,110,120,130,140,150,160,170,190,500 Metern in fünf Klassen. Gleiche Intervalle haben 8,1,0,0,1 Werte je Klasse, Quantile je zwei. Die Bandbreiten auf der Zahlenachse entsprechen den numerischen Klassenbreiten."/>
          <p:cNvPicPr/>
          <p:nvPr/>
        </p:nvPicPr>
        <p:blipFill>
          <a:blip r:embed="rId1">
            <a:extLst>
              <a:ext uri="{96DAC541-7B7A-43D3-8B79-37D633B846F1}">
                <asvg:svgBlip xmlns:asvg="http://schemas.microsoft.com/office/drawing/2016/SVG/main" r:embed="rId2"/>
              </a:ext>
            </a:extLst>
          </a:blip>
          <a:stretch/>
        </p:blipFill>
        <p:spPr>
          <a:xfrm>
            <a:off x="1104840" y="1638360"/>
            <a:ext cx="2133720" cy="3780360"/>
          </a:xfrm>
          <a:prstGeom prst="rect">
            <a:avLst/>
          </a:prstGeom>
          <a:ln w="0">
            <a:noFill/>
          </a:ln>
        </p:spPr>
      </p:pic>
      <p:sp>
        <p:nvSpPr>
          <p:cNvPr id="223" name=""/>
          <p:cNvSpPr/>
          <p:nvPr/>
        </p:nvSpPr>
        <p:spPr>
          <a:xfrm>
            <a:off x="4267080" y="2133720"/>
            <a:ext cx="3124080" cy="1905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4" name=""/>
          <p:cNvSpPr/>
          <p:nvPr/>
        </p:nvSpPr>
        <p:spPr>
          <a:xfrm>
            <a:off x="4267080" y="2133720"/>
            <a:ext cx="53280" cy="19051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5" name=""/>
          <p:cNvSpPr txBox="1"/>
          <p:nvPr/>
        </p:nvSpPr>
        <p:spPr>
          <a:xfrm>
            <a:off x="4473000" y="2316600"/>
            <a:ext cx="2712600" cy="647640"/>
          </a:xfrm>
          <a:prstGeom prst="rect">
            <a:avLst/>
          </a:prstGeom>
          <a:noFill/>
          <a:ln w="0">
            <a:noFill/>
          </a:ln>
        </p:spPr>
        <p:txBody>
          <a:bodyPr lIns="0" rIns="0" tIns="0" bIns="0" anchor="t">
            <a:noAutofit/>
          </a:bodyPr>
          <a:p>
            <a:r>
              <a:rPr b="1" lang="en-US" sz="2540" spc="-1" strike="noStrike">
                <a:solidFill>
                  <a:srgbClr val="004899"/>
                </a:solidFill>
                <a:latin typeface="Noto Sans"/>
              </a:rPr>
              <a:t>Intervalle</a:t>
            </a:r>
            <a:endParaRPr b="0" lang="en-US" sz="2540" spc="-1" strike="noStrike">
              <a:solidFill>
                <a:srgbClr val="000000"/>
              </a:solidFill>
              <a:latin typeface="Arial"/>
            </a:endParaRPr>
          </a:p>
        </p:txBody>
      </p:sp>
      <p:sp>
        <p:nvSpPr>
          <p:cNvPr id="226" name=""/>
          <p:cNvSpPr txBox="1"/>
          <p:nvPr/>
        </p:nvSpPr>
        <p:spPr>
          <a:xfrm>
            <a:off x="4473000" y="3078360"/>
            <a:ext cx="2712600" cy="822960"/>
          </a:xfrm>
          <a:prstGeom prst="rect">
            <a:avLst/>
          </a:prstGeom>
          <a:noFill/>
          <a:ln w="0">
            <a:noFill/>
          </a:ln>
        </p:spPr>
        <p:txBody>
          <a:bodyPr lIns="0" rIns="0" tIns="0" bIns="0" anchor="t">
            <a:noAutofit/>
          </a:bodyPr>
          <a:p>
            <a:r>
              <a:rPr b="0" lang="en-US" sz="2160" spc="-1" strike="noStrike">
                <a:solidFill>
                  <a:srgbClr val="000000"/>
                </a:solidFill>
                <a:latin typeface="Noto Sans"/>
              </a:rPr>
              <a:t>gleiche Breite</a:t>
            </a:r>
            <a:endParaRPr b="0" lang="en-US" sz="2160" spc="-1" strike="noStrike">
              <a:solidFill>
                <a:srgbClr val="000000"/>
              </a:solidFill>
              <a:latin typeface="Arial"/>
            </a:endParaRPr>
          </a:p>
          <a:p>
            <a:r>
              <a:rPr b="0" lang="en-US" sz="2160" spc="-1" strike="noStrike">
                <a:solidFill>
                  <a:srgbClr val="000000"/>
                </a:solidFill>
                <a:latin typeface="Noto Sans"/>
              </a:rPr>
              <a:t>8 · 1 · 0 · 0 · 1</a:t>
            </a:r>
            <a:endParaRPr b="0" lang="en-US" sz="2160" spc="-1" strike="noStrike">
              <a:solidFill>
                <a:srgbClr val="000000"/>
              </a:solidFill>
              <a:latin typeface="Arial"/>
            </a:endParaRPr>
          </a:p>
        </p:txBody>
      </p:sp>
      <p:sp>
        <p:nvSpPr>
          <p:cNvPr id="227" name=""/>
          <p:cNvSpPr/>
          <p:nvPr/>
        </p:nvSpPr>
        <p:spPr>
          <a:xfrm>
            <a:off x="8001000" y="2133720"/>
            <a:ext cx="3124080" cy="1905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8" name=""/>
          <p:cNvSpPr/>
          <p:nvPr/>
        </p:nvSpPr>
        <p:spPr>
          <a:xfrm>
            <a:off x="8001000" y="2133720"/>
            <a:ext cx="53280" cy="19051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9" name=""/>
          <p:cNvSpPr txBox="1"/>
          <p:nvPr/>
        </p:nvSpPr>
        <p:spPr>
          <a:xfrm>
            <a:off x="8206920" y="2316600"/>
            <a:ext cx="2712600" cy="647640"/>
          </a:xfrm>
          <a:prstGeom prst="rect">
            <a:avLst/>
          </a:prstGeom>
          <a:noFill/>
          <a:ln w="0">
            <a:noFill/>
          </a:ln>
        </p:spPr>
        <p:txBody>
          <a:bodyPr lIns="0" rIns="0" tIns="0" bIns="0" anchor="t">
            <a:noAutofit/>
          </a:bodyPr>
          <a:p>
            <a:r>
              <a:rPr b="1" lang="en-US" sz="2540" spc="-1" strike="noStrike">
                <a:solidFill>
                  <a:srgbClr val="a32123"/>
                </a:solidFill>
                <a:latin typeface="Noto Sans"/>
              </a:rPr>
              <a:t>Quantile</a:t>
            </a:r>
            <a:endParaRPr b="0" lang="en-US" sz="2540" spc="-1" strike="noStrike">
              <a:solidFill>
                <a:srgbClr val="000000"/>
              </a:solidFill>
              <a:latin typeface="Arial"/>
            </a:endParaRPr>
          </a:p>
        </p:txBody>
      </p:sp>
      <p:sp>
        <p:nvSpPr>
          <p:cNvPr id="230" name=""/>
          <p:cNvSpPr txBox="1"/>
          <p:nvPr/>
        </p:nvSpPr>
        <p:spPr>
          <a:xfrm>
            <a:off x="8206920" y="3078360"/>
            <a:ext cx="2712600" cy="822960"/>
          </a:xfrm>
          <a:prstGeom prst="rect">
            <a:avLst/>
          </a:prstGeom>
          <a:noFill/>
          <a:ln w="0">
            <a:noFill/>
          </a:ln>
        </p:spPr>
        <p:txBody>
          <a:bodyPr lIns="0" rIns="0" tIns="0" bIns="0" anchor="t">
            <a:noAutofit/>
          </a:bodyPr>
          <a:p>
            <a:r>
              <a:rPr b="0" lang="en-US" sz="2160" spc="-1" strike="noStrike">
                <a:solidFill>
                  <a:srgbClr val="000000"/>
                </a:solidFill>
                <a:latin typeface="Noto Sans"/>
              </a:rPr>
              <a:t>gleiche Anzahl</a:t>
            </a:r>
            <a:endParaRPr b="0" lang="en-US" sz="2160" spc="-1" strike="noStrike">
              <a:solidFill>
                <a:srgbClr val="000000"/>
              </a:solidFill>
              <a:latin typeface="Arial"/>
            </a:endParaRPr>
          </a:p>
          <a:p>
            <a:r>
              <a:rPr b="0" lang="en-US" sz="2160" spc="-1" strike="noStrike">
                <a:solidFill>
                  <a:srgbClr val="000000"/>
                </a:solidFill>
                <a:latin typeface="Noto Sans"/>
              </a:rPr>
              <a:t>2 · 2 · 2 · 2 · 2</a:t>
            </a:r>
            <a:endParaRPr b="0" lang="en-US" sz="2160" spc="-1" strike="noStrike">
              <a:solidFill>
                <a:srgbClr val="000000"/>
              </a:solidFill>
              <a:latin typeface="Arial"/>
            </a:endParaRPr>
          </a:p>
        </p:txBody>
      </p:sp>
      <p:sp>
        <p:nvSpPr>
          <p:cNvPr id="23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2" name=""/>
          <p:cNvSpPr txBox="1"/>
          <p:nvPr/>
        </p:nvSpPr>
        <p:spPr>
          <a:xfrm>
            <a:off x="838080" y="5623560"/>
            <a:ext cx="10515600" cy="442080"/>
          </a:xfrm>
          <a:prstGeom prst="rect">
            <a:avLst/>
          </a:prstGeom>
          <a:noFill/>
          <a:ln w="0">
            <a:noFill/>
          </a:ln>
        </p:spPr>
        <p:txBody>
          <a:bodyPr lIns="0" rIns="0" tIns="0" bIns="0" anchor="t">
            <a:noAutofit/>
          </a:bodyPr>
          <a:p>
            <a:r>
              <a:rPr b="1" lang="en-US" sz="1879" spc="-1" strike="noStrike">
                <a:solidFill>
                  <a:srgbClr val="004899"/>
                </a:solidFill>
                <a:latin typeface="Noto Sans"/>
              </a:rPr>
              <a:t>Schematische Werte erklären die Methode – die realen Karten werden separat geprüft.</a:t>
            </a:r>
            <a:endParaRPr b="0" lang="en-US" sz="18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realen Klassengrenzen vergleichen</a:t>
            </a:r>
            <a:endParaRPr b="0" lang="en-US" sz="3190" spc="-1" strike="noStrike">
              <a:solidFill>
                <a:srgbClr val="000000"/>
              </a:solidFill>
              <a:latin typeface="Arial"/>
            </a:endParaRPr>
          </a:p>
        </p:txBody>
      </p:sp>
      <p:sp>
        <p:nvSpPr>
          <p:cNvPr id="23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KLASSIFIZIEREN · PRÜFWERTE</a:t>
            </a:r>
            <a:endParaRPr b="0" lang="en-US" sz="1130" spc="-1" strike="noStrike">
              <a:solidFill>
                <a:srgbClr val="000000"/>
              </a:solidFill>
              <a:latin typeface="Arial"/>
            </a:endParaRPr>
          </a:p>
        </p:txBody>
      </p:sp>
      <p:sp>
        <p:nvSpPr>
          <p:cNvPr id="23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23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sp>
        <p:nvSpPr>
          <p:cNvPr id="237" name=""/>
          <p:cNvSpPr/>
          <p:nvPr/>
        </p:nvSpPr>
        <p:spPr>
          <a:xfrm>
            <a:off x="647640" y="2171880"/>
            <a:ext cx="3253680" cy="1005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8" name=""/>
          <p:cNvSpPr txBox="1"/>
          <p:nvPr/>
        </p:nvSpPr>
        <p:spPr>
          <a:xfrm>
            <a:off x="784800" y="2301120"/>
            <a:ext cx="3002400" cy="876240"/>
          </a:xfrm>
          <a:prstGeom prst="rect">
            <a:avLst/>
          </a:prstGeom>
          <a:noFill/>
          <a:ln w="0">
            <a:noFill/>
          </a:ln>
        </p:spPr>
        <p:txBody>
          <a:bodyPr lIns="0" rIns="0" tIns="0" bIns="0" anchor="t">
            <a:noAutofit/>
          </a:bodyPr>
          <a:p>
            <a:r>
              <a:rPr b="1" lang="en-US" sz="2160" spc="-1" strike="noStrike">
                <a:solidFill>
                  <a:srgbClr val="ffffff"/>
                </a:solidFill>
                <a:latin typeface="Noto Sans"/>
              </a:rPr>
              <a:t>Methode</a:t>
            </a:r>
            <a:endParaRPr b="0" lang="en-US" sz="2160" spc="-1" strike="noStrike">
              <a:solidFill>
                <a:srgbClr val="000000"/>
              </a:solidFill>
              <a:latin typeface="Arial"/>
            </a:endParaRPr>
          </a:p>
        </p:txBody>
      </p:sp>
      <p:sp>
        <p:nvSpPr>
          <p:cNvPr id="239" name=""/>
          <p:cNvSpPr/>
          <p:nvPr/>
        </p:nvSpPr>
        <p:spPr>
          <a:xfrm>
            <a:off x="3924360" y="2171880"/>
            <a:ext cx="7597080" cy="1005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0" name=""/>
          <p:cNvSpPr txBox="1"/>
          <p:nvPr/>
        </p:nvSpPr>
        <p:spPr>
          <a:xfrm>
            <a:off x="4061520" y="2301120"/>
            <a:ext cx="7345800" cy="876240"/>
          </a:xfrm>
          <a:prstGeom prst="rect">
            <a:avLst/>
          </a:prstGeom>
          <a:noFill/>
          <a:ln w="0">
            <a:noFill/>
          </a:ln>
        </p:spPr>
        <p:txBody>
          <a:bodyPr lIns="0" rIns="0" tIns="0" bIns="0" anchor="t">
            <a:noAutofit/>
          </a:bodyPr>
          <a:p>
            <a:r>
              <a:rPr b="1" lang="en-US" sz="2160" spc="-1" strike="noStrike">
                <a:solidFill>
                  <a:srgbClr val="ffffff"/>
                </a:solidFill>
                <a:latin typeface="Noto Sans"/>
              </a:rPr>
              <a:t>Klassen in Metern</a:t>
            </a:r>
            <a:endParaRPr b="0" lang="en-US" sz="2160" spc="-1" strike="noStrike">
              <a:solidFill>
                <a:srgbClr val="000000"/>
              </a:solidFill>
              <a:latin typeface="Arial"/>
            </a:endParaRPr>
          </a:p>
        </p:txBody>
      </p:sp>
      <p:sp>
        <p:nvSpPr>
          <p:cNvPr id="241" name=""/>
          <p:cNvSpPr/>
          <p:nvPr/>
        </p:nvSpPr>
        <p:spPr>
          <a:xfrm>
            <a:off x="647640" y="3200400"/>
            <a:ext cx="3253680" cy="1005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2" name=""/>
          <p:cNvSpPr txBox="1"/>
          <p:nvPr/>
        </p:nvSpPr>
        <p:spPr>
          <a:xfrm>
            <a:off x="784800" y="3330000"/>
            <a:ext cx="3002400" cy="876240"/>
          </a:xfrm>
          <a:prstGeom prst="rect">
            <a:avLst/>
          </a:prstGeom>
          <a:noFill/>
          <a:ln w="0">
            <a:noFill/>
          </a:ln>
        </p:spPr>
        <p:txBody>
          <a:bodyPr lIns="0" rIns="0" tIns="0" bIns="0" anchor="t">
            <a:noAutofit/>
          </a:bodyPr>
          <a:p>
            <a:r>
              <a:rPr b="0" lang="en-US" sz="2160" spc="-1" strike="noStrike">
                <a:solidFill>
                  <a:srgbClr val="000000"/>
                </a:solidFill>
                <a:latin typeface="Noto Sans"/>
              </a:rPr>
              <a:t>gleiche Intervalle</a:t>
            </a:r>
            <a:endParaRPr b="0" lang="en-US" sz="2160" spc="-1" strike="noStrike">
              <a:solidFill>
                <a:srgbClr val="000000"/>
              </a:solidFill>
              <a:latin typeface="Arial"/>
            </a:endParaRPr>
          </a:p>
        </p:txBody>
      </p:sp>
      <p:sp>
        <p:nvSpPr>
          <p:cNvPr id="243" name=""/>
          <p:cNvSpPr/>
          <p:nvPr/>
        </p:nvSpPr>
        <p:spPr>
          <a:xfrm>
            <a:off x="3924360" y="3200400"/>
            <a:ext cx="7597080" cy="1005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4" name=""/>
          <p:cNvSpPr txBox="1"/>
          <p:nvPr/>
        </p:nvSpPr>
        <p:spPr>
          <a:xfrm>
            <a:off x="4061520" y="3330000"/>
            <a:ext cx="7345800" cy="876240"/>
          </a:xfrm>
          <a:prstGeom prst="rect">
            <a:avLst/>
          </a:prstGeom>
          <a:noFill/>
          <a:ln w="0">
            <a:noFill/>
          </a:ln>
        </p:spPr>
        <p:txBody>
          <a:bodyPr lIns="0" rIns="0" tIns="0" bIns="0" anchor="t">
            <a:noAutofit/>
          </a:bodyPr>
          <a:p>
            <a:r>
              <a:rPr b="0" lang="en-US" sz="2160" spc="-1" strike="noStrike">
                <a:solidFill>
                  <a:srgbClr val="000000"/>
                </a:solidFill>
                <a:latin typeface="Noto Sans"/>
              </a:rPr>
              <a:t>178,5 · 207,6 · 236,7 · 265,8 · 294,8 · 323,9</a:t>
            </a:r>
            <a:endParaRPr b="0" lang="en-US" sz="2160" spc="-1" strike="noStrike">
              <a:solidFill>
                <a:srgbClr val="000000"/>
              </a:solidFill>
              <a:latin typeface="Arial"/>
            </a:endParaRPr>
          </a:p>
        </p:txBody>
      </p:sp>
      <p:sp>
        <p:nvSpPr>
          <p:cNvPr id="245" name=""/>
          <p:cNvSpPr/>
          <p:nvPr/>
        </p:nvSpPr>
        <p:spPr>
          <a:xfrm>
            <a:off x="647640" y="4229280"/>
            <a:ext cx="3253680" cy="1005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6" name=""/>
          <p:cNvSpPr txBox="1"/>
          <p:nvPr/>
        </p:nvSpPr>
        <p:spPr>
          <a:xfrm>
            <a:off x="784800" y="4358520"/>
            <a:ext cx="3002400" cy="876240"/>
          </a:xfrm>
          <a:prstGeom prst="rect">
            <a:avLst/>
          </a:prstGeom>
          <a:noFill/>
          <a:ln w="0">
            <a:noFill/>
          </a:ln>
        </p:spPr>
        <p:txBody>
          <a:bodyPr lIns="0" rIns="0" tIns="0" bIns="0" anchor="t">
            <a:noAutofit/>
          </a:bodyPr>
          <a:p>
            <a:r>
              <a:rPr b="0" lang="en-US" sz="2160" spc="-1" strike="noStrike">
                <a:solidFill>
                  <a:srgbClr val="000000"/>
                </a:solidFill>
                <a:latin typeface="Noto Sans"/>
              </a:rPr>
              <a:t>Quantile</a:t>
            </a:r>
            <a:endParaRPr b="0" lang="en-US" sz="2160" spc="-1" strike="noStrike">
              <a:solidFill>
                <a:srgbClr val="000000"/>
              </a:solidFill>
              <a:latin typeface="Arial"/>
            </a:endParaRPr>
          </a:p>
        </p:txBody>
      </p:sp>
      <p:sp>
        <p:nvSpPr>
          <p:cNvPr id="247" name=""/>
          <p:cNvSpPr/>
          <p:nvPr/>
        </p:nvSpPr>
        <p:spPr>
          <a:xfrm>
            <a:off x="3924360" y="4229280"/>
            <a:ext cx="7597080" cy="1005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8" name=""/>
          <p:cNvSpPr txBox="1"/>
          <p:nvPr/>
        </p:nvSpPr>
        <p:spPr>
          <a:xfrm>
            <a:off x="4061520" y="4358520"/>
            <a:ext cx="7345800" cy="876240"/>
          </a:xfrm>
          <a:prstGeom prst="rect">
            <a:avLst/>
          </a:prstGeom>
          <a:noFill/>
          <a:ln w="0">
            <a:noFill/>
          </a:ln>
        </p:spPr>
        <p:txBody>
          <a:bodyPr lIns="0" rIns="0" tIns="0" bIns="0" anchor="t">
            <a:noAutofit/>
          </a:bodyPr>
          <a:p>
            <a:r>
              <a:rPr b="0" lang="en-US" sz="2160" spc="-1" strike="noStrike">
                <a:solidFill>
                  <a:srgbClr val="000000"/>
                </a:solidFill>
                <a:latin typeface="Noto Sans"/>
              </a:rPr>
              <a:t>178,5 · 214,3 · 230,0 · 245,0 · 267,7 · 323,9</a:t>
            </a:r>
            <a:endParaRPr b="0" lang="en-US" sz="2160" spc="-1" strike="noStrike">
              <a:solidFill>
                <a:srgbClr val="000000"/>
              </a:solidFill>
              <a:latin typeface="Arial"/>
            </a:endParaRPr>
          </a:p>
        </p:txBody>
      </p:sp>
      <p:sp>
        <p:nvSpPr>
          <p:cNvPr id="24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0"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Entscheidung: Welche Methode unterstützt die Kartenfrage verständlicher?</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Abgestufte Darstellung in QGIS einstellen</a:t>
            </a:r>
            <a:endParaRPr b="0" lang="en-US" sz="3190" spc="-1" strike="noStrike">
              <a:solidFill>
                <a:srgbClr val="000000"/>
              </a:solidFill>
              <a:latin typeface="Arial"/>
            </a:endParaRPr>
          </a:p>
        </p:txBody>
      </p:sp>
      <p:sp>
        <p:nvSpPr>
          <p:cNvPr id="25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SYMBOLISIERUNG</a:t>
            </a:r>
            <a:endParaRPr b="0" lang="en-US" sz="1130" spc="-1" strike="noStrike">
              <a:solidFill>
                <a:srgbClr val="000000"/>
              </a:solidFill>
              <a:latin typeface="Arial"/>
            </a:endParaRPr>
          </a:p>
        </p:txBody>
      </p:sp>
      <p:sp>
        <p:nvSpPr>
          <p:cNvPr id="25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25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sp>
        <p:nvSpPr>
          <p:cNvPr id="255" name=""/>
          <p:cNvSpPr/>
          <p:nvPr/>
        </p:nvSpPr>
        <p:spPr>
          <a:xfrm>
            <a:off x="647640" y="1714680"/>
            <a:ext cx="3253680" cy="5868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6" name=""/>
          <p:cNvSpPr txBox="1"/>
          <p:nvPr/>
        </p:nvSpPr>
        <p:spPr>
          <a:xfrm>
            <a:off x="784800" y="1843920"/>
            <a:ext cx="3002400" cy="457200"/>
          </a:xfrm>
          <a:prstGeom prst="rect">
            <a:avLst/>
          </a:prstGeom>
          <a:noFill/>
          <a:ln w="0">
            <a:noFill/>
          </a:ln>
        </p:spPr>
        <p:txBody>
          <a:bodyPr lIns="0" rIns="0" tIns="0" bIns="0" anchor="t">
            <a:noAutofit/>
          </a:bodyPr>
          <a:p>
            <a:r>
              <a:rPr b="1" lang="en-US" sz="2070" spc="-1" strike="noStrike">
                <a:solidFill>
                  <a:srgbClr val="ffffff"/>
                </a:solidFill>
                <a:latin typeface="Noto Sans"/>
              </a:rPr>
              <a:t>Parameter</a:t>
            </a:r>
            <a:endParaRPr b="0" lang="en-US" sz="2070" spc="-1" strike="noStrike">
              <a:solidFill>
                <a:srgbClr val="000000"/>
              </a:solidFill>
              <a:latin typeface="Arial"/>
            </a:endParaRPr>
          </a:p>
        </p:txBody>
      </p:sp>
      <p:sp>
        <p:nvSpPr>
          <p:cNvPr id="257" name=""/>
          <p:cNvSpPr/>
          <p:nvPr/>
        </p:nvSpPr>
        <p:spPr>
          <a:xfrm>
            <a:off x="3924360" y="1714680"/>
            <a:ext cx="7597080" cy="5868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8" name=""/>
          <p:cNvSpPr txBox="1"/>
          <p:nvPr/>
        </p:nvSpPr>
        <p:spPr>
          <a:xfrm>
            <a:off x="4061520" y="1843920"/>
            <a:ext cx="7345800" cy="457200"/>
          </a:xfrm>
          <a:prstGeom prst="rect">
            <a:avLst/>
          </a:prstGeom>
          <a:noFill/>
          <a:ln w="0">
            <a:noFill/>
          </a:ln>
        </p:spPr>
        <p:txBody>
          <a:bodyPr lIns="0" rIns="0" tIns="0" bIns="0" anchor="t">
            <a:noAutofit/>
          </a:bodyPr>
          <a:p>
            <a:r>
              <a:rPr b="1" lang="en-US" sz="2070" spc="-1" strike="noStrike">
                <a:solidFill>
                  <a:srgbClr val="ffffff"/>
                </a:solidFill>
                <a:latin typeface="Noto Sans"/>
              </a:rPr>
              <a:t>Verbindliche Einstellung</a:t>
            </a:r>
            <a:endParaRPr b="0" lang="en-US" sz="2070" spc="-1" strike="noStrike">
              <a:solidFill>
                <a:srgbClr val="000000"/>
              </a:solidFill>
              <a:latin typeface="Arial"/>
            </a:endParaRPr>
          </a:p>
        </p:txBody>
      </p:sp>
      <p:sp>
        <p:nvSpPr>
          <p:cNvPr id="259" name=""/>
          <p:cNvSpPr/>
          <p:nvPr/>
        </p:nvSpPr>
        <p:spPr>
          <a:xfrm>
            <a:off x="647640" y="2324160"/>
            <a:ext cx="325368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0" name=""/>
          <p:cNvSpPr txBox="1"/>
          <p:nvPr/>
        </p:nvSpPr>
        <p:spPr>
          <a:xfrm>
            <a:off x="784800" y="2453760"/>
            <a:ext cx="3002400" cy="457200"/>
          </a:xfrm>
          <a:prstGeom prst="rect">
            <a:avLst/>
          </a:prstGeom>
          <a:noFill/>
          <a:ln w="0">
            <a:noFill/>
          </a:ln>
        </p:spPr>
        <p:txBody>
          <a:bodyPr lIns="0" rIns="0" tIns="0" bIns="0" anchor="t">
            <a:noAutofit/>
          </a:bodyPr>
          <a:p>
            <a:r>
              <a:rPr b="0" lang="en-US" sz="2070" spc="-1" strike="noStrike">
                <a:solidFill>
                  <a:srgbClr val="000000"/>
                </a:solidFill>
                <a:latin typeface="Noto Sans"/>
              </a:rPr>
              <a:t>Darstellung</a:t>
            </a:r>
            <a:endParaRPr b="0" lang="en-US" sz="2070" spc="-1" strike="noStrike">
              <a:solidFill>
                <a:srgbClr val="000000"/>
              </a:solidFill>
              <a:latin typeface="Arial"/>
            </a:endParaRPr>
          </a:p>
        </p:txBody>
      </p:sp>
      <p:sp>
        <p:nvSpPr>
          <p:cNvPr id="261" name=""/>
          <p:cNvSpPr/>
          <p:nvPr/>
        </p:nvSpPr>
        <p:spPr>
          <a:xfrm>
            <a:off x="3924360" y="2324160"/>
            <a:ext cx="759708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2" name=""/>
          <p:cNvSpPr txBox="1"/>
          <p:nvPr/>
        </p:nvSpPr>
        <p:spPr>
          <a:xfrm>
            <a:off x="4061520" y="2453760"/>
            <a:ext cx="7345800" cy="457200"/>
          </a:xfrm>
          <a:prstGeom prst="rect">
            <a:avLst/>
          </a:prstGeom>
          <a:noFill/>
          <a:ln w="0">
            <a:noFill/>
          </a:ln>
        </p:spPr>
        <p:txBody>
          <a:bodyPr lIns="0" rIns="0" tIns="0" bIns="0" anchor="t">
            <a:noAutofit/>
          </a:bodyPr>
          <a:p>
            <a:r>
              <a:rPr b="0" lang="en-US" sz="2070" spc="-1" strike="noStrike">
                <a:solidFill>
                  <a:srgbClr val="000000"/>
                </a:solidFill>
                <a:latin typeface="Noto Sans"/>
              </a:rPr>
              <a:t>Abgestuft / Graduated</a:t>
            </a:r>
            <a:endParaRPr b="0" lang="en-US" sz="2070" spc="-1" strike="noStrike">
              <a:solidFill>
                <a:srgbClr val="000000"/>
              </a:solidFill>
              <a:latin typeface="Arial"/>
            </a:endParaRPr>
          </a:p>
        </p:txBody>
      </p:sp>
      <p:sp>
        <p:nvSpPr>
          <p:cNvPr id="263" name=""/>
          <p:cNvSpPr/>
          <p:nvPr/>
        </p:nvSpPr>
        <p:spPr>
          <a:xfrm>
            <a:off x="647640" y="2933640"/>
            <a:ext cx="325368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4" name=""/>
          <p:cNvSpPr txBox="1"/>
          <p:nvPr/>
        </p:nvSpPr>
        <p:spPr>
          <a:xfrm>
            <a:off x="784800" y="3063240"/>
            <a:ext cx="3002400" cy="457200"/>
          </a:xfrm>
          <a:prstGeom prst="rect">
            <a:avLst/>
          </a:prstGeom>
          <a:noFill/>
          <a:ln w="0">
            <a:noFill/>
          </a:ln>
        </p:spPr>
        <p:txBody>
          <a:bodyPr lIns="0" rIns="0" tIns="0" bIns="0" anchor="t">
            <a:noAutofit/>
          </a:bodyPr>
          <a:p>
            <a:r>
              <a:rPr b="0" lang="en-US" sz="2070" spc="-1" strike="noStrike">
                <a:solidFill>
                  <a:srgbClr val="000000"/>
                </a:solidFill>
                <a:latin typeface="Noto Sans"/>
              </a:rPr>
              <a:t>Wert</a:t>
            </a:r>
            <a:endParaRPr b="0" lang="en-US" sz="2070" spc="-1" strike="noStrike">
              <a:solidFill>
                <a:srgbClr val="000000"/>
              </a:solidFill>
              <a:latin typeface="Arial"/>
            </a:endParaRPr>
          </a:p>
        </p:txBody>
      </p:sp>
      <p:sp>
        <p:nvSpPr>
          <p:cNvPr id="265" name=""/>
          <p:cNvSpPr/>
          <p:nvPr/>
        </p:nvSpPr>
        <p:spPr>
          <a:xfrm>
            <a:off x="3924360" y="2933640"/>
            <a:ext cx="759708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6" name=""/>
          <p:cNvSpPr txBox="1"/>
          <p:nvPr/>
        </p:nvSpPr>
        <p:spPr>
          <a:xfrm>
            <a:off x="4061520" y="3063240"/>
            <a:ext cx="7345800" cy="457200"/>
          </a:xfrm>
          <a:prstGeom prst="rect">
            <a:avLst/>
          </a:prstGeom>
          <a:noFill/>
          <a:ln w="0">
            <a:noFill/>
          </a:ln>
        </p:spPr>
        <p:txBody>
          <a:bodyPr lIns="0" rIns="0" tIns="0" bIns="0" anchor="t">
            <a:noAutofit/>
          </a:bodyPr>
          <a:p>
            <a:r>
              <a:rPr b="0" lang="en-US" sz="2070" spc="-1" strike="noStrike">
                <a:solidFill>
                  <a:srgbClr val="000000"/>
                </a:solidFill>
                <a:latin typeface="Noto Sans"/>
              </a:rPr>
              <a:t>hoehe_m · Meter</a:t>
            </a:r>
            <a:endParaRPr b="0" lang="en-US" sz="2070" spc="-1" strike="noStrike">
              <a:solidFill>
                <a:srgbClr val="000000"/>
              </a:solidFill>
              <a:latin typeface="Arial"/>
            </a:endParaRPr>
          </a:p>
        </p:txBody>
      </p:sp>
      <p:sp>
        <p:nvSpPr>
          <p:cNvPr id="267" name=""/>
          <p:cNvSpPr/>
          <p:nvPr/>
        </p:nvSpPr>
        <p:spPr>
          <a:xfrm>
            <a:off x="647640" y="3543480"/>
            <a:ext cx="325368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8" name=""/>
          <p:cNvSpPr txBox="1"/>
          <p:nvPr/>
        </p:nvSpPr>
        <p:spPr>
          <a:xfrm>
            <a:off x="784800" y="3672720"/>
            <a:ext cx="3002400" cy="457200"/>
          </a:xfrm>
          <a:prstGeom prst="rect">
            <a:avLst/>
          </a:prstGeom>
          <a:noFill/>
          <a:ln w="0">
            <a:noFill/>
          </a:ln>
        </p:spPr>
        <p:txBody>
          <a:bodyPr lIns="0" rIns="0" tIns="0" bIns="0" anchor="t">
            <a:noAutofit/>
          </a:bodyPr>
          <a:p>
            <a:r>
              <a:rPr b="0" lang="en-US" sz="2070" spc="-1" strike="noStrike">
                <a:solidFill>
                  <a:srgbClr val="000000"/>
                </a:solidFill>
                <a:latin typeface="Noto Sans"/>
              </a:rPr>
              <a:t>Klassen</a:t>
            </a:r>
            <a:endParaRPr b="0" lang="en-US" sz="2070" spc="-1" strike="noStrike">
              <a:solidFill>
                <a:srgbClr val="000000"/>
              </a:solidFill>
              <a:latin typeface="Arial"/>
            </a:endParaRPr>
          </a:p>
        </p:txBody>
      </p:sp>
      <p:sp>
        <p:nvSpPr>
          <p:cNvPr id="269" name=""/>
          <p:cNvSpPr/>
          <p:nvPr/>
        </p:nvSpPr>
        <p:spPr>
          <a:xfrm>
            <a:off x="3924360" y="3543480"/>
            <a:ext cx="759708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0" name=""/>
          <p:cNvSpPr txBox="1"/>
          <p:nvPr/>
        </p:nvSpPr>
        <p:spPr>
          <a:xfrm>
            <a:off x="4061520" y="3672720"/>
            <a:ext cx="7345800" cy="457200"/>
          </a:xfrm>
          <a:prstGeom prst="rect">
            <a:avLst/>
          </a:prstGeom>
          <a:noFill/>
          <a:ln w="0">
            <a:noFill/>
          </a:ln>
        </p:spPr>
        <p:txBody>
          <a:bodyPr lIns="0" rIns="0" tIns="0" bIns="0" anchor="t">
            <a:noAutofit/>
          </a:bodyPr>
          <a:p>
            <a:r>
              <a:rPr b="0" lang="en-US" sz="2070" spc="-1" strike="noStrike">
                <a:solidFill>
                  <a:srgbClr val="000000"/>
                </a:solidFill>
                <a:latin typeface="Noto Sans"/>
              </a:rPr>
              <a:t>5</a:t>
            </a:r>
            <a:endParaRPr b="0" lang="en-US" sz="2070" spc="-1" strike="noStrike">
              <a:solidFill>
                <a:srgbClr val="000000"/>
              </a:solidFill>
              <a:latin typeface="Arial"/>
            </a:endParaRPr>
          </a:p>
        </p:txBody>
      </p:sp>
      <p:sp>
        <p:nvSpPr>
          <p:cNvPr id="271" name=""/>
          <p:cNvSpPr/>
          <p:nvPr/>
        </p:nvSpPr>
        <p:spPr>
          <a:xfrm>
            <a:off x="647640" y="4152960"/>
            <a:ext cx="325368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2" name=""/>
          <p:cNvSpPr txBox="1"/>
          <p:nvPr/>
        </p:nvSpPr>
        <p:spPr>
          <a:xfrm>
            <a:off x="784800" y="4282560"/>
            <a:ext cx="3002400" cy="457200"/>
          </a:xfrm>
          <a:prstGeom prst="rect">
            <a:avLst/>
          </a:prstGeom>
          <a:noFill/>
          <a:ln w="0">
            <a:noFill/>
          </a:ln>
        </p:spPr>
        <p:txBody>
          <a:bodyPr lIns="0" rIns="0" tIns="0" bIns="0" anchor="t">
            <a:noAutofit/>
          </a:bodyPr>
          <a:p>
            <a:r>
              <a:rPr b="0" lang="en-US" sz="2070" spc="-1" strike="noStrike">
                <a:solidFill>
                  <a:srgbClr val="000000"/>
                </a:solidFill>
                <a:latin typeface="Noto Sans"/>
              </a:rPr>
              <a:t>Palette</a:t>
            </a:r>
            <a:endParaRPr b="0" lang="en-US" sz="2070" spc="-1" strike="noStrike">
              <a:solidFill>
                <a:srgbClr val="000000"/>
              </a:solidFill>
              <a:latin typeface="Arial"/>
            </a:endParaRPr>
          </a:p>
        </p:txBody>
      </p:sp>
      <p:sp>
        <p:nvSpPr>
          <p:cNvPr id="273" name=""/>
          <p:cNvSpPr/>
          <p:nvPr/>
        </p:nvSpPr>
        <p:spPr>
          <a:xfrm>
            <a:off x="3924360" y="4152960"/>
            <a:ext cx="759708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4" name=""/>
          <p:cNvSpPr txBox="1"/>
          <p:nvPr/>
        </p:nvSpPr>
        <p:spPr>
          <a:xfrm>
            <a:off x="4061520" y="4282560"/>
            <a:ext cx="7345800" cy="457200"/>
          </a:xfrm>
          <a:prstGeom prst="rect">
            <a:avLst/>
          </a:prstGeom>
          <a:noFill/>
          <a:ln w="0">
            <a:noFill/>
          </a:ln>
        </p:spPr>
        <p:txBody>
          <a:bodyPr lIns="0" rIns="0" tIns="0" bIns="0" anchor="t">
            <a:noAutofit/>
          </a:bodyPr>
          <a:p>
            <a:r>
              <a:rPr b="0" lang="en-US" sz="2070" spc="-1" strike="noStrike">
                <a:solidFill>
                  <a:srgbClr val="000000"/>
                </a:solidFill>
                <a:latin typeface="Noto Sans"/>
              </a:rPr>
              <a:t>sequentiell</a:t>
            </a:r>
            <a:endParaRPr b="0" lang="en-US" sz="2070" spc="-1" strike="noStrike">
              <a:solidFill>
                <a:srgbClr val="000000"/>
              </a:solidFill>
              <a:latin typeface="Arial"/>
            </a:endParaRPr>
          </a:p>
        </p:txBody>
      </p:sp>
      <p:sp>
        <p:nvSpPr>
          <p:cNvPr id="275" name=""/>
          <p:cNvSpPr/>
          <p:nvPr/>
        </p:nvSpPr>
        <p:spPr>
          <a:xfrm>
            <a:off x="647640" y="4762440"/>
            <a:ext cx="325368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6" name=""/>
          <p:cNvSpPr txBox="1"/>
          <p:nvPr/>
        </p:nvSpPr>
        <p:spPr>
          <a:xfrm>
            <a:off x="784800" y="4892040"/>
            <a:ext cx="3002400" cy="457200"/>
          </a:xfrm>
          <a:prstGeom prst="rect">
            <a:avLst/>
          </a:prstGeom>
          <a:noFill/>
          <a:ln w="0">
            <a:noFill/>
          </a:ln>
        </p:spPr>
        <p:txBody>
          <a:bodyPr lIns="0" rIns="0" tIns="0" bIns="0" anchor="t">
            <a:noAutofit/>
          </a:bodyPr>
          <a:p>
            <a:r>
              <a:rPr b="0" lang="en-US" sz="2070" spc="-1" strike="noStrike">
                <a:solidFill>
                  <a:srgbClr val="000000"/>
                </a:solidFill>
                <a:latin typeface="Noto Sans"/>
              </a:rPr>
              <a:t>Methode</a:t>
            </a:r>
            <a:endParaRPr b="0" lang="en-US" sz="2070" spc="-1" strike="noStrike">
              <a:solidFill>
                <a:srgbClr val="000000"/>
              </a:solidFill>
              <a:latin typeface="Arial"/>
            </a:endParaRPr>
          </a:p>
        </p:txBody>
      </p:sp>
      <p:sp>
        <p:nvSpPr>
          <p:cNvPr id="277" name=""/>
          <p:cNvSpPr/>
          <p:nvPr/>
        </p:nvSpPr>
        <p:spPr>
          <a:xfrm>
            <a:off x="3924360" y="4762440"/>
            <a:ext cx="759708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8" name=""/>
          <p:cNvSpPr txBox="1"/>
          <p:nvPr/>
        </p:nvSpPr>
        <p:spPr>
          <a:xfrm>
            <a:off x="4061520" y="4892040"/>
            <a:ext cx="7345800" cy="457200"/>
          </a:xfrm>
          <a:prstGeom prst="rect">
            <a:avLst/>
          </a:prstGeom>
          <a:noFill/>
          <a:ln w="0">
            <a:noFill/>
          </a:ln>
        </p:spPr>
        <p:txBody>
          <a:bodyPr lIns="0" rIns="0" tIns="0" bIns="0" anchor="t">
            <a:noAutofit/>
          </a:bodyPr>
          <a:p>
            <a:r>
              <a:rPr b="0" lang="en-US" sz="2070" spc="-1" strike="noStrike">
                <a:solidFill>
                  <a:srgbClr val="000000"/>
                </a:solidFill>
                <a:latin typeface="Noto Sans"/>
              </a:rPr>
              <a:t>begründet: gleiche Intervalle oder Quantile</a:t>
            </a:r>
            <a:endParaRPr b="0" lang="en-US" sz="2070" spc="-1" strike="noStrike">
              <a:solidFill>
                <a:srgbClr val="000000"/>
              </a:solidFill>
              <a:latin typeface="Arial"/>
            </a:endParaRPr>
          </a:p>
        </p:txBody>
      </p:sp>
      <p:sp>
        <p:nvSpPr>
          <p:cNvPr id="27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0"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Kontrolle vor Anwenden: 35 gültige Features, keine NULL-Werte im Startlayer.</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Eine Methode auswählen und begründen</a:t>
            </a:r>
            <a:endParaRPr b="0" lang="en-US" sz="3190" spc="-1" strike="noStrike">
              <a:solidFill>
                <a:srgbClr val="000000"/>
              </a:solidFill>
              <a:latin typeface="Arial"/>
            </a:endParaRPr>
          </a:p>
        </p:txBody>
      </p:sp>
      <p:sp>
        <p:nvSpPr>
          <p:cNvPr id="28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ENTSCHEIDUNG</a:t>
            </a:r>
            <a:endParaRPr b="0" lang="en-US" sz="1130" spc="-1" strike="noStrike">
              <a:solidFill>
                <a:srgbClr val="000000"/>
              </a:solidFill>
              <a:latin typeface="Arial"/>
            </a:endParaRPr>
          </a:p>
        </p:txBody>
      </p:sp>
      <p:sp>
        <p:nvSpPr>
          <p:cNvPr id="28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28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sp>
        <p:nvSpPr>
          <p:cNvPr id="285" name=""/>
          <p:cNvSpPr/>
          <p:nvPr/>
        </p:nvSpPr>
        <p:spPr>
          <a:xfrm>
            <a:off x="952560" y="1866960"/>
            <a:ext cx="10287000" cy="175248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86" name=""/>
          <p:cNvSpPr txBox="1"/>
          <p:nvPr/>
        </p:nvSpPr>
        <p:spPr>
          <a:xfrm>
            <a:off x="1409760" y="2286000"/>
            <a:ext cx="9372600" cy="914400"/>
          </a:xfrm>
          <a:prstGeom prst="rect">
            <a:avLst/>
          </a:prstGeom>
          <a:noFill/>
          <a:ln w="0">
            <a:noFill/>
          </a:ln>
        </p:spPr>
        <p:txBody>
          <a:bodyPr lIns="0" rIns="0" tIns="0" bIns="0" anchor="t">
            <a:noAutofit/>
          </a:bodyPr>
          <a:p>
            <a:pPr algn="ctr"/>
            <a:r>
              <a:rPr b="1" lang="en-US" sz="3010" spc="-1" strike="noStrike">
                <a:solidFill>
                  <a:srgbClr val="000000"/>
                </a:solidFill>
                <a:latin typeface="Noto Sans"/>
              </a:rPr>
              <a:t>Wir wählen ____________, weil diese Methode</a:t>
            </a:r>
            <a:endParaRPr b="0" lang="en-US" sz="3010" spc="-1" strike="noStrike">
              <a:solidFill>
                <a:srgbClr val="000000"/>
              </a:solidFill>
              <a:latin typeface="Arial"/>
            </a:endParaRPr>
          </a:p>
          <a:p>
            <a:pPr algn="ctr"/>
            <a:r>
              <a:rPr b="1" lang="en-US" sz="3010" spc="-1" strike="noStrike">
                <a:solidFill>
                  <a:srgbClr val="000000"/>
                </a:solidFill>
                <a:latin typeface="Noto Sans"/>
              </a:rPr>
              <a:t>für unsere Kartenfrage ________________________________.</a:t>
            </a:r>
            <a:endParaRPr b="0" lang="en-US" sz="3010" spc="-1" strike="noStrike">
              <a:solidFill>
                <a:srgbClr val="000000"/>
              </a:solidFill>
              <a:latin typeface="Arial"/>
            </a:endParaRPr>
          </a:p>
        </p:txBody>
      </p:sp>
      <p:sp>
        <p:nvSpPr>
          <p:cNvPr id="287" name=""/>
          <p:cNvSpPr/>
          <p:nvPr/>
        </p:nvSpPr>
        <p:spPr>
          <a:xfrm>
            <a:off x="1714680" y="4076640"/>
            <a:ext cx="8763120" cy="1219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8" name=""/>
          <p:cNvSpPr/>
          <p:nvPr/>
        </p:nvSpPr>
        <p:spPr>
          <a:xfrm>
            <a:off x="1714680" y="4076640"/>
            <a:ext cx="53280" cy="1219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9" name=""/>
          <p:cNvSpPr txBox="1"/>
          <p:nvPr/>
        </p:nvSpPr>
        <p:spPr>
          <a:xfrm>
            <a:off x="1920240" y="4259520"/>
            <a:ext cx="8351640" cy="647640"/>
          </a:xfrm>
          <a:prstGeom prst="rect">
            <a:avLst/>
          </a:prstGeom>
          <a:noFill/>
          <a:ln w="0">
            <a:noFill/>
          </a:ln>
        </p:spPr>
        <p:txBody>
          <a:bodyPr lIns="0" rIns="0" tIns="0" bIns="0" anchor="t">
            <a:noAutofit/>
          </a:bodyPr>
          <a:p>
            <a:r>
              <a:rPr b="1" lang="en-US" sz="2540" spc="-1" strike="noStrike">
                <a:solidFill>
                  <a:srgbClr val="004899"/>
                </a:solidFill>
                <a:latin typeface="Noto Sans"/>
              </a:rPr>
              <a:t>Prüfen</a:t>
            </a:r>
            <a:endParaRPr b="0" lang="en-US" sz="2540" spc="-1" strike="noStrike">
              <a:solidFill>
                <a:srgbClr val="000000"/>
              </a:solidFill>
              <a:latin typeface="Arial"/>
            </a:endParaRPr>
          </a:p>
        </p:txBody>
      </p:sp>
      <p:sp>
        <p:nvSpPr>
          <p:cNvPr id="290" name=""/>
          <p:cNvSpPr txBox="1"/>
          <p:nvPr/>
        </p:nvSpPr>
        <p:spPr>
          <a:xfrm>
            <a:off x="1920240" y="4838760"/>
            <a:ext cx="8351640" cy="320040"/>
          </a:xfrm>
          <a:prstGeom prst="rect">
            <a:avLst/>
          </a:prstGeom>
          <a:noFill/>
          <a:ln w="0">
            <a:noFill/>
          </a:ln>
        </p:spPr>
        <p:txBody>
          <a:bodyPr lIns="0" rIns="0" tIns="0" bIns="0" anchor="t">
            <a:noAutofit/>
          </a:bodyPr>
          <a:p>
            <a:r>
              <a:rPr b="0" lang="en-US" sz="2260" spc="-1" strike="noStrike">
                <a:solidFill>
                  <a:srgbClr val="000000"/>
                </a:solidFill>
                <a:latin typeface="Noto Sans"/>
              </a:rPr>
              <a:t>Klassengrenzen · Besetzung · Legendentext · sichtbare Wirkung</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Klassen eindeutig und lesbar beschriften</a:t>
            </a:r>
            <a:endParaRPr b="0" lang="en-US" sz="3190" spc="-1" strike="noStrike">
              <a:solidFill>
                <a:srgbClr val="000000"/>
              </a:solidFill>
              <a:latin typeface="Arial"/>
            </a:endParaRPr>
          </a:p>
        </p:txBody>
      </p:sp>
      <p:sp>
        <p:nvSpPr>
          <p:cNvPr id="29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LEGENDE VORBEREITEN</a:t>
            </a:r>
            <a:endParaRPr b="0" lang="en-US" sz="1130" spc="-1" strike="noStrike">
              <a:solidFill>
                <a:srgbClr val="000000"/>
              </a:solidFill>
              <a:latin typeface="Arial"/>
            </a:endParaRPr>
          </a:p>
        </p:txBody>
      </p:sp>
      <p:sp>
        <p:nvSpPr>
          <p:cNvPr id="29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29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sp>
        <p:nvSpPr>
          <p:cNvPr id="295" name=""/>
          <p:cNvSpPr/>
          <p:nvPr/>
        </p:nvSpPr>
        <p:spPr>
          <a:xfrm>
            <a:off x="647640" y="2095560"/>
            <a:ext cx="5158800" cy="739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96" name=""/>
          <p:cNvSpPr txBox="1"/>
          <p:nvPr/>
        </p:nvSpPr>
        <p:spPr>
          <a:xfrm>
            <a:off x="784800" y="2225160"/>
            <a:ext cx="4907160" cy="609480"/>
          </a:xfrm>
          <a:prstGeom prst="rect">
            <a:avLst/>
          </a:prstGeom>
          <a:noFill/>
          <a:ln w="0">
            <a:noFill/>
          </a:ln>
        </p:spPr>
        <p:txBody>
          <a:bodyPr lIns="0" rIns="0" tIns="0" bIns="0" anchor="t">
            <a:noAutofit/>
          </a:bodyPr>
          <a:p>
            <a:r>
              <a:rPr b="1" lang="en-US" sz="2160" spc="-1" strike="noStrike">
                <a:solidFill>
                  <a:srgbClr val="ffffff"/>
                </a:solidFill>
                <a:latin typeface="Noto Sans"/>
              </a:rPr>
              <a:t>Technischer Ausgang</a:t>
            </a:r>
            <a:endParaRPr b="0" lang="en-US" sz="2160" spc="-1" strike="noStrike">
              <a:solidFill>
                <a:srgbClr val="000000"/>
              </a:solidFill>
              <a:latin typeface="Arial"/>
            </a:endParaRPr>
          </a:p>
        </p:txBody>
      </p:sp>
      <p:sp>
        <p:nvSpPr>
          <p:cNvPr id="297" name=""/>
          <p:cNvSpPr/>
          <p:nvPr/>
        </p:nvSpPr>
        <p:spPr>
          <a:xfrm>
            <a:off x="5829480" y="2095560"/>
            <a:ext cx="5692320" cy="7390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98" name=""/>
          <p:cNvSpPr txBox="1"/>
          <p:nvPr/>
        </p:nvSpPr>
        <p:spPr>
          <a:xfrm>
            <a:off x="5966640" y="2225160"/>
            <a:ext cx="5440680" cy="609480"/>
          </a:xfrm>
          <a:prstGeom prst="rect">
            <a:avLst/>
          </a:prstGeom>
          <a:noFill/>
          <a:ln w="0">
            <a:noFill/>
          </a:ln>
        </p:spPr>
        <p:txBody>
          <a:bodyPr lIns="0" rIns="0" tIns="0" bIns="0" anchor="t">
            <a:noAutofit/>
          </a:bodyPr>
          <a:p>
            <a:r>
              <a:rPr b="1" lang="en-US" sz="2160" spc="-1" strike="noStrike">
                <a:solidFill>
                  <a:srgbClr val="ffffff"/>
                </a:solidFill>
                <a:latin typeface="Noto Sans"/>
              </a:rPr>
              <a:t>Redaktionell verständlich</a:t>
            </a:r>
            <a:endParaRPr b="0" lang="en-US" sz="2160" spc="-1" strike="noStrike">
              <a:solidFill>
                <a:srgbClr val="000000"/>
              </a:solidFill>
              <a:latin typeface="Arial"/>
            </a:endParaRPr>
          </a:p>
        </p:txBody>
      </p:sp>
      <p:sp>
        <p:nvSpPr>
          <p:cNvPr id="299" name=""/>
          <p:cNvSpPr/>
          <p:nvPr/>
        </p:nvSpPr>
        <p:spPr>
          <a:xfrm>
            <a:off x="647640" y="2857680"/>
            <a:ext cx="5158800" cy="739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0" name=""/>
          <p:cNvSpPr txBox="1"/>
          <p:nvPr/>
        </p:nvSpPr>
        <p:spPr>
          <a:xfrm>
            <a:off x="784800" y="2986920"/>
            <a:ext cx="4907160" cy="609480"/>
          </a:xfrm>
          <a:prstGeom prst="rect">
            <a:avLst/>
          </a:prstGeom>
          <a:noFill/>
          <a:ln w="0">
            <a:noFill/>
          </a:ln>
        </p:spPr>
        <p:txBody>
          <a:bodyPr lIns="0" rIns="0" tIns="0" bIns="0" anchor="t">
            <a:noAutofit/>
          </a:bodyPr>
          <a:p>
            <a:r>
              <a:rPr b="0" lang="en-US" sz="2160" spc="-1" strike="noStrike">
                <a:solidFill>
                  <a:srgbClr val="000000"/>
                </a:solidFill>
                <a:latin typeface="Noto Sans"/>
              </a:rPr>
              <a:t>178.5 - 207.6</a:t>
            </a:r>
            <a:endParaRPr b="0" lang="en-US" sz="2160" spc="-1" strike="noStrike">
              <a:solidFill>
                <a:srgbClr val="000000"/>
              </a:solidFill>
              <a:latin typeface="Arial"/>
            </a:endParaRPr>
          </a:p>
        </p:txBody>
      </p:sp>
      <p:sp>
        <p:nvSpPr>
          <p:cNvPr id="301" name=""/>
          <p:cNvSpPr/>
          <p:nvPr/>
        </p:nvSpPr>
        <p:spPr>
          <a:xfrm>
            <a:off x="5829480" y="2857680"/>
            <a:ext cx="5692320" cy="739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2" name=""/>
          <p:cNvSpPr txBox="1"/>
          <p:nvPr/>
        </p:nvSpPr>
        <p:spPr>
          <a:xfrm>
            <a:off x="5966640" y="2986920"/>
            <a:ext cx="5440680" cy="609480"/>
          </a:xfrm>
          <a:prstGeom prst="rect">
            <a:avLst/>
          </a:prstGeom>
          <a:noFill/>
          <a:ln w="0">
            <a:noFill/>
          </a:ln>
        </p:spPr>
        <p:txBody>
          <a:bodyPr lIns="0" rIns="0" tIns="0" bIns="0" anchor="t">
            <a:noAutofit/>
          </a:bodyPr>
          <a:p>
            <a:r>
              <a:rPr b="0" lang="en-US" sz="2160" spc="-1" strike="noStrike">
                <a:solidFill>
                  <a:srgbClr val="000000"/>
                </a:solidFill>
                <a:latin typeface="Noto Sans"/>
              </a:rPr>
              <a:t>178,5 bis 207,6 m</a:t>
            </a:r>
            <a:endParaRPr b="0" lang="en-US" sz="2160" spc="-1" strike="noStrike">
              <a:solidFill>
                <a:srgbClr val="000000"/>
              </a:solidFill>
              <a:latin typeface="Arial"/>
            </a:endParaRPr>
          </a:p>
        </p:txBody>
      </p:sp>
      <p:sp>
        <p:nvSpPr>
          <p:cNvPr id="303" name=""/>
          <p:cNvSpPr/>
          <p:nvPr/>
        </p:nvSpPr>
        <p:spPr>
          <a:xfrm>
            <a:off x="647640" y="3619440"/>
            <a:ext cx="5158800" cy="739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4" name=""/>
          <p:cNvSpPr txBox="1"/>
          <p:nvPr/>
        </p:nvSpPr>
        <p:spPr>
          <a:xfrm>
            <a:off x="784800" y="3749040"/>
            <a:ext cx="4907160" cy="609480"/>
          </a:xfrm>
          <a:prstGeom prst="rect">
            <a:avLst/>
          </a:prstGeom>
          <a:noFill/>
          <a:ln w="0">
            <a:noFill/>
          </a:ln>
        </p:spPr>
        <p:txBody>
          <a:bodyPr lIns="0" rIns="0" tIns="0" bIns="0" anchor="t">
            <a:noAutofit/>
          </a:bodyPr>
          <a:p>
            <a:r>
              <a:rPr b="0" lang="en-US" sz="2160" spc="-1" strike="noStrike">
                <a:solidFill>
                  <a:srgbClr val="000000"/>
                </a:solidFill>
                <a:latin typeface="Noto Sans"/>
              </a:rPr>
              <a:t>hoehe_m</a:t>
            </a:r>
            <a:endParaRPr b="0" lang="en-US" sz="2160" spc="-1" strike="noStrike">
              <a:solidFill>
                <a:srgbClr val="000000"/>
              </a:solidFill>
              <a:latin typeface="Arial"/>
            </a:endParaRPr>
          </a:p>
        </p:txBody>
      </p:sp>
      <p:sp>
        <p:nvSpPr>
          <p:cNvPr id="305" name=""/>
          <p:cNvSpPr/>
          <p:nvPr/>
        </p:nvSpPr>
        <p:spPr>
          <a:xfrm>
            <a:off x="5829480" y="3619440"/>
            <a:ext cx="5692320" cy="7390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6" name=""/>
          <p:cNvSpPr txBox="1"/>
          <p:nvPr/>
        </p:nvSpPr>
        <p:spPr>
          <a:xfrm>
            <a:off x="5966640" y="3749040"/>
            <a:ext cx="5440680" cy="609480"/>
          </a:xfrm>
          <a:prstGeom prst="rect">
            <a:avLst/>
          </a:prstGeom>
          <a:noFill/>
          <a:ln w="0">
            <a:noFill/>
          </a:ln>
        </p:spPr>
        <p:txBody>
          <a:bodyPr lIns="0" rIns="0" tIns="0" bIns="0" anchor="t">
            <a:noAutofit/>
          </a:bodyPr>
          <a:p>
            <a:r>
              <a:rPr b="0" lang="en-US" sz="2160" spc="-1" strike="noStrike">
                <a:solidFill>
                  <a:srgbClr val="000000"/>
                </a:solidFill>
                <a:latin typeface="Noto Sans"/>
              </a:rPr>
              <a:t>Geländehöhe am Nachweisort [m]</a:t>
            </a:r>
            <a:endParaRPr b="0" lang="en-US" sz="2160" spc="-1" strike="noStrike">
              <a:solidFill>
                <a:srgbClr val="000000"/>
              </a:solidFill>
              <a:latin typeface="Arial"/>
            </a:endParaRPr>
          </a:p>
        </p:txBody>
      </p:sp>
      <p:sp>
        <p:nvSpPr>
          <p:cNvPr id="307" name=""/>
          <p:cNvSpPr/>
          <p:nvPr/>
        </p:nvSpPr>
        <p:spPr>
          <a:xfrm>
            <a:off x="647640" y="4381560"/>
            <a:ext cx="5158800" cy="739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8" name=""/>
          <p:cNvSpPr txBox="1"/>
          <p:nvPr/>
        </p:nvSpPr>
        <p:spPr>
          <a:xfrm>
            <a:off x="784800" y="4511160"/>
            <a:ext cx="4907160" cy="609480"/>
          </a:xfrm>
          <a:prstGeom prst="rect">
            <a:avLst/>
          </a:prstGeom>
          <a:noFill/>
          <a:ln w="0">
            <a:noFill/>
          </a:ln>
        </p:spPr>
        <p:txBody>
          <a:bodyPr lIns="0" rIns="0" tIns="0" bIns="0" anchor="t">
            <a:noAutofit/>
          </a:bodyPr>
          <a:p>
            <a:r>
              <a:rPr b="0" lang="en-US" sz="2160" spc="-1" strike="noStrike">
                <a:solidFill>
                  <a:srgbClr val="000000"/>
                </a:solidFill>
                <a:latin typeface="Noto Sans"/>
              </a:rPr>
              <a:t>gbif_mit_hoehe_final</a:t>
            </a:r>
            <a:endParaRPr b="0" lang="en-US" sz="2160" spc="-1" strike="noStrike">
              <a:solidFill>
                <a:srgbClr val="000000"/>
              </a:solidFill>
              <a:latin typeface="Arial"/>
            </a:endParaRPr>
          </a:p>
        </p:txBody>
      </p:sp>
      <p:sp>
        <p:nvSpPr>
          <p:cNvPr id="309" name=""/>
          <p:cNvSpPr/>
          <p:nvPr/>
        </p:nvSpPr>
        <p:spPr>
          <a:xfrm>
            <a:off x="5829480" y="4381560"/>
            <a:ext cx="5692320" cy="739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0" name=""/>
          <p:cNvSpPr txBox="1"/>
          <p:nvPr/>
        </p:nvSpPr>
        <p:spPr>
          <a:xfrm>
            <a:off x="5966640" y="4511160"/>
            <a:ext cx="5440680" cy="609480"/>
          </a:xfrm>
          <a:prstGeom prst="rect">
            <a:avLst/>
          </a:prstGeom>
          <a:noFill/>
          <a:ln w="0">
            <a:noFill/>
          </a:ln>
        </p:spPr>
        <p:txBody>
          <a:bodyPr lIns="0" rIns="0" tIns="0" bIns="0" anchor="t">
            <a:noAutofit/>
          </a:bodyPr>
          <a:p>
            <a:r>
              <a:rPr b="0" lang="en-US" sz="2160" spc="-1" strike="noStrike">
                <a:solidFill>
                  <a:srgbClr val="000000"/>
                </a:solidFill>
                <a:latin typeface="Noto Sans"/>
              </a:rPr>
              <a:t>Dokumentierte Nachweise</a:t>
            </a:r>
            <a:endParaRPr b="0" lang="en-US" sz="2160" spc="-1" strike="noStrike">
              <a:solidFill>
                <a:srgbClr val="000000"/>
              </a:solidFill>
              <a:latin typeface="Arial"/>
            </a:endParaRPr>
          </a:p>
        </p:txBody>
      </p:sp>
      <p:sp>
        <p:nvSpPr>
          <p:cNvPr id="31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2"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Einheit und Grenzlogik müssen aus der Legende hervorgehen.</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Für Höhenwerte eine sequentielle Palette wählen</a:t>
            </a:r>
            <a:endParaRPr b="0" lang="en-US" sz="3190" spc="-1" strike="noStrike">
              <a:solidFill>
                <a:srgbClr val="000000"/>
              </a:solidFill>
              <a:latin typeface="Arial"/>
            </a:endParaRPr>
          </a:p>
        </p:txBody>
      </p:sp>
      <p:sp>
        <p:nvSpPr>
          <p:cNvPr id="31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FARBE</a:t>
            </a:r>
            <a:endParaRPr b="0" lang="en-US" sz="1130" spc="-1" strike="noStrike">
              <a:solidFill>
                <a:srgbClr val="000000"/>
              </a:solidFill>
              <a:latin typeface="Arial"/>
            </a:endParaRPr>
          </a:p>
        </p:txBody>
      </p:sp>
      <p:sp>
        <p:nvSpPr>
          <p:cNvPr id="31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31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pic>
        <p:nvPicPr>
          <p:cNvPr id="317" name="" descr="Drei beschriftete Farbleisten zeigen die passende Logik. Eine qualitative Palette unterscheidet vier Kategorien A bis D ohne Reihenfolge. Eine sequentielle Palette ordnet niedrige bis hohe Werte von hell nach dunkel. Eine divergierende Palette läuft von negativen Werten über einen neutralen Nullpunkt zu positiven Werten."/>
          <p:cNvPicPr/>
          <p:nvPr/>
        </p:nvPicPr>
        <p:blipFill>
          <a:blip r:embed="rId1">
            <a:extLst>
              <a:ext uri="{96DAC541-7B7A-43D3-8B79-37D633B846F1}">
                <asvg:svgBlip xmlns:asvg="http://schemas.microsoft.com/office/drawing/2016/SVG/main" r:embed="rId2"/>
              </a:ext>
            </a:extLst>
          </a:blip>
          <a:stretch/>
        </p:blipFill>
        <p:spPr>
          <a:xfrm>
            <a:off x="914400" y="1752480"/>
            <a:ext cx="10363320" cy="3834360"/>
          </a:xfrm>
          <a:prstGeom prst="rect">
            <a:avLst/>
          </a:prstGeom>
          <a:ln w="0">
            <a:noFill/>
          </a:ln>
        </p:spPr>
      </p:pic>
      <p:sp>
        <p:nvSpPr>
          <p:cNvPr id="318" name=""/>
          <p:cNvSpPr/>
          <p:nvPr/>
        </p:nvSpPr>
        <p:spPr>
          <a:xfrm>
            <a:off x="647640" y="575316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9" name=""/>
          <p:cNvSpPr txBox="1"/>
          <p:nvPr/>
        </p:nvSpPr>
        <p:spPr>
          <a:xfrm>
            <a:off x="838080" y="585972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Höhenklassen: niedrig → hoch als erkennbare Helligkeitsfolge.</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Symbolwahl folgt der Datenart</a:t>
            </a:r>
            <a:endParaRPr b="0" lang="en-US" sz="3190" spc="-1" strike="noStrike">
              <a:solidFill>
                <a:srgbClr val="000000"/>
              </a:solidFill>
              <a:latin typeface="Arial"/>
            </a:endParaRPr>
          </a:p>
        </p:txBody>
      </p:sp>
      <p:sp>
        <p:nvSpPr>
          <p:cNvPr id="3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VISUELLE VARIABLEN</a:t>
            </a:r>
            <a:endParaRPr b="0" lang="en-US" sz="1130" spc="-1" strike="noStrike">
              <a:solidFill>
                <a:srgbClr val="000000"/>
              </a:solidFill>
              <a:latin typeface="Arial"/>
            </a:endParaRPr>
          </a:p>
        </p:txBody>
      </p:sp>
      <p:sp>
        <p:nvSpPr>
          <p:cNvPr id="3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3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pic>
        <p:nvPicPr>
          <p:cNvPr id="324" name="" descr="Dieselben drei Punkte A, B, C mit Typ Wald, Offenland, Wald und Höhen 200, 250, 300 Meter. Kategorien werden als Kreis beziehungsweise Dreieck dargestellt; numerische Höhen durch geordnete Helligkeit."/>
          <p:cNvPicPr/>
          <p:nvPr/>
        </p:nvPicPr>
        <p:blipFill>
          <a:blip r:embed="rId1">
            <a:extLst>
              <a:ext uri="{96DAC541-7B7A-43D3-8B79-37D633B846F1}">
                <asvg:svgBlip xmlns:asvg="http://schemas.microsoft.com/office/drawing/2016/SVG/main" r:embed="rId2"/>
              </a:ext>
            </a:extLst>
          </a:blip>
          <a:stretch/>
        </p:blipFill>
        <p:spPr>
          <a:xfrm>
            <a:off x="1257480" y="1676520"/>
            <a:ext cx="3238560" cy="4043160"/>
          </a:xfrm>
          <a:prstGeom prst="rect">
            <a:avLst/>
          </a:prstGeom>
          <a:ln w="0">
            <a:noFill/>
          </a:ln>
        </p:spPr>
      </p:pic>
      <p:sp>
        <p:nvSpPr>
          <p:cNvPr id="325" name=""/>
          <p:cNvSpPr/>
          <p:nvPr/>
        </p:nvSpPr>
        <p:spPr>
          <a:xfrm>
            <a:off x="5486400" y="2171880"/>
            <a:ext cx="525780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6" name=""/>
          <p:cNvSpPr/>
          <p:nvPr/>
        </p:nvSpPr>
        <p:spPr>
          <a:xfrm>
            <a:off x="5486400" y="2171880"/>
            <a:ext cx="53280" cy="13334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7" name=""/>
          <p:cNvSpPr txBox="1"/>
          <p:nvPr/>
        </p:nvSpPr>
        <p:spPr>
          <a:xfrm>
            <a:off x="5692320" y="2354760"/>
            <a:ext cx="4846320" cy="647640"/>
          </a:xfrm>
          <a:prstGeom prst="rect">
            <a:avLst/>
          </a:prstGeom>
          <a:noFill/>
          <a:ln w="0">
            <a:noFill/>
          </a:ln>
        </p:spPr>
        <p:txBody>
          <a:bodyPr lIns="0" rIns="0" tIns="0" bIns="0" anchor="t">
            <a:noAutofit/>
          </a:bodyPr>
          <a:p>
            <a:r>
              <a:rPr b="1" lang="en-US" sz="2540" spc="-1" strike="noStrike">
                <a:solidFill>
                  <a:srgbClr val="004899"/>
                </a:solidFill>
                <a:latin typeface="Noto Sans"/>
              </a:rPr>
              <a:t>Kategorie</a:t>
            </a:r>
            <a:endParaRPr b="0" lang="en-US" sz="2540" spc="-1" strike="noStrike">
              <a:solidFill>
                <a:srgbClr val="000000"/>
              </a:solidFill>
              <a:latin typeface="Arial"/>
            </a:endParaRPr>
          </a:p>
        </p:txBody>
      </p:sp>
      <p:sp>
        <p:nvSpPr>
          <p:cNvPr id="328" name=""/>
          <p:cNvSpPr txBox="1"/>
          <p:nvPr/>
        </p:nvSpPr>
        <p:spPr>
          <a:xfrm>
            <a:off x="5692320" y="2933640"/>
            <a:ext cx="4846320" cy="434520"/>
          </a:xfrm>
          <a:prstGeom prst="rect">
            <a:avLst/>
          </a:prstGeom>
          <a:noFill/>
          <a:ln w="0">
            <a:noFill/>
          </a:ln>
        </p:spPr>
        <p:txBody>
          <a:bodyPr lIns="0" rIns="0" tIns="0" bIns="0" anchor="t">
            <a:noAutofit/>
          </a:bodyPr>
          <a:p>
            <a:r>
              <a:rPr b="0" lang="en-US" sz="2260" spc="-1" strike="noStrike">
                <a:solidFill>
                  <a:srgbClr val="000000"/>
                </a:solidFill>
                <a:latin typeface="Noto Sans"/>
              </a:rPr>
              <a:t>Farbton oder Form</a:t>
            </a:r>
            <a:endParaRPr b="0" lang="en-US" sz="2260" spc="-1" strike="noStrike">
              <a:solidFill>
                <a:srgbClr val="000000"/>
              </a:solidFill>
              <a:latin typeface="Arial"/>
            </a:endParaRPr>
          </a:p>
          <a:p>
            <a:r>
              <a:rPr b="0" lang="en-US" sz="2260" spc="-1" strike="noStrike">
                <a:solidFill>
                  <a:srgbClr val="000000"/>
                </a:solidFill>
                <a:latin typeface="Noto Sans"/>
              </a:rPr>
              <a:t>ohne Rangfolge</a:t>
            </a:r>
            <a:endParaRPr b="0" lang="en-US" sz="2260" spc="-1" strike="noStrike">
              <a:solidFill>
                <a:srgbClr val="000000"/>
              </a:solidFill>
              <a:latin typeface="Arial"/>
            </a:endParaRPr>
          </a:p>
        </p:txBody>
      </p:sp>
      <p:sp>
        <p:nvSpPr>
          <p:cNvPr id="329" name=""/>
          <p:cNvSpPr/>
          <p:nvPr/>
        </p:nvSpPr>
        <p:spPr>
          <a:xfrm>
            <a:off x="5486400" y="3962520"/>
            <a:ext cx="525780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0" name=""/>
          <p:cNvSpPr/>
          <p:nvPr/>
        </p:nvSpPr>
        <p:spPr>
          <a:xfrm>
            <a:off x="5486400" y="3962520"/>
            <a:ext cx="53280" cy="13334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1" name=""/>
          <p:cNvSpPr txBox="1"/>
          <p:nvPr/>
        </p:nvSpPr>
        <p:spPr>
          <a:xfrm>
            <a:off x="5692320" y="4145400"/>
            <a:ext cx="4846320" cy="647640"/>
          </a:xfrm>
          <a:prstGeom prst="rect">
            <a:avLst/>
          </a:prstGeom>
          <a:noFill/>
          <a:ln w="0">
            <a:noFill/>
          </a:ln>
        </p:spPr>
        <p:txBody>
          <a:bodyPr lIns="0" rIns="0" tIns="0" bIns="0" anchor="t">
            <a:noAutofit/>
          </a:bodyPr>
          <a:p>
            <a:r>
              <a:rPr b="1" lang="en-US" sz="2540" spc="-1" strike="noStrike">
                <a:solidFill>
                  <a:srgbClr val="a32123"/>
                </a:solidFill>
                <a:latin typeface="Noto Sans"/>
              </a:rPr>
              <a:t>Höhe</a:t>
            </a:r>
            <a:endParaRPr b="0" lang="en-US" sz="2540" spc="-1" strike="noStrike">
              <a:solidFill>
                <a:srgbClr val="000000"/>
              </a:solidFill>
              <a:latin typeface="Arial"/>
            </a:endParaRPr>
          </a:p>
        </p:txBody>
      </p:sp>
      <p:sp>
        <p:nvSpPr>
          <p:cNvPr id="332" name=""/>
          <p:cNvSpPr txBox="1"/>
          <p:nvPr/>
        </p:nvSpPr>
        <p:spPr>
          <a:xfrm>
            <a:off x="5692320" y="4724280"/>
            <a:ext cx="4846320" cy="434520"/>
          </a:xfrm>
          <a:prstGeom prst="rect">
            <a:avLst/>
          </a:prstGeom>
          <a:noFill/>
          <a:ln w="0">
            <a:noFill/>
          </a:ln>
        </p:spPr>
        <p:txBody>
          <a:bodyPr lIns="0" rIns="0" tIns="0" bIns="0" anchor="t">
            <a:noAutofit/>
          </a:bodyPr>
          <a:p>
            <a:r>
              <a:rPr b="0" lang="en-US" sz="2260" spc="-1" strike="noStrike">
                <a:solidFill>
                  <a:srgbClr val="000000"/>
                </a:solidFill>
                <a:latin typeface="Noto Sans"/>
              </a:rPr>
              <a:t>geordnete Helligkeit</a:t>
            </a:r>
            <a:endParaRPr b="0" lang="en-US" sz="2260" spc="-1" strike="noStrike">
              <a:solidFill>
                <a:srgbClr val="000000"/>
              </a:solidFill>
              <a:latin typeface="Arial"/>
            </a:endParaRPr>
          </a:p>
          <a:p>
            <a:r>
              <a:rPr b="0" lang="en-US" sz="2260" spc="-1" strike="noStrike">
                <a:solidFill>
                  <a:srgbClr val="000000"/>
                </a:solidFill>
                <a:latin typeface="Noto Sans"/>
              </a:rPr>
              <a:t>niedrig → hoch</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Hauptinformation muss zuerst auffallen</a:t>
            </a:r>
            <a:endParaRPr b="0" lang="en-US" sz="3190" spc="-1" strike="noStrike">
              <a:solidFill>
                <a:srgbClr val="000000"/>
              </a:solidFill>
              <a:latin typeface="Arial"/>
            </a:endParaRPr>
          </a:p>
        </p:txBody>
      </p:sp>
      <p:sp>
        <p:nvSpPr>
          <p:cNvPr id="33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VISUELLE HIERARCHIE</a:t>
            </a:r>
            <a:endParaRPr b="0" lang="en-US" sz="1130" spc="-1" strike="noStrike">
              <a:solidFill>
                <a:srgbClr val="000000"/>
              </a:solidFill>
              <a:latin typeface="Arial"/>
            </a:endParaRPr>
          </a:p>
        </p:txBody>
      </p:sp>
      <p:sp>
        <p:nvSpPr>
          <p:cNvPr id="33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33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pic>
        <p:nvPicPr>
          <p:cNvPr id="337" name="" descr="Zwei schematische Karten verwenden dieselben acht Punkte, denselben Fluss und dieselben Höhenlinien. Links konkurrieren ein dunkler Hintergrund und ein breiter Fluss mit den Punkten. Rechts treten heller Hintergrund und schmaler Fluss zurück, sodass die kontrastreichen Punkte zuerst auffallen."/>
          <p:cNvPicPr/>
          <p:nvPr/>
        </p:nvPicPr>
        <p:blipFill>
          <a:blip r:embed="rId1">
            <a:extLst>
              <a:ext uri="{96DAC541-7B7A-43D3-8B79-37D633B846F1}">
                <asvg:svgBlip xmlns:asvg="http://schemas.microsoft.com/office/drawing/2016/SVG/main" r:embed="rId2"/>
              </a:ext>
            </a:extLst>
          </a:blip>
          <a:stretch/>
        </p:blipFill>
        <p:spPr>
          <a:xfrm>
            <a:off x="1981080" y="1676520"/>
            <a:ext cx="8229600" cy="3950280"/>
          </a:xfrm>
          <a:prstGeom prst="rect">
            <a:avLst/>
          </a:prstGeom>
          <a:ln w="0">
            <a:noFill/>
          </a:ln>
        </p:spPr>
      </p:pic>
      <p:sp>
        <p:nvSpPr>
          <p:cNvPr id="338" name=""/>
          <p:cNvSpPr/>
          <p:nvPr/>
        </p:nvSpPr>
        <p:spPr>
          <a:xfrm>
            <a:off x="647640" y="575316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9" name=""/>
          <p:cNvSpPr txBox="1"/>
          <p:nvPr/>
        </p:nvSpPr>
        <p:spPr>
          <a:xfrm>
            <a:off x="838080" y="585972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Punkte zuerst · Kontext zurückhaltend · unnötige Layer ausblenden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Vor dem Layout die Kartenansicht prüfen</a:t>
            </a:r>
            <a:endParaRPr b="0" lang="en-US" sz="3190" spc="-1" strike="noStrike">
              <a:solidFill>
                <a:srgbClr val="000000"/>
              </a:solidFill>
              <a:latin typeface="Arial"/>
            </a:endParaRPr>
          </a:p>
        </p:txBody>
      </p:sp>
      <p:sp>
        <p:nvSpPr>
          <p:cNvPr id="34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UMSETZEN · ZWISCHENKONTROLLE</a:t>
            </a:r>
            <a:endParaRPr b="0" lang="en-US" sz="1130" spc="-1" strike="noStrike">
              <a:solidFill>
                <a:srgbClr val="000000"/>
              </a:solidFill>
              <a:latin typeface="Arial"/>
            </a:endParaRPr>
          </a:p>
        </p:txBody>
      </p:sp>
      <p:sp>
        <p:nvSpPr>
          <p:cNvPr id="34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34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344" name=""/>
          <p:cNvSpPr/>
          <p:nvPr/>
        </p:nvSpPr>
        <p:spPr>
          <a:xfrm>
            <a:off x="647640" y="1905120"/>
            <a:ext cx="39394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5" name=""/>
          <p:cNvSpPr txBox="1"/>
          <p:nvPr/>
        </p:nvSpPr>
        <p:spPr>
          <a:xfrm>
            <a:off x="784800" y="2034720"/>
            <a:ext cx="3688200" cy="533520"/>
          </a:xfrm>
          <a:prstGeom prst="rect">
            <a:avLst/>
          </a:prstGeom>
          <a:noFill/>
          <a:ln w="0">
            <a:noFill/>
          </a:ln>
        </p:spPr>
        <p:txBody>
          <a:bodyPr lIns="0" rIns="0" tIns="0" bIns="0" anchor="t">
            <a:noAutofit/>
          </a:bodyPr>
          <a:p>
            <a:r>
              <a:rPr b="1" lang="en-US" sz="2160" spc="-1" strike="noStrike">
                <a:solidFill>
                  <a:srgbClr val="ffffff"/>
                </a:solidFill>
                <a:latin typeface="Noto Sans"/>
              </a:rPr>
              <a:t>Prüffrage</a:t>
            </a:r>
            <a:endParaRPr b="0" lang="en-US" sz="2160" spc="-1" strike="noStrike">
              <a:solidFill>
                <a:srgbClr val="000000"/>
              </a:solidFill>
              <a:latin typeface="Arial"/>
            </a:endParaRPr>
          </a:p>
        </p:txBody>
      </p:sp>
      <p:sp>
        <p:nvSpPr>
          <p:cNvPr id="346" name=""/>
          <p:cNvSpPr/>
          <p:nvPr/>
        </p:nvSpPr>
        <p:spPr>
          <a:xfrm>
            <a:off x="4610160" y="1905120"/>
            <a:ext cx="69112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7" name=""/>
          <p:cNvSpPr txBox="1"/>
          <p:nvPr/>
        </p:nvSpPr>
        <p:spPr>
          <a:xfrm>
            <a:off x="4747320" y="2034720"/>
            <a:ext cx="6660000" cy="533520"/>
          </a:xfrm>
          <a:prstGeom prst="rect">
            <a:avLst/>
          </a:prstGeom>
          <a:noFill/>
          <a:ln w="0">
            <a:noFill/>
          </a:ln>
        </p:spPr>
        <p:txBody>
          <a:bodyPr lIns="0" rIns="0" tIns="0" bIns="0" anchor="t">
            <a:noAutofit/>
          </a:bodyPr>
          <a:p>
            <a:r>
              <a:rPr b="1" lang="en-US" sz="2160" spc="-1" strike="noStrike">
                <a:solidFill>
                  <a:srgbClr val="ffffff"/>
                </a:solidFill>
                <a:latin typeface="Noto Sans"/>
              </a:rPr>
              <a:t>Sollzustand</a:t>
            </a:r>
            <a:endParaRPr b="0" lang="en-US" sz="2160" spc="-1" strike="noStrike">
              <a:solidFill>
                <a:srgbClr val="000000"/>
              </a:solidFill>
              <a:latin typeface="Arial"/>
            </a:endParaRPr>
          </a:p>
        </p:txBody>
      </p:sp>
      <p:sp>
        <p:nvSpPr>
          <p:cNvPr id="348" name=""/>
          <p:cNvSpPr/>
          <p:nvPr/>
        </p:nvSpPr>
        <p:spPr>
          <a:xfrm>
            <a:off x="647640" y="2590920"/>
            <a:ext cx="3939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9" name=""/>
          <p:cNvSpPr txBox="1"/>
          <p:nvPr/>
        </p:nvSpPr>
        <p:spPr>
          <a:xfrm>
            <a:off x="784800" y="2720520"/>
            <a:ext cx="3688200" cy="533520"/>
          </a:xfrm>
          <a:prstGeom prst="rect">
            <a:avLst/>
          </a:prstGeom>
          <a:noFill/>
          <a:ln w="0">
            <a:noFill/>
          </a:ln>
        </p:spPr>
        <p:txBody>
          <a:bodyPr lIns="0" rIns="0" tIns="0" bIns="0" anchor="t">
            <a:noAutofit/>
          </a:bodyPr>
          <a:p>
            <a:r>
              <a:rPr b="0" lang="en-US" sz="2160" spc="-1" strike="noStrike">
                <a:solidFill>
                  <a:srgbClr val="000000"/>
                </a:solidFill>
                <a:latin typeface="Noto Sans"/>
              </a:rPr>
              <a:t>Punktlayer</a:t>
            </a:r>
            <a:endParaRPr b="0" lang="en-US" sz="2160" spc="-1" strike="noStrike">
              <a:solidFill>
                <a:srgbClr val="000000"/>
              </a:solidFill>
              <a:latin typeface="Arial"/>
            </a:endParaRPr>
          </a:p>
        </p:txBody>
      </p:sp>
      <p:sp>
        <p:nvSpPr>
          <p:cNvPr id="350" name=""/>
          <p:cNvSpPr/>
          <p:nvPr/>
        </p:nvSpPr>
        <p:spPr>
          <a:xfrm>
            <a:off x="4610160" y="2590920"/>
            <a:ext cx="6911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1" name=""/>
          <p:cNvSpPr txBox="1"/>
          <p:nvPr/>
        </p:nvSpPr>
        <p:spPr>
          <a:xfrm>
            <a:off x="4747320" y="2720520"/>
            <a:ext cx="6660000" cy="533520"/>
          </a:xfrm>
          <a:prstGeom prst="rect">
            <a:avLst/>
          </a:prstGeom>
          <a:noFill/>
          <a:ln w="0">
            <a:noFill/>
          </a:ln>
        </p:spPr>
        <p:txBody>
          <a:bodyPr lIns="0" rIns="0" tIns="0" bIns="0" anchor="t">
            <a:noAutofit/>
          </a:bodyPr>
          <a:p>
            <a:r>
              <a:rPr b="0" lang="en-US" sz="2160" spc="-1" strike="noStrike">
                <a:solidFill>
                  <a:srgbClr val="000000"/>
                </a:solidFill>
                <a:latin typeface="Noto Sans"/>
              </a:rPr>
              <a:t>35 Nachweise · hoehe_m</a:t>
            </a:r>
            <a:endParaRPr b="0" lang="en-US" sz="2160" spc="-1" strike="noStrike">
              <a:solidFill>
                <a:srgbClr val="000000"/>
              </a:solidFill>
              <a:latin typeface="Arial"/>
            </a:endParaRPr>
          </a:p>
        </p:txBody>
      </p:sp>
      <p:sp>
        <p:nvSpPr>
          <p:cNvPr id="352" name=""/>
          <p:cNvSpPr/>
          <p:nvPr/>
        </p:nvSpPr>
        <p:spPr>
          <a:xfrm>
            <a:off x="647640" y="3276720"/>
            <a:ext cx="3939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3" name=""/>
          <p:cNvSpPr txBox="1"/>
          <p:nvPr/>
        </p:nvSpPr>
        <p:spPr>
          <a:xfrm>
            <a:off x="784800" y="3406320"/>
            <a:ext cx="3688200" cy="533520"/>
          </a:xfrm>
          <a:prstGeom prst="rect">
            <a:avLst/>
          </a:prstGeom>
          <a:noFill/>
          <a:ln w="0">
            <a:noFill/>
          </a:ln>
        </p:spPr>
        <p:txBody>
          <a:bodyPr lIns="0" rIns="0" tIns="0" bIns="0" anchor="t">
            <a:noAutofit/>
          </a:bodyPr>
          <a:p>
            <a:r>
              <a:rPr b="0" lang="en-US" sz="2160" spc="-1" strike="noStrike">
                <a:solidFill>
                  <a:srgbClr val="000000"/>
                </a:solidFill>
                <a:latin typeface="Noto Sans"/>
              </a:rPr>
              <a:t>Klassifizierung</a:t>
            </a:r>
            <a:endParaRPr b="0" lang="en-US" sz="2160" spc="-1" strike="noStrike">
              <a:solidFill>
                <a:srgbClr val="000000"/>
              </a:solidFill>
              <a:latin typeface="Arial"/>
            </a:endParaRPr>
          </a:p>
        </p:txBody>
      </p:sp>
      <p:sp>
        <p:nvSpPr>
          <p:cNvPr id="354" name=""/>
          <p:cNvSpPr/>
          <p:nvPr/>
        </p:nvSpPr>
        <p:spPr>
          <a:xfrm>
            <a:off x="4610160" y="3276720"/>
            <a:ext cx="6911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5" name=""/>
          <p:cNvSpPr txBox="1"/>
          <p:nvPr/>
        </p:nvSpPr>
        <p:spPr>
          <a:xfrm>
            <a:off x="4747320" y="3406320"/>
            <a:ext cx="6660000" cy="533520"/>
          </a:xfrm>
          <a:prstGeom prst="rect">
            <a:avLst/>
          </a:prstGeom>
          <a:noFill/>
          <a:ln w="0">
            <a:noFill/>
          </a:ln>
        </p:spPr>
        <p:txBody>
          <a:bodyPr lIns="0" rIns="0" tIns="0" bIns="0" anchor="t">
            <a:noAutofit/>
          </a:bodyPr>
          <a:p>
            <a:r>
              <a:rPr b="0" lang="en-US" sz="2160" spc="-1" strike="noStrike">
                <a:solidFill>
                  <a:srgbClr val="000000"/>
                </a:solidFill>
                <a:latin typeface="Noto Sans"/>
              </a:rPr>
              <a:t>begründete Methode · 5 Klassen</a:t>
            </a:r>
            <a:endParaRPr b="0" lang="en-US" sz="2160" spc="-1" strike="noStrike">
              <a:solidFill>
                <a:srgbClr val="000000"/>
              </a:solidFill>
              <a:latin typeface="Arial"/>
            </a:endParaRPr>
          </a:p>
        </p:txBody>
      </p:sp>
      <p:sp>
        <p:nvSpPr>
          <p:cNvPr id="356" name=""/>
          <p:cNvSpPr/>
          <p:nvPr/>
        </p:nvSpPr>
        <p:spPr>
          <a:xfrm>
            <a:off x="647640" y="3962520"/>
            <a:ext cx="3939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7" name=""/>
          <p:cNvSpPr txBox="1"/>
          <p:nvPr/>
        </p:nvSpPr>
        <p:spPr>
          <a:xfrm>
            <a:off x="784800" y="4092120"/>
            <a:ext cx="3688200" cy="533520"/>
          </a:xfrm>
          <a:prstGeom prst="rect">
            <a:avLst/>
          </a:prstGeom>
          <a:noFill/>
          <a:ln w="0">
            <a:noFill/>
          </a:ln>
        </p:spPr>
        <p:txBody>
          <a:bodyPr lIns="0" rIns="0" tIns="0" bIns="0" anchor="t">
            <a:noAutofit/>
          </a:bodyPr>
          <a:p>
            <a:r>
              <a:rPr b="0" lang="en-US" sz="2160" spc="-1" strike="noStrike">
                <a:solidFill>
                  <a:srgbClr val="000000"/>
                </a:solidFill>
                <a:latin typeface="Noto Sans"/>
              </a:rPr>
              <a:t>Farbe</a:t>
            </a:r>
            <a:endParaRPr b="0" lang="en-US" sz="2160" spc="-1" strike="noStrike">
              <a:solidFill>
                <a:srgbClr val="000000"/>
              </a:solidFill>
              <a:latin typeface="Arial"/>
            </a:endParaRPr>
          </a:p>
        </p:txBody>
      </p:sp>
      <p:sp>
        <p:nvSpPr>
          <p:cNvPr id="358" name=""/>
          <p:cNvSpPr/>
          <p:nvPr/>
        </p:nvSpPr>
        <p:spPr>
          <a:xfrm>
            <a:off x="4610160" y="3962520"/>
            <a:ext cx="6911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9" name=""/>
          <p:cNvSpPr txBox="1"/>
          <p:nvPr/>
        </p:nvSpPr>
        <p:spPr>
          <a:xfrm>
            <a:off x="4747320" y="4092120"/>
            <a:ext cx="6660000" cy="533520"/>
          </a:xfrm>
          <a:prstGeom prst="rect">
            <a:avLst/>
          </a:prstGeom>
          <a:noFill/>
          <a:ln w="0">
            <a:noFill/>
          </a:ln>
        </p:spPr>
        <p:txBody>
          <a:bodyPr lIns="0" rIns="0" tIns="0" bIns="0" anchor="t">
            <a:noAutofit/>
          </a:bodyPr>
          <a:p>
            <a:r>
              <a:rPr b="0" lang="en-US" sz="2160" spc="-1" strike="noStrike">
                <a:solidFill>
                  <a:srgbClr val="000000"/>
                </a:solidFill>
                <a:latin typeface="Noto Sans"/>
              </a:rPr>
              <a:t>sequentiell · Reihenfolge sichtbar</a:t>
            </a:r>
            <a:endParaRPr b="0" lang="en-US" sz="2160" spc="-1" strike="noStrike">
              <a:solidFill>
                <a:srgbClr val="000000"/>
              </a:solidFill>
              <a:latin typeface="Arial"/>
            </a:endParaRPr>
          </a:p>
        </p:txBody>
      </p:sp>
      <p:sp>
        <p:nvSpPr>
          <p:cNvPr id="360" name=""/>
          <p:cNvSpPr/>
          <p:nvPr/>
        </p:nvSpPr>
        <p:spPr>
          <a:xfrm>
            <a:off x="647640" y="4648320"/>
            <a:ext cx="3939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1" name=""/>
          <p:cNvSpPr txBox="1"/>
          <p:nvPr/>
        </p:nvSpPr>
        <p:spPr>
          <a:xfrm>
            <a:off x="784800" y="4777920"/>
            <a:ext cx="3688200" cy="533520"/>
          </a:xfrm>
          <a:prstGeom prst="rect">
            <a:avLst/>
          </a:prstGeom>
          <a:noFill/>
          <a:ln w="0">
            <a:noFill/>
          </a:ln>
        </p:spPr>
        <p:txBody>
          <a:bodyPr lIns="0" rIns="0" tIns="0" bIns="0" anchor="t">
            <a:noAutofit/>
          </a:bodyPr>
          <a:p>
            <a:r>
              <a:rPr b="0" lang="en-US" sz="2160" spc="-1" strike="noStrike">
                <a:solidFill>
                  <a:srgbClr val="000000"/>
                </a:solidFill>
                <a:latin typeface="Noto Sans"/>
              </a:rPr>
              <a:t>Hierarchie</a:t>
            </a:r>
            <a:endParaRPr b="0" lang="en-US" sz="2160" spc="-1" strike="noStrike">
              <a:solidFill>
                <a:srgbClr val="000000"/>
              </a:solidFill>
              <a:latin typeface="Arial"/>
            </a:endParaRPr>
          </a:p>
        </p:txBody>
      </p:sp>
      <p:sp>
        <p:nvSpPr>
          <p:cNvPr id="362" name=""/>
          <p:cNvSpPr/>
          <p:nvPr/>
        </p:nvSpPr>
        <p:spPr>
          <a:xfrm>
            <a:off x="4610160" y="4648320"/>
            <a:ext cx="6911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3" name=""/>
          <p:cNvSpPr txBox="1"/>
          <p:nvPr/>
        </p:nvSpPr>
        <p:spPr>
          <a:xfrm>
            <a:off x="4747320" y="4777920"/>
            <a:ext cx="6660000" cy="533520"/>
          </a:xfrm>
          <a:prstGeom prst="rect">
            <a:avLst/>
          </a:prstGeom>
          <a:noFill/>
          <a:ln w="0">
            <a:noFill/>
          </a:ln>
        </p:spPr>
        <p:txBody>
          <a:bodyPr lIns="0" rIns="0" tIns="0" bIns="0" anchor="t">
            <a:noAutofit/>
          </a:bodyPr>
          <a:p>
            <a:r>
              <a:rPr b="0" lang="en-US" sz="2160" spc="-1" strike="noStrike">
                <a:solidFill>
                  <a:srgbClr val="000000"/>
                </a:solidFill>
                <a:latin typeface="Noto Sans"/>
              </a:rPr>
              <a:t>Punkte dominieren den Kontext</a:t>
            </a:r>
            <a:endParaRPr b="0" lang="en-US" sz="2160" spc="-1" strike="noStrike">
              <a:solidFill>
                <a:srgbClr val="000000"/>
              </a:solidFill>
              <a:latin typeface="Arial"/>
            </a:endParaRPr>
          </a:p>
        </p:txBody>
      </p:sp>
      <p:sp>
        <p:nvSpPr>
          <p:cNvPr id="36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5"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Zeitmarke Minute 45: Layout ab jetzt verbindlich.</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Das vorbereitete Layout gezielt ausarbeiten</a:t>
            </a:r>
            <a:endParaRPr b="0" lang="en-US" sz="3190" spc="-1" strike="noStrike">
              <a:solidFill>
                <a:srgbClr val="000000"/>
              </a:solidFill>
              <a:latin typeface="Arial"/>
            </a:endParaRPr>
          </a:p>
        </p:txBody>
      </p:sp>
      <p:sp>
        <p:nvSpPr>
          <p:cNvPr id="36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EINSTIEG</a:t>
            </a:r>
            <a:endParaRPr b="0" lang="en-US" sz="1130" spc="-1" strike="noStrike">
              <a:solidFill>
                <a:srgbClr val="000000"/>
              </a:solidFill>
              <a:latin typeface="Arial"/>
            </a:endParaRPr>
          </a:p>
        </p:txBody>
      </p:sp>
      <p:sp>
        <p:nvSpPr>
          <p:cNvPr id="36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36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370"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1"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72"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Layout öffnen</a:t>
            </a:r>
            <a:endParaRPr b="0" lang="en-US" sz="2720" spc="-1" strike="noStrike">
              <a:solidFill>
                <a:srgbClr val="000000"/>
              </a:solidFill>
              <a:latin typeface="Arial"/>
            </a:endParaRPr>
          </a:p>
        </p:txBody>
      </p:sp>
      <p:sp>
        <p:nvSpPr>
          <p:cNvPr id="373"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abschlusskarte_unit14 · A4 quer.</a:t>
            </a:r>
            <a:endParaRPr b="0" lang="en-US" sz="2260" spc="-1" strike="noStrike">
              <a:solidFill>
                <a:srgbClr val="000000"/>
              </a:solidFill>
              <a:latin typeface="Arial"/>
            </a:endParaRPr>
          </a:p>
        </p:txBody>
      </p:sp>
      <p:sp>
        <p:nvSpPr>
          <p:cNvPr id="374"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5"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76"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Aktiv ändern</a:t>
            </a:r>
            <a:endParaRPr b="0" lang="en-US" sz="2720" spc="-1" strike="noStrike">
              <a:solidFill>
                <a:srgbClr val="000000"/>
              </a:solidFill>
              <a:latin typeface="Arial"/>
            </a:endParaRPr>
          </a:p>
        </p:txBody>
      </p:sp>
      <p:sp>
        <p:nvSpPr>
          <p:cNvPr id="377"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Titel und Legende fachlich überarbeiten.</a:t>
            </a:r>
            <a:endParaRPr b="0" lang="en-US" sz="2260" spc="-1" strike="noStrike">
              <a:solidFill>
                <a:srgbClr val="000000"/>
              </a:solidFill>
              <a:latin typeface="Arial"/>
            </a:endParaRPr>
          </a:p>
        </p:txBody>
      </p:sp>
      <p:sp>
        <p:nvSpPr>
          <p:cNvPr id="378"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9"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80"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Kontrollieren</a:t>
            </a:r>
            <a:endParaRPr b="0" lang="en-US" sz="2720" spc="-1" strike="noStrike">
              <a:solidFill>
                <a:srgbClr val="000000"/>
              </a:solidFill>
              <a:latin typeface="Arial"/>
            </a:endParaRPr>
          </a:p>
        </p:txBody>
      </p:sp>
      <p:sp>
        <p:nvSpPr>
          <p:cNvPr id="381"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Ausschnitt, Maßstab und Quellen prüfen.</a:t>
            </a:r>
            <a:endParaRPr b="0" lang="en-US" sz="2260" spc="-1" strike="noStrike">
              <a:solidFill>
                <a:srgbClr val="000000"/>
              </a:solidFill>
              <a:latin typeface="Arial"/>
            </a:endParaRPr>
          </a:p>
        </p:txBody>
      </p:sp>
      <p:sp>
        <p:nvSpPr>
          <p:cNvPr id="38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8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Keine zusätzlichen Layerelemente – Zeit für Export und Partnercheck sichern.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Beispielkarte ist eine Prüfreferenz</a:t>
            </a:r>
            <a:endParaRPr b="0" lang="en-US" sz="3190" spc="-1" strike="noStrike">
              <a:solidFill>
                <a:srgbClr val="000000"/>
              </a:solidFill>
              <a:latin typeface="Arial"/>
            </a:endParaRPr>
          </a:p>
        </p:txBody>
      </p:sp>
      <p:sp>
        <p:nvSpPr>
          <p:cNvPr id="38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GESAMTANSICHT</a:t>
            </a:r>
            <a:endParaRPr b="0" lang="en-US" sz="1130" spc="-1" strike="noStrike">
              <a:solidFill>
                <a:srgbClr val="000000"/>
              </a:solidFill>
              <a:latin typeface="Arial"/>
            </a:endParaRPr>
          </a:p>
        </p:txBody>
      </p:sp>
      <p:sp>
        <p:nvSpPr>
          <p:cNvPr id="38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38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pic>
        <p:nvPicPr>
          <p:cNvPr id="388" name="" descr=""/>
          <p:cNvPicPr/>
          <p:nvPr/>
        </p:nvPicPr>
        <p:blipFill>
          <a:blip r:embed="rId1"/>
          <a:stretch/>
        </p:blipFill>
        <p:spPr>
          <a:xfrm>
            <a:off x="495360" y="1600200"/>
            <a:ext cx="6248520" cy="4420080"/>
          </a:xfrm>
          <a:prstGeom prst="rect">
            <a:avLst/>
          </a:prstGeom>
          <a:ln w="0">
            <a:noFill/>
          </a:ln>
        </p:spPr>
      </p:pic>
      <p:sp>
        <p:nvSpPr>
          <p:cNvPr id="389" name=""/>
          <p:cNvSpPr/>
          <p:nvPr/>
        </p:nvSpPr>
        <p:spPr>
          <a:xfrm>
            <a:off x="7239240" y="2171880"/>
            <a:ext cx="4191120" cy="1143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0" name=""/>
          <p:cNvSpPr/>
          <p:nvPr/>
        </p:nvSpPr>
        <p:spPr>
          <a:xfrm>
            <a:off x="7239240" y="2171880"/>
            <a:ext cx="53280" cy="1143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1" name=""/>
          <p:cNvSpPr txBox="1"/>
          <p:nvPr/>
        </p:nvSpPr>
        <p:spPr>
          <a:xfrm>
            <a:off x="7444800" y="2354760"/>
            <a:ext cx="3779640" cy="647640"/>
          </a:xfrm>
          <a:prstGeom prst="rect">
            <a:avLst/>
          </a:prstGeom>
          <a:noFill/>
          <a:ln w="0">
            <a:noFill/>
          </a:ln>
        </p:spPr>
        <p:txBody>
          <a:bodyPr lIns="0" rIns="0" tIns="0" bIns="0" anchor="t">
            <a:noAutofit/>
          </a:bodyPr>
          <a:p>
            <a:r>
              <a:rPr b="1" lang="en-US" sz="2540" spc="-1" strike="noStrike">
                <a:solidFill>
                  <a:srgbClr val="004899"/>
                </a:solidFill>
                <a:latin typeface="Noto Sans"/>
              </a:rPr>
              <a:t>Hauptthema</a:t>
            </a:r>
            <a:endParaRPr b="0" lang="en-US" sz="2540" spc="-1" strike="noStrike">
              <a:solidFill>
                <a:srgbClr val="000000"/>
              </a:solidFill>
              <a:latin typeface="Arial"/>
            </a:endParaRPr>
          </a:p>
        </p:txBody>
      </p:sp>
      <p:sp>
        <p:nvSpPr>
          <p:cNvPr id="392" name=""/>
          <p:cNvSpPr txBox="1"/>
          <p:nvPr/>
        </p:nvSpPr>
        <p:spPr>
          <a:xfrm>
            <a:off x="7444800" y="2933640"/>
            <a:ext cx="3779640" cy="243720"/>
          </a:xfrm>
          <a:prstGeom prst="rect">
            <a:avLst/>
          </a:prstGeom>
          <a:noFill/>
          <a:ln w="0">
            <a:noFill/>
          </a:ln>
        </p:spPr>
        <p:txBody>
          <a:bodyPr lIns="0" rIns="0" tIns="0" bIns="0" anchor="t">
            <a:noAutofit/>
          </a:bodyPr>
          <a:p>
            <a:r>
              <a:rPr b="0" lang="en-US" sz="1979" spc="-1" strike="noStrike">
                <a:solidFill>
                  <a:srgbClr val="000000"/>
                </a:solidFill>
                <a:latin typeface="Noto Sans"/>
              </a:rPr>
              <a:t>35 dokumentierte Nachweise</a:t>
            </a:r>
            <a:endParaRPr b="0" lang="en-US" sz="1979" spc="-1" strike="noStrike">
              <a:solidFill>
                <a:srgbClr val="000000"/>
              </a:solidFill>
              <a:latin typeface="Arial"/>
            </a:endParaRPr>
          </a:p>
          <a:p>
            <a:r>
              <a:rPr b="0" lang="en-US" sz="1979" spc="-1" strike="noStrike">
                <a:solidFill>
                  <a:srgbClr val="000000"/>
                </a:solidFill>
                <a:latin typeface="Noto Sans"/>
              </a:rPr>
              <a:t>nach Geländehöhe</a:t>
            </a:r>
            <a:endParaRPr b="0" lang="en-US" sz="1979" spc="-1" strike="noStrike">
              <a:solidFill>
                <a:srgbClr val="000000"/>
              </a:solidFill>
              <a:latin typeface="Arial"/>
            </a:endParaRPr>
          </a:p>
        </p:txBody>
      </p:sp>
      <p:sp>
        <p:nvSpPr>
          <p:cNvPr id="393" name=""/>
          <p:cNvSpPr/>
          <p:nvPr/>
        </p:nvSpPr>
        <p:spPr>
          <a:xfrm>
            <a:off x="7239240" y="3809880"/>
            <a:ext cx="4191120" cy="1143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4" name=""/>
          <p:cNvSpPr/>
          <p:nvPr/>
        </p:nvSpPr>
        <p:spPr>
          <a:xfrm>
            <a:off x="7239240" y="3809880"/>
            <a:ext cx="53280" cy="1143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5" name=""/>
          <p:cNvSpPr txBox="1"/>
          <p:nvPr/>
        </p:nvSpPr>
        <p:spPr>
          <a:xfrm>
            <a:off x="7444800" y="3992760"/>
            <a:ext cx="3779640" cy="647640"/>
          </a:xfrm>
          <a:prstGeom prst="rect">
            <a:avLst/>
          </a:prstGeom>
          <a:noFill/>
          <a:ln w="0">
            <a:noFill/>
          </a:ln>
        </p:spPr>
        <p:txBody>
          <a:bodyPr lIns="0" rIns="0" tIns="0" bIns="0" anchor="t">
            <a:noAutofit/>
          </a:bodyPr>
          <a:p>
            <a:r>
              <a:rPr b="1" lang="en-US" sz="2540" spc="-1" strike="noStrike">
                <a:solidFill>
                  <a:srgbClr val="a32123"/>
                </a:solidFill>
                <a:latin typeface="Noto Sans"/>
              </a:rPr>
              <a:t>Pflichtangaben</a:t>
            </a:r>
            <a:endParaRPr b="0" lang="en-US" sz="2540" spc="-1" strike="noStrike">
              <a:solidFill>
                <a:srgbClr val="000000"/>
              </a:solidFill>
              <a:latin typeface="Arial"/>
            </a:endParaRPr>
          </a:p>
        </p:txBody>
      </p:sp>
      <p:sp>
        <p:nvSpPr>
          <p:cNvPr id="396" name=""/>
          <p:cNvSpPr txBox="1"/>
          <p:nvPr/>
        </p:nvSpPr>
        <p:spPr>
          <a:xfrm>
            <a:off x="7444800" y="4572000"/>
            <a:ext cx="3779640" cy="243720"/>
          </a:xfrm>
          <a:prstGeom prst="rect">
            <a:avLst/>
          </a:prstGeom>
          <a:noFill/>
          <a:ln w="0">
            <a:noFill/>
          </a:ln>
        </p:spPr>
        <p:txBody>
          <a:bodyPr lIns="0" rIns="0" tIns="0" bIns="0" anchor="t">
            <a:noAutofit/>
          </a:bodyPr>
          <a:p>
            <a:r>
              <a:rPr b="0" lang="en-US" sz="1979" spc="-1" strike="noStrike">
                <a:solidFill>
                  <a:srgbClr val="000000"/>
                </a:solidFill>
                <a:latin typeface="Noto Sans"/>
              </a:rPr>
              <a:t>Titel · Legende · Maßstab</a:t>
            </a:r>
            <a:endParaRPr b="0" lang="en-US" sz="1979" spc="-1" strike="noStrike">
              <a:solidFill>
                <a:srgbClr val="000000"/>
              </a:solidFill>
              <a:latin typeface="Arial"/>
            </a:endParaRPr>
          </a:p>
          <a:p>
            <a:r>
              <a:rPr b="0" lang="en-US" sz="1979" spc="-1" strike="noStrike">
                <a:solidFill>
                  <a:srgbClr val="000000"/>
                </a:solidFill>
                <a:latin typeface="Noto Sans"/>
              </a:rPr>
              <a:t>Quellen · Einschränkung</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Der Titel benennt den tatsächlichen Inhalt</a:t>
            </a:r>
            <a:endParaRPr b="0" lang="en-US" sz="3190" spc="-1" strike="noStrike">
              <a:solidFill>
                <a:srgbClr val="000000"/>
              </a:solidFill>
              <a:latin typeface="Arial"/>
            </a:endParaRPr>
          </a:p>
        </p:txBody>
      </p:sp>
      <p:sp>
        <p:nvSpPr>
          <p:cNvPr id="39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TITEL</a:t>
            </a:r>
            <a:endParaRPr b="0" lang="en-US" sz="1130" spc="-1" strike="noStrike">
              <a:solidFill>
                <a:srgbClr val="000000"/>
              </a:solidFill>
              <a:latin typeface="Arial"/>
            </a:endParaRPr>
          </a:p>
        </p:txBody>
      </p:sp>
      <p:sp>
        <p:nvSpPr>
          <p:cNvPr id="39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40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401" name=""/>
          <p:cNvSpPr/>
          <p:nvPr/>
        </p:nvSpPr>
        <p:spPr>
          <a:xfrm>
            <a:off x="914400" y="2095560"/>
            <a:ext cx="4648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2" name=""/>
          <p:cNvSpPr/>
          <p:nvPr/>
        </p:nvSpPr>
        <p:spPr>
          <a:xfrm>
            <a:off x="914400" y="209556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3" name=""/>
          <p:cNvSpPr txBox="1"/>
          <p:nvPr/>
        </p:nvSpPr>
        <p:spPr>
          <a:xfrm>
            <a:off x="1120320" y="2278440"/>
            <a:ext cx="4236840" cy="647640"/>
          </a:xfrm>
          <a:prstGeom prst="rect">
            <a:avLst/>
          </a:prstGeom>
          <a:noFill/>
          <a:ln w="0">
            <a:noFill/>
          </a:ln>
        </p:spPr>
        <p:txBody>
          <a:bodyPr lIns="0" rIns="0" tIns="0" bIns="0" anchor="t">
            <a:noAutofit/>
          </a:bodyPr>
          <a:p>
            <a:r>
              <a:rPr b="1" lang="en-US" sz="2540" spc="-1" strike="noStrike">
                <a:solidFill>
                  <a:srgbClr val="a32123"/>
                </a:solidFill>
                <a:latin typeface="Noto Sans"/>
              </a:rPr>
              <a:t>Zu allgemein</a:t>
            </a:r>
            <a:endParaRPr b="0" lang="en-US" sz="2540" spc="-1" strike="noStrike">
              <a:solidFill>
                <a:srgbClr val="000000"/>
              </a:solidFill>
              <a:latin typeface="Arial"/>
            </a:endParaRPr>
          </a:p>
        </p:txBody>
      </p:sp>
      <p:sp>
        <p:nvSpPr>
          <p:cNvPr id="404" name=""/>
          <p:cNvSpPr txBox="1"/>
          <p:nvPr/>
        </p:nvSpPr>
        <p:spPr>
          <a:xfrm>
            <a:off x="1120320" y="3040560"/>
            <a:ext cx="4236840" cy="1203840"/>
          </a:xfrm>
          <a:prstGeom prst="rect">
            <a:avLst/>
          </a:prstGeom>
          <a:noFill/>
          <a:ln w="0">
            <a:noFill/>
          </a:ln>
        </p:spPr>
        <p:txBody>
          <a:bodyPr lIns="0" rIns="0" tIns="0" bIns="0" anchor="t">
            <a:noAutofit/>
          </a:bodyPr>
          <a:p>
            <a:r>
              <a:rPr b="0" lang="en-US" sz="2350" spc="-1" strike="noStrike">
                <a:solidFill>
                  <a:srgbClr val="000000"/>
                </a:solidFill>
                <a:latin typeface="Noto Sans"/>
              </a:rPr>
              <a:t>Karte Unit 14</a:t>
            </a:r>
            <a:endParaRPr b="0" lang="en-US" sz="2350" spc="-1" strike="noStrike">
              <a:solidFill>
                <a:srgbClr val="000000"/>
              </a:solidFill>
              <a:latin typeface="Arial"/>
            </a:endParaRPr>
          </a:p>
          <a:p>
            <a:r>
              <a:rPr b="0" lang="en-US" sz="2350" spc="-1" strike="noStrike">
                <a:solidFill>
                  <a:srgbClr val="000000"/>
                </a:solidFill>
                <a:latin typeface="Noto Sans"/>
              </a:rPr>
              <a:t>Verbreitung der Art</a:t>
            </a:r>
            <a:endParaRPr b="0" lang="en-US" sz="2350" spc="-1" strike="noStrike">
              <a:solidFill>
                <a:srgbClr val="000000"/>
              </a:solidFill>
              <a:latin typeface="Arial"/>
            </a:endParaRPr>
          </a:p>
        </p:txBody>
      </p:sp>
      <p:sp>
        <p:nvSpPr>
          <p:cNvPr id="405" name=""/>
          <p:cNvSpPr/>
          <p:nvPr/>
        </p:nvSpPr>
        <p:spPr>
          <a:xfrm>
            <a:off x="6629400" y="2095560"/>
            <a:ext cx="4648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6" name=""/>
          <p:cNvSpPr/>
          <p:nvPr/>
        </p:nvSpPr>
        <p:spPr>
          <a:xfrm>
            <a:off x="6629400" y="209556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7" name=""/>
          <p:cNvSpPr txBox="1"/>
          <p:nvPr/>
        </p:nvSpPr>
        <p:spPr>
          <a:xfrm>
            <a:off x="6835320" y="2278440"/>
            <a:ext cx="4236840" cy="647640"/>
          </a:xfrm>
          <a:prstGeom prst="rect">
            <a:avLst/>
          </a:prstGeom>
          <a:noFill/>
          <a:ln w="0">
            <a:noFill/>
          </a:ln>
        </p:spPr>
        <p:txBody>
          <a:bodyPr lIns="0" rIns="0" tIns="0" bIns="0" anchor="t">
            <a:noAutofit/>
          </a:bodyPr>
          <a:p>
            <a:r>
              <a:rPr b="1" lang="en-US" sz="2540" spc="-1" strike="noStrike">
                <a:solidFill>
                  <a:srgbClr val="004899"/>
                </a:solidFill>
                <a:latin typeface="Noto Sans"/>
              </a:rPr>
              <a:t>Passend</a:t>
            </a:r>
            <a:endParaRPr b="0" lang="en-US" sz="2540" spc="-1" strike="noStrike">
              <a:solidFill>
                <a:srgbClr val="000000"/>
              </a:solidFill>
              <a:latin typeface="Arial"/>
            </a:endParaRPr>
          </a:p>
        </p:txBody>
      </p:sp>
      <p:sp>
        <p:nvSpPr>
          <p:cNvPr id="408" name=""/>
          <p:cNvSpPr txBox="1"/>
          <p:nvPr/>
        </p:nvSpPr>
        <p:spPr>
          <a:xfrm>
            <a:off x="6835320" y="3040560"/>
            <a:ext cx="4236840" cy="1203840"/>
          </a:xfrm>
          <a:prstGeom prst="rect">
            <a:avLst/>
          </a:prstGeom>
          <a:noFill/>
          <a:ln w="0">
            <a:noFill/>
          </a:ln>
        </p:spPr>
        <p:txBody>
          <a:bodyPr lIns="0" rIns="0" tIns="0" bIns="0" anchor="t">
            <a:noAutofit/>
          </a:bodyPr>
          <a:p>
            <a:r>
              <a:rPr b="0" lang="en-US" sz="2350" spc="-1" strike="noStrike">
                <a:solidFill>
                  <a:srgbClr val="000000"/>
                </a:solidFill>
                <a:latin typeface="Noto Sans"/>
              </a:rPr>
              <a:t>Feuersalamander-Nachweise</a:t>
            </a:r>
            <a:endParaRPr b="0" lang="en-US" sz="2350" spc="-1" strike="noStrike">
              <a:solidFill>
                <a:srgbClr val="000000"/>
              </a:solidFill>
              <a:latin typeface="Arial"/>
            </a:endParaRPr>
          </a:p>
          <a:p>
            <a:r>
              <a:rPr b="0" lang="en-US" sz="2350" spc="-1" strike="noStrike">
                <a:solidFill>
                  <a:srgbClr val="000000"/>
                </a:solidFill>
                <a:latin typeface="Noto Sans"/>
              </a:rPr>
              <a:t>bei Marburg</a:t>
            </a:r>
            <a:endParaRPr b="0" lang="en-US" sz="2350" spc="-1" strike="noStrike">
              <a:solidFill>
                <a:srgbClr val="000000"/>
              </a:solidFill>
              <a:latin typeface="Arial"/>
            </a:endParaRPr>
          </a:p>
        </p:txBody>
      </p:sp>
      <p:sp>
        <p:nvSpPr>
          <p:cNvPr id="40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0"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Der Titel darf nicht mehr versprechen, als die Daten zeigen.</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Legende erklärt Klassen statt Dateinamen</a:t>
            </a:r>
            <a:endParaRPr b="0" lang="en-US" sz="3190" spc="-1" strike="noStrike">
              <a:solidFill>
                <a:srgbClr val="000000"/>
              </a:solidFill>
              <a:latin typeface="Arial"/>
            </a:endParaRPr>
          </a:p>
        </p:txBody>
      </p:sp>
      <p:sp>
        <p:nvSpPr>
          <p:cNvPr id="41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LEGENDE</a:t>
            </a:r>
            <a:endParaRPr b="0" lang="en-US" sz="1130" spc="-1" strike="noStrike">
              <a:solidFill>
                <a:srgbClr val="000000"/>
              </a:solidFill>
              <a:latin typeface="Arial"/>
            </a:endParaRPr>
          </a:p>
        </p:txBody>
      </p:sp>
      <p:sp>
        <p:nvSpPr>
          <p:cNvPr id="41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41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sp>
        <p:nvSpPr>
          <p:cNvPr id="415" name=""/>
          <p:cNvSpPr/>
          <p:nvPr/>
        </p:nvSpPr>
        <p:spPr>
          <a:xfrm>
            <a:off x="647640" y="1943280"/>
            <a:ext cx="355860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6" name=""/>
          <p:cNvSpPr txBox="1"/>
          <p:nvPr/>
        </p:nvSpPr>
        <p:spPr>
          <a:xfrm>
            <a:off x="784800" y="2072520"/>
            <a:ext cx="3306960" cy="533520"/>
          </a:xfrm>
          <a:prstGeom prst="rect">
            <a:avLst/>
          </a:prstGeom>
          <a:noFill/>
          <a:ln w="0">
            <a:noFill/>
          </a:ln>
        </p:spPr>
        <p:txBody>
          <a:bodyPr lIns="0" rIns="0" tIns="0" bIns="0" anchor="t">
            <a:noAutofit/>
          </a:bodyPr>
          <a:p>
            <a:r>
              <a:rPr b="1" lang="en-US" sz="2160" spc="-1" strike="noStrike">
                <a:solidFill>
                  <a:srgbClr val="ffffff"/>
                </a:solidFill>
                <a:latin typeface="Noto Sans"/>
              </a:rPr>
              <a:t>Prüfen</a:t>
            </a:r>
            <a:endParaRPr b="0" lang="en-US" sz="2160" spc="-1" strike="noStrike">
              <a:solidFill>
                <a:srgbClr val="000000"/>
              </a:solidFill>
              <a:latin typeface="Arial"/>
            </a:endParaRPr>
          </a:p>
        </p:txBody>
      </p:sp>
      <p:sp>
        <p:nvSpPr>
          <p:cNvPr id="417" name=""/>
          <p:cNvSpPr/>
          <p:nvPr/>
        </p:nvSpPr>
        <p:spPr>
          <a:xfrm>
            <a:off x="4229280" y="1943280"/>
            <a:ext cx="729252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8" name=""/>
          <p:cNvSpPr txBox="1"/>
          <p:nvPr/>
        </p:nvSpPr>
        <p:spPr>
          <a:xfrm>
            <a:off x="4366440" y="2072520"/>
            <a:ext cx="7040880" cy="533520"/>
          </a:xfrm>
          <a:prstGeom prst="rect">
            <a:avLst/>
          </a:prstGeom>
          <a:noFill/>
          <a:ln w="0">
            <a:noFill/>
          </a:ln>
        </p:spPr>
        <p:txBody>
          <a:bodyPr lIns="0" rIns="0" tIns="0" bIns="0" anchor="t">
            <a:noAutofit/>
          </a:bodyPr>
          <a:p>
            <a:r>
              <a:rPr b="1" lang="en-US" sz="2160" spc="-1" strike="noStrike">
                <a:solidFill>
                  <a:srgbClr val="ffffff"/>
                </a:solidFill>
                <a:latin typeface="Noto Sans"/>
              </a:rPr>
              <a:t>Erwartung</a:t>
            </a:r>
            <a:endParaRPr b="0" lang="en-US" sz="2160" spc="-1" strike="noStrike">
              <a:solidFill>
                <a:srgbClr val="000000"/>
              </a:solidFill>
              <a:latin typeface="Arial"/>
            </a:endParaRPr>
          </a:p>
        </p:txBody>
      </p:sp>
      <p:sp>
        <p:nvSpPr>
          <p:cNvPr id="419" name=""/>
          <p:cNvSpPr/>
          <p:nvPr/>
        </p:nvSpPr>
        <p:spPr>
          <a:xfrm>
            <a:off x="647640" y="2629080"/>
            <a:ext cx="35586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0" name=""/>
          <p:cNvSpPr txBox="1"/>
          <p:nvPr/>
        </p:nvSpPr>
        <p:spPr>
          <a:xfrm>
            <a:off x="784800" y="2758320"/>
            <a:ext cx="3306960" cy="533520"/>
          </a:xfrm>
          <a:prstGeom prst="rect">
            <a:avLst/>
          </a:prstGeom>
          <a:noFill/>
          <a:ln w="0">
            <a:noFill/>
          </a:ln>
        </p:spPr>
        <p:txBody>
          <a:bodyPr lIns="0" rIns="0" tIns="0" bIns="0" anchor="t">
            <a:noAutofit/>
          </a:bodyPr>
          <a:p>
            <a:r>
              <a:rPr b="0" lang="en-US" sz="2160" spc="-1" strike="noStrike">
                <a:solidFill>
                  <a:srgbClr val="000000"/>
                </a:solidFill>
                <a:latin typeface="Noto Sans"/>
              </a:rPr>
              <a:t>Legendentitel</a:t>
            </a:r>
            <a:endParaRPr b="0" lang="en-US" sz="2160" spc="-1" strike="noStrike">
              <a:solidFill>
                <a:srgbClr val="000000"/>
              </a:solidFill>
              <a:latin typeface="Arial"/>
            </a:endParaRPr>
          </a:p>
        </p:txBody>
      </p:sp>
      <p:sp>
        <p:nvSpPr>
          <p:cNvPr id="421" name=""/>
          <p:cNvSpPr/>
          <p:nvPr/>
        </p:nvSpPr>
        <p:spPr>
          <a:xfrm>
            <a:off x="4229280" y="2629080"/>
            <a:ext cx="72925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2" name=""/>
          <p:cNvSpPr txBox="1"/>
          <p:nvPr/>
        </p:nvSpPr>
        <p:spPr>
          <a:xfrm>
            <a:off x="4366440" y="2758320"/>
            <a:ext cx="7040880" cy="533520"/>
          </a:xfrm>
          <a:prstGeom prst="rect">
            <a:avLst/>
          </a:prstGeom>
          <a:noFill/>
          <a:ln w="0">
            <a:noFill/>
          </a:ln>
        </p:spPr>
        <p:txBody>
          <a:bodyPr lIns="0" rIns="0" tIns="0" bIns="0" anchor="t">
            <a:noAutofit/>
          </a:bodyPr>
          <a:p>
            <a:r>
              <a:rPr b="0" lang="en-US" sz="2160" spc="-1" strike="noStrike">
                <a:solidFill>
                  <a:srgbClr val="000000"/>
                </a:solidFill>
                <a:latin typeface="Noto Sans"/>
              </a:rPr>
              <a:t>Geländehöhe am Nachweisort [m]</a:t>
            </a:r>
            <a:endParaRPr b="0" lang="en-US" sz="2160" spc="-1" strike="noStrike">
              <a:solidFill>
                <a:srgbClr val="000000"/>
              </a:solidFill>
              <a:latin typeface="Arial"/>
            </a:endParaRPr>
          </a:p>
        </p:txBody>
      </p:sp>
      <p:sp>
        <p:nvSpPr>
          <p:cNvPr id="423" name=""/>
          <p:cNvSpPr/>
          <p:nvPr/>
        </p:nvSpPr>
        <p:spPr>
          <a:xfrm>
            <a:off x="647640" y="3314880"/>
            <a:ext cx="35586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4" name=""/>
          <p:cNvSpPr txBox="1"/>
          <p:nvPr/>
        </p:nvSpPr>
        <p:spPr>
          <a:xfrm>
            <a:off x="784800" y="3444120"/>
            <a:ext cx="3306960" cy="533520"/>
          </a:xfrm>
          <a:prstGeom prst="rect">
            <a:avLst/>
          </a:prstGeom>
          <a:noFill/>
          <a:ln w="0">
            <a:noFill/>
          </a:ln>
        </p:spPr>
        <p:txBody>
          <a:bodyPr lIns="0" rIns="0" tIns="0" bIns="0" anchor="t">
            <a:noAutofit/>
          </a:bodyPr>
          <a:p>
            <a:r>
              <a:rPr b="0" lang="en-US" sz="2160" spc="-1" strike="noStrike">
                <a:solidFill>
                  <a:srgbClr val="000000"/>
                </a:solidFill>
                <a:latin typeface="Noto Sans"/>
              </a:rPr>
              <a:t>Klassen</a:t>
            </a:r>
            <a:endParaRPr b="0" lang="en-US" sz="2160" spc="-1" strike="noStrike">
              <a:solidFill>
                <a:srgbClr val="000000"/>
              </a:solidFill>
              <a:latin typeface="Arial"/>
            </a:endParaRPr>
          </a:p>
        </p:txBody>
      </p:sp>
      <p:sp>
        <p:nvSpPr>
          <p:cNvPr id="425" name=""/>
          <p:cNvSpPr/>
          <p:nvPr/>
        </p:nvSpPr>
        <p:spPr>
          <a:xfrm>
            <a:off x="4229280" y="3314880"/>
            <a:ext cx="72925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6" name=""/>
          <p:cNvSpPr txBox="1"/>
          <p:nvPr/>
        </p:nvSpPr>
        <p:spPr>
          <a:xfrm>
            <a:off x="4366440" y="3444120"/>
            <a:ext cx="7040880" cy="533520"/>
          </a:xfrm>
          <a:prstGeom prst="rect">
            <a:avLst/>
          </a:prstGeom>
          <a:noFill/>
          <a:ln w="0">
            <a:noFill/>
          </a:ln>
        </p:spPr>
        <p:txBody>
          <a:bodyPr lIns="0" rIns="0" tIns="0" bIns="0" anchor="t">
            <a:noAutofit/>
          </a:bodyPr>
          <a:p>
            <a:r>
              <a:rPr b="0" lang="en-US" sz="2160" spc="-1" strike="noStrike">
                <a:solidFill>
                  <a:srgbClr val="000000"/>
                </a:solidFill>
                <a:latin typeface="Noto Sans"/>
              </a:rPr>
              <a:t>fünf eindeutige, gerundete Bereiche</a:t>
            </a:r>
            <a:endParaRPr b="0" lang="en-US" sz="2160" spc="-1" strike="noStrike">
              <a:solidFill>
                <a:srgbClr val="000000"/>
              </a:solidFill>
              <a:latin typeface="Arial"/>
            </a:endParaRPr>
          </a:p>
        </p:txBody>
      </p:sp>
      <p:sp>
        <p:nvSpPr>
          <p:cNvPr id="427" name=""/>
          <p:cNvSpPr/>
          <p:nvPr/>
        </p:nvSpPr>
        <p:spPr>
          <a:xfrm>
            <a:off x="647640" y="4000680"/>
            <a:ext cx="35586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8" name=""/>
          <p:cNvSpPr txBox="1"/>
          <p:nvPr/>
        </p:nvSpPr>
        <p:spPr>
          <a:xfrm>
            <a:off x="784800" y="4129920"/>
            <a:ext cx="3306960" cy="533520"/>
          </a:xfrm>
          <a:prstGeom prst="rect">
            <a:avLst/>
          </a:prstGeom>
          <a:noFill/>
          <a:ln w="0">
            <a:noFill/>
          </a:ln>
        </p:spPr>
        <p:txBody>
          <a:bodyPr lIns="0" rIns="0" tIns="0" bIns="0" anchor="t">
            <a:noAutofit/>
          </a:bodyPr>
          <a:p>
            <a:r>
              <a:rPr b="0" lang="en-US" sz="2160" spc="-1" strike="noStrike">
                <a:solidFill>
                  <a:srgbClr val="000000"/>
                </a:solidFill>
                <a:latin typeface="Noto Sans"/>
              </a:rPr>
              <a:t>Layernamen</a:t>
            </a:r>
            <a:endParaRPr b="0" lang="en-US" sz="2160" spc="-1" strike="noStrike">
              <a:solidFill>
                <a:srgbClr val="000000"/>
              </a:solidFill>
              <a:latin typeface="Arial"/>
            </a:endParaRPr>
          </a:p>
        </p:txBody>
      </p:sp>
      <p:sp>
        <p:nvSpPr>
          <p:cNvPr id="429" name=""/>
          <p:cNvSpPr/>
          <p:nvPr/>
        </p:nvSpPr>
        <p:spPr>
          <a:xfrm>
            <a:off x="4229280" y="4000680"/>
            <a:ext cx="72925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0" name=""/>
          <p:cNvSpPr txBox="1"/>
          <p:nvPr/>
        </p:nvSpPr>
        <p:spPr>
          <a:xfrm>
            <a:off x="4366440" y="4129920"/>
            <a:ext cx="7040880" cy="533520"/>
          </a:xfrm>
          <a:prstGeom prst="rect">
            <a:avLst/>
          </a:prstGeom>
          <a:noFill/>
          <a:ln w="0">
            <a:noFill/>
          </a:ln>
        </p:spPr>
        <p:txBody>
          <a:bodyPr lIns="0" rIns="0" tIns="0" bIns="0" anchor="t">
            <a:noAutofit/>
          </a:bodyPr>
          <a:p>
            <a:r>
              <a:rPr b="0" lang="en-US" sz="2160" spc="-1" strike="noStrike">
                <a:solidFill>
                  <a:srgbClr val="000000"/>
                </a:solidFill>
                <a:latin typeface="Noto Sans"/>
              </a:rPr>
              <a:t>fachlich verständlich</a:t>
            </a:r>
            <a:endParaRPr b="0" lang="en-US" sz="2160" spc="-1" strike="noStrike">
              <a:solidFill>
                <a:srgbClr val="000000"/>
              </a:solidFill>
              <a:latin typeface="Arial"/>
            </a:endParaRPr>
          </a:p>
        </p:txBody>
      </p:sp>
      <p:sp>
        <p:nvSpPr>
          <p:cNvPr id="431" name=""/>
          <p:cNvSpPr/>
          <p:nvPr/>
        </p:nvSpPr>
        <p:spPr>
          <a:xfrm>
            <a:off x="647640" y="4686480"/>
            <a:ext cx="35586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2" name=""/>
          <p:cNvSpPr txBox="1"/>
          <p:nvPr/>
        </p:nvSpPr>
        <p:spPr>
          <a:xfrm>
            <a:off x="784800" y="4815720"/>
            <a:ext cx="3306960" cy="533520"/>
          </a:xfrm>
          <a:prstGeom prst="rect">
            <a:avLst/>
          </a:prstGeom>
          <a:noFill/>
          <a:ln w="0">
            <a:noFill/>
          </a:ln>
        </p:spPr>
        <p:txBody>
          <a:bodyPr lIns="0" rIns="0" tIns="0" bIns="0" anchor="t">
            <a:noAutofit/>
          </a:bodyPr>
          <a:p>
            <a:r>
              <a:rPr b="0" lang="en-US" sz="2160" spc="-1" strike="noStrike">
                <a:solidFill>
                  <a:srgbClr val="000000"/>
                </a:solidFill>
                <a:latin typeface="Noto Sans"/>
              </a:rPr>
              <a:t>Inhalt</a:t>
            </a:r>
            <a:endParaRPr b="0" lang="en-US" sz="2160" spc="-1" strike="noStrike">
              <a:solidFill>
                <a:srgbClr val="000000"/>
              </a:solidFill>
              <a:latin typeface="Arial"/>
            </a:endParaRPr>
          </a:p>
        </p:txBody>
      </p:sp>
      <p:sp>
        <p:nvSpPr>
          <p:cNvPr id="433" name=""/>
          <p:cNvSpPr/>
          <p:nvPr/>
        </p:nvSpPr>
        <p:spPr>
          <a:xfrm>
            <a:off x="4229280" y="4686480"/>
            <a:ext cx="72925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4" name=""/>
          <p:cNvSpPr txBox="1"/>
          <p:nvPr/>
        </p:nvSpPr>
        <p:spPr>
          <a:xfrm>
            <a:off x="4366440" y="4815720"/>
            <a:ext cx="7040880" cy="533520"/>
          </a:xfrm>
          <a:prstGeom prst="rect">
            <a:avLst/>
          </a:prstGeom>
          <a:noFill/>
          <a:ln w="0">
            <a:noFill/>
          </a:ln>
        </p:spPr>
        <p:txBody>
          <a:bodyPr lIns="0" rIns="0" tIns="0" bIns="0" anchor="t">
            <a:noAutofit/>
          </a:bodyPr>
          <a:p>
            <a:r>
              <a:rPr b="0" lang="en-US" sz="2160" spc="-1" strike="noStrike">
                <a:solidFill>
                  <a:srgbClr val="000000"/>
                </a:solidFill>
                <a:latin typeface="Noto Sans"/>
              </a:rPr>
              <a:t>nur tatsächlich benötigte Einträge</a:t>
            </a:r>
            <a:endParaRPr b="0" lang="en-US" sz="2160" spc="-1" strike="noStrike">
              <a:solidFill>
                <a:srgbClr val="000000"/>
              </a:solidFill>
              <a:latin typeface="Arial"/>
            </a:endParaRPr>
          </a:p>
        </p:txBody>
      </p:sp>
      <p:sp>
        <p:nvSpPr>
          <p:cNvPr id="43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6"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Automatisch erzeugte Legenden sind ein Ausgangspunkt, kein fertiger Text.</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Kartenausschnitt und Maßstab funktional prüfen</a:t>
            </a:r>
            <a:endParaRPr b="0" lang="en-US" sz="3190" spc="-1" strike="noStrike">
              <a:solidFill>
                <a:srgbClr val="000000"/>
              </a:solidFill>
              <a:latin typeface="Arial"/>
            </a:endParaRPr>
          </a:p>
        </p:txBody>
      </p:sp>
      <p:sp>
        <p:nvSpPr>
          <p:cNvPr id="43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RAUMBEZUG</a:t>
            </a:r>
            <a:endParaRPr b="0" lang="en-US" sz="1130" spc="-1" strike="noStrike">
              <a:solidFill>
                <a:srgbClr val="000000"/>
              </a:solidFill>
              <a:latin typeface="Arial"/>
            </a:endParaRPr>
          </a:p>
        </p:txBody>
      </p:sp>
      <p:sp>
        <p:nvSpPr>
          <p:cNvPr id="43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44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441" name=""/>
          <p:cNvSpPr/>
          <p:nvPr/>
        </p:nvSpPr>
        <p:spPr>
          <a:xfrm>
            <a:off x="914400" y="2095560"/>
            <a:ext cx="4648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2" name=""/>
          <p:cNvSpPr/>
          <p:nvPr/>
        </p:nvSpPr>
        <p:spPr>
          <a:xfrm>
            <a:off x="914400" y="209556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3" name=""/>
          <p:cNvSpPr txBox="1"/>
          <p:nvPr/>
        </p:nvSpPr>
        <p:spPr>
          <a:xfrm>
            <a:off x="1120320" y="2278440"/>
            <a:ext cx="4236840" cy="647640"/>
          </a:xfrm>
          <a:prstGeom prst="rect">
            <a:avLst/>
          </a:prstGeom>
          <a:noFill/>
          <a:ln w="0">
            <a:noFill/>
          </a:ln>
        </p:spPr>
        <p:txBody>
          <a:bodyPr lIns="0" rIns="0" tIns="0" bIns="0" anchor="t">
            <a:noAutofit/>
          </a:bodyPr>
          <a:p>
            <a:r>
              <a:rPr b="1" lang="en-US" sz="2540" spc="-1" strike="noStrike">
                <a:solidFill>
                  <a:srgbClr val="004899"/>
                </a:solidFill>
                <a:latin typeface="Noto Sans"/>
              </a:rPr>
              <a:t>Kartenausschnitt</a:t>
            </a:r>
            <a:endParaRPr b="0" lang="en-US" sz="2540" spc="-1" strike="noStrike">
              <a:solidFill>
                <a:srgbClr val="000000"/>
              </a:solidFill>
              <a:latin typeface="Arial"/>
            </a:endParaRPr>
          </a:p>
        </p:txBody>
      </p:sp>
      <p:sp>
        <p:nvSpPr>
          <p:cNvPr id="444" name=""/>
          <p:cNvSpPr txBox="1"/>
          <p:nvPr/>
        </p:nvSpPr>
        <p:spPr>
          <a:xfrm>
            <a:off x="1120320" y="3040560"/>
            <a:ext cx="4236840" cy="1203840"/>
          </a:xfrm>
          <a:prstGeom prst="rect">
            <a:avLst/>
          </a:prstGeom>
          <a:noFill/>
          <a:ln w="0">
            <a:noFill/>
          </a:ln>
        </p:spPr>
        <p:txBody>
          <a:bodyPr lIns="0" rIns="0" tIns="0" bIns="0" anchor="t">
            <a:noAutofit/>
          </a:bodyPr>
          <a:p>
            <a:r>
              <a:rPr b="0" lang="en-US" sz="2260" spc="-1" strike="noStrike">
                <a:solidFill>
                  <a:srgbClr val="000000"/>
                </a:solidFill>
                <a:latin typeface="Noto Sans"/>
              </a:rPr>
              <a:t>alle 35 Punkte sichtbar</a:t>
            </a:r>
            <a:endParaRPr b="0" lang="en-US" sz="2260" spc="-1" strike="noStrike">
              <a:solidFill>
                <a:srgbClr val="000000"/>
              </a:solidFill>
              <a:latin typeface="Arial"/>
            </a:endParaRPr>
          </a:p>
          <a:p>
            <a:r>
              <a:rPr b="0" lang="en-US" sz="2260" spc="-1" strike="noStrike">
                <a:solidFill>
                  <a:srgbClr val="000000"/>
                </a:solidFill>
                <a:latin typeface="Noto Sans"/>
              </a:rPr>
              <a:t>ausreichend räumlicher Kontext</a:t>
            </a:r>
            <a:endParaRPr b="0" lang="en-US" sz="2260" spc="-1" strike="noStrike">
              <a:solidFill>
                <a:srgbClr val="000000"/>
              </a:solidFill>
              <a:latin typeface="Arial"/>
            </a:endParaRPr>
          </a:p>
        </p:txBody>
      </p:sp>
      <p:sp>
        <p:nvSpPr>
          <p:cNvPr id="445" name=""/>
          <p:cNvSpPr/>
          <p:nvPr/>
        </p:nvSpPr>
        <p:spPr>
          <a:xfrm>
            <a:off x="6629400" y="2095560"/>
            <a:ext cx="4648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6" name=""/>
          <p:cNvSpPr/>
          <p:nvPr/>
        </p:nvSpPr>
        <p:spPr>
          <a:xfrm>
            <a:off x="6629400" y="209556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7" name=""/>
          <p:cNvSpPr txBox="1"/>
          <p:nvPr/>
        </p:nvSpPr>
        <p:spPr>
          <a:xfrm>
            <a:off x="6835320" y="2278440"/>
            <a:ext cx="4236840" cy="647640"/>
          </a:xfrm>
          <a:prstGeom prst="rect">
            <a:avLst/>
          </a:prstGeom>
          <a:noFill/>
          <a:ln w="0">
            <a:noFill/>
          </a:ln>
        </p:spPr>
        <p:txBody>
          <a:bodyPr lIns="0" rIns="0" tIns="0" bIns="0" anchor="t">
            <a:noAutofit/>
          </a:bodyPr>
          <a:p>
            <a:r>
              <a:rPr b="1" lang="en-US" sz="2540" spc="-1" strike="noStrike">
                <a:solidFill>
                  <a:srgbClr val="a32123"/>
                </a:solidFill>
                <a:latin typeface="Noto Sans"/>
              </a:rPr>
              <a:t>Maßstab</a:t>
            </a:r>
            <a:endParaRPr b="0" lang="en-US" sz="2540" spc="-1" strike="noStrike">
              <a:solidFill>
                <a:srgbClr val="000000"/>
              </a:solidFill>
              <a:latin typeface="Arial"/>
            </a:endParaRPr>
          </a:p>
        </p:txBody>
      </p:sp>
      <p:sp>
        <p:nvSpPr>
          <p:cNvPr id="448" name=""/>
          <p:cNvSpPr txBox="1"/>
          <p:nvPr/>
        </p:nvSpPr>
        <p:spPr>
          <a:xfrm>
            <a:off x="6835320" y="3040560"/>
            <a:ext cx="4236840" cy="1203840"/>
          </a:xfrm>
          <a:prstGeom prst="rect">
            <a:avLst/>
          </a:prstGeom>
          <a:noFill/>
          <a:ln w="0">
            <a:noFill/>
          </a:ln>
        </p:spPr>
        <p:txBody>
          <a:bodyPr lIns="0" rIns="0" tIns="0" bIns="0" anchor="t">
            <a:noAutofit/>
          </a:bodyPr>
          <a:p>
            <a:r>
              <a:rPr b="0" lang="en-US" sz="2260" spc="-1" strike="noStrike">
                <a:solidFill>
                  <a:srgbClr val="000000"/>
                </a:solidFill>
                <a:latin typeface="Noto Sans"/>
              </a:rPr>
              <a:t>geeignete Einheit</a:t>
            </a:r>
            <a:endParaRPr b="0" lang="en-US" sz="2260" spc="-1" strike="noStrike">
              <a:solidFill>
                <a:srgbClr val="000000"/>
              </a:solidFill>
              <a:latin typeface="Arial"/>
            </a:endParaRPr>
          </a:p>
          <a:p>
            <a:r>
              <a:rPr b="0" lang="en-US" sz="2260" spc="-1" strike="noStrike">
                <a:solidFill>
                  <a:srgbClr val="000000"/>
                </a:solidFill>
                <a:latin typeface="Noto Sans"/>
              </a:rPr>
              <a:t>lesbare Teilung</a:t>
            </a:r>
            <a:endParaRPr b="0" lang="en-US" sz="2260" spc="-1" strike="noStrike">
              <a:solidFill>
                <a:srgbClr val="000000"/>
              </a:solidFill>
              <a:latin typeface="Arial"/>
            </a:endParaRPr>
          </a:p>
        </p:txBody>
      </p:sp>
      <p:sp>
        <p:nvSpPr>
          <p:cNvPr id="44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0"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Nordpfeil, Gitter und Übersichtskarte sind keine automatischen Pflichtelemente.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Quellen und Bearbeitung gehören in die Karte</a:t>
            </a:r>
            <a:endParaRPr b="0" lang="en-US" sz="3190" spc="-1" strike="noStrike">
              <a:solidFill>
                <a:srgbClr val="000000"/>
              </a:solidFill>
              <a:latin typeface="Arial"/>
            </a:endParaRPr>
          </a:p>
        </p:txBody>
      </p:sp>
      <p:sp>
        <p:nvSpPr>
          <p:cNvPr id="45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DOKUMENTATION</a:t>
            </a:r>
            <a:endParaRPr b="0" lang="en-US" sz="1130" spc="-1" strike="noStrike">
              <a:solidFill>
                <a:srgbClr val="000000"/>
              </a:solidFill>
              <a:latin typeface="Arial"/>
            </a:endParaRPr>
          </a:p>
        </p:txBody>
      </p:sp>
      <p:sp>
        <p:nvSpPr>
          <p:cNvPr id="45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45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sp>
        <p:nvSpPr>
          <p:cNvPr id="455" name=""/>
          <p:cNvSpPr/>
          <p:nvPr/>
        </p:nvSpPr>
        <p:spPr>
          <a:xfrm>
            <a:off x="647640" y="1943280"/>
            <a:ext cx="32536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6" name=""/>
          <p:cNvSpPr txBox="1"/>
          <p:nvPr/>
        </p:nvSpPr>
        <p:spPr>
          <a:xfrm>
            <a:off x="784800" y="2072520"/>
            <a:ext cx="3002400" cy="533520"/>
          </a:xfrm>
          <a:prstGeom prst="rect">
            <a:avLst/>
          </a:prstGeom>
          <a:noFill/>
          <a:ln w="0">
            <a:noFill/>
          </a:ln>
        </p:spPr>
        <p:txBody>
          <a:bodyPr lIns="0" rIns="0" tIns="0" bIns="0" anchor="t">
            <a:noAutofit/>
          </a:bodyPr>
          <a:p>
            <a:r>
              <a:rPr b="1" lang="en-US" sz="1979" spc="-1" strike="noStrike">
                <a:solidFill>
                  <a:srgbClr val="ffffff"/>
                </a:solidFill>
                <a:latin typeface="Noto Sans"/>
              </a:rPr>
              <a:t>Angabe</a:t>
            </a:r>
            <a:endParaRPr b="0" lang="en-US" sz="1979" spc="-1" strike="noStrike">
              <a:solidFill>
                <a:srgbClr val="000000"/>
              </a:solidFill>
              <a:latin typeface="Arial"/>
            </a:endParaRPr>
          </a:p>
        </p:txBody>
      </p:sp>
      <p:sp>
        <p:nvSpPr>
          <p:cNvPr id="457" name=""/>
          <p:cNvSpPr/>
          <p:nvPr/>
        </p:nvSpPr>
        <p:spPr>
          <a:xfrm>
            <a:off x="3924360" y="1943280"/>
            <a:ext cx="75970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8" name=""/>
          <p:cNvSpPr txBox="1"/>
          <p:nvPr/>
        </p:nvSpPr>
        <p:spPr>
          <a:xfrm>
            <a:off x="4061520" y="2072520"/>
            <a:ext cx="7345800" cy="533520"/>
          </a:xfrm>
          <a:prstGeom prst="rect">
            <a:avLst/>
          </a:prstGeom>
          <a:noFill/>
          <a:ln w="0">
            <a:noFill/>
          </a:ln>
        </p:spPr>
        <p:txBody>
          <a:bodyPr lIns="0" rIns="0" tIns="0" bIns="0" anchor="t">
            <a:noAutofit/>
          </a:bodyPr>
          <a:p>
            <a:r>
              <a:rPr b="1" lang="en-US" sz="1979" spc="-1" strike="noStrike">
                <a:solidFill>
                  <a:srgbClr val="ffffff"/>
                </a:solidFill>
                <a:latin typeface="Noto Sans"/>
              </a:rPr>
              <a:t>Kontrollpunkt</a:t>
            </a:r>
            <a:endParaRPr b="0" lang="en-US" sz="1979" spc="-1" strike="noStrike">
              <a:solidFill>
                <a:srgbClr val="000000"/>
              </a:solidFill>
              <a:latin typeface="Arial"/>
            </a:endParaRPr>
          </a:p>
        </p:txBody>
      </p:sp>
      <p:sp>
        <p:nvSpPr>
          <p:cNvPr id="459" name=""/>
          <p:cNvSpPr/>
          <p:nvPr/>
        </p:nvSpPr>
        <p:spPr>
          <a:xfrm>
            <a:off x="647640" y="2629080"/>
            <a:ext cx="3253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0" name=""/>
          <p:cNvSpPr txBox="1"/>
          <p:nvPr/>
        </p:nvSpPr>
        <p:spPr>
          <a:xfrm>
            <a:off x="784800" y="275832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Beobachtungen</a:t>
            </a:r>
            <a:endParaRPr b="0" lang="en-US" sz="1979" spc="-1" strike="noStrike">
              <a:solidFill>
                <a:srgbClr val="000000"/>
              </a:solidFill>
              <a:latin typeface="Arial"/>
            </a:endParaRPr>
          </a:p>
        </p:txBody>
      </p:sp>
      <p:sp>
        <p:nvSpPr>
          <p:cNvPr id="461" name=""/>
          <p:cNvSpPr/>
          <p:nvPr/>
        </p:nvSpPr>
        <p:spPr>
          <a:xfrm>
            <a:off x="3924360" y="2629080"/>
            <a:ext cx="7597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2" name=""/>
          <p:cNvSpPr txBox="1"/>
          <p:nvPr/>
        </p:nvSpPr>
        <p:spPr>
          <a:xfrm>
            <a:off x="4061520" y="275832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NABU|naturgucker via GBIF · CC BY 4.0</a:t>
            </a:r>
            <a:endParaRPr b="0" lang="en-US" sz="1979" spc="-1" strike="noStrike">
              <a:solidFill>
                <a:srgbClr val="000000"/>
              </a:solidFill>
              <a:latin typeface="Arial"/>
            </a:endParaRPr>
          </a:p>
        </p:txBody>
      </p:sp>
      <p:sp>
        <p:nvSpPr>
          <p:cNvPr id="463" name=""/>
          <p:cNvSpPr/>
          <p:nvPr/>
        </p:nvSpPr>
        <p:spPr>
          <a:xfrm>
            <a:off x="647640" y="3314880"/>
            <a:ext cx="3253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4" name=""/>
          <p:cNvSpPr txBox="1"/>
          <p:nvPr/>
        </p:nvSpPr>
        <p:spPr>
          <a:xfrm>
            <a:off x="784800" y="344412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Geländehöhe</a:t>
            </a:r>
            <a:endParaRPr b="0" lang="en-US" sz="1979" spc="-1" strike="noStrike">
              <a:solidFill>
                <a:srgbClr val="000000"/>
              </a:solidFill>
              <a:latin typeface="Arial"/>
            </a:endParaRPr>
          </a:p>
        </p:txBody>
      </p:sp>
      <p:sp>
        <p:nvSpPr>
          <p:cNvPr id="465" name=""/>
          <p:cNvSpPr/>
          <p:nvPr/>
        </p:nvSpPr>
        <p:spPr>
          <a:xfrm>
            <a:off x="3924360" y="3314880"/>
            <a:ext cx="7597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6" name=""/>
          <p:cNvSpPr txBox="1"/>
          <p:nvPr/>
        </p:nvSpPr>
        <p:spPr>
          <a:xfrm>
            <a:off x="4061520" y="344412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Hessen Geodatenmanagement · DGM1</a:t>
            </a:r>
            <a:endParaRPr b="0" lang="en-US" sz="1979" spc="-1" strike="noStrike">
              <a:solidFill>
                <a:srgbClr val="000000"/>
              </a:solidFill>
              <a:latin typeface="Arial"/>
            </a:endParaRPr>
          </a:p>
        </p:txBody>
      </p:sp>
      <p:sp>
        <p:nvSpPr>
          <p:cNvPr id="467" name=""/>
          <p:cNvSpPr/>
          <p:nvPr/>
        </p:nvSpPr>
        <p:spPr>
          <a:xfrm>
            <a:off x="647640" y="4000680"/>
            <a:ext cx="3253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8" name=""/>
          <p:cNvSpPr txBox="1"/>
          <p:nvPr/>
        </p:nvSpPr>
        <p:spPr>
          <a:xfrm>
            <a:off x="784800" y="412992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Bearbeitung</a:t>
            </a:r>
            <a:endParaRPr b="0" lang="en-US" sz="1979" spc="-1" strike="noStrike">
              <a:solidFill>
                <a:srgbClr val="000000"/>
              </a:solidFill>
              <a:latin typeface="Arial"/>
            </a:endParaRPr>
          </a:p>
        </p:txBody>
      </p:sp>
      <p:sp>
        <p:nvSpPr>
          <p:cNvPr id="469" name=""/>
          <p:cNvSpPr/>
          <p:nvPr/>
        </p:nvSpPr>
        <p:spPr>
          <a:xfrm>
            <a:off x="3924360" y="4000680"/>
            <a:ext cx="7597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0" name=""/>
          <p:cNvSpPr txBox="1"/>
          <p:nvPr/>
        </p:nvSpPr>
        <p:spPr>
          <a:xfrm>
            <a:off x="4061520" y="412992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10-m-Mittelwerte · DHHN2016_NH</a:t>
            </a:r>
            <a:endParaRPr b="0" lang="en-US" sz="1979" spc="-1" strike="noStrike">
              <a:solidFill>
                <a:srgbClr val="000000"/>
              </a:solidFill>
              <a:latin typeface="Arial"/>
            </a:endParaRPr>
          </a:p>
        </p:txBody>
      </p:sp>
      <p:sp>
        <p:nvSpPr>
          <p:cNvPr id="471" name=""/>
          <p:cNvSpPr/>
          <p:nvPr/>
        </p:nvSpPr>
        <p:spPr>
          <a:xfrm>
            <a:off x="647640" y="4686480"/>
            <a:ext cx="3253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2" name=""/>
          <p:cNvSpPr txBox="1"/>
          <p:nvPr/>
        </p:nvSpPr>
        <p:spPr>
          <a:xfrm>
            <a:off x="784800" y="481572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Umfang</a:t>
            </a:r>
            <a:endParaRPr b="0" lang="en-US" sz="1979" spc="-1" strike="noStrike">
              <a:solidFill>
                <a:srgbClr val="000000"/>
              </a:solidFill>
              <a:latin typeface="Arial"/>
            </a:endParaRPr>
          </a:p>
        </p:txBody>
      </p:sp>
      <p:sp>
        <p:nvSpPr>
          <p:cNvPr id="473" name=""/>
          <p:cNvSpPr/>
          <p:nvPr/>
        </p:nvSpPr>
        <p:spPr>
          <a:xfrm>
            <a:off x="3924360" y="4686480"/>
            <a:ext cx="7597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4" name=""/>
          <p:cNvSpPr txBox="1"/>
          <p:nvPr/>
        </p:nvSpPr>
        <p:spPr>
          <a:xfrm>
            <a:off x="4061520" y="481572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35 dargestellt · 21 ohne gültige DGM-Höhe</a:t>
            </a:r>
            <a:endParaRPr b="0" lang="en-US" sz="1979" spc="-1" strike="noStrike">
              <a:solidFill>
                <a:srgbClr val="000000"/>
              </a:solidFill>
              <a:latin typeface="Arial"/>
            </a:endParaRPr>
          </a:p>
        </p:txBody>
      </p:sp>
      <p:sp>
        <p:nvSpPr>
          <p:cNvPr id="47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6"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Quelle, Datenstand und Bearbeitung sind Teil der fachlichen Aussage.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Layout in tatsächlicher Ausgabegröße prüfen</a:t>
            </a:r>
            <a:endParaRPr b="0" lang="en-US" sz="3190" spc="-1" strike="noStrike">
              <a:solidFill>
                <a:srgbClr val="000000"/>
              </a:solidFill>
              <a:latin typeface="Arial"/>
            </a:endParaRPr>
          </a:p>
        </p:txBody>
      </p:sp>
      <p:sp>
        <p:nvSpPr>
          <p:cNvPr id="47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LAYOUT · SCHLUSSKONTROLLE</a:t>
            </a:r>
            <a:endParaRPr b="0" lang="en-US" sz="1130" spc="-1" strike="noStrike">
              <a:solidFill>
                <a:srgbClr val="000000"/>
              </a:solidFill>
              <a:latin typeface="Arial"/>
            </a:endParaRPr>
          </a:p>
        </p:txBody>
      </p:sp>
      <p:sp>
        <p:nvSpPr>
          <p:cNvPr id="47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48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sp>
        <p:nvSpPr>
          <p:cNvPr id="481" name=""/>
          <p:cNvSpPr/>
          <p:nvPr/>
        </p:nvSpPr>
        <p:spPr>
          <a:xfrm>
            <a:off x="647640" y="1866960"/>
            <a:ext cx="87400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82" name=""/>
          <p:cNvSpPr txBox="1"/>
          <p:nvPr/>
        </p:nvSpPr>
        <p:spPr>
          <a:xfrm>
            <a:off x="784800" y="1996560"/>
            <a:ext cx="8488800" cy="533520"/>
          </a:xfrm>
          <a:prstGeom prst="rect">
            <a:avLst/>
          </a:prstGeom>
          <a:noFill/>
          <a:ln w="0">
            <a:noFill/>
          </a:ln>
        </p:spPr>
        <p:txBody>
          <a:bodyPr lIns="0" rIns="0" tIns="0" bIns="0" anchor="t">
            <a:noAutofit/>
          </a:bodyPr>
          <a:p>
            <a:r>
              <a:rPr b="1" lang="en-US" sz="2070" spc="-1" strike="noStrike">
                <a:solidFill>
                  <a:srgbClr val="ffffff"/>
                </a:solidFill>
                <a:latin typeface="Noto Sans"/>
              </a:rPr>
              <a:t>Kontrollfrage</a:t>
            </a:r>
            <a:endParaRPr b="0" lang="en-US" sz="2070" spc="-1" strike="noStrike">
              <a:solidFill>
                <a:srgbClr val="000000"/>
              </a:solidFill>
              <a:latin typeface="Arial"/>
            </a:endParaRPr>
          </a:p>
        </p:txBody>
      </p:sp>
      <p:sp>
        <p:nvSpPr>
          <p:cNvPr id="483" name=""/>
          <p:cNvSpPr/>
          <p:nvPr/>
        </p:nvSpPr>
        <p:spPr>
          <a:xfrm>
            <a:off x="9410760" y="1866960"/>
            <a:ext cx="21106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84" name=""/>
          <p:cNvSpPr txBox="1"/>
          <p:nvPr/>
        </p:nvSpPr>
        <p:spPr>
          <a:xfrm>
            <a:off x="9547920" y="1996560"/>
            <a:ext cx="1859400" cy="533520"/>
          </a:xfrm>
          <a:prstGeom prst="rect">
            <a:avLst/>
          </a:prstGeom>
          <a:noFill/>
          <a:ln w="0">
            <a:noFill/>
          </a:ln>
        </p:spPr>
        <p:txBody>
          <a:bodyPr lIns="0" rIns="0" tIns="0" bIns="0" anchor="t">
            <a:noAutofit/>
          </a:bodyPr>
          <a:p>
            <a:r>
              <a:rPr b="1" lang="en-US" sz="2070" spc="-1" strike="noStrike">
                <a:solidFill>
                  <a:srgbClr val="ffffff"/>
                </a:solidFill>
                <a:latin typeface="Noto Sans"/>
              </a:rPr>
              <a:t>Ja / Korrektur</a:t>
            </a:r>
            <a:endParaRPr b="0" lang="en-US" sz="2070" spc="-1" strike="noStrike">
              <a:solidFill>
                <a:srgbClr val="000000"/>
              </a:solidFill>
              <a:latin typeface="Arial"/>
            </a:endParaRPr>
          </a:p>
        </p:txBody>
      </p:sp>
      <p:sp>
        <p:nvSpPr>
          <p:cNvPr id="485" name=""/>
          <p:cNvSpPr/>
          <p:nvPr/>
        </p:nvSpPr>
        <p:spPr>
          <a:xfrm>
            <a:off x="647640" y="2552760"/>
            <a:ext cx="8740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6" name=""/>
          <p:cNvSpPr txBox="1"/>
          <p:nvPr/>
        </p:nvSpPr>
        <p:spPr>
          <a:xfrm>
            <a:off x="784800" y="2682360"/>
            <a:ext cx="8488800" cy="533520"/>
          </a:xfrm>
          <a:prstGeom prst="rect">
            <a:avLst/>
          </a:prstGeom>
          <a:noFill/>
          <a:ln w="0">
            <a:noFill/>
          </a:ln>
        </p:spPr>
        <p:txBody>
          <a:bodyPr lIns="0" rIns="0" tIns="0" bIns="0" anchor="t">
            <a:noAutofit/>
          </a:bodyPr>
          <a:p>
            <a:r>
              <a:rPr b="0" lang="en-US" sz="2070" spc="-1" strike="noStrike">
                <a:solidFill>
                  <a:srgbClr val="000000"/>
                </a:solidFill>
                <a:latin typeface="Noto Sans"/>
              </a:rPr>
              <a:t>Ist die Kernaussage ohne Erklärung erkennbar?</a:t>
            </a:r>
            <a:endParaRPr b="0" lang="en-US" sz="2070" spc="-1" strike="noStrike">
              <a:solidFill>
                <a:srgbClr val="000000"/>
              </a:solidFill>
              <a:latin typeface="Arial"/>
            </a:endParaRPr>
          </a:p>
        </p:txBody>
      </p:sp>
      <p:sp>
        <p:nvSpPr>
          <p:cNvPr id="487" name=""/>
          <p:cNvSpPr/>
          <p:nvPr/>
        </p:nvSpPr>
        <p:spPr>
          <a:xfrm>
            <a:off x="9410760" y="2552760"/>
            <a:ext cx="2110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8" name=""/>
          <p:cNvSpPr txBox="1"/>
          <p:nvPr/>
        </p:nvSpPr>
        <p:spPr>
          <a:xfrm>
            <a:off x="9547920" y="2682360"/>
            <a:ext cx="1859400" cy="533520"/>
          </a:xfrm>
          <a:prstGeom prst="rect">
            <a:avLst/>
          </a:prstGeom>
          <a:noFill/>
          <a:ln w="0">
            <a:noFill/>
          </a:ln>
        </p:spPr>
        <p:txBody>
          <a:bodyPr lIns="0" rIns="0" tIns="0" bIns="0" anchor="t">
            <a:noAutofit/>
          </a:bodyPr>
          <a:p>
            <a:endParaRPr b="0" lang="en-US" sz="1800" spc="-1" strike="noStrike">
              <a:solidFill>
                <a:srgbClr val="000000"/>
              </a:solidFill>
              <a:latin typeface="Arial"/>
            </a:endParaRPr>
          </a:p>
        </p:txBody>
      </p:sp>
      <p:sp>
        <p:nvSpPr>
          <p:cNvPr id="489" name=""/>
          <p:cNvSpPr/>
          <p:nvPr/>
        </p:nvSpPr>
        <p:spPr>
          <a:xfrm>
            <a:off x="647640" y="3238560"/>
            <a:ext cx="8740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0" name=""/>
          <p:cNvSpPr txBox="1"/>
          <p:nvPr/>
        </p:nvSpPr>
        <p:spPr>
          <a:xfrm>
            <a:off x="784800" y="3368160"/>
            <a:ext cx="8488800" cy="533520"/>
          </a:xfrm>
          <a:prstGeom prst="rect">
            <a:avLst/>
          </a:prstGeom>
          <a:noFill/>
          <a:ln w="0">
            <a:noFill/>
          </a:ln>
        </p:spPr>
        <p:txBody>
          <a:bodyPr lIns="0" rIns="0" tIns="0" bIns="0" anchor="t">
            <a:noAutofit/>
          </a:bodyPr>
          <a:p>
            <a:r>
              <a:rPr b="0" lang="en-US" sz="2070" spc="-1" strike="noStrike">
                <a:solidFill>
                  <a:srgbClr val="000000"/>
                </a:solidFill>
                <a:latin typeface="Noto Sans"/>
              </a:rPr>
              <a:t>Sind alle fünf Klassen unterscheidbar?</a:t>
            </a:r>
            <a:endParaRPr b="0" lang="en-US" sz="2070" spc="-1" strike="noStrike">
              <a:solidFill>
                <a:srgbClr val="000000"/>
              </a:solidFill>
              <a:latin typeface="Arial"/>
            </a:endParaRPr>
          </a:p>
        </p:txBody>
      </p:sp>
      <p:sp>
        <p:nvSpPr>
          <p:cNvPr id="491" name=""/>
          <p:cNvSpPr/>
          <p:nvPr/>
        </p:nvSpPr>
        <p:spPr>
          <a:xfrm>
            <a:off x="9410760" y="3238560"/>
            <a:ext cx="2110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2" name=""/>
          <p:cNvSpPr txBox="1"/>
          <p:nvPr/>
        </p:nvSpPr>
        <p:spPr>
          <a:xfrm>
            <a:off x="9547920" y="3368160"/>
            <a:ext cx="1859400" cy="533520"/>
          </a:xfrm>
          <a:prstGeom prst="rect">
            <a:avLst/>
          </a:prstGeom>
          <a:noFill/>
          <a:ln w="0">
            <a:noFill/>
          </a:ln>
        </p:spPr>
        <p:txBody>
          <a:bodyPr lIns="0" rIns="0" tIns="0" bIns="0" anchor="t">
            <a:noAutofit/>
          </a:bodyPr>
          <a:p>
            <a:endParaRPr b="0" lang="en-US" sz="1800" spc="-1" strike="noStrike">
              <a:solidFill>
                <a:srgbClr val="000000"/>
              </a:solidFill>
              <a:latin typeface="Arial"/>
            </a:endParaRPr>
          </a:p>
        </p:txBody>
      </p:sp>
      <p:sp>
        <p:nvSpPr>
          <p:cNvPr id="493" name=""/>
          <p:cNvSpPr/>
          <p:nvPr/>
        </p:nvSpPr>
        <p:spPr>
          <a:xfrm>
            <a:off x="647640" y="3924360"/>
            <a:ext cx="8740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4" name=""/>
          <p:cNvSpPr txBox="1"/>
          <p:nvPr/>
        </p:nvSpPr>
        <p:spPr>
          <a:xfrm>
            <a:off x="784800" y="4053960"/>
            <a:ext cx="8488800" cy="533520"/>
          </a:xfrm>
          <a:prstGeom prst="rect">
            <a:avLst/>
          </a:prstGeom>
          <a:noFill/>
          <a:ln w="0">
            <a:noFill/>
          </a:ln>
        </p:spPr>
        <p:txBody>
          <a:bodyPr lIns="0" rIns="0" tIns="0" bIns="0" anchor="t">
            <a:noAutofit/>
          </a:bodyPr>
          <a:p>
            <a:r>
              <a:rPr b="0" lang="en-US" sz="2070" spc="-1" strike="noStrike">
                <a:solidFill>
                  <a:srgbClr val="000000"/>
                </a:solidFill>
                <a:latin typeface="Noto Sans"/>
              </a:rPr>
              <a:t>Sind Titel, Legende, Einheit und Quellen lesbar?</a:t>
            </a:r>
            <a:endParaRPr b="0" lang="en-US" sz="2070" spc="-1" strike="noStrike">
              <a:solidFill>
                <a:srgbClr val="000000"/>
              </a:solidFill>
              <a:latin typeface="Arial"/>
            </a:endParaRPr>
          </a:p>
        </p:txBody>
      </p:sp>
      <p:sp>
        <p:nvSpPr>
          <p:cNvPr id="495" name=""/>
          <p:cNvSpPr/>
          <p:nvPr/>
        </p:nvSpPr>
        <p:spPr>
          <a:xfrm>
            <a:off x="9410760" y="3924360"/>
            <a:ext cx="2110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6" name=""/>
          <p:cNvSpPr txBox="1"/>
          <p:nvPr/>
        </p:nvSpPr>
        <p:spPr>
          <a:xfrm>
            <a:off x="9547920" y="4053960"/>
            <a:ext cx="1859400" cy="533520"/>
          </a:xfrm>
          <a:prstGeom prst="rect">
            <a:avLst/>
          </a:prstGeom>
          <a:noFill/>
          <a:ln w="0">
            <a:noFill/>
          </a:ln>
        </p:spPr>
        <p:txBody>
          <a:bodyPr lIns="0" rIns="0" tIns="0" bIns="0" anchor="t">
            <a:noAutofit/>
          </a:bodyPr>
          <a:p>
            <a:endParaRPr b="0" lang="en-US" sz="1800" spc="-1" strike="noStrike">
              <a:solidFill>
                <a:srgbClr val="000000"/>
              </a:solidFill>
              <a:latin typeface="Arial"/>
            </a:endParaRPr>
          </a:p>
        </p:txBody>
      </p:sp>
      <p:sp>
        <p:nvSpPr>
          <p:cNvPr id="497" name=""/>
          <p:cNvSpPr/>
          <p:nvPr/>
        </p:nvSpPr>
        <p:spPr>
          <a:xfrm>
            <a:off x="647640" y="4610160"/>
            <a:ext cx="8740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8" name=""/>
          <p:cNvSpPr txBox="1"/>
          <p:nvPr/>
        </p:nvSpPr>
        <p:spPr>
          <a:xfrm>
            <a:off x="784800" y="4739760"/>
            <a:ext cx="8488800" cy="533520"/>
          </a:xfrm>
          <a:prstGeom prst="rect">
            <a:avLst/>
          </a:prstGeom>
          <a:noFill/>
          <a:ln w="0">
            <a:noFill/>
          </a:ln>
        </p:spPr>
        <p:txBody>
          <a:bodyPr lIns="0" rIns="0" tIns="0" bIns="0" anchor="t">
            <a:noAutofit/>
          </a:bodyPr>
          <a:p>
            <a:r>
              <a:rPr b="0" lang="en-US" sz="2070" spc="-1" strike="noStrike">
                <a:solidFill>
                  <a:srgbClr val="000000"/>
                </a:solidFill>
                <a:latin typeface="Noto Sans"/>
              </a:rPr>
              <a:t>Bleiben Hintergrund und Rahmen zurückhaltend?</a:t>
            </a:r>
            <a:endParaRPr b="0" lang="en-US" sz="2070" spc="-1" strike="noStrike">
              <a:solidFill>
                <a:srgbClr val="000000"/>
              </a:solidFill>
              <a:latin typeface="Arial"/>
            </a:endParaRPr>
          </a:p>
        </p:txBody>
      </p:sp>
      <p:sp>
        <p:nvSpPr>
          <p:cNvPr id="499" name=""/>
          <p:cNvSpPr/>
          <p:nvPr/>
        </p:nvSpPr>
        <p:spPr>
          <a:xfrm>
            <a:off x="9410760" y="4610160"/>
            <a:ext cx="2110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0" name=""/>
          <p:cNvSpPr txBox="1"/>
          <p:nvPr/>
        </p:nvSpPr>
        <p:spPr>
          <a:xfrm>
            <a:off x="9547920" y="4739760"/>
            <a:ext cx="1859400" cy="533520"/>
          </a:xfrm>
          <a:prstGeom prst="rect">
            <a:avLst/>
          </a:prstGeom>
          <a:noFill/>
          <a:ln w="0">
            <a:noFill/>
          </a:ln>
        </p:spPr>
        <p:txBody>
          <a:bodyPr lIns="0" rIns="0" tIns="0" bIns="0" anchor="t">
            <a:noAutofit/>
          </a:bodyPr>
          <a:p>
            <a:endParaRPr b="0" lang="en-US" sz="1800" spc="-1" strike="noStrike">
              <a:solidFill>
                <a:srgbClr val="000000"/>
              </a:solidFill>
              <a:latin typeface="Arial"/>
            </a:endParaRPr>
          </a:p>
        </p:txBody>
      </p:sp>
      <p:sp>
        <p:nvSpPr>
          <p:cNvPr id="50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2" name=""/>
          <p:cNvSpPr txBox="1"/>
          <p:nvPr/>
        </p:nvSpPr>
        <p:spPr>
          <a:xfrm>
            <a:off x="838080" y="56235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Zeitmarke Minute 62: jetzt exportieren.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Zwei Formate mit verbindlichen Dateinamen exportieren</a:t>
            </a:r>
            <a:endParaRPr b="0" lang="en-US" sz="3190" spc="-1" strike="noStrike">
              <a:solidFill>
                <a:srgbClr val="000000"/>
              </a:solidFill>
              <a:latin typeface="Arial"/>
            </a:endParaRPr>
          </a:p>
        </p:txBody>
      </p:sp>
      <p:sp>
        <p:nvSpPr>
          <p:cNvPr id="50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PRODUKTE</a:t>
            </a:r>
            <a:endParaRPr b="0" lang="en-US" sz="1130" spc="-1" strike="noStrike">
              <a:solidFill>
                <a:srgbClr val="000000"/>
              </a:solidFill>
              <a:latin typeface="Arial"/>
            </a:endParaRPr>
          </a:p>
        </p:txBody>
      </p:sp>
      <p:sp>
        <p:nvSpPr>
          <p:cNvPr id="50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50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27</a:t>
            </a:r>
            <a:endParaRPr b="0" lang="en-US" sz="939" spc="-1" strike="noStrike">
              <a:solidFill>
                <a:srgbClr val="000000"/>
              </a:solidFill>
              <a:latin typeface="Arial"/>
            </a:endParaRPr>
          </a:p>
        </p:txBody>
      </p:sp>
      <p:sp>
        <p:nvSpPr>
          <p:cNvPr id="507" name=""/>
          <p:cNvSpPr/>
          <p:nvPr/>
        </p:nvSpPr>
        <p:spPr>
          <a:xfrm>
            <a:off x="876240" y="2095560"/>
            <a:ext cx="49528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8" name=""/>
          <p:cNvSpPr/>
          <p:nvPr/>
        </p:nvSpPr>
        <p:spPr>
          <a:xfrm>
            <a:off x="876240" y="2095560"/>
            <a:ext cx="53280" cy="2362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09" name=""/>
          <p:cNvSpPr txBox="1"/>
          <p:nvPr/>
        </p:nvSpPr>
        <p:spPr>
          <a:xfrm>
            <a:off x="1082160" y="2278440"/>
            <a:ext cx="4541400" cy="647640"/>
          </a:xfrm>
          <a:prstGeom prst="rect">
            <a:avLst/>
          </a:prstGeom>
          <a:noFill/>
          <a:ln w="0">
            <a:noFill/>
          </a:ln>
        </p:spPr>
        <p:txBody>
          <a:bodyPr lIns="0" rIns="0" tIns="0" bIns="0" anchor="t">
            <a:noAutofit/>
          </a:bodyPr>
          <a:p>
            <a:r>
              <a:rPr b="1" lang="en-US" sz="2540" spc="-1" strike="noStrike">
                <a:solidFill>
                  <a:srgbClr val="004899"/>
                </a:solidFill>
                <a:latin typeface="Noto Sans"/>
              </a:rPr>
              <a:t>PDF</a:t>
            </a:r>
            <a:endParaRPr b="0" lang="en-US" sz="2540" spc="-1" strike="noStrike">
              <a:solidFill>
                <a:srgbClr val="000000"/>
              </a:solidFill>
              <a:latin typeface="Arial"/>
            </a:endParaRPr>
          </a:p>
        </p:txBody>
      </p:sp>
      <p:sp>
        <p:nvSpPr>
          <p:cNvPr id="510" name=""/>
          <p:cNvSpPr txBox="1"/>
          <p:nvPr/>
        </p:nvSpPr>
        <p:spPr>
          <a:xfrm>
            <a:off x="1082160" y="3040560"/>
            <a:ext cx="4541400" cy="1280160"/>
          </a:xfrm>
          <a:prstGeom prst="rect">
            <a:avLst/>
          </a:prstGeom>
          <a:noFill/>
          <a:ln w="0">
            <a:noFill/>
          </a:ln>
        </p:spPr>
        <p:txBody>
          <a:bodyPr lIns="0" rIns="0" tIns="0" bIns="0" anchor="t">
            <a:noAutofit/>
          </a:bodyPr>
          <a:p>
            <a:r>
              <a:rPr b="0" lang="en-US" sz="2350" spc="-1" strike="noStrike">
                <a:solidFill>
                  <a:srgbClr val="000000"/>
                </a:solidFill>
                <a:latin typeface="Noto Sans"/>
              </a:rPr>
              <a:t>figures/</a:t>
            </a:r>
            <a:endParaRPr b="0" lang="en-US" sz="2350" spc="-1" strike="noStrike">
              <a:solidFill>
                <a:srgbClr val="000000"/>
              </a:solidFill>
              <a:latin typeface="Arial"/>
            </a:endParaRPr>
          </a:p>
          <a:p>
            <a:r>
              <a:rPr b="0" lang="en-US" sz="2350" spc="-1" strike="noStrike">
                <a:solidFill>
                  <a:srgbClr val="000000"/>
                </a:solidFill>
                <a:latin typeface="Noto Sans"/>
              </a:rPr>
              <a:t>abschlusskarte_unit14.pdf</a:t>
            </a:r>
            <a:endParaRPr b="0" lang="en-US" sz="2350" spc="-1" strike="noStrike">
              <a:solidFill>
                <a:srgbClr val="000000"/>
              </a:solidFill>
              <a:latin typeface="Arial"/>
            </a:endParaRPr>
          </a:p>
        </p:txBody>
      </p:sp>
      <p:sp>
        <p:nvSpPr>
          <p:cNvPr id="511" name=""/>
          <p:cNvSpPr/>
          <p:nvPr/>
        </p:nvSpPr>
        <p:spPr>
          <a:xfrm>
            <a:off x="6362640" y="2095560"/>
            <a:ext cx="49528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12" name=""/>
          <p:cNvSpPr/>
          <p:nvPr/>
        </p:nvSpPr>
        <p:spPr>
          <a:xfrm>
            <a:off x="6362640" y="2095560"/>
            <a:ext cx="53280" cy="23623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3" name=""/>
          <p:cNvSpPr txBox="1"/>
          <p:nvPr/>
        </p:nvSpPr>
        <p:spPr>
          <a:xfrm>
            <a:off x="6568560" y="2278440"/>
            <a:ext cx="4541400" cy="647640"/>
          </a:xfrm>
          <a:prstGeom prst="rect">
            <a:avLst/>
          </a:prstGeom>
          <a:noFill/>
          <a:ln w="0">
            <a:noFill/>
          </a:ln>
        </p:spPr>
        <p:txBody>
          <a:bodyPr lIns="0" rIns="0" tIns="0" bIns="0" anchor="t">
            <a:noAutofit/>
          </a:bodyPr>
          <a:p>
            <a:r>
              <a:rPr b="1" lang="en-US" sz="2540" spc="-1" strike="noStrike">
                <a:solidFill>
                  <a:srgbClr val="a32123"/>
                </a:solidFill>
                <a:latin typeface="Noto Sans"/>
              </a:rPr>
              <a:t>PNG · 150 dpi</a:t>
            </a:r>
            <a:endParaRPr b="0" lang="en-US" sz="2540" spc="-1" strike="noStrike">
              <a:solidFill>
                <a:srgbClr val="000000"/>
              </a:solidFill>
              <a:latin typeface="Arial"/>
            </a:endParaRPr>
          </a:p>
        </p:txBody>
      </p:sp>
      <p:sp>
        <p:nvSpPr>
          <p:cNvPr id="514" name=""/>
          <p:cNvSpPr txBox="1"/>
          <p:nvPr/>
        </p:nvSpPr>
        <p:spPr>
          <a:xfrm>
            <a:off x="6568560" y="3040560"/>
            <a:ext cx="4541400" cy="1280160"/>
          </a:xfrm>
          <a:prstGeom prst="rect">
            <a:avLst/>
          </a:prstGeom>
          <a:noFill/>
          <a:ln w="0">
            <a:noFill/>
          </a:ln>
        </p:spPr>
        <p:txBody>
          <a:bodyPr lIns="0" rIns="0" tIns="0" bIns="0" anchor="t">
            <a:noAutofit/>
          </a:bodyPr>
          <a:p>
            <a:r>
              <a:rPr b="0" lang="en-US" sz="2350" spc="-1" strike="noStrike">
                <a:solidFill>
                  <a:srgbClr val="000000"/>
                </a:solidFill>
                <a:latin typeface="Noto Sans"/>
              </a:rPr>
              <a:t>figures/</a:t>
            </a:r>
            <a:endParaRPr b="0" lang="en-US" sz="2350" spc="-1" strike="noStrike">
              <a:solidFill>
                <a:srgbClr val="000000"/>
              </a:solidFill>
              <a:latin typeface="Arial"/>
            </a:endParaRPr>
          </a:p>
          <a:p>
            <a:r>
              <a:rPr b="0" lang="en-US" sz="2350" spc="-1" strike="noStrike">
                <a:solidFill>
                  <a:srgbClr val="000000"/>
                </a:solidFill>
                <a:latin typeface="Noto Sans"/>
              </a:rPr>
              <a:t>abschlusskarte_unit14.png</a:t>
            </a:r>
            <a:endParaRPr b="0" lang="en-US" sz="2350" spc="-1" strike="noStrike">
              <a:solidFill>
                <a:srgbClr val="000000"/>
              </a:solidFill>
              <a:latin typeface="Arial"/>
            </a:endParaRPr>
          </a:p>
        </p:txBody>
      </p:sp>
      <p:sp>
        <p:nvSpPr>
          <p:cNvPr id="51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16"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Ein erfolgreicher Export ist noch keine bestandene Sichtprüfung.</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PDF und PNG außerhalb von QGIS öffnen</a:t>
            </a:r>
            <a:endParaRPr b="0" lang="en-US" sz="3190" spc="-1" strike="noStrike">
              <a:solidFill>
                <a:srgbClr val="000000"/>
              </a:solidFill>
              <a:latin typeface="Arial"/>
            </a:endParaRPr>
          </a:p>
        </p:txBody>
      </p:sp>
      <p:sp>
        <p:nvSpPr>
          <p:cNvPr id="51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SICHTPRÜFUNG</a:t>
            </a:r>
            <a:endParaRPr b="0" lang="en-US" sz="1130" spc="-1" strike="noStrike">
              <a:solidFill>
                <a:srgbClr val="000000"/>
              </a:solidFill>
              <a:latin typeface="Arial"/>
            </a:endParaRPr>
          </a:p>
        </p:txBody>
      </p:sp>
      <p:sp>
        <p:nvSpPr>
          <p:cNvPr id="51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52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28</a:t>
            </a:r>
            <a:endParaRPr b="0" lang="en-US" sz="939" spc="-1" strike="noStrike">
              <a:solidFill>
                <a:srgbClr val="000000"/>
              </a:solidFill>
              <a:latin typeface="Arial"/>
            </a:endParaRPr>
          </a:p>
        </p:txBody>
      </p:sp>
      <p:sp>
        <p:nvSpPr>
          <p:cNvPr id="521"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2"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523"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PDF öffnen</a:t>
            </a:r>
            <a:endParaRPr b="0" lang="en-US" sz="2720" spc="-1" strike="noStrike">
              <a:solidFill>
                <a:srgbClr val="000000"/>
              </a:solidFill>
              <a:latin typeface="Arial"/>
            </a:endParaRPr>
          </a:p>
        </p:txBody>
      </p:sp>
      <p:sp>
        <p:nvSpPr>
          <p:cNvPr id="524"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Seite vollständig · Texte und Linien scharf.</a:t>
            </a:r>
            <a:endParaRPr b="0" lang="en-US" sz="2260" spc="-1" strike="noStrike">
              <a:solidFill>
                <a:srgbClr val="000000"/>
              </a:solidFill>
              <a:latin typeface="Arial"/>
            </a:endParaRPr>
          </a:p>
        </p:txBody>
      </p:sp>
      <p:sp>
        <p:nvSpPr>
          <p:cNvPr id="525"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6"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27"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PNG öffnen</a:t>
            </a:r>
            <a:endParaRPr b="0" lang="en-US" sz="2720" spc="-1" strike="noStrike">
              <a:solidFill>
                <a:srgbClr val="000000"/>
              </a:solidFill>
              <a:latin typeface="Arial"/>
            </a:endParaRPr>
          </a:p>
        </p:txBody>
      </p:sp>
      <p:sp>
        <p:nvSpPr>
          <p:cNvPr id="528"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150 dpi · keine abgeschnittenen Elemente.</a:t>
            </a:r>
            <a:endParaRPr b="0" lang="en-US" sz="2260" spc="-1" strike="noStrike">
              <a:solidFill>
                <a:srgbClr val="000000"/>
              </a:solidFill>
              <a:latin typeface="Arial"/>
            </a:endParaRPr>
          </a:p>
        </p:txBody>
      </p:sp>
      <p:sp>
        <p:nvSpPr>
          <p:cNvPr id="529"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0"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31"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Vergleichen</a:t>
            </a:r>
            <a:endParaRPr b="0" lang="en-US" sz="2720" spc="-1" strike="noStrike">
              <a:solidFill>
                <a:srgbClr val="000000"/>
              </a:solidFill>
              <a:latin typeface="Arial"/>
            </a:endParaRPr>
          </a:p>
        </p:txBody>
      </p:sp>
      <p:sp>
        <p:nvSpPr>
          <p:cNvPr id="532"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Titel, Legende, Farben und Quellen stimmen überein.</a:t>
            </a:r>
            <a:endParaRPr b="0" lang="en-US" sz="2260" spc="-1" strike="noStrike">
              <a:solidFill>
                <a:srgbClr val="000000"/>
              </a:solidFill>
              <a:latin typeface="Arial"/>
            </a:endParaRPr>
          </a:p>
        </p:txBody>
      </p:sp>
      <p:sp>
        <p:nvSpPr>
          <p:cNvPr id="53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4"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Nur sichtbare und lesbare Ausgaben gelten als Ergebnis.</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Vier Produkte vor dem Partnercheck sichern</a:t>
            </a:r>
            <a:endParaRPr b="0" lang="en-US" sz="3190" spc="-1" strike="noStrike">
              <a:solidFill>
                <a:srgbClr val="000000"/>
              </a:solidFill>
              <a:latin typeface="Arial"/>
            </a:endParaRPr>
          </a:p>
        </p:txBody>
      </p:sp>
      <p:sp>
        <p:nvSpPr>
          <p:cNvPr id="53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ERGEBNISSICHERUNG</a:t>
            </a:r>
            <a:endParaRPr b="0" lang="en-US" sz="1130" spc="-1" strike="noStrike">
              <a:solidFill>
                <a:srgbClr val="000000"/>
              </a:solidFill>
              <a:latin typeface="Arial"/>
            </a:endParaRPr>
          </a:p>
        </p:txBody>
      </p:sp>
      <p:sp>
        <p:nvSpPr>
          <p:cNvPr id="53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53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29</a:t>
            </a:r>
            <a:endParaRPr b="0" lang="en-US" sz="939" spc="-1" strike="noStrike">
              <a:solidFill>
                <a:srgbClr val="000000"/>
              </a:solidFill>
              <a:latin typeface="Arial"/>
            </a:endParaRPr>
          </a:p>
        </p:txBody>
      </p:sp>
      <p:sp>
        <p:nvSpPr>
          <p:cNvPr id="539" name=""/>
          <p:cNvSpPr/>
          <p:nvPr/>
        </p:nvSpPr>
        <p:spPr>
          <a:xfrm>
            <a:off x="647640" y="1866960"/>
            <a:ext cx="797832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0" name=""/>
          <p:cNvSpPr txBox="1"/>
          <p:nvPr/>
        </p:nvSpPr>
        <p:spPr>
          <a:xfrm>
            <a:off x="784800" y="1996560"/>
            <a:ext cx="7726680" cy="533520"/>
          </a:xfrm>
          <a:prstGeom prst="rect">
            <a:avLst/>
          </a:prstGeom>
          <a:noFill/>
          <a:ln w="0">
            <a:noFill/>
          </a:ln>
        </p:spPr>
        <p:txBody>
          <a:bodyPr lIns="0" rIns="0" tIns="0" bIns="0" anchor="t">
            <a:noAutofit/>
          </a:bodyPr>
          <a:p>
            <a:r>
              <a:rPr b="1" lang="en-US" sz="2070" spc="-1" strike="noStrike">
                <a:solidFill>
                  <a:srgbClr val="ffffff"/>
                </a:solidFill>
                <a:latin typeface="Noto Sans"/>
              </a:rPr>
              <a:t>Produkt</a:t>
            </a:r>
            <a:endParaRPr b="0" lang="en-US" sz="2070" spc="-1" strike="noStrike">
              <a:solidFill>
                <a:srgbClr val="000000"/>
              </a:solidFill>
              <a:latin typeface="Arial"/>
            </a:endParaRPr>
          </a:p>
        </p:txBody>
      </p:sp>
      <p:sp>
        <p:nvSpPr>
          <p:cNvPr id="541" name=""/>
          <p:cNvSpPr/>
          <p:nvPr/>
        </p:nvSpPr>
        <p:spPr>
          <a:xfrm>
            <a:off x="8648640" y="1866960"/>
            <a:ext cx="287280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2" name=""/>
          <p:cNvSpPr txBox="1"/>
          <p:nvPr/>
        </p:nvSpPr>
        <p:spPr>
          <a:xfrm>
            <a:off x="8785800" y="1996560"/>
            <a:ext cx="2621160" cy="533520"/>
          </a:xfrm>
          <a:prstGeom prst="rect">
            <a:avLst/>
          </a:prstGeom>
          <a:noFill/>
          <a:ln w="0">
            <a:noFill/>
          </a:ln>
        </p:spPr>
        <p:txBody>
          <a:bodyPr lIns="0" rIns="0" tIns="0" bIns="0" anchor="t">
            <a:noAutofit/>
          </a:bodyPr>
          <a:p>
            <a:r>
              <a:rPr b="1" lang="en-US" sz="2070" spc="-1" strike="noStrike">
                <a:solidFill>
                  <a:srgbClr val="ffffff"/>
                </a:solidFill>
                <a:latin typeface="Noto Sans"/>
              </a:rPr>
              <a:t>Status</a:t>
            </a:r>
            <a:endParaRPr b="0" lang="en-US" sz="2070" spc="-1" strike="noStrike">
              <a:solidFill>
                <a:srgbClr val="000000"/>
              </a:solidFill>
              <a:latin typeface="Arial"/>
            </a:endParaRPr>
          </a:p>
        </p:txBody>
      </p:sp>
      <p:sp>
        <p:nvSpPr>
          <p:cNvPr id="543" name=""/>
          <p:cNvSpPr/>
          <p:nvPr/>
        </p:nvSpPr>
        <p:spPr>
          <a:xfrm>
            <a:off x="647640" y="2552760"/>
            <a:ext cx="79783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4" name=""/>
          <p:cNvSpPr txBox="1"/>
          <p:nvPr/>
        </p:nvSpPr>
        <p:spPr>
          <a:xfrm>
            <a:off x="784800" y="2682360"/>
            <a:ext cx="7726680" cy="533520"/>
          </a:xfrm>
          <a:prstGeom prst="rect">
            <a:avLst/>
          </a:prstGeom>
          <a:noFill/>
          <a:ln w="0">
            <a:noFill/>
          </a:ln>
        </p:spPr>
        <p:txBody>
          <a:bodyPr lIns="0" rIns="0" tIns="0" bIns="0" anchor="t">
            <a:noAutofit/>
          </a:bodyPr>
          <a:p>
            <a:r>
              <a:rPr b="0" lang="en-US" sz="2070" spc="-1" strike="noStrike">
                <a:solidFill>
                  <a:srgbClr val="000000"/>
                </a:solidFill>
                <a:latin typeface="Noto Sans"/>
              </a:rPr>
              <a:t>unit14_abschluss.qgz</a:t>
            </a:r>
            <a:endParaRPr b="0" lang="en-US" sz="2070" spc="-1" strike="noStrike">
              <a:solidFill>
                <a:srgbClr val="000000"/>
              </a:solidFill>
              <a:latin typeface="Arial"/>
            </a:endParaRPr>
          </a:p>
        </p:txBody>
      </p:sp>
      <p:sp>
        <p:nvSpPr>
          <p:cNvPr id="545" name=""/>
          <p:cNvSpPr/>
          <p:nvPr/>
        </p:nvSpPr>
        <p:spPr>
          <a:xfrm>
            <a:off x="8648640" y="2552760"/>
            <a:ext cx="28728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6" name=""/>
          <p:cNvSpPr txBox="1"/>
          <p:nvPr/>
        </p:nvSpPr>
        <p:spPr>
          <a:xfrm>
            <a:off x="8785800" y="2682360"/>
            <a:ext cx="2621160" cy="533520"/>
          </a:xfrm>
          <a:prstGeom prst="rect">
            <a:avLst/>
          </a:prstGeom>
          <a:noFill/>
          <a:ln w="0">
            <a:noFill/>
          </a:ln>
        </p:spPr>
        <p:txBody>
          <a:bodyPr lIns="0" rIns="0" tIns="0" bIns="0" anchor="t">
            <a:noAutofit/>
          </a:bodyPr>
          <a:p>
            <a:r>
              <a:rPr b="0" lang="en-US" sz="2070" spc="-1" strike="noStrike">
                <a:solidFill>
                  <a:srgbClr val="000000"/>
                </a:solidFill>
                <a:latin typeface="Noto Sans"/>
              </a:rPr>
              <a:t>gespeichert</a:t>
            </a:r>
            <a:endParaRPr b="0" lang="en-US" sz="2070" spc="-1" strike="noStrike">
              <a:solidFill>
                <a:srgbClr val="000000"/>
              </a:solidFill>
              <a:latin typeface="Arial"/>
            </a:endParaRPr>
          </a:p>
        </p:txBody>
      </p:sp>
      <p:sp>
        <p:nvSpPr>
          <p:cNvPr id="547" name=""/>
          <p:cNvSpPr/>
          <p:nvPr/>
        </p:nvSpPr>
        <p:spPr>
          <a:xfrm>
            <a:off x="647640" y="3238560"/>
            <a:ext cx="79783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8" name=""/>
          <p:cNvSpPr txBox="1"/>
          <p:nvPr/>
        </p:nvSpPr>
        <p:spPr>
          <a:xfrm>
            <a:off x="784800" y="3368160"/>
            <a:ext cx="7726680" cy="533520"/>
          </a:xfrm>
          <a:prstGeom prst="rect">
            <a:avLst/>
          </a:prstGeom>
          <a:noFill/>
          <a:ln w="0">
            <a:noFill/>
          </a:ln>
        </p:spPr>
        <p:txBody>
          <a:bodyPr lIns="0" rIns="0" tIns="0" bIns="0" anchor="t">
            <a:noAutofit/>
          </a:bodyPr>
          <a:p>
            <a:r>
              <a:rPr b="0" lang="en-US" sz="2070" spc="-1" strike="noStrike">
                <a:solidFill>
                  <a:srgbClr val="000000"/>
                </a:solidFill>
                <a:latin typeface="Noto Sans"/>
              </a:rPr>
              <a:t>figures/abschlusskarte_unit14.pdf</a:t>
            </a:r>
            <a:endParaRPr b="0" lang="en-US" sz="2070" spc="-1" strike="noStrike">
              <a:solidFill>
                <a:srgbClr val="000000"/>
              </a:solidFill>
              <a:latin typeface="Arial"/>
            </a:endParaRPr>
          </a:p>
        </p:txBody>
      </p:sp>
      <p:sp>
        <p:nvSpPr>
          <p:cNvPr id="549" name=""/>
          <p:cNvSpPr/>
          <p:nvPr/>
        </p:nvSpPr>
        <p:spPr>
          <a:xfrm>
            <a:off x="8648640" y="3238560"/>
            <a:ext cx="28728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0" name=""/>
          <p:cNvSpPr txBox="1"/>
          <p:nvPr/>
        </p:nvSpPr>
        <p:spPr>
          <a:xfrm>
            <a:off x="8785800" y="3368160"/>
            <a:ext cx="2621160" cy="533520"/>
          </a:xfrm>
          <a:prstGeom prst="rect">
            <a:avLst/>
          </a:prstGeom>
          <a:noFill/>
          <a:ln w="0">
            <a:noFill/>
          </a:ln>
        </p:spPr>
        <p:txBody>
          <a:bodyPr lIns="0" rIns="0" tIns="0" bIns="0" anchor="t">
            <a:noAutofit/>
          </a:bodyPr>
          <a:p>
            <a:r>
              <a:rPr b="0" lang="en-US" sz="2070" spc="-1" strike="noStrike">
                <a:solidFill>
                  <a:srgbClr val="000000"/>
                </a:solidFill>
                <a:latin typeface="Noto Sans"/>
              </a:rPr>
              <a:t>geöffnet und geprüft</a:t>
            </a:r>
            <a:endParaRPr b="0" lang="en-US" sz="2070" spc="-1" strike="noStrike">
              <a:solidFill>
                <a:srgbClr val="000000"/>
              </a:solidFill>
              <a:latin typeface="Arial"/>
            </a:endParaRPr>
          </a:p>
        </p:txBody>
      </p:sp>
      <p:sp>
        <p:nvSpPr>
          <p:cNvPr id="551" name=""/>
          <p:cNvSpPr/>
          <p:nvPr/>
        </p:nvSpPr>
        <p:spPr>
          <a:xfrm>
            <a:off x="647640" y="3924360"/>
            <a:ext cx="79783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2" name=""/>
          <p:cNvSpPr txBox="1"/>
          <p:nvPr/>
        </p:nvSpPr>
        <p:spPr>
          <a:xfrm>
            <a:off x="784800" y="4053960"/>
            <a:ext cx="7726680" cy="533520"/>
          </a:xfrm>
          <a:prstGeom prst="rect">
            <a:avLst/>
          </a:prstGeom>
          <a:noFill/>
          <a:ln w="0">
            <a:noFill/>
          </a:ln>
        </p:spPr>
        <p:txBody>
          <a:bodyPr lIns="0" rIns="0" tIns="0" bIns="0" anchor="t">
            <a:noAutofit/>
          </a:bodyPr>
          <a:p>
            <a:r>
              <a:rPr b="0" lang="en-US" sz="2070" spc="-1" strike="noStrike">
                <a:solidFill>
                  <a:srgbClr val="000000"/>
                </a:solidFill>
                <a:latin typeface="Noto Sans"/>
              </a:rPr>
              <a:t>figures/abschlusskarte_unit14.png</a:t>
            </a:r>
            <a:endParaRPr b="0" lang="en-US" sz="2070" spc="-1" strike="noStrike">
              <a:solidFill>
                <a:srgbClr val="000000"/>
              </a:solidFill>
              <a:latin typeface="Arial"/>
            </a:endParaRPr>
          </a:p>
        </p:txBody>
      </p:sp>
      <p:sp>
        <p:nvSpPr>
          <p:cNvPr id="553" name=""/>
          <p:cNvSpPr/>
          <p:nvPr/>
        </p:nvSpPr>
        <p:spPr>
          <a:xfrm>
            <a:off x="8648640" y="3924360"/>
            <a:ext cx="28728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4" name=""/>
          <p:cNvSpPr txBox="1"/>
          <p:nvPr/>
        </p:nvSpPr>
        <p:spPr>
          <a:xfrm>
            <a:off x="8785800" y="4053960"/>
            <a:ext cx="2621160" cy="533520"/>
          </a:xfrm>
          <a:prstGeom prst="rect">
            <a:avLst/>
          </a:prstGeom>
          <a:noFill/>
          <a:ln w="0">
            <a:noFill/>
          </a:ln>
        </p:spPr>
        <p:txBody>
          <a:bodyPr lIns="0" rIns="0" tIns="0" bIns="0" anchor="t">
            <a:noAutofit/>
          </a:bodyPr>
          <a:p>
            <a:r>
              <a:rPr b="0" lang="en-US" sz="2070" spc="-1" strike="noStrike">
                <a:solidFill>
                  <a:srgbClr val="000000"/>
                </a:solidFill>
                <a:latin typeface="Noto Sans"/>
              </a:rPr>
              <a:t>150 dpi · geöffnet und geprüft</a:t>
            </a:r>
            <a:endParaRPr b="0" lang="en-US" sz="2070" spc="-1" strike="noStrike">
              <a:solidFill>
                <a:srgbClr val="000000"/>
              </a:solidFill>
              <a:latin typeface="Arial"/>
            </a:endParaRPr>
          </a:p>
        </p:txBody>
      </p:sp>
      <p:sp>
        <p:nvSpPr>
          <p:cNvPr id="555" name=""/>
          <p:cNvSpPr/>
          <p:nvPr/>
        </p:nvSpPr>
        <p:spPr>
          <a:xfrm>
            <a:off x="647640" y="4610160"/>
            <a:ext cx="79783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6" name=""/>
          <p:cNvSpPr txBox="1"/>
          <p:nvPr/>
        </p:nvSpPr>
        <p:spPr>
          <a:xfrm>
            <a:off x="784800" y="4739760"/>
            <a:ext cx="7726680" cy="533520"/>
          </a:xfrm>
          <a:prstGeom prst="rect">
            <a:avLst/>
          </a:prstGeom>
          <a:noFill/>
          <a:ln w="0">
            <a:noFill/>
          </a:ln>
        </p:spPr>
        <p:txBody>
          <a:bodyPr lIns="0" rIns="0" tIns="0" bIns="0" anchor="t">
            <a:noAutofit/>
          </a:bodyPr>
          <a:p>
            <a:r>
              <a:rPr b="0" lang="en-US" sz="2070" spc="-1" strike="noStrike">
                <a:solidFill>
                  <a:srgbClr val="000000"/>
                </a:solidFill>
                <a:latin typeface="Noto Sans"/>
              </a:rPr>
              <a:t>documentation/processing_notes.md</a:t>
            </a:r>
            <a:endParaRPr b="0" lang="en-US" sz="2070" spc="-1" strike="noStrike">
              <a:solidFill>
                <a:srgbClr val="000000"/>
              </a:solidFill>
              <a:latin typeface="Arial"/>
            </a:endParaRPr>
          </a:p>
        </p:txBody>
      </p:sp>
      <p:sp>
        <p:nvSpPr>
          <p:cNvPr id="557" name=""/>
          <p:cNvSpPr/>
          <p:nvPr/>
        </p:nvSpPr>
        <p:spPr>
          <a:xfrm>
            <a:off x="8648640" y="4610160"/>
            <a:ext cx="28728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8" name=""/>
          <p:cNvSpPr txBox="1"/>
          <p:nvPr/>
        </p:nvSpPr>
        <p:spPr>
          <a:xfrm>
            <a:off x="8785800" y="4739760"/>
            <a:ext cx="2621160" cy="533520"/>
          </a:xfrm>
          <a:prstGeom prst="rect">
            <a:avLst/>
          </a:prstGeom>
          <a:noFill/>
          <a:ln w="0">
            <a:noFill/>
          </a:ln>
        </p:spPr>
        <p:txBody>
          <a:bodyPr lIns="0" rIns="0" tIns="0" bIns="0" anchor="t">
            <a:noAutofit/>
          </a:bodyPr>
          <a:p>
            <a:r>
              <a:rPr b="0" lang="en-US" sz="2070" spc="-1" strike="noStrike">
                <a:solidFill>
                  <a:srgbClr val="000000"/>
                </a:solidFill>
                <a:latin typeface="Noto Sans"/>
              </a:rPr>
              <a:t>vorhanden · Ergänzung folgt</a:t>
            </a:r>
            <a:endParaRPr b="0" lang="en-US" sz="2070" spc="-1" strike="noStrike">
              <a:solidFill>
                <a:srgbClr val="000000"/>
              </a:solidFill>
              <a:latin typeface="Arial"/>
            </a:endParaRPr>
          </a:p>
        </p:txBody>
      </p:sp>
      <p:sp>
        <p:nvSpPr>
          <p:cNvPr id="55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0"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Fehlt ein Produkt, zuerst den Pfad prüfen – keine neue Analyse beginnen.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Partnercheck: Karte ohne Zusatzwissen lesen</a:t>
            </a:r>
            <a:endParaRPr b="0" lang="en-US" sz="3190" spc="-1" strike="noStrike">
              <a:solidFill>
                <a:srgbClr val="000000"/>
              </a:solidFill>
              <a:latin typeface="Arial"/>
            </a:endParaRPr>
          </a:p>
        </p:txBody>
      </p:sp>
      <p:sp>
        <p:nvSpPr>
          <p:cNvPr id="56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PARTNERARBEIT · DURCHFÜHRUNG</a:t>
            </a:r>
            <a:endParaRPr b="0" lang="en-US" sz="1130" spc="-1" strike="noStrike">
              <a:solidFill>
                <a:srgbClr val="000000"/>
              </a:solidFill>
              <a:latin typeface="Arial"/>
            </a:endParaRPr>
          </a:p>
        </p:txBody>
      </p:sp>
      <p:sp>
        <p:nvSpPr>
          <p:cNvPr id="56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56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30</a:t>
            </a:r>
            <a:endParaRPr b="0" lang="en-US" sz="939" spc="-1" strike="noStrike">
              <a:solidFill>
                <a:srgbClr val="000000"/>
              </a:solidFill>
              <a:latin typeface="Arial"/>
            </a:endParaRPr>
          </a:p>
        </p:txBody>
      </p:sp>
      <p:sp>
        <p:nvSpPr>
          <p:cNvPr id="565" name=""/>
          <p:cNvSpPr/>
          <p:nvPr/>
        </p:nvSpPr>
        <p:spPr>
          <a:xfrm>
            <a:off x="990720" y="1866960"/>
            <a:ext cx="10211040" cy="1866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566" name=""/>
          <p:cNvSpPr txBox="1"/>
          <p:nvPr/>
        </p:nvSpPr>
        <p:spPr>
          <a:xfrm>
            <a:off x="1447920" y="2286000"/>
            <a:ext cx="9296640" cy="952560"/>
          </a:xfrm>
          <a:prstGeom prst="rect">
            <a:avLst/>
          </a:prstGeom>
          <a:noFill/>
          <a:ln w="0">
            <a:noFill/>
          </a:ln>
        </p:spPr>
        <p:txBody>
          <a:bodyPr lIns="0" rIns="0" tIns="0" bIns="0" anchor="t">
            <a:noAutofit/>
          </a:bodyPr>
          <a:p>
            <a:pPr algn="ctr"/>
            <a:r>
              <a:rPr b="1" lang="en-US" sz="3010" spc="-1" strike="noStrike">
                <a:solidFill>
                  <a:srgbClr val="000000"/>
                </a:solidFill>
                <a:latin typeface="Noto Sans"/>
              </a:rPr>
              <a:t>Welche Aussage lesen Sie aus Titel, Karte und Legende –</a:t>
            </a:r>
            <a:endParaRPr b="0" lang="en-US" sz="3010" spc="-1" strike="noStrike">
              <a:solidFill>
                <a:srgbClr val="000000"/>
              </a:solidFill>
              <a:latin typeface="Arial"/>
            </a:endParaRPr>
          </a:p>
          <a:p>
            <a:pPr algn="ctr"/>
            <a:r>
              <a:rPr b="1" lang="en-US" sz="3010" spc="-1" strike="noStrike">
                <a:solidFill>
                  <a:srgbClr val="000000"/>
                </a:solidFill>
                <a:latin typeface="Noto Sans"/>
              </a:rPr>
              <a:t>ohne dass die erstellende Person etwas erklärt?</a:t>
            </a:r>
            <a:endParaRPr b="0" lang="en-US" sz="3010" spc="-1" strike="noStrike">
              <a:solidFill>
                <a:srgbClr val="000000"/>
              </a:solidFill>
              <a:latin typeface="Arial"/>
            </a:endParaRPr>
          </a:p>
        </p:txBody>
      </p:sp>
      <p:sp>
        <p:nvSpPr>
          <p:cNvPr id="567" name=""/>
          <p:cNvSpPr/>
          <p:nvPr/>
        </p:nvSpPr>
        <p:spPr>
          <a:xfrm>
            <a:off x="647640" y="4457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8" name=""/>
          <p:cNvSpPr txBox="1"/>
          <p:nvPr/>
        </p:nvSpPr>
        <p:spPr>
          <a:xfrm>
            <a:off x="838080" y="456444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Erst lesen und beschreiben – danach Rückmeldung geben.</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Eine konkrete Verbesserung priorisieren</a:t>
            </a:r>
            <a:endParaRPr b="0" lang="en-US" sz="3190" spc="-1" strike="noStrike">
              <a:solidFill>
                <a:srgbClr val="000000"/>
              </a:solidFill>
              <a:latin typeface="Arial"/>
            </a:endParaRPr>
          </a:p>
        </p:txBody>
      </p:sp>
      <p:sp>
        <p:nvSpPr>
          <p:cNvPr id="57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PARTNERARBEIT · KRITERIEN</a:t>
            </a:r>
            <a:endParaRPr b="0" lang="en-US" sz="1130" spc="-1" strike="noStrike">
              <a:solidFill>
                <a:srgbClr val="000000"/>
              </a:solidFill>
              <a:latin typeface="Arial"/>
            </a:endParaRPr>
          </a:p>
        </p:txBody>
      </p:sp>
      <p:sp>
        <p:nvSpPr>
          <p:cNvPr id="57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57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31</a:t>
            </a:r>
            <a:endParaRPr b="0" lang="en-US" sz="939" spc="-1" strike="noStrike">
              <a:solidFill>
                <a:srgbClr val="000000"/>
              </a:solidFill>
              <a:latin typeface="Arial"/>
            </a:endParaRPr>
          </a:p>
        </p:txBody>
      </p:sp>
      <p:sp>
        <p:nvSpPr>
          <p:cNvPr id="573" name=""/>
          <p:cNvSpPr/>
          <p:nvPr/>
        </p:nvSpPr>
        <p:spPr>
          <a:xfrm>
            <a:off x="647640" y="1866960"/>
            <a:ext cx="32536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74" name=""/>
          <p:cNvSpPr txBox="1"/>
          <p:nvPr/>
        </p:nvSpPr>
        <p:spPr>
          <a:xfrm>
            <a:off x="784800" y="1996560"/>
            <a:ext cx="3002400" cy="533520"/>
          </a:xfrm>
          <a:prstGeom prst="rect">
            <a:avLst/>
          </a:prstGeom>
          <a:noFill/>
          <a:ln w="0">
            <a:noFill/>
          </a:ln>
        </p:spPr>
        <p:txBody>
          <a:bodyPr lIns="0" rIns="0" tIns="0" bIns="0" anchor="t">
            <a:noAutofit/>
          </a:bodyPr>
          <a:p>
            <a:r>
              <a:rPr b="1" lang="en-US" sz="1979" spc="-1" strike="noStrike">
                <a:solidFill>
                  <a:srgbClr val="ffffff"/>
                </a:solidFill>
                <a:latin typeface="Noto Sans"/>
              </a:rPr>
              <a:t>Prüfbereich</a:t>
            </a:r>
            <a:endParaRPr b="0" lang="en-US" sz="1979" spc="-1" strike="noStrike">
              <a:solidFill>
                <a:srgbClr val="000000"/>
              </a:solidFill>
              <a:latin typeface="Arial"/>
            </a:endParaRPr>
          </a:p>
        </p:txBody>
      </p:sp>
      <p:sp>
        <p:nvSpPr>
          <p:cNvPr id="575" name=""/>
          <p:cNvSpPr/>
          <p:nvPr/>
        </p:nvSpPr>
        <p:spPr>
          <a:xfrm>
            <a:off x="3924360" y="1866960"/>
            <a:ext cx="75970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76" name=""/>
          <p:cNvSpPr txBox="1"/>
          <p:nvPr/>
        </p:nvSpPr>
        <p:spPr>
          <a:xfrm>
            <a:off x="4061520" y="1996560"/>
            <a:ext cx="7345800" cy="533520"/>
          </a:xfrm>
          <a:prstGeom prst="rect">
            <a:avLst/>
          </a:prstGeom>
          <a:noFill/>
          <a:ln w="0">
            <a:noFill/>
          </a:ln>
        </p:spPr>
        <p:txBody>
          <a:bodyPr lIns="0" rIns="0" tIns="0" bIns="0" anchor="t">
            <a:noAutofit/>
          </a:bodyPr>
          <a:p>
            <a:r>
              <a:rPr b="1" lang="en-US" sz="1979" spc="-1" strike="noStrike">
                <a:solidFill>
                  <a:srgbClr val="ffffff"/>
                </a:solidFill>
                <a:latin typeface="Noto Sans"/>
              </a:rPr>
              <a:t>Leitfrage</a:t>
            </a:r>
            <a:endParaRPr b="0" lang="en-US" sz="1979" spc="-1" strike="noStrike">
              <a:solidFill>
                <a:srgbClr val="000000"/>
              </a:solidFill>
              <a:latin typeface="Arial"/>
            </a:endParaRPr>
          </a:p>
        </p:txBody>
      </p:sp>
      <p:sp>
        <p:nvSpPr>
          <p:cNvPr id="577" name=""/>
          <p:cNvSpPr/>
          <p:nvPr/>
        </p:nvSpPr>
        <p:spPr>
          <a:xfrm>
            <a:off x="647640" y="2552760"/>
            <a:ext cx="3253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8" name=""/>
          <p:cNvSpPr txBox="1"/>
          <p:nvPr/>
        </p:nvSpPr>
        <p:spPr>
          <a:xfrm>
            <a:off x="784800" y="268236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Aussage</a:t>
            </a:r>
            <a:endParaRPr b="0" lang="en-US" sz="1979" spc="-1" strike="noStrike">
              <a:solidFill>
                <a:srgbClr val="000000"/>
              </a:solidFill>
              <a:latin typeface="Arial"/>
            </a:endParaRPr>
          </a:p>
        </p:txBody>
      </p:sp>
      <p:sp>
        <p:nvSpPr>
          <p:cNvPr id="579" name=""/>
          <p:cNvSpPr/>
          <p:nvPr/>
        </p:nvSpPr>
        <p:spPr>
          <a:xfrm>
            <a:off x="3924360" y="2552760"/>
            <a:ext cx="7597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0" name=""/>
          <p:cNvSpPr txBox="1"/>
          <p:nvPr/>
        </p:nvSpPr>
        <p:spPr>
          <a:xfrm>
            <a:off x="4061520" y="268236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Beschreibt die Karte Nachweise statt Verbreitung?</a:t>
            </a:r>
            <a:endParaRPr b="0" lang="en-US" sz="1979" spc="-1" strike="noStrike">
              <a:solidFill>
                <a:srgbClr val="000000"/>
              </a:solidFill>
              <a:latin typeface="Arial"/>
            </a:endParaRPr>
          </a:p>
        </p:txBody>
      </p:sp>
      <p:sp>
        <p:nvSpPr>
          <p:cNvPr id="581" name=""/>
          <p:cNvSpPr/>
          <p:nvPr/>
        </p:nvSpPr>
        <p:spPr>
          <a:xfrm>
            <a:off x="647640" y="3238560"/>
            <a:ext cx="3253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2" name=""/>
          <p:cNvSpPr txBox="1"/>
          <p:nvPr/>
        </p:nvSpPr>
        <p:spPr>
          <a:xfrm>
            <a:off x="784800" y="336816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Klassen</a:t>
            </a:r>
            <a:endParaRPr b="0" lang="en-US" sz="1979" spc="-1" strike="noStrike">
              <a:solidFill>
                <a:srgbClr val="000000"/>
              </a:solidFill>
              <a:latin typeface="Arial"/>
            </a:endParaRPr>
          </a:p>
        </p:txBody>
      </p:sp>
      <p:sp>
        <p:nvSpPr>
          <p:cNvPr id="583" name=""/>
          <p:cNvSpPr/>
          <p:nvPr/>
        </p:nvSpPr>
        <p:spPr>
          <a:xfrm>
            <a:off x="3924360" y="3238560"/>
            <a:ext cx="7597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4" name=""/>
          <p:cNvSpPr txBox="1"/>
          <p:nvPr/>
        </p:nvSpPr>
        <p:spPr>
          <a:xfrm>
            <a:off x="4061520" y="336816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Sind Methode, Reihenfolge und Einheit verständlich?</a:t>
            </a:r>
            <a:endParaRPr b="0" lang="en-US" sz="1979" spc="-1" strike="noStrike">
              <a:solidFill>
                <a:srgbClr val="000000"/>
              </a:solidFill>
              <a:latin typeface="Arial"/>
            </a:endParaRPr>
          </a:p>
        </p:txBody>
      </p:sp>
      <p:sp>
        <p:nvSpPr>
          <p:cNvPr id="585" name=""/>
          <p:cNvSpPr/>
          <p:nvPr/>
        </p:nvSpPr>
        <p:spPr>
          <a:xfrm>
            <a:off x="647640" y="3924360"/>
            <a:ext cx="3253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6" name=""/>
          <p:cNvSpPr txBox="1"/>
          <p:nvPr/>
        </p:nvSpPr>
        <p:spPr>
          <a:xfrm>
            <a:off x="784800" y="405396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Layout</a:t>
            </a:r>
            <a:endParaRPr b="0" lang="en-US" sz="1979" spc="-1" strike="noStrike">
              <a:solidFill>
                <a:srgbClr val="000000"/>
              </a:solidFill>
              <a:latin typeface="Arial"/>
            </a:endParaRPr>
          </a:p>
        </p:txBody>
      </p:sp>
      <p:sp>
        <p:nvSpPr>
          <p:cNvPr id="587" name=""/>
          <p:cNvSpPr/>
          <p:nvPr/>
        </p:nvSpPr>
        <p:spPr>
          <a:xfrm>
            <a:off x="3924360" y="3924360"/>
            <a:ext cx="7597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8" name=""/>
          <p:cNvSpPr txBox="1"/>
          <p:nvPr/>
        </p:nvSpPr>
        <p:spPr>
          <a:xfrm>
            <a:off x="4061520" y="405396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Sind Titel, Legende, Maßstab und Quellen lesbar?</a:t>
            </a:r>
            <a:endParaRPr b="0" lang="en-US" sz="1979" spc="-1" strike="noStrike">
              <a:solidFill>
                <a:srgbClr val="000000"/>
              </a:solidFill>
              <a:latin typeface="Arial"/>
            </a:endParaRPr>
          </a:p>
        </p:txBody>
      </p:sp>
      <p:sp>
        <p:nvSpPr>
          <p:cNvPr id="589" name=""/>
          <p:cNvSpPr/>
          <p:nvPr/>
        </p:nvSpPr>
        <p:spPr>
          <a:xfrm>
            <a:off x="647640" y="4610160"/>
            <a:ext cx="3253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0" name=""/>
          <p:cNvSpPr txBox="1"/>
          <p:nvPr/>
        </p:nvSpPr>
        <p:spPr>
          <a:xfrm>
            <a:off x="784800" y="4739760"/>
            <a:ext cx="3002400" cy="533520"/>
          </a:xfrm>
          <a:prstGeom prst="rect">
            <a:avLst/>
          </a:prstGeom>
          <a:noFill/>
          <a:ln w="0">
            <a:noFill/>
          </a:ln>
        </p:spPr>
        <p:txBody>
          <a:bodyPr lIns="0" rIns="0" tIns="0" bIns="0" anchor="t">
            <a:noAutofit/>
          </a:bodyPr>
          <a:p>
            <a:r>
              <a:rPr b="0" lang="en-US" sz="1979" spc="-1" strike="noStrike">
                <a:solidFill>
                  <a:srgbClr val="000000"/>
                </a:solidFill>
                <a:latin typeface="Noto Sans"/>
              </a:rPr>
              <a:t>Hierarchie</a:t>
            </a:r>
            <a:endParaRPr b="0" lang="en-US" sz="1979" spc="-1" strike="noStrike">
              <a:solidFill>
                <a:srgbClr val="000000"/>
              </a:solidFill>
              <a:latin typeface="Arial"/>
            </a:endParaRPr>
          </a:p>
        </p:txBody>
      </p:sp>
      <p:sp>
        <p:nvSpPr>
          <p:cNvPr id="591" name=""/>
          <p:cNvSpPr/>
          <p:nvPr/>
        </p:nvSpPr>
        <p:spPr>
          <a:xfrm>
            <a:off x="3924360" y="4610160"/>
            <a:ext cx="7597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2" name=""/>
          <p:cNvSpPr txBox="1"/>
          <p:nvPr/>
        </p:nvSpPr>
        <p:spPr>
          <a:xfrm>
            <a:off x="4061520" y="4739760"/>
            <a:ext cx="7345800" cy="533520"/>
          </a:xfrm>
          <a:prstGeom prst="rect">
            <a:avLst/>
          </a:prstGeom>
          <a:noFill/>
          <a:ln w="0">
            <a:noFill/>
          </a:ln>
        </p:spPr>
        <p:txBody>
          <a:bodyPr lIns="0" rIns="0" tIns="0" bIns="0" anchor="t">
            <a:noAutofit/>
          </a:bodyPr>
          <a:p>
            <a:r>
              <a:rPr b="0" lang="en-US" sz="1979" spc="-1" strike="noStrike">
                <a:solidFill>
                  <a:srgbClr val="000000"/>
                </a:solidFill>
                <a:latin typeface="Noto Sans"/>
              </a:rPr>
              <a:t>Fällt die Hauptinformation zuerst auf?</a:t>
            </a:r>
            <a:endParaRPr b="0" lang="en-US" sz="1979" spc="-1" strike="noStrike">
              <a:solidFill>
                <a:srgbClr val="000000"/>
              </a:solidFill>
              <a:latin typeface="Arial"/>
            </a:endParaRPr>
          </a:p>
        </p:txBody>
      </p:sp>
      <p:sp>
        <p:nvSpPr>
          <p:cNvPr id="59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4"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Rückmeldung: konkret, begründet und innerhalb von vier Minuten umsetzbar.</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Korrektur übernehmen und betroffenen Export erneuern</a:t>
            </a:r>
            <a:endParaRPr b="0" lang="en-US" sz="3190" spc="-1" strike="noStrike">
              <a:solidFill>
                <a:srgbClr val="000000"/>
              </a:solidFill>
              <a:latin typeface="Arial"/>
            </a:endParaRPr>
          </a:p>
        </p:txBody>
      </p:sp>
      <p:sp>
        <p:nvSpPr>
          <p:cNvPr id="5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PARTNERARBEIT · REVISION</a:t>
            </a:r>
            <a:endParaRPr b="0" lang="en-US" sz="1130" spc="-1" strike="noStrike">
              <a:solidFill>
                <a:srgbClr val="000000"/>
              </a:solidFill>
              <a:latin typeface="Arial"/>
            </a:endParaRPr>
          </a:p>
        </p:txBody>
      </p:sp>
      <p:sp>
        <p:nvSpPr>
          <p:cNvPr id="5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5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32</a:t>
            </a:r>
            <a:endParaRPr b="0" lang="en-US" sz="939" spc="-1" strike="noStrike">
              <a:solidFill>
                <a:srgbClr val="000000"/>
              </a:solidFill>
              <a:latin typeface="Arial"/>
            </a:endParaRPr>
          </a:p>
        </p:txBody>
      </p:sp>
      <p:sp>
        <p:nvSpPr>
          <p:cNvPr id="599"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0"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601"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Korrektur</a:t>
            </a:r>
            <a:endParaRPr b="0" lang="en-US" sz="2720" spc="-1" strike="noStrike">
              <a:solidFill>
                <a:srgbClr val="000000"/>
              </a:solidFill>
              <a:latin typeface="Arial"/>
            </a:endParaRPr>
          </a:p>
        </p:txBody>
      </p:sp>
      <p:sp>
        <p:nvSpPr>
          <p:cNvPr id="602"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eine begründete Verbesserung umsetzen.</a:t>
            </a:r>
            <a:endParaRPr b="0" lang="en-US" sz="2260" spc="-1" strike="noStrike">
              <a:solidFill>
                <a:srgbClr val="000000"/>
              </a:solidFill>
              <a:latin typeface="Arial"/>
            </a:endParaRPr>
          </a:p>
        </p:txBody>
      </p:sp>
      <p:sp>
        <p:nvSpPr>
          <p:cNvPr id="603"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4"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605"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Neu exportieren</a:t>
            </a:r>
            <a:endParaRPr b="0" lang="en-US" sz="2720" spc="-1" strike="noStrike">
              <a:solidFill>
                <a:srgbClr val="000000"/>
              </a:solidFill>
              <a:latin typeface="Arial"/>
            </a:endParaRPr>
          </a:p>
        </p:txBody>
      </p:sp>
      <p:sp>
        <p:nvSpPr>
          <p:cNvPr id="606"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betroffene Ausgabe – bei Karteninhalt beide.</a:t>
            </a:r>
            <a:endParaRPr b="0" lang="en-US" sz="2260" spc="-1" strike="noStrike">
              <a:solidFill>
                <a:srgbClr val="000000"/>
              </a:solidFill>
              <a:latin typeface="Arial"/>
            </a:endParaRPr>
          </a:p>
        </p:txBody>
      </p:sp>
      <p:sp>
        <p:nvSpPr>
          <p:cNvPr id="607"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8"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609"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Nochmals öffnen</a:t>
            </a:r>
            <a:endParaRPr b="0" lang="en-US" sz="2720" spc="-1" strike="noStrike">
              <a:solidFill>
                <a:srgbClr val="000000"/>
              </a:solidFill>
              <a:latin typeface="Arial"/>
            </a:endParaRPr>
          </a:p>
        </p:txBody>
      </p:sp>
      <p:sp>
        <p:nvSpPr>
          <p:cNvPr id="610"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Änderung und Lesbarkeit sichtbar kontrollieren.</a:t>
            </a:r>
            <a:endParaRPr b="0" lang="en-US" sz="2260" spc="-1" strike="noStrike">
              <a:solidFill>
                <a:srgbClr val="000000"/>
              </a:solidFill>
              <a:latin typeface="Arial"/>
            </a:endParaRPr>
          </a:p>
        </p:txBody>
      </p:sp>
      <p:sp>
        <p:nvSpPr>
          <p:cNvPr id="61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2"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Die letzte geprüfte Fassung ist die verbindliche Abgabeversion.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Entscheidungen im vorhandenen Protokoll festhalten</a:t>
            </a:r>
            <a:endParaRPr b="0" lang="en-US" sz="3190" spc="-1" strike="noStrike">
              <a:solidFill>
                <a:srgbClr val="000000"/>
              </a:solidFill>
              <a:latin typeface="Arial"/>
            </a:endParaRPr>
          </a:p>
        </p:txBody>
      </p:sp>
      <p:sp>
        <p:nvSpPr>
          <p:cNvPr id="61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DOKUMENTATION · PROCESSING_NOTES.MD</a:t>
            </a:r>
            <a:endParaRPr b="0" lang="en-US" sz="1130" spc="-1" strike="noStrike">
              <a:solidFill>
                <a:srgbClr val="000000"/>
              </a:solidFill>
              <a:latin typeface="Arial"/>
            </a:endParaRPr>
          </a:p>
        </p:txBody>
      </p:sp>
      <p:sp>
        <p:nvSpPr>
          <p:cNvPr id="61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61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33</a:t>
            </a:r>
            <a:endParaRPr b="0" lang="en-US" sz="939" spc="-1" strike="noStrike">
              <a:solidFill>
                <a:srgbClr val="000000"/>
              </a:solidFill>
              <a:latin typeface="Arial"/>
            </a:endParaRPr>
          </a:p>
        </p:txBody>
      </p:sp>
      <p:sp>
        <p:nvSpPr>
          <p:cNvPr id="617" name=""/>
          <p:cNvSpPr/>
          <p:nvPr/>
        </p:nvSpPr>
        <p:spPr>
          <a:xfrm>
            <a:off x="647640" y="1905120"/>
            <a:ext cx="340632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8" name=""/>
          <p:cNvSpPr txBox="1"/>
          <p:nvPr/>
        </p:nvSpPr>
        <p:spPr>
          <a:xfrm>
            <a:off x="784800" y="2034720"/>
            <a:ext cx="3154680" cy="533520"/>
          </a:xfrm>
          <a:prstGeom prst="rect">
            <a:avLst/>
          </a:prstGeom>
          <a:noFill/>
          <a:ln w="0">
            <a:noFill/>
          </a:ln>
        </p:spPr>
        <p:txBody>
          <a:bodyPr lIns="0" rIns="0" tIns="0" bIns="0" anchor="t">
            <a:noAutofit/>
          </a:bodyPr>
          <a:p>
            <a:r>
              <a:rPr b="1" lang="en-US" sz="1979" spc="-1" strike="noStrike">
                <a:solidFill>
                  <a:srgbClr val="ffffff"/>
                </a:solidFill>
                <a:latin typeface="Noto Sans"/>
              </a:rPr>
              <a:t>Dokumentieren</a:t>
            </a:r>
            <a:endParaRPr b="0" lang="en-US" sz="1979" spc="-1" strike="noStrike">
              <a:solidFill>
                <a:srgbClr val="000000"/>
              </a:solidFill>
              <a:latin typeface="Arial"/>
            </a:endParaRPr>
          </a:p>
        </p:txBody>
      </p:sp>
      <p:sp>
        <p:nvSpPr>
          <p:cNvPr id="619" name=""/>
          <p:cNvSpPr/>
          <p:nvPr/>
        </p:nvSpPr>
        <p:spPr>
          <a:xfrm>
            <a:off x="4076640" y="1905120"/>
            <a:ext cx="744480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20" name=""/>
          <p:cNvSpPr txBox="1"/>
          <p:nvPr/>
        </p:nvSpPr>
        <p:spPr>
          <a:xfrm>
            <a:off x="4213800" y="2034720"/>
            <a:ext cx="7193520" cy="533520"/>
          </a:xfrm>
          <a:prstGeom prst="rect">
            <a:avLst/>
          </a:prstGeom>
          <a:noFill/>
          <a:ln w="0">
            <a:noFill/>
          </a:ln>
        </p:spPr>
        <p:txBody>
          <a:bodyPr lIns="0" rIns="0" tIns="0" bIns="0" anchor="t">
            <a:noAutofit/>
          </a:bodyPr>
          <a:p>
            <a:r>
              <a:rPr b="1" lang="en-US" sz="1979" spc="-1" strike="noStrike">
                <a:solidFill>
                  <a:srgbClr val="ffffff"/>
                </a:solidFill>
                <a:latin typeface="Noto Sans"/>
              </a:rPr>
              <a:t>Heute festhalten</a:t>
            </a:r>
            <a:endParaRPr b="0" lang="en-US" sz="1979" spc="-1" strike="noStrike">
              <a:solidFill>
                <a:srgbClr val="000000"/>
              </a:solidFill>
              <a:latin typeface="Arial"/>
            </a:endParaRPr>
          </a:p>
        </p:txBody>
      </p:sp>
      <p:sp>
        <p:nvSpPr>
          <p:cNvPr id="621" name=""/>
          <p:cNvSpPr/>
          <p:nvPr/>
        </p:nvSpPr>
        <p:spPr>
          <a:xfrm>
            <a:off x="647640" y="2590920"/>
            <a:ext cx="34063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2" name=""/>
          <p:cNvSpPr txBox="1"/>
          <p:nvPr/>
        </p:nvSpPr>
        <p:spPr>
          <a:xfrm>
            <a:off x="784800" y="2720520"/>
            <a:ext cx="3154680" cy="533520"/>
          </a:xfrm>
          <a:prstGeom prst="rect">
            <a:avLst/>
          </a:prstGeom>
          <a:noFill/>
          <a:ln w="0">
            <a:noFill/>
          </a:ln>
        </p:spPr>
        <p:txBody>
          <a:bodyPr lIns="0" rIns="0" tIns="0" bIns="0" anchor="t">
            <a:noAutofit/>
          </a:bodyPr>
          <a:p>
            <a:r>
              <a:rPr b="0" lang="en-US" sz="1979" spc="-1" strike="noStrike">
                <a:solidFill>
                  <a:srgbClr val="000000"/>
                </a:solidFill>
                <a:latin typeface="Noto Sans"/>
              </a:rPr>
              <a:t>Klassifizierung</a:t>
            </a:r>
            <a:endParaRPr b="0" lang="en-US" sz="1979" spc="-1" strike="noStrike">
              <a:solidFill>
                <a:srgbClr val="000000"/>
              </a:solidFill>
              <a:latin typeface="Arial"/>
            </a:endParaRPr>
          </a:p>
        </p:txBody>
      </p:sp>
      <p:sp>
        <p:nvSpPr>
          <p:cNvPr id="623" name=""/>
          <p:cNvSpPr/>
          <p:nvPr/>
        </p:nvSpPr>
        <p:spPr>
          <a:xfrm>
            <a:off x="4076640" y="2590920"/>
            <a:ext cx="74448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4" name=""/>
          <p:cNvSpPr txBox="1"/>
          <p:nvPr/>
        </p:nvSpPr>
        <p:spPr>
          <a:xfrm>
            <a:off x="4213800" y="2720520"/>
            <a:ext cx="7193520" cy="533520"/>
          </a:xfrm>
          <a:prstGeom prst="rect">
            <a:avLst/>
          </a:prstGeom>
          <a:noFill/>
          <a:ln w="0">
            <a:noFill/>
          </a:ln>
        </p:spPr>
        <p:txBody>
          <a:bodyPr lIns="0" rIns="0" tIns="0" bIns="0" anchor="t">
            <a:noAutofit/>
          </a:bodyPr>
          <a:p>
            <a:r>
              <a:rPr b="0" lang="en-US" sz="1979" spc="-1" strike="noStrike">
                <a:solidFill>
                  <a:srgbClr val="000000"/>
                </a:solidFill>
                <a:latin typeface="Noto Sans"/>
              </a:rPr>
              <a:t>Methode · 5 Grenzen · Begründung</a:t>
            </a:r>
            <a:endParaRPr b="0" lang="en-US" sz="1979" spc="-1" strike="noStrike">
              <a:solidFill>
                <a:srgbClr val="000000"/>
              </a:solidFill>
              <a:latin typeface="Arial"/>
            </a:endParaRPr>
          </a:p>
        </p:txBody>
      </p:sp>
      <p:sp>
        <p:nvSpPr>
          <p:cNvPr id="625" name=""/>
          <p:cNvSpPr/>
          <p:nvPr/>
        </p:nvSpPr>
        <p:spPr>
          <a:xfrm>
            <a:off x="647640" y="3276720"/>
            <a:ext cx="34063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6" name=""/>
          <p:cNvSpPr txBox="1"/>
          <p:nvPr/>
        </p:nvSpPr>
        <p:spPr>
          <a:xfrm>
            <a:off x="784800" y="3406320"/>
            <a:ext cx="3154680" cy="533520"/>
          </a:xfrm>
          <a:prstGeom prst="rect">
            <a:avLst/>
          </a:prstGeom>
          <a:noFill/>
          <a:ln w="0">
            <a:noFill/>
          </a:ln>
        </p:spPr>
        <p:txBody>
          <a:bodyPr lIns="0" rIns="0" tIns="0" bIns="0" anchor="t">
            <a:noAutofit/>
          </a:bodyPr>
          <a:p>
            <a:r>
              <a:rPr b="0" lang="en-US" sz="1979" spc="-1" strike="noStrike">
                <a:solidFill>
                  <a:srgbClr val="000000"/>
                </a:solidFill>
                <a:latin typeface="Noto Sans"/>
              </a:rPr>
              <a:t>Daten und Quellen</a:t>
            </a:r>
            <a:endParaRPr b="0" lang="en-US" sz="1979" spc="-1" strike="noStrike">
              <a:solidFill>
                <a:srgbClr val="000000"/>
              </a:solidFill>
              <a:latin typeface="Arial"/>
            </a:endParaRPr>
          </a:p>
        </p:txBody>
      </p:sp>
      <p:sp>
        <p:nvSpPr>
          <p:cNvPr id="627" name=""/>
          <p:cNvSpPr/>
          <p:nvPr/>
        </p:nvSpPr>
        <p:spPr>
          <a:xfrm>
            <a:off x="4076640" y="3276720"/>
            <a:ext cx="74448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8" name=""/>
          <p:cNvSpPr txBox="1"/>
          <p:nvPr/>
        </p:nvSpPr>
        <p:spPr>
          <a:xfrm>
            <a:off x="4213800" y="3406320"/>
            <a:ext cx="7193520" cy="533520"/>
          </a:xfrm>
          <a:prstGeom prst="rect">
            <a:avLst/>
          </a:prstGeom>
          <a:noFill/>
          <a:ln w="0">
            <a:noFill/>
          </a:ln>
        </p:spPr>
        <p:txBody>
          <a:bodyPr lIns="0" rIns="0" tIns="0" bIns="0" anchor="t">
            <a:noAutofit/>
          </a:bodyPr>
          <a:p>
            <a:r>
              <a:rPr b="0" lang="en-US" sz="1979" spc="-1" strike="noStrike">
                <a:solidFill>
                  <a:srgbClr val="000000"/>
                </a:solidFill>
                <a:latin typeface="Noto Sans"/>
              </a:rPr>
              <a:t>35 Höhenpunkte · 21 ohne Höhe · Herkunft</a:t>
            </a:r>
            <a:endParaRPr b="0" lang="en-US" sz="1979" spc="-1" strike="noStrike">
              <a:solidFill>
                <a:srgbClr val="000000"/>
              </a:solidFill>
              <a:latin typeface="Arial"/>
            </a:endParaRPr>
          </a:p>
        </p:txBody>
      </p:sp>
      <p:sp>
        <p:nvSpPr>
          <p:cNvPr id="629" name=""/>
          <p:cNvSpPr/>
          <p:nvPr/>
        </p:nvSpPr>
        <p:spPr>
          <a:xfrm>
            <a:off x="647640" y="3962520"/>
            <a:ext cx="34063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0" name=""/>
          <p:cNvSpPr txBox="1"/>
          <p:nvPr/>
        </p:nvSpPr>
        <p:spPr>
          <a:xfrm>
            <a:off x="784800" y="4092120"/>
            <a:ext cx="3154680" cy="533520"/>
          </a:xfrm>
          <a:prstGeom prst="rect">
            <a:avLst/>
          </a:prstGeom>
          <a:noFill/>
          <a:ln w="0">
            <a:noFill/>
          </a:ln>
        </p:spPr>
        <p:txBody>
          <a:bodyPr lIns="0" rIns="0" tIns="0" bIns="0" anchor="t">
            <a:noAutofit/>
          </a:bodyPr>
          <a:p>
            <a:r>
              <a:rPr b="0" lang="en-US" sz="1979" spc="-1" strike="noStrike">
                <a:solidFill>
                  <a:srgbClr val="000000"/>
                </a:solidFill>
                <a:latin typeface="Noto Sans"/>
              </a:rPr>
              <a:t>Gestaltung</a:t>
            </a:r>
            <a:endParaRPr b="0" lang="en-US" sz="1979" spc="-1" strike="noStrike">
              <a:solidFill>
                <a:srgbClr val="000000"/>
              </a:solidFill>
              <a:latin typeface="Arial"/>
            </a:endParaRPr>
          </a:p>
        </p:txBody>
      </p:sp>
      <p:sp>
        <p:nvSpPr>
          <p:cNvPr id="631" name=""/>
          <p:cNvSpPr/>
          <p:nvPr/>
        </p:nvSpPr>
        <p:spPr>
          <a:xfrm>
            <a:off x="4076640" y="3962520"/>
            <a:ext cx="74448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2" name=""/>
          <p:cNvSpPr txBox="1"/>
          <p:nvPr/>
        </p:nvSpPr>
        <p:spPr>
          <a:xfrm>
            <a:off x="4213800" y="4092120"/>
            <a:ext cx="7193520" cy="533520"/>
          </a:xfrm>
          <a:prstGeom prst="rect">
            <a:avLst/>
          </a:prstGeom>
          <a:noFill/>
          <a:ln w="0">
            <a:noFill/>
          </a:ln>
        </p:spPr>
        <p:txBody>
          <a:bodyPr lIns="0" rIns="0" tIns="0" bIns="0" anchor="t">
            <a:noAutofit/>
          </a:bodyPr>
          <a:p>
            <a:r>
              <a:rPr b="0" lang="en-US" sz="1979" spc="-1" strike="noStrike">
                <a:solidFill>
                  <a:srgbClr val="000000"/>
                </a:solidFill>
                <a:latin typeface="Noto Sans"/>
              </a:rPr>
              <a:t>Palette · Titel/Legende · Korrektur</a:t>
            </a:r>
            <a:endParaRPr b="0" lang="en-US" sz="1979" spc="-1" strike="noStrike">
              <a:solidFill>
                <a:srgbClr val="000000"/>
              </a:solidFill>
              <a:latin typeface="Arial"/>
            </a:endParaRPr>
          </a:p>
        </p:txBody>
      </p:sp>
      <p:sp>
        <p:nvSpPr>
          <p:cNvPr id="633" name=""/>
          <p:cNvSpPr/>
          <p:nvPr/>
        </p:nvSpPr>
        <p:spPr>
          <a:xfrm>
            <a:off x="647640" y="4648320"/>
            <a:ext cx="34063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4" name=""/>
          <p:cNvSpPr txBox="1"/>
          <p:nvPr/>
        </p:nvSpPr>
        <p:spPr>
          <a:xfrm>
            <a:off x="784800" y="4777920"/>
            <a:ext cx="3154680" cy="533520"/>
          </a:xfrm>
          <a:prstGeom prst="rect">
            <a:avLst/>
          </a:prstGeom>
          <a:noFill/>
          <a:ln w="0">
            <a:noFill/>
          </a:ln>
        </p:spPr>
        <p:txBody>
          <a:bodyPr lIns="0" rIns="0" tIns="0" bIns="0" anchor="t">
            <a:noAutofit/>
          </a:bodyPr>
          <a:p>
            <a:r>
              <a:rPr b="0" lang="en-US" sz="1979" spc="-1" strike="noStrike">
                <a:solidFill>
                  <a:srgbClr val="000000"/>
                </a:solidFill>
                <a:latin typeface="Noto Sans"/>
              </a:rPr>
              <a:t>Ausgabe</a:t>
            </a:r>
            <a:endParaRPr b="0" lang="en-US" sz="1979" spc="-1" strike="noStrike">
              <a:solidFill>
                <a:srgbClr val="000000"/>
              </a:solidFill>
              <a:latin typeface="Arial"/>
            </a:endParaRPr>
          </a:p>
        </p:txBody>
      </p:sp>
      <p:sp>
        <p:nvSpPr>
          <p:cNvPr id="635" name=""/>
          <p:cNvSpPr/>
          <p:nvPr/>
        </p:nvSpPr>
        <p:spPr>
          <a:xfrm>
            <a:off x="4076640" y="4648320"/>
            <a:ext cx="74448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6" name=""/>
          <p:cNvSpPr txBox="1"/>
          <p:nvPr/>
        </p:nvSpPr>
        <p:spPr>
          <a:xfrm>
            <a:off x="4213800" y="4777920"/>
            <a:ext cx="7193520" cy="533520"/>
          </a:xfrm>
          <a:prstGeom prst="rect">
            <a:avLst/>
          </a:prstGeom>
          <a:noFill/>
          <a:ln w="0">
            <a:noFill/>
          </a:ln>
        </p:spPr>
        <p:txBody>
          <a:bodyPr lIns="0" rIns="0" tIns="0" bIns="0" anchor="t">
            <a:noAutofit/>
          </a:bodyPr>
          <a:p>
            <a:r>
              <a:rPr b="0" lang="en-US" sz="1979" spc="-1" strike="noStrike">
                <a:solidFill>
                  <a:srgbClr val="000000"/>
                </a:solidFill>
                <a:latin typeface="Noto Sans"/>
              </a:rPr>
              <a:t>Projekt · PDF · PNG mit 150 dpi</a:t>
            </a:r>
            <a:endParaRPr b="0" lang="en-US" sz="1979" spc="-1" strike="noStrike">
              <a:solidFill>
                <a:srgbClr val="000000"/>
              </a:solidFill>
              <a:latin typeface="Arial"/>
            </a:endParaRPr>
          </a:p>
        </p:txBody>
      </p:sp>
      <p:sp>
        <p:nvSpPr>
          <p:cNvPr id="63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8"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Dokumentation macht die sichtbaren Entscheidungen nachvollziehbar.</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Beobachtungen beschreiben – keine Verbreitung behaupten</a:t>
            </a:r>
            <a:endParaRPr b="0" lang="en-US" sz="3190" spc="-1" strike="noStrike">
              <a:solidFill>
                <a:srgbClr val="000000"/>
              </a:solidFill>
              <a:latin typeface="Arial"/>
            </a:endParaRPr>
          </a:p>
        </p:txBody>
      </p:sp>
      <p:sp>
        <p:nvSpPr>
          <p:cNvPr id="64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DOKUMENTATION · AUSSAGEGRENZE</a:t>
            </a:r>
            <a:endParaRPr b="0" lang="en-US" sz="1130" spc="-1" strike="noStrike">
              <a:solidFill>
                <a:srgbClr val="000000"/>
              </a:solidFill>
              <a:latin typeface="Arial"/>
            </a:endParaRPr>
          </a:p>
        </p:txBody>
      </p:sp>
      <p:sp>
        <p:nvSpPr>
          <p:cNvPr id="64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64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34</a:t>
            </a:r>
            <a:endParaRPr b="0" lang="en-US" sz="939" spc="-1" strike="noStrike">
              <a:solidFill>
                <a:srgbClr val="000000"/>
              </a:solidFill>
              <a:latin typeface="Arial"/>
            </a:endParaRPr>
          </a:p>
        </p:txBody>
      </p:sp>
      <p:sp>
        <p:nvSpPr>
          <p:cNvPr id="643" name=""/>
          <p:cNvSpPr/>
          <p:nvPr/>
        </p:nvSpPr>
        <p:spPr>
          <a:xfrm>
            <a:off x="876240" y="2019240"/>
            <a:ext cx="50292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4" name=""/>
          <p:cNvSpPr/>
          <p:nvPr/>
        </p:nvSpPr>
        <p:spPr>
          <a:xfrm>
            <a:off x="876240" y="201924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45" name=""/>
          <p:cNvSpPr txBox="1"/>
          <p:nvPr/>
        </p:nvSpPr>
        <p:spPr>
          <a:xfrm>
            <a:off x="1082160" y="2202120"/>
            <a:ext cx="4617720" cy="647640"/>
          </a:xfrm>
          <a:prstGeom prst="rect">
            <a:avLst/>
          </a:prstGeom>
          <a:noFill/>
          <a:ln w="0">
            <a:noFill/>
          </a:ln>
        </p:spPr>
        <p:txBody>
          <a:bodyPr lIns="0" rIns="0" tIns="0" bIns="0" anchor="t">
            <a:noAutofit/>
          </a:bodyPr>
          <a:p>
            <a:r>
              <a:rPr b="1" lang="en-US" sz="2540" spc="-1" strike="noStrike">
                <a:solidFill>
                  <a:srgbClr val="004899"/>
                </a:solidFill>
                <a:latin typeface="Noto Sans"/>
              </a:rPr>
              <a:t>Tragfähig</a:t>
            </a:r>
            <a:endParaRPr b="0" lang="en-US" sz="2540" spc="-1" strike="noStrike">
              <a:solidFill>
                <a:srgbClr val="000000"/>
              </a:solidFill>
              <a:latin typeface="Arial"/>
            </a:endParaRPr>
          </a:p>
        </p:txBody>
      </p:sp>
      <p:sp>
        <p:nvSpPr>
          <p:cNvPr id="646" name=""/>
          <p:cNvSpPr txBox="1"/>
          <p:nvPr/>
        </p:nvSpPr>
        <p:spPr>
          <a:xfrm>
            <a:off x="1082160" y="2964240"/>
            <a:ext cx="4617720" cy="1432440"/>
          </a:xfrm>
          <a:prstGeom prst="rect">
            <a:avLst/>
          </a:prstGeom>
          <a:noFill/>
          <a:ln w="0">
            <a:noFill/>
          </a:ln>
        </p:spPr>
        <p:txBody>
          <a:bodyPr lIns="0" rIns="0" tIns="0" bIns="0" anchor="t">
            <a:noAutofit/>
          </a:bodyPr>
          <a:p>
            <a:r>
              <a:rPr b="0" lang="en-US" sz="2070" spc="-1" strike="noStrike">
                <a:solidFill>
                  <a:srgbClr val="000000"/>
                </a:solidFill>
                <a:latin typeface="Noto Sans"/>
              </a:rPr>
              <a:t>„</a:t>
            </a:r>
            <a:r>
              <a:rPr b="0" lang="en-US" sz="2070" spc="-1" strike="noStrike">
                <a:solidFill>
                  <a:srgbClr val="000000"/>
                </a:solidFill>
                <a:latin typeface="Noto Sans"/>
              </a:rPr>
              <a:t>Die dargestellten dokumentierten</a:t>
            </a:r>
            <a:endParaRPr b="0" lang="en-US" sz="2070" spc="-1" strike="noStrike">
              <a:solidFill>
                <a:srgbClr val="000000"/>
              </a:solidFill>
              <a:latin typeface="Arial"/>
            </a:endParaRPr>
          </a:p>
          <a:p>
            <a:r>
              <a:rPr b="0" lang="en-US" sz="2070" spc="-1" strike="noStrike">
                <a:solidFill>
                  <a:srgbClr val="000000"/>
                </a:solidFill>
                <a:latin typeface="Noto Sans"/>
              </a:rPr>
              <a:t>Nachweise liegen in … Höhenklassen.“</a:t>
            </a:r>
            <a:endParaRPr b="0" lang="en-US" sz="2070" spc="-1" strike="noStrike">
              <a:solidFill>
                <a:srgbClr val="000000"/>
              </a:solidFill>
              <a:latin typeface="Arial"/>
            </a:endParaRPr>
          </a:p>
        </p:txBody>
      </p:sp>
      <p:sp>
        <p:nvSpPr>
          <p:cNvPr id="647" name=""/>
          <p:cNvSpPr/>
          <p:nvPr/>
        </p:nvSpPr>
        <p:spPr>
          <a:xfrm>
            <a:off x="6286680" y="2019240"/>
            <a:ext cx="50292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8" name=""/>
          <p:cNvSpPr/>
          <p:nvPr/>
        </p:nvSpPr>
        <p:spPr>
          <a:xfrm>
            <a:off x="6286680" y="2019240"/>
            <a:ext cx="53280" cy="25146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49" name=""/>
          <p:cNvSpPr txBox="1"/>
          <p:nvPr/>
        </p:nvSpPr>
        <p:spPr>
          <a:xfrm>
            <a:off x="6492240" y="2202120"/>
            <a:ext cx="4617720" cy="647640"/>
          </a:xfrm>
          <a:prstGeom prst="rect">
            <a:avLst/>
          </a:prstGeom>
          <a:noFill/>
          <a:ln w="0">
            <a:noFill/>
          </a:ln>
        </p:spPr>
        <p:txBody>
          <a:bodyPr lIns="0" rIns="0" tIns="0" bIns="0" anchor="t">
            <a:noAutofit/>
          </a:bodyPr>
          <a:p>
            <a:r>
              <a:rPr b="1" lang="en-US" sz="2540" spc="-1" strike="noStrike">
                <a:solidFill>
                  <a:srgbClr val="a32123"/>
                </a:solidFill>
                <a:latin typeface="Noto Sans"/>
              </a:rPr>
              <a:t>Nicht gedeckt</a:t>
            </a:r>
            <a:endParaRPr b="0" lang="en-US" sz="2540" spc="-1" strike="noStrike">
              <a:solidFill>
                <a:srgbClr val="000000"/>
              </a:solidFill>
              <a:latin typeface="Arial"/>
            </a:endParaRPr>
          </a:p>
        </p:txBody>
      </p:sp>
      <p:sp>
        <p:nvSpPr>
          <p:cNvPr id="650" name=""/>
          <p:cNvSpPr txBox="1"/>
          <p:nvPr/>
        </p:nvSpPr>
        <p:spPr>
          <a:xfrm>
            <a:off x="6492240" y="2964240"/>
            <a:ext cx="4617720" cy="1432440"/>
          </a:xfrm>
          <a:prstGeom prst="rect">
            <a:avLst/>
          </a:prstGeom>
          <a:noFill/>
          <a:ln w="0">
            <a:noFill/>
          </a:ln>
        </p:spPr>
        <p:txBody>
          <a:bodyPr lIns="0" rIns="0" tIns="0" bIns="0" anchor="t">
            <a:noAutofit/>
          </a:bodyPr>
          <a:p>
            <a:r>
              <a:rPr b="0" lang="en-US" sz="2070" spc="-1" strike="noStrike">
                <a:solidFill>
                  <a:srgbClr val="000000"/>
                </a:solidFill>
                <a:latin typeface="Noto Sans"/>
              </a:rPr>
              <a:t>„</a:t>
            </a:r>
            <a:r>
              <a:rPr b="0" lang="en-US" sz="2070" spc="-1" strike="noStrike">
                <a:solidFill>
                  <a:srgbClr val="000000"/>
                </a:solidFill>
                <a:latin typeface="Noto Sans"/>
              </a:rPr>
              <a:t>Die Art verbreitet sich bevorzugt</a:t>
            </a:r>
            <a:endParaRPr b="0" lang="en-US" sz="2070" spc="-1" strike="noStrike">
              <a:solidFill>
                <a:srgbClr val="000000"/>
              </a:solidFill>
              <a:latin typeface="Arial"/>
            </a:endParaRPr>
          </a:p>
          <a:p>
            <a:r>
              <a:rPr b="0" lang="en-US" sz="2070" spc="-1" strike="noStrike">
                <a:solidFill>
                  <a:srgbClr val="000000"/>
                </a:solidFill>
                <a:latin typeface="Noto Sans"/>
              </a:rPr>
              <a:t>in diesen Höhenlagen.“</a:t>
            </a:r>
            <a:endParaRPr b="0" lang="en-US" sz="2070" spc="-1" strike="noStrike">
              <a:solidFill>
                <a:srgbClr val="000000"/>
              </a:solidFill>
              <a:latin typeface="Arial"/>
            </a:endParaRPr>
          </a:p>
        </p:txBody>
      </p:sp>
      <p:sp>
        <p:nvSpPr>
          <p:cNvPr id="65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52" name=""/>
          <p:cNvSpPr txBox="1"/>
          <p:nvPr/>
        </p:nvSpPr>
        <p:spPr>
          <a:xfrm>
            <a:off x="838080" y="5623560"/>
            <a:ext cx="10515600" cy="442080"/>
          </a:xfrm>
          <a:prstGeom prst="rect">
            <a:avLst/>
          </a:prstGeom>
          <a:noFill/>
          <a:ln w="0">
            <a:noFill/>
          </a:ln>
        </p:spPr>
        <p:txBody>
          <a:bodyPr lIns="0" rIns="0" tIns="0" bIns="0" anchor="t">
            <a:noAutofit/>
          </a:bodyPr>
          <a:p>
            <a:r>
              <a:rPr b="1" lang="en-US" sz="1879" spc="-1" strike="noStrike">
                <a:solidFill>
                  <a:srgbClr val="004899"/>
                </a:solidFill>
                <a:latin typeface="Noto Sans"/>
              </a:rPr>
              <a:t>Grenzen: Beobachtungsintensität · Koordinaten · DGM · Klassifizierung · fehlende Höhen</a:t>
            </a:r>
            <a:endParaRPr b="0" lang="en-US" sz="18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Exit Ticket · eine Frage auswählen</a:t>
            </a:r>
            <a:endParaRPr b="0" lang="en-US" sz="3190" spc="-1" strike="noStrike">
              <a:solidFill>
                <a:srgbClr val="000000"/>
              </a:solidFill>
              <a:latin typeface="Arial"/>
            </a:endParaRPr>
          </a:p>
        </p:txBody>
      </p:sp>
      <p:sp>
        <p:nvSpPr>
          <p:cNvPr id="65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SICHERUNG · EINZELARBEIT</a:t>
            </a:r>
            <a:endParaRPr b="0" lang="en-US" sz="1130" spc="-1" strike="noStrike">
              <a:solidFill>
                <a:srgbClr val="000000"/>
              </a:solidFill>
              <a:latin typeface="Arial"/>
            </a:endParaRPr>
          </a:p>
        </p:txBody>
      </p:sp>
      <p:sp>
        <p:nvSpPr>
          <p:cNvPr id="65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65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35</a:t>
            </a:r>
            <a:endParaRPr b="0" lang="en-US" sz="939" spc="-1" strike="noStrike">
              <a:solidFill>
                <a:srgbClr val="000000"/>
              </a:solidFill>
              <a:latin typeface="Arial"/>
            </a:endParaRPr>
          </a:p>
        </p:txBody>
      </p:sp>
      <p:sp>
        <p:nvSpPr>
          <p:cNvPr id="657" name=""/>
          <p:cNvSpPr/>
          <p:nvPr/>
        </p:nvSpPr>
        <p:spPr>
          <a:xfrm>
            <a:off x="647640" y="1790640"/>
            <a:ext cx="1348920" cy="8154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58" name=""/>
          <p:cNvSpPr txBox="1"/>
          <p:nvPr/>
        </p:nvSpPr>
        <p:spPr>
          <a:xfrm>
            <a:off x="784800" y="1920240"/>
            <a:ext cx="1097280" cy="685800"/>
          </a:xfrm>
          <a:prstGeom prst="rect">
            <a:avLst/>
          </a:prstGeom>
          <a:noFill/>
          <a:ln w="0">
            <a:noFill/>
          </a:ln>
        </p:spPr>
        <p:txBody>
          <a:bodyPr lIns="0" rIns="0" tIns="0" bIns="0" anchor="t">
            <a:noAutofit/>
          </a:bodyPr>
          <a:p>
            <a:r>
              <a:rPr b="1" lang="en-US" sz="2070" spc="-1" strike="noStrike">
                <a:solidFill>
                  <a:srgbClr val="ffffff"/>
                </a:solidFill>
                <a:latin typeface="Noto Sans"/>
              </a:rPr>
              <a:t>Option</a:t>
            </a:r>
            <a:endParaRPr b="0" lang="en-US" sz="2070" spc="-1" strike="noStrike">
              <a:solidFill>
                <a:srgbClr val="000000"/>
              </a:solidFill>
              <a:latin typeface="Arial"/>
            </a:endParaRPr>
          </a:p>
        </p:txBody>
      </p:sp>
      <p:sp>
        <p:nvSpPr>
          <p:cNvPr id="659" name=""/>
          <p:cNvSpPr/>
          <p:nvPr/>
        </p:nvSpPr>
        <p:spPr>
          <a:xfrm>
            <a:off x="2019240" y="1790640"/>
            <a:ext cx="9502200" cy="8154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60" name=""/>
          <p:cNvSpPr txBox="1"/>
          <p:nvPr/>
        </p:nvSpPr>
        <p:spPr>
          <a:xfrm>
            <a:off x="2156400" y="1920240"/>
            <a:ext cx="9250920" cy="685800"/>
          </a:xfrm>
          <a:prstGeom prst="rect">
            <a:avLst/>
          </a:prstGeom>
          <a:noFill/>
          <a:ln w="0">
            <a:noFill/>
          </a:ln>
        </p:spPr>
        <p:txBody>
          <a:bodyPr lIns="0" rIns="0" tIns="0" bIns="0" anchor="t">
            <a:noAutofit/>
          </a:bodyPr>
          <a:p>
            <a:r>
              <a:rPr b="1" lang="en-US" sz="2070" spc="-1" strike="noStrike">
                <a:solidFill>
                  <a:srgbClr val="ffffff"/>
                </a:solidFill>
                <a:latin typeface="Noto Sans"/>
              </a:rPr>
              <a:t>Frage</a:t>
            </a:r>
            <a:endParaRPr b="0" lang="en-US" sz="2070" spc="-1" strike="noStrike">
              <a:solidFill>
                <a:srgbClr val="000000"/>
              </a:solidFill>
              <a:latin typeface="Arial"/>
            </a:endParaRPr>
          </a:p>
        </p:txBody>
      </p:sp>
      <p:sp>
        <p:nvSpPr>
          <p:cNvPr id="661" name=""/>
          <p:cNvSpPr/>
          <p:nvPr/>
        </p:nvSpPr>
        <p:spPr>
          <a:xfrm>
            <a:off x="647640" y="2629080"/>
            <a:ext cx="1348920" cy="815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2" name=""/>
          <p:cNvSpPr txBox="1"/>
          <p:nvPr/>
        </p:nvSpPr>
        <p:spPr>
          <a:xfrm>
            <a:off x="784800" y="2758320"/>
            <a:ext cx="1097280" cy="685800"/>
          </a:xfrm>
          <a:prstGeom prst="rect">
            <a:avLst/>
          </a:prstGeom>
          <a:noFill/>
          <a:ln w="0">
            <a:noFill/>
          </a:ln>
        </p:spPr>
        <p:txBody>
          <a:bodyPr lIns="0" rIns="0" tIns="0" bIns="0" anchor="t">
            <a:noAutofit/>
          </a:bodyPr>
          <a:p>
            <a:r>
              <a:rPr b="0" lang="en-US" sz="2070" spc="-1" strike="noStrike">
                <a:solidFill>
                  <a:srgbClr val="000000"/>
                </a:solidFill>
                <a:latin typeface="Noto Sans"/>
              </a:rPr>
              <a:t>A</a:t>
            </a:r>
            <a:endParaRPr b="0" lang="en-US" sz="2070" spc="-1" strike="noStrike">
              <a:solidFill>
                <a:srgbClr val="000000"/>
              </a:solidFill>
              <a:latin typeface="Arial"/>
            </a:endParaRPr>
          </a:p>
        </p:txBody>
      </p:sp>
      <p:sp>
        <p:nvSpPr>
          <p:cNvPr id="663" name=""/>
          <p:cNvSpPr/>
          <p:nvPr/>
        </p:nvSpPr>
        <p:spPr>
          <a:xfrm>
            <a:off x="2019240" y="2629080"/>
            <a:ext cx="9502200" cy="815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4" name=""/>
          <p:cNvSpPr txBox="1"/>
          <p:nvPr/>
        </p:nvSpPr>
        <p:spPr>
          <a:xfrm>
            <a:off x="2156400" y="2758320"/>
            <a:ext cx="9250920" cy="685800"/>
          </a:xfrm>
          <a:prstGeom prst="rect">
            <a:avLst/>
          </a:prstGeom>
          <a:noFill/>
          <a:ln w="0">
            <a:noFill/>
          </a:ln>
        </p:spPr>
        <p:txBody>
          <a:bodyPr lIns="0" rIns="0" tIns="0" bIns="0" anchor="t">
            <a:noAutofit/>
          </a:bodyPr>
          <a:p>
            <a:r>
              <a:rPr b="0" lang="en-US" sz="2070" spc="-1" strike="noStrike">
                <a:solidFill>
                  <a:srgbClr val="000000"/>
                </a:solidFill>
                <a:latin typeface="Noto Sans"/>
              </a:rPr>
              <a:t>Wie beeinflusst die Klassifizierung die sichtbare Aussage?</a:t>
            </a:r>
            <a:endParaRPr b="0" lang="en-US" sz="2070" spc="-1" strike="noStrike">
              <a:solidFill>
                <a:srgbClr val="000000"/>
              </a:solidFill>
              <a:latin typeface="Arial"/>
            </a:endParaRPr>
          </a:p>
        </p:txBody>
      </p:sp>
      <p:sp>
        <p:nvSpPr>
          <p:cNvPr id="665" name=""/>
          <p:cNvSpPr/>
          <p:nvPr/>
        </p:nvSpPr>
        <p:spPr>
          <a:xfrm>
            <a:off x="647640" y="3467160"/>
            <a:ext cx="1348920" cy="8154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6" name=""/>
          <p:cNvSpPr txBox="1"/>
          <p:nvPr/>
        </p:nvSpPr>
        <p:spPr>
          <a:xfrm>
            <a:off x="784800" y="3596760"/>
            <a:ext cx="1097280" cy="685800"/>
          </a:xfrm>
          <a:prstGeom prst="rect">
            <a:avLst/>
          </a:prstGeom>
          <a:noFill/>
          <a:ln w="0">
            <a:noFill/>
          </a:ln>
        </p:spPr>
        <p:txBody>
          <a:bodyPr lIns="0" rIns="0" tIns="0" bIns="0" anchor="t">
            <a:noAutofit/>
          </a:bodyPr>
          <a:p>
            <a:r>
              <a:rPr b="0" lang="en-US" sz="2070" spc="-1" strike="noStrike">
                <a:solidFill>
                  <a:srgbClr val="000000"/>
                </a:solidFill>
                <a:latin typeface="Noto Sans"/>
              </a:rPr>
              <a:t>B</a:t>
            </a:r>
            <a:endParaRPr b="0" lang="en-US" sz="2070" spc="-1" strike="noStrike">
              <a:solidFill>
                <a:srgbClr val="000000"/>
              </a:solidFill>
              <a:latin typeface="Arial"/>
            </a:endParaRPr>
          </a:p>
        </p:txBody>
      </p:sp>
      <p:sp>
        <p:nvSpPr>
          <p:cNvPr id="667" name=""/>
          <p:cNvSpPr/>
          <p:nvPr/>
        </p:nvSpPr>
        <p:spPr>
          <a:xfrm>
            <a:off x="2019240" y="3467160"/>
            <a:ext cx="9502200" cy="8154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8" name=""/>
          <p:cNvSpPr txBox="1"/>
          <p:nvPr/>
        </p:nvSpPr>
        <p:spPr>
          <a:xfrm>
            <a:off x="2156400" y="3596760"/>
            <a:ext cx="9250920" cy="685800"/>
          </a:xfrm>
          <a:prstGeom prst="rect">
            <a:avLst/>
          </a:prstGeom>
          <a:noFill/>
          <a:ln w="0">
            <a:noFill/>
          </a:ln>
        </p:spPr>
        <p:txBody>
          <a:bodyPr lIns="0" rIns="0" tIns="0" bIns="0" anchor="t">
            <a:noAutofit/>
          </a:bodyPr>
          <a:p>
            <a:r>
              <a:rPr b="0" lang="en-US" sz="2070" spc="-1" strike="noStrike">
                <a:solidFill>
                  <a:srgbClr val="000000"/>
                </a:solidFill>
                <a:latin typeface="Noto Sans"/>
              </a:rPr>
              <a:t>Welche drei Kartenelemente benötigen fast immer redaktionelle Überarbeitung?</a:t>
            </a:r>
            <a:endParaRPr b="0" lang="en-US" sz="2070" spc="-1" strike="noStrike">
              <a:solidFill>
                <a:srgbClr val="000000"/>
              </a:solidFill>
              <a:latin typeface="Arial"/>
            </a:endParaRPr>
          </a:p>
        </p:txBody>
      </p:sp>
      <p:sp>
        <p:nvSpPr>
          <p:cNvPr id="669" name=""/>
          <p:cNvSpPr/>
          <p:nvPr/>
        </p:nvSpPr>
        <p:spPr>
          <a:xfrm>
            <a:off x="647640" y="4305240"/>
            <a:ext cx="1348920" cy="815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0" name=""/>
          <p:cNvSpPr txBox="1"/>
          <p:nvPr/>
        </p:nvSpPr>
        <p:spPr>
          <a:xfrm>
            <a:off x="784800" y="4434840"/>
            <a:ext cx="1097280" cy="685800"/>
          </a:xfrm>
          <a:prstGeom prst="rect">
            <a:avLst/>
          </a:prstGeom>
          <a:noFill/>
          <a:ln w="0">
            <a:noFill/>
          </a:ln>
        </p:spPr>
        <p:txBody>
          <a:bodyPr lIns="0" rIns="0" tIns="0" bIns="0" anchor="t">
            <a:noAutofit/>
          </a:bodyPr>
          <a:p>
            <a:r>
              <a:rPr b="0" lang="en-US" sz="2070" spc="-1" strike="noStrike">
                <a:solidFill>
                  <a:srgbClr val="000000"/>
                </a:solidFill>
                <a:latin typeface="Noto Sans"/>
              </a:rPr>
              <a:t>C</a:t>
            </a:r>
            <a:endParaRPr b="0" lang="en-US" sz="2070" spc="-1" strike="noStrike">
              <a:solidFill>
                <a:srgbClr val="000000"/>
              </a:solidFill>
              <a:latin typeface="Arial"/>
            </a:endParaRPr>
          </a:p>
        </p:txBody>
      </p:sp>
      <p:sp>
        <p:nvSpPr>
          <p:cNvPr id="671" name=""/>
          <p:cNvSpPr/>
          <p:nvPr/>
        </p:nvSpPr>
        <p:spPr>
          <a:xfrm>
            <a:off x="2019240" y="4305240"/>
            <a:ext cx="9502200" cy="8154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2" name=""/>
          <p:cNvSpPr txBox="1"/>
          <p:nvPr/>
        </p:nvSpPr>
        <p:spPr>
          <a:xfrm>
            <a:off x="2156400" y="4434840"/>
            <a:ext cx="9250920" cy="685800"/>
          </a:xfrm>
          <a:prstGeom prst="rect">
            <a:avLst/>
          </a:prstGeom>
          <a:noFill/>
          <a:ln w="0">
            <a:noFill/>
          </a:ln>
        </p:spPr>
        <p:txBody>
          <a:bodyPr lIns="0" rIns="0" tIns="0" bIns="0" anchor="t">
            <a:noAutofit/>
          </a:bodyPr>
          <a:p>
            <a:r>
              <a:rPr b="0" lang="en-US" sz="2070" spc="-1" strike="noStrike">
                <a:solidFill>
                  <a:srgbClr val="000000"/>
                </a:solidFill>
                <a:latin typeface="Noto Sans"/>
              </a:rPr>
              <a:t>Welche Aussage darf aus den dokumentierten Nachweisen nicht abgeleitet werden?</a:t>
            </a:r>
            <a:endParaRPr b="0" lang="en-US" sz="2070" spc="-1" strike="noStrike">
              <a:solidFill>
                <a:srgbClr val="000000"/>
              </a:solidFill>
              <a:latin typeface="Arial"/>
            </a:endParaRPr>
          </a:p>
        </p:txBody>
      </p:sp>
      <p:sp>
        <p:nvSpPr>
          <p:cNvPr id="67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4"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Heute ausgewählt: [ A / B / C ]</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Nachbereitung · JiTT zu Unit 14</a:t>
            </a:r>
            <a:endParaRPr b="0" lang="en-US" sz="3190" spc="-1" strike="noStrike">
              <a:solidFill>
                <a:srgbClr val="000000"/>
              </a:solidFill>
              <a:latin typeface="Arial"/>
            </a:endParaRPr>
          </a:p>
        </p:txBody>
      </p:sp>
      <p:sp>
        <p:nvSpPr>
          <p:cNvPr id="67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AUSBLICK</a:t>
            </a:r>
            <a:endParaRPr b="0" lang="en-US" sz="1130" spc="-1" strike="noStrike">
              <a:solidFill>
                <a:srgbClr val="000000"/>
              </a:solidFill>
              <a:latin typeface="Arial"/>
            </a:endParaRPr>
          </a:p>
        </p:txBody>
      </p:sp>
      <p:sp>
        <p:nvSpPr>
          <p:cNvPr id="67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67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36</a:t>
            </a:r>
            <a:endParaRPr b="0" lang="en-US" sz="939" spc="-1" strike="noStrike">
              <a:solidFill>
                <a:srgbClr val="000000"/>
              </a:solidFill>
              <a:latin typeface="Arial"/>
            </a:endParaRPr>
          </a:p>
        </p:txBody>
      </p:sp>
      <p:sp>
        <p:nvSpPr>
          <p:cNvPr id="679" name=""/>
          <p:cNvSpPr/>
          <p:nvPr/>
        </p:nvSpPr>
        <p:spPr>
          <a:xfrm>
            <a:off x="9907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0" name=""/>
          <p:cNvSpPr/>
          <p:nvPr/>
        </p:nvSpPr>
        <p:spPr>
          <a:xfrm>
            <a:off x="990720" y="19810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81" name=""/>
          <p:cNvSpPr txBox="1"/>
          <p:nvPr/>
        </p:nvSpPr>
        <p:spPr>
          <a:xfrm>
            <a:off x="1196280" y="2163960"/>
            <a:ext cx="4312800" cy="647640"/>
          </a:xfrm>
          <a:prstGeom prst="rect">
            <a:avLst/>
          </a:prstGeom>
          <a:noFill/>
          <a:ln w="0">
            <a:noFill/>
          </a:ln>
        </p:spPr>
        <p:txBody>
          <a:bodyPr lIns="0" rIns="0" tIns="0" bIns="0" anchor="t">
            <a:noAutofit/>
          </a:bodyPr>
          <a:p>
            <a:r>
              <a:rPr b="1" lang="en-US" sz="2540" spc="-1" strike="noStrike">
                <a:solidFill>
                  <a:srgbClr val="004899"/>
                </a:solidFill>
                <a:latin typeface="Noto Sans"/>
              </a:rPr>
              <a:t>Einzige Übungsaufgabe</a:t>
            </a:r>
            <a:endParaRPr b="0" lang="en-US" sz="2540" spc="-1" strike="noStrike">
              <a:solidFill>
                <a:srgbClr val="000000"/>
              </a:solidFill>
              <a:latin typeface="Arial"/>
            </a:endParaRPr>
          </a:p>
        </p:txBody>
      </p:sp>
      <p:sp>
        <p:nvSpPr>
          <p:cNvPr id="682" name=""/>
          <p:cNvSpPr txBox="1"/>
          <p:nvPr/>
        </p:nvSpPr>
        <p:spPr>
          <a:xfrm>
            <a:off x="1196280" y="2926080"/>
            <a:ext cx="4312800" cy="1203840"/>
          </a:xfrm>
          <a:prstGeom prst="rect">
            <a:avLst/>
          </a:prstGeom>
          <a:noFill/>
          <a:ln w="0">
            <a:noFill/>
          </a:ln>
        </p:spPr>
        <p:txBody>
          <a:bodyPr lIns="0" rIns="0" tIns="0" bIns="0" anchor="t">
            <a:noAutofit/>
          </a:bodyPr>
          <a:p>
            <a:r>
              <a:rPr b="0" lang="en-US" sz="2350" spc="-1" strike="noStrike">
                <a:solidFill>
                  <a:srgbClr val="000000"/>
                </a:solidFill>
                <a:latin typeface="Noto Sans"/>
              </a:rPr>
              <a:t>JiTT-Fragen zu Unit 14</a:t>
            </a:r>
            <a:endParaRPr b="0" lang="en-US" sz="2350" spc="-1" strike="noStrike">
              <a:solidFill>
                <a:srgbClr val="000000"/>
              </a:solidFill>
              <a:latin typeface="Arial"/>
            </a:endParaRPr>
          </a:p>
          <a:p>
            <a:r>
              <a:rPr b="0" lang="en-US" sz="2350" spc="-1" strike="noStrike">
                <a:solidFill>
                  <a:srgbClr val="000000"/>
                </a:solidFill>
                <a:latin typeface="Noto Sans"/>
              </a:rPr>
              <a:t>im ILIAS-Kurs beantworten</a:t>
            </a:r>
            <a:endParaRPr b="0" lang="en-US" sz="2350" spc="-1" strike="noStrike">
              <a:solidFill>
                <a:srgbClr val="000000"/>
              </a:solidFill>
              <a:latin typeface="Arial"/>
            </a:endParaRPr>
          </a:p>
        </p:txBody>
      </p:sp>
      <p:sp>
        <p:nvSpPr>
          <p:cNvPr id="683" name=""/>
          <p:cNvSpPr/>
          <p:nvPr/>
        </p:nvSpPr>
        <p:spPr>
          <a:xfrm>
            <a:off x="64771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4" name=""/>
          <p:cNvSpPr/>
          <p:nvPr/>
        </p:nvSpPr>
        <p:spPr>
          <a:xfrm>
            <a:off x="6477120" y="19810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85" name=""/>
          <p:cNvSpPr txBox="1"/>
          <p:nvPr/>
        </p:nvSpPr>
        <p:spPr>
          <a:xfrm>
            <a:off x="6682680" y="2163960"/>
            <a:ext cx="4312800" cy="647640"/>
          </a:xfrm>
          <a:prstGeom prst="rect">
            <a:avLst/>
          </a:prstGeom>
          <a:noFill/>
          <a:ln w="0">
            <a:noFill/>
          </a:ln>
        </p:spPr>
        <p:txBody>
          <a:bodyPr lIns="0" rIns="0" tIns="0" bIns="0" anchor="t">
            <a:noAutofit/>
          </a:bodyPr>
          <a:p>
            <a:r>
              <a:rPr b="1" lang="en-US" sz="2540" spc="-1" strike="noStrike">
                <a:solidFill>
                  <a:srgbClr val="a32123"/>
                </a:solidFill>
                <a:latin typeface="Noto Sans"/>
              </a:rPr>
              <a:t>Nächste Unit</a:t>
            </a:r>
            <a:endParaRPr b="0" lang="en-US" sz="2540" spc="-1" strike="noStrike">
              <a:solidFill>
                <a:srgbClr val="000000"/>
              </a:solidFill>
              <a:latin typeface="Arial"/>
            </a:endParaRPr>
          </a:p>
        </p:txBody>
      </p:sp>
      <p:sp>
        <p:nvSpPr>
          <p:cNvPr id="686" name=""/>
          <p:cNvSpPr txBox="1"/>
          <p:nvPr/>
        </p:nvSpPr>
        <p:spPr>
          <a:xfrm>
            <a:off x="6682680" y="2926080"/>
            <a:ext cx="4312800" cy="1203840"/>
          </a:xfrm>
          <a:prstGeom prst="rect">
            <a:avLst/>
          </a:prstGeom>
          <a:noFill/>
          <a:ln w="0">
            <a:noFill/>
          </a:ln>
        </p:spPr>
        <p:txBody>
          <a:bodyPr lIns="0" rIns="0" tIns="0" bIns="0" anchor="t">
            <a:noAutofit/>
          </a:bodyPr>
          <a:p>
            <a:r>
              <a:rPr b="0" lang="en-US" sz="2350" spc="-1" strike="noStrike">
                <a:solidFill>
                  <a:srgbClr val="000000"/>
                </a:solidFill>
                <a:latin typeface="Noto Sans"/>
              </a:rPr>
              <a:t>Rückblick · offene Fragen</a:t>
            </a:r>
            <a:endParaRPr b="0" lang="en-US" sz="2350" spc="-1" strike="noStrike">
              <a:solidFill>
                <a:srgbClr val="000000"/>
              </a:solidFill>
              <a:latin typeface="Arial"/>
            </a:endParaRPr>
          </a:p>
          <a:p>
            <a:r>
              <a:rPr b="0" lang="en-US" sz="2350" spc="-1" strike="noStrike">
                <a:solidFill>
                  <a:srgbClr val="000000"/>
                </a:solidFill>
                <a:latin typeface="Noto Sans"/>
              </a:rPr>
              <a:t>Feedback · Abschluss</a:t>
            </a:r>
            <a:endParaRPr b="0" lang="en-US" sz="2350" spc="-1" strike="noStrike">
              <a:solidFill>
                <a:srgbClr val="000000"/>
              </a:solidFill>
              <a:latin typeface="Arial"/>
            </a:endParaRPr>
          </a:p>
        </p:txBody>
      </p:sp>
      <p:sp>
        <p:nvSpPr>
          <p:cNvPr id="68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8"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Fragen, Frist und Link: ausschließlich die aktuellen Angaben in ILIAS verwenden.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Vertiefung: den vollständigen Workflow rekonstruieren</a:t>
            </a:r>
            <a:endParaRPr b="0" lang="en-US" sz="3190" spc="-1" strike="noStrike">
              <a:solidFill>
                <a:srgbClr val="000000"/>
              </a:solidFill>
              <a:latin typeface="Arial"/>
            </a:endParaRPr>
          </a:p>
        </p:txBody>
      </p:sp>
      <p:sp>
        <p:nvSpPr>
          <p:cNvPr id="69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NACHSCHLAGEN</a:t>
            </a:r>
            <a:endParaRPr b="0" lang="en-US" sz="1130" spc="-1" strike="noStrike">
              <a:solidFill>
                <a:srgbClr val="000000"/>
              </a:solidFill>
              <a:latin typeface="Arial"/>
            </a:endParaRPr>
          </a:p>
        </p:txBody>
      </p:sp>
      <p:sp>
        <p:nvSpPr>
          <p:cNvPr id="69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69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37</a:t>
            </a:r>
            <a:endParaRPr b="0" lang="en-US" sz="939" spc="-1" strike="noStrike">
              <a:solidFill>
                <a:srgbClr val="000000"/>
              </a:solidFill>
              <a:latin typeface="Arial"/>
            </a:endParaRPr>
          </a:p>
        </p:txBody>
      </p:sp>
      <p:pic>
        <p:nvPicPr>
          <p:cNvPr id="693" name="" descr="Eine Prozesskette verbindet Zielgruppe, Datenprüfung, Analyse, Symbolisierung, Klassifizierung, Layout, Export und Interpretation."/>
          <p:cNvPicPr/>
          <p:nvPr/>
        </p:nvPicPr>
        <p:blipFill>
          <a:blip r:embed="rId1">
            <a:extLst>
              <a:ext uri="{96DAC541-7B7A-43D3-8B79-37D633B846F1}">
                <asvg:svgBlip xmlns:asvg="http://schemas.microsoft.com/office/drawing/2016/SVG/main" r:embed="rId2"/>
              </a:ext>
            </a:extLst>
          </a:blip>
          <a:stretch/>
        </p:blipFill>
        <p:spPr>
          <a:xfrm>
            <a:off x="1905120" y="1676520"/>
            <a:ext cx="8382240" cy="3939480"/>
          </a:xfrm>
          <a:prstGeom prst="rect">
            <a:avLst/>
          </a:prstGeom>
          <a:ln w="0">
            <a:noFill/>
          </a:ln>
        </p:spPr>
      </p:pic>
      <p:sp>
        <p:nvSpPr>
          <p:cNvPr id="694" name=""/>
          <p:cNvSpPr/>
          <p:nvPr/>
        </p:nvSpPr>
        <p:spPr>
          <a:xfrm>
            <a:off x="647640" y="575316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95" name=""/>
          <p:cNvSpPr txBox="1"/>
          <p:nvPr/>
        </p:nvSpPr>
        <p:spPr>
          <a:xfrm>
            <a:off x="838080" y="585972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Präsenzkern: vorbereitete Daten gestalten, exportieren, prüfen und dokumentieren.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Quellen und Arbeitsstand</a:t>
            </a:r>
            <a:endParaRPr b="0" lang="en-US" sz="3190" spc="-1" strike="noStrike">
              <a:solidFill>
                <a:srgbClr val="000000"/>
              </a:solidFill>
              <a:latin typeface="Arial"/>
            </a:endParaRPr>
          </a:p>
        </p:txBody>
      </p:sp>
      <p:sp>
        <p:nvSpPr>
          <p:cNvPr id="69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NACHSCHLAGEN</a:t>
            </a:r>
            <a:endParaRPr b="0" lang="en-US" sz="1130" spc="-1" strike="noStrike">
              <a:solidFill>
                <a:srgbClr val="000000"/>
              </a:solidFill>
              <a:latin typeface="Arial"/>
            </a:endParaRPr>
          </a:p>
        </p:txBody>
      </p:sp>
      <p:sp>
        <p:nvSpPr>
          <p:cNvPr id="69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14</a:t>
            </a:r>
            <a:endParaRPr b="0" lang="en-US" sz="939" spc="-1" strike="noStrike">
              <a:solidFill>
                <a:srgbClr val="000000"/>
              </a:solidFill>
              <a:latin typeface="Arial"/>
            </a:endParaRPr>
          </a:p>
        </p:txBody>
      </p:sp>
      <p:sp>
        <p:nvSpPr>
          <p:cNvPr id="69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38</a:t>
            </a:r>
            <a:endParaRPr b="0" lang="en-US" sz="939" spc="-1" strike="noStrike">
              <a:solidFill>
                <a:srgbClr val="000000"/>
              </a:solidFill>
              <a:latin typeface="Arial"/>
            </a:endParaRPr>
          </a:p>
        </p:txBody>
      </p:sp>
      <p:sp>
        <p:nvSpPr>
          <p:cNvPr id="700" name=""/>
          <p:cNvSpPr txBox="1"/>
          <p:nvPr/>
        </p:nvSpPr>
        <p:spPr>
          <a:xfrm>
            <a:off x="838080" y="163836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1"/>
              </a:rPr>
              <a:t>Unit 14 · Kursübersicht</a:t>
            </a:r>
            <a:endParaRPr b="0" lang="en-US" sz="1879" spc="-1" strike="noStrike">
              <a:solidFill>
                <a:srgbClr val="000000"/>
              </a:solidFill>
              <a:latin typeface="Arial"/>
            </a:endParaRPr>
          </a:p>
        </p:txBody>
      </p:sp>
      <p:sp>
        <p:nvSpPr>
          <p:cNvPr id="701" name=""/>
          <p:cNvSpPr txBox="1"/>
          <p:nvPr/>
        </p:nvSpPr>
        <p:spPr>
          <a:xfrm>
            <a:off x="838080" y="201924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2"/>
              </a:rPr>
              <a:t>Daten sinnvoll symbolisieren</a:t>
            </a:r>
            <a:endParaRPr b="0" lang="en-US" sz="1879" spc="-1" strike="noStrike">
              <a:solidFill>
                <a:srgbClr val="000000"/>
              </a:solidFill>
              <a:latin typeface="Arial"/>
            </a:endParaRPr>
          </a:p>
        </p:txBody>
      </p:sp>
      <p:sp>
        <p:nvSpPr>
          <p:cNvPr id="702" name=""/>
          <p:cNvSpPr txBox="1"/>
          <p:nvPr/>
        </p:nvSpPr>
        <p:spPr>
          <a:xfrm>
            <a:off x="838080" y="240048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3"/>
              </a:rPr>
              <a:t>Werte klassifizieren</a:t>
            </a:r>
            <a:endParaRPr b="0" lang="en-US" sz="1879" spc="-1" strike="noStrike">
              <a:solidFill>
                <a:srgbClr val="000000"/>
              </a:solidFill>
              <a:latin typeface="Arial"/>
            </a:endParaRPr>
          </a:p>
        </p:txBody>
      </p:sp>
      <p:sp>
        <p:nvSpPr>
          <p:cNvPr id="703" name=""/>
          <p:cNvSpPr txBox="1"/>
          <p:nvPr/>
        </p:nvSpPr>
        <p:spPr>
          <a:xfrm>
            <a:off x="838080" y="278136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4"/>
              </a:rPr>
              <a:t>Eine Karte erstellen</a:t>
            </a:r>
            <a:endParaRPr b="0" lang="en-US" sz="1879" spc="-1" strike="noStrike">
              <a:solidFill>
                <a:srgbClr val="000000"/>
              </a:solidFill>
              <a:latin typeface="Arial"/>
            </a:endParaRPr>
          </a:p>
        </p:txBody>
      </p:sp>
      <p:sp>
        <p:nvSpPr>
          <p:cNvPr id="704" name=""/>
          <p:cNvSpPr txBox="1"/>
          <p:nvPr/>
        </p:nvSpPr>
        <p:spPr>
          <a:xfrm>
            <a:off x="838080" y="316224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5"/>
              </a:rPr>
              <a:t>Vom Datensatz zur räumlichen Aussage</a:t>
            </a:r>
            <a:endParaRPr b="0" lang="en-US" sz="1879" spc="-1" strike="noStrike">
              <a:solidFill>
                <a:srgbClr val="000000"/>
              </a:solidFill>
              <a:latin typeface="Arial"/>
            </a:endParaRPr>
          </a:p>
        </p:txBody>
      </p:sp>
      <p:sp>
        <p:nvSpPr>
          <p:cNvPr id="705" name=""/>
          <p:cNvSpPr txBox="1"/>
          <p:nvPr/>
        </p:nvSpPr>
        <p:spPr>
          <a:xfrm>
            <a:off x="838080" y="354348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6"/>
              </a:rPr>
              <a:t>QGIS 3.40 · Benutzerhandbuch</a:t>
            </a:r>
            <a:endParaRPr b="0" lang="en-US" sz="1879" spc="-1" strike="noStrike">
              <a:solidFill>
                <a:srgbClr val="000000"/>
              </a:solidFill>
              <a:latin typeface="Arial"/>
            </a:endParaRPr>
          </a:p>
        </p:txBody>
      </p:sp>
      <p:sp>
        <p:nvSpPr>
          <p:cNvPr id="706" name=""/>
          <p:cNvSpPr txBox="1"/>
          <p:nvPr/>
        </p:nvSpPr>
        <p:spPr>
          <a:xfrm>
            <a:off x="838080" y="392436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7"/>
              </a:rPr>
              <a:t>Marburger Übungspaket</a:t>
            </a:r>
            <a:endParaRPr b="0" lang="en-US" sz="1879" spc="-1" strike="noStrike">
              <a:solidFill>
                <a:srgbClr val="000000"/>
              </a:solidFill>
              <a:latin typeface="Arial"/>
            </a:endParaRPr>
          </a:p>
        </p:txBody>
      </p:sp>
      <p:sp>
        <p:nvSpPr>
          <p:cNvPr id="707" name=""/>
          <p:cNvSpPr txBox="1"/>
          <p:nvPr/>
        </p:nvSpPr>
        <p:spPr>
          <a:xfrm>
            <a:off x="838080" y="430524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8"/>
              </a:rPr>
              <a:t>NABU|naturgucker bei GBIF</a:t>
            </a:r>
            <a:endParaRPr b="0" lang="en-US" sz="1879" spc="-1" strike="noStrike">
              <a:solidFill>
                <a:srgbClr val="000000"/>
              </a:solidFill>
              <a:latin typeface="Arial"/>
            </a:endParaRPr>
          </a:p>
        </p:txBody>
      </p:sp>
      <p:sp>
        <p:nvSpPr>
          <p:cNvPr id="708" name=""/>
          <p:cNvSpPr txBox="1"/>
          <p:nvPr/>
        </p:nvSpPr>
        <p:spPr>
          <a:xfrm>
            <a:off x="838080" y="4686480"/>
            <a:ext cx="10515600" cy="335160"/>
          </a:xfrm>
          <a:prstGeom prst="rect">
            <a:avLst/>
          </a:prstGeom>
          <a:noFill/>
          <a:ln w="0">
            <a:noFill/>
          </a:ln>
        </p:spPr>
        <p:txBody>
          <a:bodyPr lIns="0" rIns="0" tIns="0" bIns="0" anchor="t">
            <a:noAutofit/>
          </a:bodyPr>
          <a:p>
            <a:r>
              <a:rPr b="1" lang="en-US" sz="1879" spc="-1" strike="noStrike">
                <a:solidFill>
                  <a:srgbClr val="004899"/>
                </a:solidFill>
                <a:latin typeface="Noto Sans"/>
                <a:hlinkClick r:id="rId9"/>
              </a:rPr>
              <a:t>Hessen Geodatenmanagement · DGM</a:t>
            </a:r>
            <a:endParaRPr b="0" lang="en-US" sz="1879" spc="-1" strike="noStrike">
              <a:solidFill>
                <a:srgbClr val="000000"/>
              </a:solidFill>
              <a:latin typeface="Arial"/>
            </a:endParaRPr>
          </a:p>
        </p:txBody>
      </p:sp>
      <p:sp>
        <p:nvSpPr>
          <p:cNvPr id="709" name=""/>
          <p:cNvSpPr txBox="1"/>
          <p:nvPr/>
        </p:nvSpPr>
        <p:spPr>
          <a:xfrm>
            <a:off x="838080" y="5257800"/>
            <a:ext cx="10591920" cy="883800"/>
          </a:xfrm>
          <a:prstGeom prst="rect">
            <a:avLst/>
          </a:prstGeom>
          <a:noFill/>
          <a:ln w="0">
            <a:noFill/>
          </a:ln>
        </p:spPr>
        <p:txBody>
          <a:bodyPr lIns="0" rIns="0" tIns="0" bIns="0" anchor="t">
            <a:noAutofit/>
          </a:bodyPr>
          <a:p>
            <a:r>
              <a:rPr b="0" lang="en-US" sz="1510" spc="-1" strike="noStrike">
                <a:solidFill>
                  <a:srgbClr val="414141"/>
                </a:solidFill>
                <a:latin typeface="Noto Sans"/>
              </a:rPr>
              <a:t>Paketstand: 08.09.2026 · Abgleich der Folien: 10.09.2026</a:t>
            </a:r>
            <a:endParaRPr b="0" lang="en-US" sz="1510" spc="-1" strike="noStrike">
              <a:solidFill>
                <a:srgbClr val="000000"/>
              </a:solidFill>
              <a:latin typeface="Arial"/>
            </a:endParaRPr>
          </a:p>
          <a:p>
            <a:r>
              <a:rPr b="0" lang="en-US" sz="1510" spc="-1" strike="noStrike">
                <a:solidFill>
                  <a:srgbClr val="414141"/>
                </a:solidFill>
                <a:latin typeface="Noto Sans"/>
              </a:rPr>
              <a:t>Layout: Universität-Marburg-Vorlage · Titel-/Abschlussbild: FB19-Vorlage</a:t>
            </a:r>
            <a:endParaRPr b="0" lang="en-US" sz="1510" spc="-1" strike="noStrike">
              <a:solidFill>
                <a:srgbClr val="000000"/>
              </a:solidFill>
              <a:latin typeface="Arial"/>
            </a:endParaRPr>
          </a:p>
          <a:p>
            <a:r>
              <a:rPr b="0" lang="en-US" sz="1510" spc="-1" strike="noStrike">
                <a:solidFill>
                  <a:srgbClr val="414141"/>
                </a:solidFill>
                <a:latin typeface="Noto Sans"/>
              </a:rPr>
              <a:t>Lehrabbildungen: fünf SVGs und drei vorhandene Kartenexporte der Unit 14</a:t>
            </a:r>
            <a:endParaRPr b="0" lang="en-US" sz="151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711" name="" descr=""/>
          <p:cNvPicPr/>
          <p:nvPr/>
        </p:nvPicPr>
        <p:blipFill>
          <a:blip r:embed="rId1"/>
          <a:stretch/>
        </p:blipFill>
        <p:spPr>
          <a:xfrm>
            <a:off x="6972480" y="2666880"/>
            <a:ext cx="4876920" cy="1671120"/>
          </a:xfrm>
          <a:prstGeom prst="rect">
            <a:avLst/>
          </a:prstGeom>
          <a:ln w="0">
            <a:noFill/>
          </a:ln>
        </p:spPr>
      </p:pic>
      <p:sp>
        <p:nvSpPr>
          <p:cNvPr id="712"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Ihre Aufmerksamkeit</a:t>
            </a:r>
            <a:endParaRPr b="0" lang="en-US" sz="3859" spc="-1" strike="noStrike">
              <a:solidFill>
                <a:srgbClr val="ffffff"/>
              </a:solidFill>
              <a:latin typeface="Arial"/>
            </a:endParaRPr>
          </a:p>
        </p:txBody>
      </p:sp>
      <p:sp>
        <p:nvSpPr>
          <p:cNvPr id="713"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14</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2026-09-11T16:23:55Z</dcterms:modified>
  <cp:revision>35</cp:revision>
  <dc:subject>Geodaten · Unit 14 · Präsenzlehre</dc:subject>
  <dc:title>Unit 14 – Kartengestaltung und Abschlusskarte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