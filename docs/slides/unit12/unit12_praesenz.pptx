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jpeg" ContentType="image/jpeg"/>
  <Override PartName="/ppt/media/image3.png" ContentType="image/png"/>
  <Override PartName="/ppt/media/image4.svg" ContentType="image/svg"/>
  <Override PartName="/ppt/media/image7.png" ContentType="image/png"/>
  <Override PartName="/ppt/media/image11.png" ContentType="image/png"/>
  <Override PartName="/ppt/media/image5.png" ContentType="image/png"/>
  <Override PartName="/ppt/media/image6.svg" ContentType="image/svg"/>
  <Override PartName="/ppt/media/image9.png" ContentType="image/png"/>
  <Override PartName="/ppt/media/image10.svg" ContentType="image/svg"/>
  <Override PartName="/ppt/media/image8.svg" ContentType="image/svg"/>
  <Override PartName="/ppt/media/image12.svg" ContentType="image/svg"/>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_rels/notesSlide22.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35.xml.rels" ContentType="application/vnd.openxmlformats-package.relationships+xml"/>
  <Override PartName="/ppt/notesSlides/_rels/notesSlide23.xml.rels" ContentType="application/vnd.openxmlformats-package.relationships+xml"/>
  <Override PartName="/ppt/notesSlides/_rels/notesSlide36.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7.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9" r:id="rId17"/>
    <p:sldMasterId id="2147483681"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pc="-1" strike="noStrike">
                <a:solidFill>
                  <a:schemeClr val="dk1"/>
                </a:solidFill>
                <a:latin typeface="Noto Sans"/>
              </a:rPr>
              <a:t>Click to move the slide</a:t>
            </a:r>
            <a:endParaRPr b="0" lang="de-DE" sz="1800" spc="-1" strike="noStrike">
              <a:solidFill>
                <a:schemeClr val="dk1"/>
              </a:solidFill>
              <a:latin typeface="Noto Sans"/>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FC7BD901-80D4-4833-9844-9D88B86257E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 name="PlaceHolder 1"/>
          <p:cNvSpPr>
            <a:spLocks noGrp="1"/>
          </p:cNvSpPr>
          <p:nvPr>
            <p:ph type="sldImg"/>
          </p:nvPr>
        </p:nvSpPr>
        <p:spPr>
          <a:xfrm>
            <a:off x="216000" y="812520"/>
            <a:ext cx="7127280" cy="4008960"/>
          </a:xfrm>
          <a:prstGeom prst="rect">
            <a:avLst/>
          </a:prstGeom>
          <a:ln w="0">
            <a:noFill/>
          </a:ln>
        </p:spPr>
      </p:sp>
      <p:sp>
        <p:nvSpPr>
          <p:cNvPr id="78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Titelfolie vor dem Einstieg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Titelfolie beim Ankommen zeigen. Die Sitzung ist für 90 Minuten mit 100–150 Bachelor- und Lehramtsstudierenden ausgelegt. Vorbereitendes Lesen wird nicht vorausgesetzt. QGIS 3.40 und das vollständig entpackte Marburger Übungspaket müssen verfügbar sein. Erwarteter Punkteeingang ist gbif_checked aus Unit 11 oder der schemaidentische Ersatzlayer.</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216000" y="812520"/>
            <a:ext cx="7127280" cy="4008960"/>
          </a:xfrm>
          <a:prstGeom prst="rect">
            <a:avLst/>
          </a:prstGeom>
          <a:ln w="0">
            <a:noFill/>
          </a:ln>
        </p:spPr>
      </p:sp>
      <p:sp>
        <p:nvSpPr>
          <p:cNvPr id="78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0–10 (10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TERMIN: Den gesamten Platzhalter durch die aktuelle JiTT-Auswertung zu Unit 11 ersetzen. Bei Bedarf die Folie duplizieren. Nur tatsächliche, zusammengefasste und anonymisierte Rückmeldungen einsetzen. Die gesamte Phase dauert zehn Minuten. Verständnisfragen zu Punktdaten, GBIF, Koordinatenunsicherheit oder Export klären.</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sldImg"/>
          </p:nvPr>
        </p:nvSpPr>
        <p:spPr>
          <a:xfrm>
            <a:off x="216000" y="812520"/>
            <a:ext cx="7127280" cy="4008960"/>
          </a:xfrm>
          <a:prstGeom prst="rect">
            <a:avLst/>
          </a:prstGeom>
          <a:ln w="0">
            <a:noFill/>
          </a:ln>
        </p:spPr>
      </p:sp>
      <p:sp>
        <p:nvSpPr>
          <p:cNvPr id="7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10–11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Ablauf ankündigen: Linien und Polygone verstehen, Datenquellen über Metadaten beurteilen, drei Layer prüfen, erst nach Attributen und dann räumlich auswählen und drei Ergebnislayer sichern.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https://geomoer.github.io/moer-bsc-geodaten/unit12/unit12-00_overview.html</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7" name="PlaceHolder 1"/>
          <p:cNvSpPr>
            <a:spLocks noGrp="1"/>
          </p:cNvSpPr>
          <p:nvPr>
            <p:ph type="sldImg"/>
          </p:nvPr>
        </p:nvSpPr>
        <p:spPr>
          <a:xfrm>
            <a:off x="216000" y="812520"/>
            <a:ext cx="7127280" cy="4008960"/>
          </a:xfrm>
          <a:prstGeom prst="rect">
            <a:avLst/>
          </a:prstGeom>
          <a:ln w="0">
            <a:noFill/>
          </a:ln>
        </p:spPr>
      </p:sp>
      <p:sp>
        <p:nvSpPr>
          <p:cNvPr id="78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11–13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 Unit 10 und 11 anknüpfen. Die Geometrie ist ein Modell für eine Fragestellung; das sichtbare Symbol besitzt zusätzliche Darstellungsbreite oder -größe. Jedes Feature bleibt mit genau einer Zeile seiner Attributtabelle verbunden.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216000" y="812520"/>
            <a:ext cx="7127280" cy="4008960"/>
          </a:xfrm>
          <a:prstGeom prst="rect">
            <a:avLst/>
          </a:prstGeom>
          <a:ln w="0">
            <a:noFill/>
          </a:ln>
        </p:spPr>
      </p:sp>
      <p:sp>
        <p:nvSpPr>
          <p:cNvPr id="79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13–15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60 Sekunden zu zweit: Für jede Frage genau einen primären Geometrietyp wählen und kurz begründen. Danach Handzeichen für Punkt, Linie oder Polygon. Die Auflösung folgt auf der nächsten Folie.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PlaceHolder 1"/>
          <p:cNvSpPr>
            <a:spLocks noGrp="1"/>
          </p:cNvSpPr>
          <p:nvPr>
            <p:ph type="sldImg"/>
          </p:nvPr>
        </p:nvSpPr>
        <p:spPr>
          <a:xfrm>
            <a:off x="216000" y="812520"/>
            <a:ext cx="7127280" cy="4008960"/>
          </a:xfrm>
          <a:prstGeom prst="rect">
            <a:avLst/>
          </a:prstGeom>
          <a:ln w="0">
            <a:noFill/>
          </a:ln>
        </p:spPr>
      </p:sp>
      <p:sp>
        <p:nvSpPr>
          <p:cNvPr id="79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15–17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Lösungen knapp sichern. Bei der Mündung beschreibt ein Punkt den gesuchten Ort. Für den Verlauf wird eine Linie benötigt; für die Flächenausdehnung ein Polygon. Andere Modellierungen können für andere Fragen sinnvoll sein.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3" name="PlaceHolder 1"/>
          <p:cNvSpPr>
            <a:spLocks noGrp="1"/>
          </p:cNvSpPr>
          <p:nvPr>
            <p:ph type="sldImg"/>
          </p:nvPr>
        </p:nvSpPr>
        <p:spPr>
          <a:xfrm>
            <a:off x="216000" y="812520"/>
            <a:ext cx="7127280" cy="4008960"/>
          </a:xfrm>
          <a:prstGeom prst="rect">
            <a:avLst/>
          </a:prstGeom>
          <a:ln w="0">
            <a:noFill/>
          </a:ln>
        </p:spPr>
      </p:sp>
      <p:sp>
        <p:nvSpPr>
          <p:cNvPr id="79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17–20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Grafik von oben nach unten lesen. Zwischen benachbarten Stützpunkten liegen gerade Segmente. Weniger Stützpunkte ergeben hier eine vereinfachte Linie. Mehr Stützpunkte erlauben mehr Detail, belegen allein aber weder höhere Lagegenauigkeit noch bessere Datenqualität.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assets/images/unit12/stuetzpunkte-generalisierung.svg</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216000" y="812520"/>
            <a:ext cx="7127280" cy="4008960"/>
          </a:xfrm>
          <a:prstGeom prst="rect">
            <a:avLst/>
          </a:prstGeom>
          <a:ln w="0">
            <a:noFill/>
          </a:ln>
        </p:spPr>
      </p:sp>
      <p:sp>
        <p:nvSpPr>
          <p:cNvPr id="79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20–22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Links: Die Lochfläche gehört geometrisch nicht zum Polygon. Rechts: Zwei getrennte Flächen bilden gemeinsam ein Multipart-Feature und besitzen eine Tabellenzeile. Sichtbare Flächenteile daher nicht mit Featurezahl gleichsetzen.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assets/images/unit12/polygon-loch-multipart.svg</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type="sldImg"/>
          </p:nvPr>
        </p:nvSpPr>
        <p:spPr>
          <a:xfrm>
            <a:off x="216000" y="812520"/>
            <a:ext cx="7127280" cy="4008960"/>
          </a:xfrm>
          <a:prstGeom prst="rect">
            <a:avLst/>
          </a:prstGeom>
          <a:ln w="0">
            <a:noFill/>
          </a:ln>
        </p:spPr>
      </p:sp>
      <p:sp>
        <p:nvSpPr>
          <p:cNvPr id="79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Begriffe nicht als Synonyme verwenden. Die Richtung der Frage ist relevant: Der Punkt liegt innerhalb des Polygons; das Polygon enthält den Punkt. Heute wird für Punkte und Linien einheitlich schneidet/intersects verwendet.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 name="PlaceHolder 1"/>
          <p:cNvSpPr>
            <a:spLocks noGrp="1"/>
          </p:cNvSpPr>
          <p:nvPr>
            <p:ph type="sldImg"/>
          </p:nvPr>
        </p:nvSpPr>
        <p:spPr>
          <a:xfrm>
            <a:off x="216000" y="812520"/>
            <a:ext cx="7127280" cy="4008960"/>
          </a:xfrm>
          <a:prstGeom prst="rect">
            <a:avLst/>
          </a:prstGeom>
          <a:ln w="0">
            <a:noFill/>
          </a:ln>
        </p:spPr>
      </p:sp>
      <p:sp>
        <p:nvSpPr>
          <p:cNvPr id="80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24–25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die Frage stellen und A, B, C sprachlich verorten. Noch nicht vollständig auflösen; der Grenzfall wird in Minute 80 mit der tatsächlichen Auswahlregel und der Koordinatenunsicherheit erneut betrachtet.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216000" y="812520"/>
            <a:ext cx="7127280" cy="4008960"/>
          </a:xfrm>
          <a:prstGeom prst="rect">
            <a:avLst/>
          </a:prstGeom>
          <a:ln w="0">
            <a:noFill/>
          </a:ln>
        </p:spPr>
      </p:sp>
      <p:sp>
        <p:nvSpPr>
          <p:cNvPr id="80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25–27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Geoportale bündeln Suche, Metadaten, Kartenansichten, Dienste und Downloads. Ein gefundener Eintrag ist noch kein analysierbarer Datensatz. Für die Leitfrage werden Feature-Geometrien und Attribute benötigt.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https://geomoer.github.io/moer-bsc-geodaten/unit12/unit12-02_geoportale.html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https://www.geoportal.hessen.de/</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PlaceHolder 1"/>
          <p:cNvSpPr>
            <a:spLocks noGrp="1"/>
          </p:cNvSpPr>
          <p:nvPr>
            <p:ph type="sldImg"/>
          </p:nvPr>
        </p:nvSpPr>
        <p:spPr>
          <a:xfrm>
            <a:off x="216000" y="812520"/>
            <a:ext cx="7127280" cy="4008960"/>
          </a:xfrm>
          <a:prstGeom prst="rect">
            <a:avLst/>
          </a:prstGeom>
          <a:ln w="0">
            <a:noFill/>
          </a:ln>
        </p:spPr>
      </p:sp>
      <p:sp>
        <p:nvSpPr>
          <p:cNvPr id="80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27–30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drei Angebote vergleichen. WMS liefert ein gerendertes Kartenbild; daraus lassen sich nicht die benötigten Schutzgebietsfeatures auswählen. WFS und Download liefern Vektorfeatures. Für den stabilen Präsenzweg verwenden wir den vorbereiteten lokalen Snapshot.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https://geomoer.github.io/moer-bsc-geodaten/unit12/unit12-02_geoportale.html</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PlaceHolder 1"/>
          <p:cNvSpPr>
            <a:spLocks noGrp="1"/>
          </p:cNvSpPr>
          <p:nvPr>
            <p:ph type="sldImg"/>
          </p:nvPr>
        </p:nvSpPr>
        <p:spPr>
          <a:xfrm>
            <a:off x="216000" y="812520"/>
            <a:ext cx="7127280" cy="4008960"/>
          </a:xfrm>
          <a:prstGeom prst="rect">
            <a:avLst/>
          </a:prstGeom>
          <a:ln w="0">
            <a:noFill/>
          </a:ln>
        </p:spPr>
      </p:sp>
      <p:sp>
        <p:nvSpPr>
          <p:cNvPr id="80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30–32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In der großen Gruppe sechs Leitfragen sammeln. Fehlende Angaben bleiben als Einschränkung sichtbar. Ein bekanntes Dateiformat ersetzt keine Prüfung von Inhalt, Gebiet, Aktualität, Genauigkeit und Lizenz.</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https://geomoer.github.io/moer-bsc-geodaten/unit12/unit12-02_geoportale.html</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Img"/>
          </p:nvPr>
        </p:nvSpPr>
        <p:spPr>
          <a:xfrm>
            <a:off x="216000" y="812520"/>
            <a:ext cx="7127280" cy="4008960"/>
          </a:xfrm>
          <a:prstGeom prst="rect">
            <a:avLst/>
          </a:prstGeom>
          <a:ln w="0">
            <a:noFill/>
          </a:ln>
        </p:spPr>
      </p:sp>
      <p:sp>
        <p:nvSpPr>
          <p:cNvPr id="80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32–34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Tabelle als kompakten Metadatennachweis lesen. Abrufdatum ist nicht automatisch fachlicher Datenstand. Die Features schneiden das 20-km-Unterrichtsrechteck, bleiben aber vollständig und sind nicht an dessen Grenze abgeschnitten.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https://geomoer.github.io/moer-bsc-geodaten/unit12/unit12-02_geoportale.html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https://www.hlnug.de/themen/geografische-informationssysteme/geodienste/naturschutz</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https://www.hlnug.de/themen/geografische-informationssysteme/geodienste/wasser</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sldImg"/>
          </p:nvPr>
        </p:nvSpPr>
        <p:spPr>
          <a:xfrm>
            <a:off x="216000" y="812520"/>
            <a:ext cx="7127280" cy="4008960"/>
          </a:xfrm>
          <a:prstGeom prst="rect">
            <a:avLst/>
          </a:prstGeom>
          <a:ln w="0">
            <a:noFill/>
          </a:ln>
        </p:spPr>
      </p:sp>
      <p:sp>
        <p:nvSpPr>
          <p:cNvPr id="8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34–35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Abbildung von links nach rechts lesen: drei Geometrietypen werden über Attribute und Lagebeziehungen verbunden. Die Auswahl wird nicht nur angezeigt, sondern mit Regel und Featurezahl als neuer Layer gespeichert.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assets/images/unit12/vektor-workflow.svg</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1" name="PlaceHolder 1"/>
          <p:cNvSpPr>
            <a:spLocks noGrp="1"/>
          </p:cNvSpPr>
          <p:nvPr>
            <p:ph type="sldImg"/>
          </p:nvPr>
        </p:nvSpPr>
        <p:spPr>
          <a:xfrm>
            <a:off x="216000" y="812520"/>
            <a:ext cx="7127280" cy="4008960"/>
          </a:xfrm>
          <a:prstGeom prst="rect">
            <a:avLst/>
          </a:prstGeom>
          <a:ln w="0">
            <a:noFill/>
          </a:ln>
        </p:spPr>
      </p:sp>
      <p:sp>
        <p:nvSpPr>
          <p:cNvPr id="81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35–38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Projekt als unit12_vectors.qgz speichern und EPSG:25832 setzen. Zuerst das eigene Unit-11-Ergebnis laden; falls es fehlt, ersatz/unit11_results.gpkg verwenden. Gewässer und Schutzgebiete stammen aus data_raw/marburg_basis.gpkg.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https://geomoer.github.io/moer-bsc-geodaten/material/qgis-kernpfade.html#unit12</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216000" y="812520"/>
            <a:ext cx="7127280" cy="4008960"/>
          </a:xfrm>
          <a:prstGeom prst="rect">
            <a:avLst/>
          </a:prstGeom>
          <a:ln w="0">
            <a:noFill/>
          </a:ln>
        </p:spPr>
      </p:sp>
      <p:sp>
        <p:nvSpPr>
          <p:cNvPr id="81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38–41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Alle drei Layer auf Geometrietyp, CRS, Lage und Featurezahl prüfen. Bei Abweichung nicht mit der Auswahl fortfahren. Die Begriffe MultiLineString und MultiPolygon sind mit den Multipart-Geometrien aus dem Konzeptteil zu verbinden.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type="sldImg"/>
          </p:nvPr>
        </p:nvSpPr>
        <p:spPr>
          <a:xfrm>
            <a:off x="216000" y="812520"/>
            <a:ext cx="7127280" cy="4008960"/>
          </a:xfrm>
          <a:prstGeom prst="rect">
            <a:avLst/>
          </a:prstGeom>
          <a:ln w="0">
            <a:noFill/>
          </a:ln>
        </p:spPr>
      </p:sp>
      <p:sp>
        <p:nvSpPr>
          <p:cNvPr id="81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41–43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Punkte oben, Gewässer darunter, Schutzgebiete unten anordnen. Polygonfüllung transparent oder sehr hell setzen. Diese Darstellung dient der visuellen Kontrolle; die räumliche Auswahl rechnet mit Geometrien und hängt nicht von Symbolfarbe oder Reihenfolge ab.</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type="sldImg"/>
          </p:nvPr>
        </p:nvSpPr>
        <p:spPr>
          <a:xfrm>
            <a:off x="216000" y="812520"/>
            <a:ext cx="7127280" cy="4008960"/>
          </a:xfrm>
          <a:prstGeom prst="rect">
            <a:avLst/>
          </a:prstGeom>
          <a:ln w="0">
            <a:noFill/>
          </a:ln>
        </p:spPr>
      </p:sp>
      <p:sp>
        <p:nvSpPr>
          <p:cNvPr id="81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43–47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Attributtabelle der Schutzgebiete öffnen, Werte von kategorie prüfen und dann „Objekte über Ausdruck wählen“ verwenden. Der Feldname und der Textwert müssen exakt geschrieben werden. Die Auswahl in Tabelle und Karte kontrollieren.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216000" y="812520"/>
            <a:ext cx="7127280" cy="4008960"/>
          </a:xfrm>
          <a:prstGeom prst="rect">
            <a:avLst/>
          </a:prstGeom>
          <a:ln w="0">
            <a:noFill/>
          </a:ln>
        </p:spPr>
      </p:sp>
      <p:sp>
        <p:nvSpPr>
          <p:cNvPr id="82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47–50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Erwartet sind 10 ausgewählte von 22 Schutzgebietsfeatures. Nur die Auswahl nach data_output/unit12_results.gpkg exportieren und den Layer schutzgebiete_auswahl nennen. Diesen neu geladenen Layer für beide folgenden räumlichen Auswahlen verwenden.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https://geomoer.github.io/moer-bsc-geodaten/material/qgis-kernpfade.html#unit12</a:t>
            </a:r>
            <a:endParaRPr b="0" lang="en-US" sz="20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1" name="PlaceHolder 1"/>
          <p:cNvSpPr>
            <a:spLocks noGrp="1"/>
          </p:cNvSpPr>
          <p:nvPr>
            <p:ph type="sldImg"/>
          </p:nvPr>
        </p:nvSpPr>
        <p:spPr>
          <a:xfrm>
            <a:off x="216000" y="812520"/>
            <a:ext cx="7127280" cy="4008960"/>
          </a:xfrm>
          <a:prstGeom prst="rect">
            <a:avLst/>
          </a:prstGeom>
          <a:ln w="0">
            <a:noFill/>
          </a:ln>
        </p:spPr>
      </p:sp>
      <p:sp>
        <p:nvSpPr>
          <p:cNvPr id="8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50–53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Eingabelayer und Vergleichslayer ausdrücklich unterscheiden. Ausgewählt werden Features des Eingabelayers. Der Vergleichslayer liefert nur die Geometrien, zu denen die Beziehung geprüft wird.</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PlaceHolder 1"/>
          <p:cNvSpPr>
            <a:spLocks noGrp="1"/>
          </p:cNvSpPr>
          <p:nvPr>
            <p:ph type="sldImg"/>
          </p:nvPr>
        </p:nvSpPr>
        <p:spPr>
          <a:xfrm>
            <a:off x="216000" y="812520"/>
            <a:ext cx="7127280" cy="4008960"/>
          </a:xfrm>
          <a:prstGeom prst="rect">
            <a:avLst/>
          </a:prstGeom>
          <a:ln w="0">
            <a:noFill/>
          </a:ln>
        </p:spPr>
      </p:sp>
      <p:sp>
        <p:nvSpPr>
          <p:cNvPr id="8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53–58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Werkzeug gemeinsam einstellen: Eingabelayer gbif_checked, Beziehung schneidet/intersects, Vergleichslayer schutzgebiete_auswahl. Auswahl im vorhandenen Punktlayer erzeugen und anschließend Attributtabelle auf nur ausgewählte Features stellen.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216000" y="812520"/>
            <a:ext cx="7127280" cy="4008960"/>
          </a:xfrm>
          <a:prstGeom prst="rect">
            <a:avLst/>
          </a:prstGeom>
          <a:ln w="0">
            <a:noFill/>
          </a:ln>
        </p:spPr>
      </p:sp>
      <p:sp>
        <p:nvSpPr>
          <p:cNvPr id="8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58–60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Ergebnis erst abfragen, dann zeigen. Ein Punkt, der mehrere FFH-Flächen schneidet, wird in der Auswahl nur einmal gezählt. Bei Abweichung Eingabe-/Vergleichslayer, Beziehung und die zehn FFH-Features prüfen.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sldImg"/>
          </p:nvPr>
        </p:nvSpPr>
        <p:spPr>
          <a:xfrm>
            <a:off x="216000" y="812520"/>
            <a:ext cx="7127280" cy="4008960"/>
          </a:xfrm>
          <a:prstGeom prst="rect">
            <a:avLst/>
          </a:prstGeom>
          <a:ln w="0">
            <a:noFill/>
          </a:ln>
        </p:spPr>
      </p:sp>
      <p:sp>
        <p:nvSpPr>
          <p:cNvPr id="82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60–65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zweite Auswahl mit denselben Vergleichsgeometrien durchführen. Nur der Eingabelayer wechselt zu gewaesser. Darauf hinweisen, dass Features des Datensatzes gezählt werden, nicht notwendigerweise eigenständige Flüsse.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type="sldImg"/>
          </p:nvPr>
        </p:nvSpPr>
        <p:spPr>
          <a:xfrm>
            <a:off x="216000" y="812520"/>
            <a:ext cx="7127280" cy="4008960"/>
          </a:xfrm>
          <a:prstGeom prst="rect">
            <a:avLst/>
          </a:prstGeom>
          <a:ln w="0">
            <a:noFill/>
          </a:ln>
        </p:spPr>
      </p:sp>
      <p:sp>
        <p:nvSpPr>
          <p:cNvPr id="83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65–67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Ergebnis abfragen und zeigen. Ein Treffer sagt zunächst nur, dass mindestens ein gemeinsamer Ort existiert. Ein Linienfeature kann ein Gebiet kurz berühren, darin verlaufen oder es vollständig durchqueren.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216000" y="812520"/>
            <a:ext cx="7127280" cy="4008960"/>
          </a:xfrm>
          <a:prstGeom prst="rect">
            <a:avLst/>
          </a:prstGeom>
          <a:ln w="0">
            <a:noFill/>
          </a:ln>
        </p:spPr>
      </p:sp>
      <p:sp>
        <p:nvSpPr>
          <p:cNvPr id="83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67–69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Grafik vergleichen: Intersects markiert und exportiert die vollständige Linie einschließlich außen liegender Abschnitte. Clip würde eine neue, gekürzte Geometrie erzeugen. Zuschneiden ist heute kein Pflichtschritt.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assets/images/unit12/auswahl-zuschneiden.svg</a:t>
            </a: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3" name="PlaceHolder 1"/>
          <p:cNvSpPr>
            <a:spLocks noGrp="1"/>
          </p:cNvSpPr>
          <p:nvPr>
            <p:ph type="sldImg"/>
          </p:nvPr>
        </p:nvSpPr>
        <p:spPr>
          <a:xfrm>
            <a:off x="216000" y="812520"/>
            <a:ext cx="7127280" cy="4008960"/>
          </a:xfrm>
          <a:prstGeom prst="rect">
            <a:avLst/>
          </a:prstGeom>
          <a:ln w="0">
            <a:noFill/>
          </a:ln>
        </p:spPr>
      </p:sp>
      <p:sp>
        <p:nvSpPr>
          <p:cNvPr id="83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69–70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zu starke Aussage gemeinsam zurückweisen. Die Auswahl berechnet weder die Gewässerlänge innerhalb der FFH-Flächen noch die Anzahl eigenständiger Flüsse. Dafür wäre eine andere Operation und eine fachliche Definition erforderlich.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type="sldImg"/>
          </p:nvPr>
        </p:nvSpPr>
        <p:spPr>
          <a:xfrm>
            <a:off x="216000" y="812520"/>
            <a:ext cx="7127280" cy="4008960"/>
          </a:xfrm>
          <a:prstGeom prst="rect">
            <a:avLst/>
          </a:prstGeom>
          <a:ln w="0">
            <a:noFill/>
          </a:ln>
        </p:spPr>
      </p:sp>
      <p:sp>
        <p:nvSpPr>
          <p:cNvPr id="8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70–74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Jeweils Rechtsklick auf den Eingabelayer und nur ausgewählte Objekte speichern. Beide Ergebnisse in das bereits angelegte unit12_results.gpkg schreiben. Die Namen exakt übernehmen und EPSG:25832 kontrollieren.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https://geomoer.github.io/moer-bsc-geodaten/material/qgis-kernpfade.html#unit12</a:t>
            </a:r>
            <a:endParaRPr b="0" lang="en-US" sz="20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216000" y="812520"/>
            <a:ext cx="7127280" cy="4008960"/>
          </a:xfrm>
          <a:prstGeom prst="rect">
            <a:avLst/>
          </a:prstGeom>
          <a:ln w="0">
            <a:noFill/>
          </a:ln>
        </p:spPr>
      </p:sp>
      <p:sp>
        <p:nvSpPr>
          <p:cNvPr id="8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74–77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Sollzustand vor der Endkontrolle zeigen. schutzgebiete_auswahl entstand aus der Attributauswahl; die beiden anderen Layer aus räumlichen Auswahlen. Alle drei Layer haben EPSG:25832.</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PlaceHolder 1"/>
          <p:cNvSpPr>
            <a:spLocks noGrp="1"/>
          </p:cNvSpPr>
          <p:nvPr>
            <p:ph type="sldImg"/>
          </p:nvPr>
        </p:nvSpPr>
        <p:spPr>
          <a:xfrm>
            <a:off x="216000" y="812520"/>
            <a:ext cx="7127280" cy="4008960"/>
          </a:xfrm>
          <a:prstGeom prst="rect">
            <a:avLst/>
          </a:prstGeom>
          <a:ln w="0">
            <a:noFill/>
          </a:ln>
        </p:spPr>
      </p:sp>
      <p:sp>
        <p:nvSpPr>
          <p:cNvPr id="84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77–80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Alle drei Ergebnislayer aus dem Browser neu laden. Temporäre Auswahlen in den Rohlayern aufheben oder Rohlayer deaktivieren. Featurezahlen, Geometrietyp, EPSG:25832 und plausible Lage kontrollieren. Bei technischem Scheitern ersatz/unit12_results.gpkg verwenden.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https://geomoer.github.io/moer-bsc-geodaten/material/qgis-kernpfade.html#unit12</a:t>
            </a:r>
            <a:endParaRPr b="0" lang="en-US" sz="20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sldImg"/>
          </p:nvPr>
        </p:nvSpPr>
        <p:spPr>
          <a:xfrm>
            <a:off x="216000" y="812520"/>
            <a:ext cx="7127280" cy="4008960"/>
          </a:xfrm>
          <a:prstGeom prst="rect">
            <a:avLst/>
          </a:prstGeom>
          <a:ln w="0">
            <a:noFill/>
          </a:ln>
        </p:spPr>
      </p:sp>
      <p:sp>
        <p:nvSpPr>
          <p:cNvPr id="8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77–80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Mindestdokumentation gemeinsam festhalten. Quellen stehen vollständig in documentation/quellen.md. Eine technisch eindeutige Auswahl beseitigt weder Koordinatenunsicherheit noch Modell- und Aktualitätsunterschiede der Grenzen.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https://geomoer.github.io/moer-bsc-geodaten/unit12/unit12-03_vektoren_qgis.html</a:t>
            </a:r>
            <a:endParaRPr b="0" lang="en-US" sz="20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216000" y="812520"/>
            <a:ext cx="7127280" cy="4008960"/>
          </a:xfrm>
          <a:prstGeom prst="rect">
            <a:avLst/>
          </a:prstGeom>
          <a:ln w="0">
            <a:noFill/>
          </a:ln>
        </p:spPr>
      </p:sp>
      <p:sp>
        <p:nvSpPr>
          <p:cNvPr id="84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80–82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Zwei Minuten zu zweit: Für A, B und C intersects und within vorhersagen. Danach erklären, was bei B mit einer unsicheren Beobachtungskoordinate fachlich offen bleibt. Die Auflösung folgt auf der nächsten Folie.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https://geomoer.github.io/moer-bsc-geodaten/unit12/unit12-00_overview.html</a:t>
            </a:r>
            <a:endParaRPr b="0" lang="en-US" sz="20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5" name="PlaceHolder 1"/>
          <p:cNvSpPr>
            <a:spLocks noGrp="1"/>
          </p:cNvSpPr>
          <p:nvPr>
            <p:ph type="sldImg"/>
          </p:nvPr>
        </p:nvSpPr>
        <p:spPr>
          <a:xfrm>
            <a:off x="216000" y="812520"/>
            <a:ext cx="7127280" cy="4008960"/>
          </a:xfrm>
          <a:prstGeom prst="rect">
            <a:avLst/>
          </a:prstGeom>
          <a:ln w="0">
            <a:noFill/>
          </a:ln>
        </p:spPr>
      </p:sp>
      <p:sp>
        <p:nvSpPr>
          <p:cNvPr id="84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82–85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Tabelle in der Grafik auswerten: A wird von beiden Beziehungen gewählt, B nur von intersects, C von keiner. Das gilt für die gespeicherten Geometrien. Bei unsicherer Koordinate kann der tatsächliche Nachweisort dennoch auf der anderen Seite der modellierten Grenze liegen.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https://geomoer.github.io/moer-bsc-geodaten/unit12/unit12-01_vektordaten.html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assets/images/unit12/punkt-auf-polygongrenze.svg</a:t>
            </a:r>
            <a:endParaRPr b="0" lang="en-US" sz="20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type="sldImg"/>
          </p:nvPr>
        </p:nvSpPr>
        <p:spPr>
          <a:xfrm>
            <a:off x="216000" y="812520"/>
            <a:ext cx="7127280" cy="4008960"/>
          </a:xfrm>
          <a:prstGeom prst="rect">
            <a:avLst/>
          </a:prstGeom>
          <a:ln w="0">
            <a:noFill/>
          </a:ln>
        </p:spPr>
      </p:sp>
      <p:sp>
        <p:nvSpPr>
          <p:cNvPr id="84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85–88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Genau eine der drei Fragen auswählen und sichtbar markieren. Zwei Minuten einzeln schreiben lassen, anschließend höchstens eine knappe Antwort einsammeln. Nicht alle drei Fragen bearbeiten lassen.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https://geomoer.github.io/moer-bsc-geodaten/unit12/unit12-00_overview.html</a:t>
            </a:r>
            <a:endParaRPr b="0" lang="en-US" sz="20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216000" y="812520"/>
            <a:ext cx="7127280" cy="4008960"/>
          </a:xfrm>
          <a:prstGeom prst="rect">
            <a:avLst/>
          </a:prstGeom>
          <a:ln w="0">
            <a:noFill/>
          </a:ln>
        </p:spPr>
      </p:sp>
      <p:sp>
        <p:nvSpPr>
          <p:cNvPr id="8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88–90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die JiTT-Aufgabe als verbindliche Nachbereitung nennen. Fragen, Frist und endgültiger Link stehen in ILIAS. Der Link auf der Kursseite ist noch ein sichtbarer Platzhalter; keinen Wert erfinden. Unit 13 verwendet wieder gbif_checked aus Unit 11, nicht die vier ausgewählten Punkte aus Unit 12.</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https://geomoer.github.io/moer-bsc-geodaten/unit12/unit12-04_assignment.html</a:t>
            </a:r>
            <a:endParaRPr b="0" lang="en-US" sz="2000" spc="-1" strike="noStrike">
              <a:solidFill>
                <a:srgbClr val="000000"/>
              </a:solidFill>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1" name="PlaceHolder 1"/>
          <p:cNvSpPr>
            <a:spLocks noGrp="1"/>
          </p:cNvSpPr>
          <p:nvPr>
            <p:ph type="sldImg"/>
          </p:nvPr>
        </p:nvSpPr>
        <p:spPr>
          <a:xfrm>
            <a:off x="216000" y="812520"/>
            <a:ext cx="7127280" cy="4008960"/>
          </a:xfrm>
          <a:prstGeom prst="rect">
            <a:avLst/>
          </a:prstGeom>
          <a:ln w="0">
            <a:noFill/>
          </a:ln>
        </p:spPr>
      </p:sp>
      <p:sp>
        <p:nvSpPr>
          <p:cNvPr id="85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Bedarf zeigen. Die Folie dokumentiert Kursseiten, QGIS-Dokumentation und Datenquellen. Die Live-Erreichbarkeit externer Portale ist für den Präsenzkern nicht erforderlich.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https://geomoer.github.io/moer-bsc-geodaten/unit12/unit12-00_overview.html</a:t>
            </a:r>
            <a:endParaRPr b="0" lang="en-US" sz="2000" spc="-1" strike="noStrike">
              <a:solidFill>
                <a:srgbClr val="000000"/>
              </a:solidFill>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PlaceHolder 1"/>
          <p:cNvSpPr>
            <a:spLocks noGrp="1"/>
          </p:cNvSpPr>
          <p:nvPr>
            <p:ph type="sldImg"/>
          </p:nvPr>
        </p:nvSpPr>
        <p:spPr>
          <a:xfrm>
            <a:off x="216000" y="812520"/>
            <a:ext cx="7127280" cy="4008960"/>
          </a:xfrm>
          <a:prstGeom prst="rect">
            <a:avLst/>
          </a:prstGeom>
          <a:ln w="0">
            <a:noFill/>
          </a:ln>
        </p:spPr>
      </p:sp>
      <p:sp>
        <p:nvSpPr>
          <p:cNvPr id="85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Abschluss nach der Nachbereitung; kein zusätzlicher Zeitblock.</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Sitzung mit dieser Folie beenden. Die Abschlussgestaltung nutzt den Kontakt-Master der universitären Vorlage sowie das originale Foto-/Kartenmotiv aus der FB19-Titelseite.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2 Bilder">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3D42A959-5F58-4541-A5AA-A41D26DD765E}"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90C626FF-F0E0-49E6-8149-5D9DC981C8D6}"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76B9CEB8-E124-4154-9C4F-6D0668E88823}"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63B08B8A-F0BF-43FC-9792-2755862624C2}"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869C39D1-1167-451C-8830-DF76C5924433}"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EA177AB5-D7FA-4A0B-B7FA-4497F5A3EF93}"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mit Bild">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A">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B">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692D339E-FBBA-4DD9-BB3A-9DACAD0A3AE2}"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15"/>
          </p:nvPr>
        </p:nvSpPr>
        <p:spPr/>
        <p:txBody>
          <a:bodyPr/>
          <a:p>
            <a:r>
              <a:t>Footer</a:t>
            </a:r>
          </a:p>
        </p:txBody>
      </p:sp>
      <p:sp>
        <p:nvSpPr>
          <p:cNvPr id="4" name="PlaceHolder 3"/>
          <p:cNvSpPr>
            <a:spLocks noGrp="1"/>
          </p:cNvSpPr>
          <p:nvPr>
            <p:ph type="sldNum" idx="16"/>
          </p:nvPr>
        </p:nvSpPr>
        <p:spPr/>
        <p:txBody>
          <a:bodyPr/>
          <a:p>
            <a:fld id="{3F31CBF3-C154-4D5E-BD54-38DEE071A1C2}"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98094974-0411-46FB-BF68-EFB40E5CCA75}"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670420D1-C48D-4A9B-A9D6-7598FDB17E52}"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9E9258C-3B28-4D30-9485-73B29912C968}"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21"/>
          </p:nvPr>
        </p:nvSpPr>
        <p:spPr/>
        <p:txBody>
          <a:bodyPr/>
          <a:p>
            <a:r>
              <a:t>Footer</a:t>
            </a:r>
          </a:p>
        </p:txBody>
      </p:sp>
      <p:sp>
        <p:nvSpPr>
          <p:cNvPr id="5" name="PlaceHolder 4"/>
          <p:cNvSpPr>
            <a:spLocks noGrp="1"/>
          </p:cNvSpPr>
          <p:nvPr>
            <p:ph type="sldNum" idx="22"/>
          </p:nvPr>
        </p:nvSpPr>
        <p:spPr/>
        <p:txBody>
          <a:bodyPr/>
          <a:p>
            <a:fld id="{2F174A87-821B-4AB2-B25F-2AC3D9B888F2}"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F594CAC8-2576-4907-8D32-096ED2CBEEA3}"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62440" y="2187000"/>
            <a:ext cx="6662520" cy="200376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1" name="PlaceHolder 2"/>
          <p:cNvSpPr>
            <a:spLocks noGrp="1"/>
          </p:cNvSpPr>
          <p:nvPr>
            <p:ph type="body"/>
          </p:nvPr>
        </p:nvSpPr>
        <p:spPr>
          <a:xfrm>
            <a:off x="4762440" y="5524560"/>
            <a:ext cx="66625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4" name="PlaceHolder 2"/>
          <p:cNvSpPr>
            <a:spLocks noGrp="1"/>
          </p:cNvSpPr>
          <p:nvPr>
            <p:ph type="body"/>
          </p:nvPr>
        </p:nvSpPr>
        <p:spPr>
          <a:xfrm>
            <a:off x="7551360" y="333360"/>
            <a:ext cx="4305240" cy="58320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5" name="PlaceHolder 3"/>
          <p:cNvSpPr>
            <a:spLocks noGrp="1"/>
          </p:cNvSpPr>
          <p:nvPr>
            <p:ph type="body"/>
          </p:nvPr>
        </p:nvSpPr>
        <p:spPr>
          <a:xfrm>
            <a:off x="766800" y="1665360"/>
            <a:ext cx="6228000" cy="450036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 name="PlaceHolder 4"/>
          <p:cNvSpPr>
            <a:spLocks noGrp="1"/>
          </p:cNvSpPr>
          <p:nvPr>
            <p:ph type="ftr" idx="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 name="PlaceHolder 5">
            <a:extLst>
              <a:ext uri="{C183D7F6-B498-43B3-948B-1728B52AA6E4}">
                <adec:decorative xmlns:adec="http://schemas.microsoft.com/office/drawing/2017/decorative" val="1"/>
              </a:ext>
            </a:extLst>
          </p:cNvPr>
          <p:cNvSpPr>
            <a:spLocks noGrp="1"/>
          </p:cNvSpPr>
          <p:nvPr>
            <p:ph type="sldNum" idx="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9B43461D-59DC-44DB-9206-D820980CDC30}"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 name="PlaceHolder 6"/>
          <p:cNvSpPr>
            <a:spLocks noGrp="1"/>
          </p:cNvSpPr>
          <p:nvPr>
            <p:ph type="body"/>
          </p:nvPr>
        </p:nvSpPr>
        <p:spPr>
          <a:xfrm rot="16200000">
            <a:off x="87746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9" name="PlaceHolder 7"/>
          <p:cNvSpPr>
            <a:spLocks noGrp="1"/>
          </p:cNvSpPr>
          <p:nvPr>
            <p:ph type="body"/>
          </p:nvPr>
        </p:nvSpPr>
        <p:spPr>
          <a:xfrm rot="16200000">
            <a:off x="4577400" y="3748320"/>
            <a:ext cx="450036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rIns="0" tIns="0" bIns="0" anchor="t">
            <a:noAutofit/>
          </a:bodyPr>
          <a:p>
            <a:pPr indent="0" defTabSz="914400">
              <a:lnSpc>
                <a:spcPct val="110000"/>
              </a:lnSpc>
              <a:buNone/>
              <a:tabLst>
                <a:tab algn="l" pos="0"/>
              </a:tabLst>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6D241B5B-851B-4AD3-812F-C13EC0CD51A4}"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100" spc="-1" strike="noStrike">
                <a:solidFill>
                  <a:schemeClr val="dk1"/>
                </a:solidFill>
                <a:latin typeface="Noto Sans"/>
              </a:rPr>
              <a:t>Mastertextformat bearbeiten</a:t>
            </a:r>
            <a:endParaRPr b="0" lang="de-DE" sz="11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100" spc="-1" strike="noStrike">
                <a:solidFill>
                  <a:schemeClr val="dk1"/>
                </a:solidFill>
                <a:latin typeface="Noto Sans"/>
              </a:rPr>
              <a:t>Zweite Ebene</a:t>
            </a:r>
            <a:endParaRPr b="0" lang="de-DE" sz="11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100" spc="-1" strike="noStrike">
                <a:solidFill>
                  <a:schemeClr val="dk1"/>
                </a:solidFill>
                <a:latin typeface="Noto Sans"/>
              </a:rPr>
              <a:t>Dritte Ebene</a:t>
            </a:r>
            <a:endParaRPr b="0" lang="de-DE" sz="11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100" spc="-1" strike="noStrike">
                <a:solidFill>
                  <a:schemeClr val="dk1"/>
                </a:solidFill>
                <a:latin typeface="Noto Sans"/>
              </a:rPr>
              <a:t>Vierte Ebene</a:t>
            </a:r>
            <a:endParaRPr b="0" lang="de-DE" sz="11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100" spc="-1" strike="noStrike">
                <a:solidFill>
                  <a:schemeClr val="dk1"/>
                </a:solidFill>
                <a:latin typeface="Noto Sans"/>
              </a:rPr>
              <a:t>Fünfte Ebene</a:t>
            </a:r>
            <a:endParaRPr b="0" lang="de-DE" sz="1100" spc="-1" strike="noStrike">
              <a:solidFill>
                <a:schemeClr val="dk1"/>
              </a:solidFill>
              <a:latin typeface="Noto Sans"/>
            </a:endParaRP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E7671485-FED9-4249-9CFA-88B1A9BC16BC}"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54D98B24-252F-43BD-A144-C4524231F20A}"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55C0FA1A-52AA-4E8D-8613-FB6CCFA54254}"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pc="-1" strike="noStrike">
                <a:solidFill>
                  <a:schemeClr val="dk1"/>
                </a:solidFill>
                <a:latin typeface="Noto Sans"/>
              </a:rPr>
              <a:t>Click to edit the title text format</a:t>
            </a: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86E479CB-B3FB-4E27-9866-4245100B490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ffffff"/>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rIns="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rIns="0" tIns="1944000" bIns="0" anchor="t">
            <a:noAutofit/>
          </a:bodyPr>
          <a:p>
            <a:pPr indent="0" defTabSz="914400">
              <a:lnSpc>
                <a:spcPct val="100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accent1"/>
                </a:solidFill>
                <a:latin typeface="Noto Sans"/>
              </a:rPr>
              <a:t>Mastertextformat bearbeiten</a:t>
            </a:r>
            <a:endParaRPr b="0" lang="de-DE" sz="1200" spc="-1" strike="noStrike">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358920" indent="-358920" defTabSz="914400">
              <a:lnSpc>
                <a:spcPct val="120000"/>
              </a:lnSpc>
              <a:buClr>
                <a:srgbClr val="000000"/>
              </a:buClr>
              <a:buFont typeface="Noto Sans"/>
              <a:buAutoNum type="arabicPeriod"/>
            </a:pPr>
            <a:r>
              <a:rPr b="0" lang="de-DE" sz="2000" spc="-1" strike="noStrike">
                <a:solidFill>
                  <a:schemeClr val="dk1"/>
                </a:solidFill>
                <a:latin typeface="Noto Sans"/>
              </a:rPr>
              <a:t>Mastertextformat bearbeiten</a:t>
            </a:r>
            <a:endParaRPr b="0" lang="de-DE" sz="2000" spc="-1" strike="noStrike">
              <a:solidFill>
                <a:schemeClr val="dk1"/>
              </a:solidFill>
              <a:latin typeface="Noto Sans"/>
            </a:endParaRPr>
          </a:p>
          <a:p>
            <a:pPr lvl="1" marL="541440" indent="-182520" defTabSz="914400">
              <a:lnSpc>
                <a:spcPct val="120000"/>
              </a:lnSpc>
              <a:buClr>
                <a:srgbClr val="000000"/>
              </a:buClr>
              <a:buFont typeface="Noto Sans"/>
              <a:buChar char="‒"/>
            </a:pPr>
            <a:r>
              <a:rPr b="0" lang="de-DE" sz="2000" spc="-1" strike="noStrike">
                <a:solidFill>
                  <a:schemeClr val="dk1"/>
                </a:solidFill>
                <a:latin typeface="Noto Sans"/>
              </a:rPr>
              <a:t>Zweite Ebene</a:t>
            </a:r>
            <a:endParaRPr b="0" lang="de-DE" sz="2000" spc="-1" strike="noStrike">
              <a:solidFill>
                <a:schemeClr val="dk1"/>
              </a:solidFill>
              <a:latin typeface="Noto Sans"/>
            </a:endParaRPr>
          </a:p>
          <a:p>
            <a:pPr lvl="2" marL="716040" indent="-174600" defTabSz="914400">
              <a:lnSpc>
                <a:spcPct val="120000"/>
              </a:lnSpc>
              <a:buClr>
                <a:srgbClr val="000000"/>
              </a:buClr>
              <a:buFont typeface="Noto Sans"/>
              <a:buChar char="‒"/>
            </a:pPr>
            <a:r>
              <a:rPr b="0" lang="de-DE" sz="2000" spc="-1" strike="noStrike">
                <a:solidFill>
                  <a:schemeClr val="dk1"/>
                </a:solidFill>
                <a:latin typeface="Noto Sans"/>
              </a:rPr>
              <a:t>Dritte Ebene</a:t>
            </a:r>
            <a:endParaRPr b="0" lang="de-DE" sz="2000" spc="-1" strike="noStrike">
              <a:solidFill>
                <a:schemeClr val="dk1"/>
              </a:solidFill>
              <a:latin typeface="Noto Sans"/>
            </a:endParaRPr>
          </a:p>
          <a:p>
            <a:pPr lvl="3" marL="898560" indent="-181080" defTabSz="914400">
              <a:lnSpc>
                <a:spcPct val="120000"/>
              </a:lnSpc>
              <a:buClr>
                <a:srgbClr val="000000"/>
              </a:buClr>
              <a:buFont typeface="Noto Sans"/>
              <a:buChar char="‒"/>
            </a:pPr>
            <a:r>
              <a:rPr b="0" lang="de-DE" sz="2000" spc="-1" strike="noStrike">
                <a:solidFill>
                  <a:schemeClr val="dk1"/>
                </a:solidFill>
                <a:latin typeface="Noto Sans"/>
              </a:rPr>
              <a:t>Vierte Ebene</a:t>
            </a:r>
            <a:endParaRPr b="0" lang="de-DE" sz="2000" spc="-1" strike="noStrike">
              <a:solidFill>
                <a:schemeClr val="dk1"/>
              </a:solidFill>
              <a:latin typeface="Noto Sans"/>
            </a:endParaRPr>
          </a:p>
          <a:p>
            <a:pPr lvl="4" marL="1074600" indent="-176040" defTabSz="914400">
              <a:lnSpc>
                <a:spcPct val="120000"/>
              </a:lnSpc>
              <a:buClr>
                <a:srgbClr val="000000"/>
              </a:buClr>
              <a:buFont typeface="Noto Sans"/>
              <a:buChar char="‒"/>
            </a:pPr>
            <a:r>
              <a:rPr b="0" lang="de-DE" sz="2000" spc="-1" strike="noStrike">
                <a:solidFill>
                  <a:schemeClr val="dk1"/>
                </a:solidFill>
                <a:latin typeface="Noto Sans"/>
              </a:rPr>
              <a:t>Fünfte Ebene</a:t>
            </a:r>
            <a:endParaRPr b="0" lang="de-DE" sz="2000" spc="-1" strike="noStrike">
              <a:solidFill>
                <a:schemeClr val="dk1"/>
              </a:solidFill>
              <a:latin typeface="Noto Sans"/>
            </a:endParaRP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6D6E017F-50C4-458C-8F69-FE3B7EEE3B6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lt1"/>
                </a:solidFill>
                <a:latin typeface="Noto Sans"/>
              </a:rPr>
              <a:t>Mastertitelformat bearbeiten</a:t>
            </a:r>
            <a:endParaRPr b="0" lang="de-DE" sz="3600" spc="-1" strike="noStrike">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lt1"/>
                </a:solidFill>
                <a:latin typeface="Noto Sans"/>
              </a:defRPr>
            </a:lvl1pPr>
          </a:lstStyle>
          <a:p>
            <a:pPr indent="0" defTabSz="914400">
              <a:lnSpc>
                <a:spcPct val="100000"/>
              </a:lnSpc>
              <a:buNone/>
            </a:pPr>
            <a:r>
              <a:rPr b="0" lang="de-DE" sz="800" spc="-1" strike="noStrike">
                <a:solidFill>
                  <a:schemeClr val="lt1"/>
                </a:solidFill>
                <a:latin typeface="Noto Sans"/>
              </a:rPr>
              <a:t>&lt;footer&gt;</a:t>
            </a:r>
            <a:endParaRPr b="0" lang="en-US" sz="800" spc="-1" strike="noStrike">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1F781B2C-AE1D-4B7C-BC15-6EA7334CB825}" type="slidenum">
              <a:rPr b="0" lang="de-DE" sz="800" spc="-1" strike="noStrike">
                <a:solidFill>
                  <a:schemeClr val="lt1"/>
                </a:solidFill>
                <a:latin typeface="Noto Sans"/>
              </a:rPr>
              <a:t>&lt;number&gt;</a:t>
            </a:fld>
            <a:endParaRPr b="0" lang="en-US" sz="800" spc="-1" strike="noStrike">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8E76E01A-C116-4646-A631-3F1C4CCF7FB1}" type="slidenum">
              <a:rPr b="0" lang="de-DE" sz="800" spc="-1" strike="noStrike">
                <a:solidFill>
                  <a:schemeClr val="lt1"/>
                </a:solidFill>
                <a:latin typeface="Noto Sans"/>
              </a:rPr>
              <a:t>&lt;number&gt;</a:t>
            </a:fld>
            <a:endParaRPr b="0" lang="en-US" sz="800" spc="-1" strike="noStrike">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49315038-D9E7-4BAB-B267-B10DA9024180}"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6613B462-F4CF-409B-B874-822F4B1F45B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D99616A0-C965-4049-B36A-A43DD2ECCA95}"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6.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16.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6.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16.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16.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6.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hyperlink" Target="https://geomoer.github.io/moer-bsc-geodaten/unit12/unit12-00_overview.html" TargetMode="External"/><Relationship Id="rId2" Type="http://schemas.openxmlformats.org/officeDocument/2006/relationships/hyperlink" Target="https://geomoer.github.io/moer-bsc-geodaten/unit12/unit12-01_vektordaten.html" TargetMode="External"/><Relationship Id="rId3" Type="http://schemas.openxmlformats.org/officeDocument/2006/relationships/hyperlink" Target="https://geomoer.github.io/moer-bsc-geodaten/unit12/unit12-02_geoportale.html" TargetMode="External"/><Relationship Id="rId4" Type="http://schemas.openxmlformats.org/officeDocument/2006/relationships/hyperlink" Target="https://geomoer.github.io/moer-bsc-geodaten/unit12/unit12-03_vektoren_qgis.html" TargetMode="External"/><Relationship Id="rId5" Type="http://schemas.openxmlformats.org/officeDocument/2006/relationships/hyperlink" Target="https://docs.qgis.org/3.40/en/docs/user_manual/" TargetMode="External"/><Relationship Id="rId6" Type="http://schemas.openxmlformats.org/officeDocument/2006/relationships/hyperlink" Target="https://www.hlnug.de/themen/geografische-informationssysteme/geodienste/naturschutz" TargetMode="External"/><Relationship Id="rId7" Type="http://schemas.openxmlformats.org/officeDocument/2006/relationships/hyperlink" Target="https://www.hlnug.de/themen/geografische-informationssysteme/geodienste/wasser" TargetMode="External"/><Relationship Id="rId8" Type="http://schemas.openxmlformats.org/officeDocument/2006/relationships/slideLayout" Target="../slideLayouts/slideLayout16.xml"/><Relationship Id="rId9"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35160" y="2666880"/>
            <a:ext cx="4107240" cy="1407240"/>
          </a:xfrm>
          <a:prstGeom prst="rect">
            <a:avLst/>
          </a:prstGeom>
          <a:ln w="0">
            <a:noFill/>
          </a:ln>
        </p:spPr>
      </p:pic>
      <p:sp>
        <p:nvSpPr>
          <p:cNvPr id="92" name=""/>
          <p:cNvSpPr txBox="1"/>
          <p:nvPr/>
        </p:nvSpPr>
        <p:spPr>
          <a:xfrm>
            <a:off x="4762440" y="2171880"/>
            <a:ext cx="6477120" cy="2286000"/>
          </a:xfrm>
          <a:prstGeom prst="rect">
            <a:avLst/>
          </a:prstGeom>
          <a:noFill/>
          <a:ln w="0">
            <a:noFill/>
          </a:ln>
        </p:spPr>
        <p:txBody>
          <a:bodyPr lIns="0" rIns="0" tIns="0" bIns="0" anchor="t">
            <a:noAutofit/>
          </a:bodyPr>
          <a:p>
            <a:r>
              <a:rPr b="0" lang="en-US" sz="4140" spc="-1" strike="noStrike">
                <a:solidFill>
                  <a:srgbClr val="ffffff"/>
                </a:solidFill>
                <a:latin typeface="Noto Sans"/>
              </a:rPr>
              <a:t>Linien, Polygone und</a:t>
            </a:r>
            <a:endParaRPr b="0" lang="en-US" sz="4140" spc="-1" strike="noStrike">
              <a:solidFill>
                <a:srgbClr val="ffffff"/>
              </a:solidFill>
              <a:latin typeface="Arial"/>
            </a:endParaRPr>
          </a:p>
          <a:p>
            <a:r>
              <a:rPr b="0" lang="en-US" sz="4140" spc="-1" strike="noStrike">
                <a:solidFill>
                  <a:srgbClr val="ffffff"/>
                </a:solidFill>
                <a:latin typeface="Noto Sans"/>
              </a:rPr>
              <a:t>räumliche Auswahl</a:t>
            </a:r>
            <a:endParaRPr b="0" lang="en-US" sz="4140" spc="-1" strike="noStrike">
              <a:solidFill>
                <a:srgbClr val="ffffff"/>
              </a:solidFill>
              <a:latin typeface="Arial"/>
            </a:endParaRPr>
          </a:p>
        </p:txBody>
      </p:sp>
      <p:sp>
        <p:nvSpPr>
          <p:cNvPr id="93" name=""/>
          <p:cNvSpPr txBox="1"/>
          <p:nvPr/>
        </p:nvSpPr>
        <p:spPr>
          <a:xfrm>
            <a:off x="4762440" y="4678560"/>
            <a:ext cx="6400800" cy="533520"/>
          </a:xfrm>
          <a:prstGeom prst="rect">
            <a:avLst/>
          </a:prstGeom>
          <a:noFill/>
          <a:ln w="0">
            <a:noFill/>
          </a:ln>
        </p:spPr>
        <p:txBody>
          <a:bodyPr lIns="0" rIns="0" tIns="0" bIns="0" anchor="t">
            <a:noAutofit/>
          </a:bodyPr>
          <a:p>
            <a:r>
              <a:rPr b="0" lang="en-US" sz="2630" spc="-1" strike="noStrike">
                <a:solidFill>
                  <a:srgbClr val="ffffff"/>
                </a:solidFill>
                <a:latin typeface="Noto Sans"/>
              </a:rPr>
              <a:t>Unit 12</a:t>
            </a:r>
            <a:endParaRPr b="0" lang="en-US" sz="2630" spc="-1" strike="noStrike">
              <a:solidFill>
                <a:srgbClr val="ffffff"/>
              </a:solidFill>
              <a:latin typeface="Arial"/>
            </a:endParaRPr>
          </a:p>
        </p:txBody>
      </p:sp>
      <p:sp>
        <p:nvSpPr>
          <p:cNvPr id="94" name=""/>
          <p:cNvSpPr txBox="1"/>
          <p:nvPr/>
        </p:nvSpPr>
        <p:spPr>
          <a:xfrm>
            <a:off x="4762440" y="5669280"/>
            <a:ext cx="6400800" cy="762120"/>
          </a:xfrm>
          <a:prstGeom prst="rect">
            <a:avLst/>
          </a:prstGeom>
          <a:noFill/>
          <a:ln w="0">
            <a:noFill/>
          </a:ln>
        </p:spPr>
        <p:txBody>
          <a:bodyPr lIns="0" rIns="0" tIns="0" bIns="0" anchor="t">
            <a:noAutofit/>
          </a:bodyPr>
          <a:p>
            <a:r>
              <a:rPr b="0" lang="en-US" sz="1790" spc="-1" strike="noStrike">
                <a:solidFill>
                  <a:srgbClr val="ffffff"/>
                </a:solidFill>
                <a:latin typeface="Noto Sans"/>
              </a:rPr>
              <a:t>Fachbereich 19 · Geographie</a:t>
            </a:r>
            <a:endParaRPr b="0" lang="en-US" sz="1790" spc="-1" strike="noStrike">
              <a:solidFill>
                <a:srgbClr val="ffffff"/>
              </a:solidFill>
              <a:latin typeface="Arial"/>
            </a:endParaRPr>
          </a:p>
          <a:p>
            <a:r>
              <a:rPr b="0" lang="en-US" sz="1790" spc="-1" strike="noStrike">
                <a:solidFill>
                  <a:srgbClr val="ffffff"/>
                </a:solidFill>
                <a:latin typeface="Noto Sans"/>
              </a:rPr>
              <a:t>Philipps-Universität Marburg</a:t>
            </a:r>
            <a:endParaRPr b="0" lang="en-US" sz="17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JiTT · Rückblick auf Unit 11</a:t>
            </a:r>
            <a:endParaRPr b="0" lang="en-US" sz="3190" spc="-1" strike="noStrike">
              <a:solidFill>
                <a:srgbClr val="000000"/>
              </a:solidFill>
              <a:latin typeface="Arial"/>
            </a:endParaRPr>
          </a:p>
        </p:txBody>
      </p:sp>
      <p:sp>
        <p:nvSpPr>
          <p:cNvPr id="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PLATZHALTER · VOLLSTÄNDIG AUSTAUSCHBAR</a:t>
            </a:r>
            <a:endParaRPr b="0" lang="en-US" sz="1130" spc="-1" strike="noStrike">
              <a:solidFill>
                <a:srgbClr val="000000"/>
              </a:solidFill>
              <a:latin typeface="Arial"/>
            </a:endParaRPr>
          </a:p>
        </p:txBody>
      </p:sp>
      <p:sp>
        <p:nvSpPr>
          <p:cNvPr id="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a:t>
            </a:r>
            <a:endParaRPr b="0" lang="en-US" sz="939" spc="-1" strike="noStrike">
              <a:solidFill>
                <a:srgbClr val="000000"/>
              </a:solidFill>
              <a:latin typeface="Arial"/>
            </a:endParaRPr>
          </a:p>
        </p:txBody>
      </p:sp>
      <p:sp>
        <p:nvSpPr>
          <p:cNvPr id="99" name="JiTT – vollständigen Block ersetzen"/>
          <p:cNvSpPr/>
          <p:nvPr/>
        </p:nvSpPr>
        <p:spPr>
          <a:xfrm>
            <a:off x="762120" y="1806120"/>
            <a:ext cx="10668240" cy="4152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00" name=""/>
          <p:cNvSpPr txBox="1"/>
          <p:nvPr/>
        </p:nvSpPr>
        <p:spPr>
          <a:xfrm>
            <a:off x="1371600" y="3276720"/>
            <a:ext cx="9448920" cy="990720"/>
          </a:xfrm>
          <a:prstGeom prst="rect">
            <a:avLst/>
          </a:prstGeom>
          <a:noFill/>
          <a:ln w="0">
            <a:noFill/>
          </a:ln>
        </p:spPr>
        <p:txBody>
          <a:bodyPr lIns="0" rIns="0" tIns="0" bIns="0" anchor="t">
            <a:noAutofit/>
          </a:bodyPr>
          <a:p>
            <a:pPr algn="ctr"/>
            <a:r>
              <a:rPr b="0" lang="en-US" sz="3570" spc="-1" strike="noStrike">
                <a:solidFill>
                  <a:srgbClr val="004899"/>
                </a:solidFill>
                <a:latin typeface="Noto Sans"/>
              </a:rPr>
              <a:t>[Hier den vollständigen</a:t>
            </a:r>
            <a:endParaRPr b="0" lang="en-US" sz="3570" spc="-1" strike="noStrike">
              <a:solidFill>
                <a:srgbClr val="000000"/>
              </a:solidFill>
              <a:latin typeface="Arial"/>
            </a:endParaRPr>
          </a:p>
          <a:p>
            <a:pPr algn="ctr"/>
            <a:r>
              <a:rPr b="0" lang="en-US" sz="3570" spc="-1" strike="noStrike">
                <a:solidFill>
                  <a:srgbClr val="004899"/>
                </a:solidFill>
                <a:latin typeface="Noto Sans"/>
              </a:rPr>
              <a:t>JiTT-Block einfügen]</a:t>
            </a:r>
            <a:endParaRPr b="0" lang="en-US" sz="35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Drei Geometrien gemeinsam auswerten</a:t>
            </a:r>
            <a:endParaRPr b="0" lang="en-US" sz="3190" spc="-1" strike="noStrike">
              <a:solidFill>
                <a:srgbClr val="000000"/>
              </a:solidFill>
              <a:latin typeface="Arial"/>
            </a:endParaRPr>
          </a:p>
        </p:txBody>
      </p:sp>
      <p:sp>
        <p:nvSpPr>
          <p:cNvPr id="1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UNIT 12 · ORIENTIERUNG</a:t>
            </a:r>
            <a:endParaRPr b="0" lang="en-US" sz="1130" spc="-1" strike="noStrike">
              <a:solidFill>
                <a:srgbClr val="000000"/>
              </a:solidFill>
              <a:latin typeface="Arial"/>
            </a:endParaRPr>
          </a:p>
        </p:txBody>
      </p:sp>
      <p:sp>
        <p:nvSpPr>
          <p:cNvPr id="1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1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a:t>
            </a:r>
            <a:endParaRPr b="0" lang="en-US" sz="939" spc="-1" strike="noStrike">
              <a:solidFill>
                <a:srgbClr val="000000"/>
              </a:solidFill>
              <a:latin typeface="Arial"/>
            </a:endParaRPr>
          </a:p>
        </p:txBody>
      </p:sp>
      <p:pic>
        <p:nvPicPr>
          <p:cNvPr id="105" name="" descr=""/>
          <p:cNvPicPr/>
          <p:nvPr/>
        </p:nvPicPr>
        <p:blipFill>
          <a:blip r:embed="rId1"/>
          <a:stretch/>
        </p:blipFill>
        <p:spPr>
          <a:xfrm>
            <a:off x="647640" y="1714680"/>
            <a:ext cx="10896840" cy="1816200"/>
          </a:xfrm>
          <a:prstGeom prst="rect">
            <a:avLst/>
          </a:prstGeom>
          <a:ln w="0">
            <a:noFill/>
          </a:ln>
        </p:spPr>
      </p:pic>
      <p:sp>
        <p:nvSpPr>
          <p:cNvPr id="106" name=""/>
          <p:cNvSpPr/>
          <p:nvPr/>
        </p:nvSpPr>
        <p:spPr>
          <a:xfrm>
            <a:off x="64764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07" name=""/>
          <p:cNvSpPr/>
          <p:nvPr/>
        </p:nvSpPr>
        <p:spPr>
          <a:xfrm>
            <a:off x="64764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08" name=""/>
          <p:cNvSpPr txBox="1"/>
          <p:nvPr/>
        </p:nvSpPr>
        <p:spPr>
          <a:xfrm>
            <a:off x="85356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Geometrie lesen</a:t>
            </a:r>
            <a:endParaRPr b="0" lang="en-US" sz="2540" spc="-1" strike="noStrike">
              <a:solidFill>
                <a:srgbClr val="000000"/>
              </a:solidFill>
              <a:latin typeface="Arial"/>
            </a:endParaRPr>
          </a:p>
        </p:txBody>
      </p:sp>
      <p:sp>
        <p:nvSpPr>
          <p:cNvPr id="109" name=""/>
          <p:cNvSpPr txBox="1"/>
          <p:nvPr/>
        </p:nvSpPr>
        <p:spPr>
          <a:xfrm>
            <a:off x="85356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Punkt, Linie und</a:t>
            </a:r>
            <a:endParaRPr b="0" lang="en-US" sz="2070" spc="-1" strike="noStrike">
              <a:solidFill>
                <a:srgbClr val="000000"/>
              </a:solidFill>
              <a:latin typeface="Arial"/>
            </a:endParaRPr>
          </a:p>
          <a:p>
            <a:r>
              <a:rPr b="0" lang="en-US" sz="2070" spc="-1" strike="noStrike">
                <a:solidFill>
                  <a:srgbClr val="000000"/>
                </a:solidFill>
                <a:latin typeface="Noto Sans"/>
              </a:rPr>
              <a:t>Polygon unterscheiden</a:t>
            </a:r>
            <a:endParaRPr b="0" lang="en-US" sz="2070" spc="-1" strike="noStrike">
              <a:solidFill>
                <a:srgbClr val="000000"/>
              </a:solidFill>
              <a:latin typeface="Arial"/>
            </a:endParaRPr>
          </a:p>
        </p:txBody>
      </p:sp>
      <p:sp>
        <p:nvSpPr>
          <p:cNvPr id="110" name=""/>
          <p:cNvSpPr/>
          <p:nvPr/>
        </p:nvSpPr>
        <p:spPr>
          <a:xfrm>
            <a:off x="434340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1" name=""/>
          <p:cNvSpPr/>
          <p:nvPr/>
        </p:nvSpPr>
        <p:spPr>
          <a:xfrm>
            <a:off x="434340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2" name=""/>
          <p:cNvSpPr txBox="1"/>
          <p:nvPr/>
        </p:nvSpPr>
        <p:spPr>
          <a:xfrm>
            <a:off x="454932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Auswahl planen</a:t>
            </a:r>
            <a:endParaRPr b="0" lang="en-US" sz="2540" spc="-1" strike="noStrike">
              <a:solidFill>
                <a:srgbClr val="000000"/>
              </a:solidFill>
              <a:latin typeface="Arial"/>
            </a:endParaRPr>
          </a:p>
        </p:txBody>
      </p:sp>
      <p:sp>
        <p:nvSpPr>
          <p:cNvPr id="113" name=""/>
          <p:cNvSpPr txBox="1"/>
          <p:nvPr/>
        </p:nvSpPr>
        <p:spPr>
          <a:xfrm>
            <a:off x="454932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Attribut und</a:t>
            </a:r>
            <a:endParaRPr b="0" lang="en-US" sz="2070" spc="-1" strike="noStrike">
              <a:solidFill>
                <a:srgbClr val="000000"/>
              </a:solidFill>
              <a:latin typeface="Arial"/>
            </a:endParaRPr>
          </a:p>
          <a:p>
            <a:r>
              <a:rPr b="0" lang="en-US" sz="2070" spc="-1" strike="noStrike">
                <a:solidFill>
                  <a:srgbClr val="000000"/>
                </a:solidFill>
                <a:latin typeface="Noto Sans"/>
              </a:rPr>
              <a:t>Lagebeziehung einsetzen</a:t>
            </a:r>
            <a:endParaRPr b="0" lang="en-US" sz="2070" spc="-1" strike="noStrike">
              <a:solidFill>
                <a:srgbClr val="000000"/>
              </a:solidFill>
              <a:latin typeface="Arial"/>
            </a:endParaRPr>
          </a:p>
        </p:txBody>
      </p:sp>
      <p:sp>
        <p:nvSpPr>
          <p:cNvPr id="114" name=""/>
          <p:cNvSpPr/>
          <p:nvPr/>
        </p:nvSpPr>
        <p:spPr>
          <a:xfrm>
            <a:off x="803916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5" name=""/>
          <p:cNvSpPr/>
          <p:nvPr/>
        </p:nvSpPr>
        <p:spPr>
          <a:xfrm>
            <a:off x="803916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6" name=""/>
          <p:cNvSpPr txBox="1"/>
          <p:nvPr/>
        </p:nvSpPr>
        <p:spPr>
          <a:xfrm>
            <a:off x="824508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Ergebnis sichern</a:t>
            </a:r>
            <a:endParaRPr b="0" lang="en-US" sz="2540" spc="-1" strike="noStrike">
              <a:solidFill>
                <a:srgbClr val="000000"/>
              </a:solidFill>
              <a:latin typeface="Arial"/>
            </a:endParaRPr>
          </a:p>
        </p:txBody>
      </p:sp>
      <p:sp>
        <p:nvSpPr>
          <p:cNvPr id="117" name=""/>
          <p:cNvSpPr txBox="1"/>
          <p:nvPr/>
        </p:nvSpPr>
        <p:spPr>
          <a:xfrm>
            <a:off x="824508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10 · 4 · 106 prüfen</a:t>
            </a:r>
            <a:endParaRPr b="0" lang="en-US" sz="2070" spc="-1" strike="noStrike">
              <a:solidFill>
                <a:srgbClr val="000000"/>
              </a:solidFill>
              <a:latin typeface="Arial"/>
            </a:endParaRPr>
          </a:p>
          <a:p>
            <a:r>
              <a:rPr b="0" lang="en-US" sz="2070" spc="-1" strike="noStrike">
                <a:solidFill>
                  <a:srgbClr val="000000"/>
                </a:solidFill>
                <a:latin typeface="Noto Sans"/>
              </a:rPr>
              <a:t>und dokumentieren</a:t>
            </a:r>
            <a:endParaRPr b="0" lang="en-US" sz="2070" spc="-1" strike="noStrike">
              <a:solidFill>
                <a:srgbClr val="000000"/>
              </a:solidFill>
              <a:latin typeface="Arial"/>
            </a:endParaRPr>
          </a:p>
        </p:txBody>
      </p:sp>
      <p:sp>
        <p:nvSpPr>
          <p:cNvPr id="11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9"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Leitfrage: Welche Nachweise und Gewässer schneiden ausgewählte Schutzgebiete?</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Punkt, Linie und Polygon</a:t>
            </a:r>
            <a:endParaRPr b="0" lang="en-US" sz="3190" spc="-1" strike="noStrike">
              <a:solidFill>
                <a:srgbClr val="000000"/>
              </a:solidFill>
              <a:latin typeface="Arial"/>
            </a:endParaRPr>
          </a:p>
        </p:txBody>
      </p:sp>
      <p:sp>
        <p:nvSpPr>
          <p:cNvPr id="12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VEKTORMODELL · GRUNDTYPEN</a:t>
            </a:r>
            <a:endParaRPr b="0" lang="en-US" sz="1130" spc="-1" strike="noStrike">
              <a:solidFill>
                <a:srgbClr val="000000"/>
              </a:solidFill>
              <a:latin typeface="Arial"/>
            </a:endParaRPr>
          </a:p>
        </p:txBody>
      </p:sp>
      <p:sp>
        <p:nvSpPr>
          <p:cNvPr id="12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12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4</a:t>
            </a:r>
            <a:endParaRPr b="0" lang="en-US" sz="939" spc="-1" strike="noStrike">
              <a:solidFill>
                <a:srgbClr val="000000"/>
              </a:solidFill>
              <a:latin typeface="Arial"/>
            </a:endParaRPr>
          </a:p>
        </p:txBody>
      </p:sp>
      <p:sp>
        <p:nvSpPr>
          <p:cNvPr id="124" name=""/>
          <p:cNvSpPr/>
          <p:nvPr/>
        </p:nvSpPr>
        <p:spPr>
          <a:xfrm>
            <a:off x="647640" y="2057400"/>
            <a:ext cx="3505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5" name=""/>
          <p:cNvSpPr/>
          <p:nvPr/>
        </p:nvSpPr>
        <p:spPr>
          <a:xfrm>
            <a:off x="647640" y="205740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6" name=""/>
          <p:cNvSpPr txBox="1"/>
          <p:nvPr/>
        </p:nvSpPr>
        <p:spPr>
          <a:xfrm>
            <a:off x="853560" y="224028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Punkt</a:t>
            </a:r>
            <a:endParaRPr b="0" lang="en-US" sz="2540" spc="-1" strike="noStrike">
              <a:solidFill>
                <a:srgbClr val="000000"/>
              </a:solidFill>
              <a:latin typeface="Arial"/>
            </a:endParaRPr>
          </a:p>
        </p:txBody>
      </p:sp>
      <p:sp>
        <p:nvSpPr>
          <p:cNvPr id="127" name=""/>
          <p:cNvSpPr txBox="1"/>
          <p:nvPr/>
        </p:nvSpPr>
        <p:spPr>
          <a:xfrm>
            <a:off x="853560" y="3002400"/>
            <a:ext cx="3093840" cy="1203840"/>
          </a:xfrm>
          <a:prstGeom prst="rect">
            <a:avLst/>
          </a:prstGeom>
          <a:noFill/>
          <a:ln w="0">
            <a:noFill/>
          </a:ln>
        </p:spPr>
        <p:txBody>
          <a:bodyPr lIns="0" rIns="0" tIns="0" bIns="0" anchor="t">
            <a:noAutofit/>
          </a:bodyPr>
          <a:p>
            <a:r>
              <a:rPr b="0" lang="en-US" sz="2350" spc="-1" strike="noStrike">
                <a:solidFill>
                  <a:srgbClr val="000000"/>
                </a:solidFill>
                <a:latin typeface="Noto Sans"/>
              </a:rPr>
              <a:t>Position</a:t>
            </a:r>
            <a:endParaRPr b="0" lang="en-US" sz="2350" spc="-1" strike="noStrike">
              <a:solidFill>
                <a:srgbClr val="000000"/>
              </a:solidFill>
              <a:latin typeface="Arial"/>
            </a:endParaRPr>
          </a:p>
          <a:p>
            <a:r>
              <a:rPr b="0" lang="en-US" sz="2350" spc="-1" strike="noStrike">
                <a:solidFill>
                  <a:srgbClr val="000000"/>
                </a:solidFill>
                <a:latin typeface="Noto Sans"/>
              </a:rPr>
              <a:t>keine Fläche</a:t>
            </a:r>
            <a:endParaRPr b="0" lang="en-US" sz="2350" spc="-1" strike="noStrike">
              <a:solidFill>
                <a:srgbClr val="000000"/>
              </a:solidFill>
              <a:latin typeface="Arial"/>
            </a:endParaRPr>
          </a:p>
        </p:txBody>
      </p:sp>
      <p:sp>
        <p:nvSpPr>
          <p:cNvPr id="128" name=""/>
          <p:cNvSpPr/>
          <p:nvPr/>
        </p:nvSpPr>
        <p:spPr>
          <a:xfrm>
            <a:off x="4343400" y="2057400"/>
            <a:ext cx="3505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9" name=""/>
          <p:cNvSpPr/>
          <p:nvPr/>
        </p:nvSpPr>
        <p:spPr>
          <a:xfrm>
            <a:off x="4343400" y="205740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0" name=""/>
          <p:cNvSpPr txBox="1"/>
          <p:nvPr/>
        </p:nvSpPr>
        <p:spPr>
          <a:xfrm>
            <a:off x="4549320" y="224028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Linie</a:t>
            </a:r>
            <a:endParaRPr b="0" lang="en-US" sz="2540" spc="-1" strike="noStrike">
              <a:solidFill>
                <a:srgbClr val="000000"/>
              </a:solidFill>
              <a:latin typeface="Arial"/>
            </a:endParaRPr>
          </a:p>
        </p:txBody>
      </p:sp>
      <p:sp>
        <p:nvSpPr>
          <p:cNvPr id="131" name=""/>
          <p:cNvSpPr txBox="1"/>
          <p:nvPr/>
        </p:nvSpPr>
        <p:spPr>
          <a:xfrm>
            <a:off x="4549320" y="3002400"/>
            <a:ext cx="3093840" cy="1203840"/>
          </a:xfrm>
          <a:prstGeom prst="rect">
            <a:avLst/>
          </a:prstGeom>
          <a:noFill/>
          <a:ln w="0">
            <a:noFill/>
          </a:ln>
        </p:spPr>
        <p:txBody>
          <a:bodyPr lIns="0" rIns="0" tIns="0" bIns="0" anchor="t">
            <a:noAutofit/>
          </a:bodyPr>
          <a:p>
            <a:r>
              <a:rPr b="0" lang="en-US" sz="2350" spc="-1" strike="noStrike">
                <a:solidFill>
                  <a:srgbClr val="000000"/>
                </a:solidFill>
                <a:latin typeface="Noto Sans"/>
              </a:rPr>
              <a:t>geordnete Stützpunkte</a:t>
            </a:r>
            <a:endParaRPr b="0" lang="en-US" sz="2350" spc="-1" strike="noStrike">
              <a:solidFill>
                <a:srgbClr val="000000"/>
              </a:solidFill>
              <a:latin typeface="Arial"/>
            </a:endParaRPr>
          </a:p>
          <a:p>
            <a:r>
              <a:rPr b="0" lang="en-US" sz="2350" spc="-1" strike="noStrike">
                <a:solidFill>
                  <a:srgbClr val="000000"/>
                </a:solidFill>
                <a:latin typeface="Noto Sans"/>
              </a:rPr>
              <a:t>räumlicher Verlauf</a:t>
            </a:r>
            <a:endParaRPr b="0" lang="en-US" sz="2350" spc="-1" strike="noStrike">
              <a:solidFill>
                <a:srgbClr val="000000"/>
              </a:solidFill>
              <a:latin typeface="Arial"/>
            </a:endParaRPr>
          </a:p>
        </p:txBody>
      </p:sp>
      <p:sp>
        <p:nvSpPr>
          <p:cNvPr id="132" name=""/>
          <p:cNvSpPr/>
          <p:nvPr/>
        </p:nvSpPr>
        <p:spPr>
          <a:xfrm>
            <a:off x="8039160" y="2057400"/>
            <a:ext cx="3505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3" name=""/>
          <p:cNvSpPr/>
          <p:nvPr/>
        </p:nvSpPr>
        <p:spPr>
          <a:xfrm>
            <a:off x="8039160" y="205740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4" name=""/>
          <p:cNvSpPr txBox="1"/>
          <p:nvPr/>
        </p:nvSpPr>
        <p:spPr>
          <a:xfrm>
            <a:off x="8245080" y="2240280"/>
            <a:ext cx="3093840" cy="647640"/>
          </a:xfrm>
          <a:prstGeom prst="rect">
            <a:avLst/>
          </a:prstGeom>
          <a:noFill/>
          <a:ln w="0">
            <a:noFill/>
          </a:ln>
        </p:spPr>
        <p:txBody>
          <a:bodyPr lIns="0" rIns="0" tIns="0" bIns="0" anchor="t">
            <a:noAutofit/>
          </a:bodyPr>
          <a:p>
            <a:r>
              <a:rPr b="1" lang="en-US" sz="2540" spc="-1" strike="noStrike">
                <a:solidFill>
                  <a:srgbClr val="a32123"/>
                </a:solidFill>
                <a:latin typeface="Noto Sans"/>
              </a:rPr>
              <a:t>Polygon</a:t>
            </a:r>
            <a:endParaRPr b="0" lang="en-US" sz="2540" spc="-1" strike="noStrike">
              <a:solidFill>
                <a:srgbClr val="000000"/>
              </a:solidFill>
              <a:latin typeface="Arial"/>
            </a:endParaRPr>
          </a:p>
        </p:txBody>
      </p:sp>
      <p:sp>
        <p:nvSpPr>
          <p:cNvPr id="135" name=""/>
          <p:cNvSpPr txBox="1"/>
          <p:nvPr/>
        </p:nvSpPr>
        <p:spPr>
          <a:xfrm>
            <a:off x="8245080" y="3002400"/>
            <a:ext cx="3093840" cy="1203840"/>
          </a:xfrm>
          <a:prstGeom prst="rect">
            <a:avLst/>
          </a:prstGeom>
          <a:noFill/>
          <a:ln w="0">
            <a:noFill/>
          </a:ln>
        </p:spPr>
        <p:txBody>
          <a:bodyPr lIns="0" rIns="0" tIns="0" bIns="0" anchor="t">
            <a:noAutofit/>
          </a:bodyPr>
          <a:p>
            <a:r>
              <a:rPr b="0" lang="en-US" sz="2350" spc="-1" strike="noStrike">
                <a:solidFill>
                  <a:srgbClr val="000000"/>
                </a:solidFill>
                <a:latin typeface="Noto Sans"/>
              </a:rPr>
              <a:t>geschlossener Ring</a:t>
            </a:r>
            <a:endParaRPr b="0" lang="en-US" sz="2350" spc="-1" strike="noStrike">
              <a:solidFill>
                <a:srgbClr val="000000"/>
              </a:solidFill>
              <a:latin typeface="Arial"/>
            </a:endParaRPr>
          </a:p>
          <a:p>
            <a:r>
              <a:rPr b="0" lang="en-US" sz="2350" spc="-1" strike="noStrike">
                <a:solidFill>
                  <a:srgbClr val="000000"/>
                </a:solidFill>
                <a:latin typeface="Noto Sans"/>
              </a:rPr>
              <a:t>Grenze und Inneres</a:t>
            </a:r>
            <a:endParaRPr b="0" lang="en-US" sz="2350" spc="-1" strike="noStrike">
              <a:solidFill>
                <a:srgbClr val="000000"/>
              </a:solidFill>
              <a:latin typeface="Arial"/>
            </a:endParaRPr>
          </a:p>
        </p:txBody>
      </p:sp>
      <p:sp>
        <p:nvSpPr>
          <p:cNvPr id="13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7"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Geometrie: wo und in welcher Form · Attribute: welche Eigenschaften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 Geometrie passt zur Frage?</a:t>
            </a:r>
            <a:endParaRPr b="0" lang="en-US" sz="3190" spc="-1" strike="noStrike">
              <a:solidFill>
                <a:srgbClr val="000000"/>
              </a:solidFill>
              <a:latin typeface="Arial"/>
            </a:endParaRPr>
          </a:p>
        </p:txBody>
      </p:sp>
      <p:sp>
        <p:nvSpPr>
          <p:cNvPr id="13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VEKTORMODELL · NACHBARSCHAFTSGESPRÄCH</a:t>
            </a:r>
            <a:endParaRPr b="0" lang="en-US" sz="1130" spc="-1" strike="noStrike">
              <a:solidFill>
                <a:srgbClr val="000000"/>
              </a:solidFill>
              <a:latin typeface="Arial"/>
            </a:endParaRPr>
          </a:p>
        </p:txBody>
      </p:sp>
      <p:sp>
        <p:nvSpPr>
          <p:cNvPr id="14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14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5</a:t>
            </a:r>
            <a:endParaRPr b="0" lang="en-US" sz="939" spc="-1" strike="noStrike">
              <a:solidFill>
                <a:srgbClr val="000000"/>
              </a:solidFill>
              <a:latin typeface="Arial"/>
            </a:endParaRPr>
          </a:p>
        </p:txBody>
      </p:sp>
      <p:sp>
        <p:nvSpPr>
          <p:cNvPr id="142" name=""/>
          <p:cNvSpPr/>
          <p:nvPr/>
        </p:nvSpPr>
        <p:spPr>
          <a:xfrm>
            <a:off x="647640" y="1866960"/>
            <a:ext cx="78256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3" name=""/>
          <p:cNvSpPr txBox="1"/>
          <p:nvPr/>
        </p:nvSpPr>
        <p:spPr>
          <a:xfrm>
            <a:off x="784800" y="1996560"/>
            <a:ext cx="7574400" cy="647640"/>
          </a:xfrm>
          <a:prstGeom prst="rect">
            <a:avLst/>
          </a:prstGeom>
          <a:noFill/>
          <a:ln w="0">
            <a:noFill/>
          </a:ln>
        </p:spPr>
        <p:txBody>
          <a:bodyPr lIns="0" rIns="0" tIns="0" bIns="0" anchor="t">
            <a:noAutofit/>
          </a:bodyPr>
          <a:p>
            <a:r>
              <a:rPr b="1" lang="en-US" sz="2160" spc="-1" strike="noStrike">
                <a:solidFill>
                  <a:srgbClr val="ffffff"/>
                </a:solidFill>
                <a:latin typeface="Noto Sans"/>
              </a:rPr>
              <a:t>Frage</a:t>
            </a:r>
            <a:endParaRPr b="0" lang="en-US" sz="2160" spc="-1" strike="noStrike">
              <a:solidFill>
                <a:srgbClr val="000000"/>
              </a:solidFill>
              <a:latin typeface="Arial"/>
            </a:endParaRPr>
          </a:p>
        </p:txBody>
      </p:sp>
      <p:sp>
        <p:nvSpPr>
          <p:cNvPr id="144" name=""/>
          <p:cNvSpPr/>
          <p:nvPr/>
        </p:nvSpPr>
        <p:spPr>
          <a:xfrm>
            <a:off x="8496360" y="1866960"/>
            <a:ext cx="30250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5" name=""/>
          <p:cNvSpPr txBox="1"/>
          <p:nvPr/>
        </p:nvSpPr>
        <p:spPr>
          <a:xfrm>
            <a:off x="8633520" y="1996560"/>
            <a:ext cx="2773800" cy="647640"/>
          </a:xfrm>
          <a:prstGeom prst="rect">
            <a:avLst/>
          </a:prstGeom>
          <a:noFill/>
          <a:ln w="0">
            <a:noFill/>
          </a:ln>
        </p:spPr>
        <p:txBody>
          <a:bodyPr lIns="0" rIns="0" tIns="0" bIns="0" anchor="t">
            <a:noAutofit/>
          </a:bodyPr>
          <a:p>
            <a:r>
              <a:rPr b="1" lang="en-US" sz="2160" spc="-1" strike="noStrike">
                <a:solidFill>
                  <a:srgbClr val="ffffff"/>
                </a:solidFill>
                <a:latin typeface="Noto Sans"/>
              </a:rPr>
              <a:t>Geometrietyp</a:t>
            </a:r>
            <a:endParaRPr b="0" lang="en-US" sz="2160" spc="-1" strike="noStrike">
              <a:solidFill>
                <a:srgbClr val="000000"/>
              </a:solidFill>
              <a:latin typeface="Arial"/>
            </a:endParaRPr>
          </a:p>
        </p:txBody>
      </p:sp>
      <p:sp>
        <p:nvSpPr>
          <p:cNvPr id="146" name=""/>
          <p:cNvSpPr/>
          <p:nvPr/>
        </p:nvSpPr>
        <p:spPr>
          <a:xfrm>
            <a:off x="647640" y="2666880"/>
            <a:ext cx="78256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7" name=""/>
          <p:cNvSpPr txBox="1"/>
          <p:nvPr/>
        </p:nvSpPr>
        <p:spPr>
          <a:xfrm>
            <a:off x="784800" y="2796480"/>
            <a:ext cx="7574400" cy="647640"/>
          </a:xfrm>
          <a:prstGeom prst="rect">
            <a:avLst/>
          </a:prstGeom>
          <a:noFill/>
          <a:ln w="0">
            <a:noFill/>
          </a:ln>
        </p:spPr>
        <p:txBody>
          <a:bodyPr lIns="0" rIns="0" tIns="0" bIns="0" anchor="t">
            <a:noAutofit/>
          </a:bodyPr>
          <a:p>
            <a:r>
              <a:rPr b="0" lang="en-US" sz="2160" spc="-1" strike="noStrike">
                <a:solidFill>
                  <a:srgbClr val="000000"/>
                </a:solidFill>
                <a:latin typeface="Noto Sans"/>
              </a:rPr>
              <a:t>Wo mündet ein Nebenfluss?</a:t>
            </a:r>
            <a:endParaRPr b="0" lang="en-US" sz="2160" spc="-1" strike="noStrike">
              <a:solidFill>
                <a:srgbClr val="000000"/>
              </a:solidFill>
              <a:latin typeface="Arial"/>
            </a:endParaRPr>
          </a:p>
        </p:txBody>
      </p:sp>
      <p:sp>
        <p:nvSpPr>
          <p:cNvPr id="148" name=""/>
          <p:cNvSpPr/>
          <p:nvPr/>
        </p:nvSpPr>
        <p:spPr>
          <a:xfrm>
            <a:off x="8496360" y="2666880"/>
            <a:ext cx="30250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9" name=""/>
          <p:cNvSpPr txBox="1"/>
          <p:nvPr/>
        </p:nvSpPr>
        <p:spPr>
          <a:xfrm>
            <a:off x="8633520" y="2796480"/>
            <a:ext cx="2773800" cy="647640"/>
          </a:xfrm>
          <a:prstGeom prst="rect">
            <a:avLst/>
          </a:prstGeom>
          <a:noFill/>
          <a:ln w="0">
            <a:noFill/>
          </a:ln>
        </p:spPr>
        <p:txBody>
          <a:bodyPr lIns="0" rIns="0" tIns="0" bIns="0" anchor="t">
            <a:noAutofit/>
          </a:bodyPr>
          <a:p>
            <a:r>
              <a:rPr b="0" lang="en-US" sz="2160" spc="-1" strike="noStrike">
                <a:solidFill>
                  <a:srgbClr val="000000"/>
                </a:solidFill>
                <a:latin typeface="Noto Sans"/>
              </a:rPr>
              <a:t>[Punkt / Linie / Polygon]</a:t>
            </a:r>
            <a:endParaRPr b="0" lang="en-US" sz="2160" spc="-1" strike="noStrike">
              <a:solidFill>
                <a:srgbClr val="000000"/>
              </a:solidFill>
              <a:latin typeface="Arial"/>
            </a:endParaRPr>
          </a:p>
        </p:txBody>
      </p:sp>
      <p:sp>
        <p:nvSpPr>
          <p:cNvPr id="150" name=""/>
          <p:cNvSpPr/>
          <p:nvPr/>
        </p:nvSpPr>
        <p:spPr>
          <a:xfrm>
            <a:off x="647640" y="3467160"/>
            <a:ext cx="782568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1" name=""/>
          <p:cNvSpPr txBox="1"/>
          <p:nvPr/>
        </p:nvSpPr>
        <p:spPr>
          <a:xfrm>
            <a:off x="784800" y="3596760"/>
            <a:ext cx="7574400" cy="647640"/>
          </a:xfrm>
          <a:prstGeom prst="rect">
            <a:avLst/>
          </a:prstGeom>
          <a:noFill/>
          <a:ln w="0">
            <a:noFill/>
          </a:ln>
        </p:spPr>
        <p:txBody>
          <a:bodyPr lIns="0" rIns="0" tIns="0" bIns="0" anchor="t">
            <a:noAutofit/>
          </a:bodyPr>
          <a:p>
            <a:r>
              <a:rPr b="0" lang="en-US" sz="2160" spc="-1" strike="noStrike">
                <a:solidFill>
                  <a:srgbClr val="000000"/>
                </a:solidFill>
                <a:latin typeface="Noto Sans"/>
              </a:rPr>
              <a:t>Wie verläuft ein Gewässer?</a:t>
            </a:r>
            <a:endParaRPr b="0" lang="en-US" sz="2160" spc="-1" strike="noStrike">
              <a:solidFill>
                <a:srgbClr val="000000"/>
              </a:solidFill>
              <a:latin typeface="Arial"/>
            </a:endParaRPr>
          </a:p>
        </p:txBody>
      </p:sp>
      <p:sp>
        <p:nvSpPr>
          <p:cNvPr id="152" name=""/>
          <p:cNvSpPr/>
          <p:nvPr/>
        </p:nvSpPr>
        <p:spPr>
          <a:xfrm>
            <a:off x="8496360" y="3467160"/>
            <a:ext cx="302508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3" name=""/>
          <p:cNvSpPr txBox="1"/>
          <p:nvPr/>
        </p:nvSpPr>
        <p:spPr>
          <a:xfrm>
            <a:off x="8633520" y="3596760"/>
            <a:ext cx="2773800" cy="647640"/>
          </a:xfrm>
          <a:prstGeom prst="rect">
            <a:avLst/>
          </a:prstGeom>
          <a:noFill/>
          <a:ln w="0">
            <a:noFill/>
          </a:ln>
        </p:spPr>
        <p:txBody>
          <a:bodyPr lIns="0" rIns="0" tIns="0" bIns="0" anchor="t">
            <a:noAutofit/>
          </a:bodyPr>
          <a:p>
            <a:r>
              <a:rPr b="0" lang="en-US" sz="2160" spc="-1" strike="noStrike">
                <a:solidFill>
                  <a:srgbClr val="000000"/>
                </a:solidFill>
                <a:latin typeface="Noto Sans"/>
              </a:rPr>
              <a:t>[Punkt / Linie / Polygon]</a:t>
            </a:r>
            <a:endParaRPr b="0" lang="en-US" sz="2160" spc="-1" strike="noStrike">
              <a:solidFill>
                <a:srgbClr val="000000"/>
              </a:solidFill>
              <a:latin typeface="Arial"/>
            </a:endParaRPr>
          </a:p>
        </p:txBody>
      </p:sp>
      <p:sp>
        <p:nvSpPr>
          <p:cNvPr id="154" name=""/>
          <p:cNvSpPr/>
          <p:nvPr/>
        </p:nvSpPr>
        <p:spPr>
          <a:xfrm>
            <a:off x="647640" y="4267080"/>
            <a:ext cx="78256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5" name=""/>
          <p:cNvSpPr txBox="1"/>
          <p:nvPr/>
        </p:nvSpPr>
        <p:spPr>
          <a:xfrm>
            <a:off x="784800" y="4396680"/>
            <a:ext cx="7574400" cy="647640"/>
          </a:xfrm>
          <a:prstGeom prst="rect">
            <a:avLst/>
          </a:prstGeom>
          <a:noFill/>
          <a:ln w="0">
            <a:noFill/>
          </a:ln>
        </p:spPr>
        <p:txBody>
          <a:bodyPr lIns="0" rIns="0" tIns="0" bIns="0" anchor="t">
            <a:noAutofit/>
          </a:bodyPr>
          <a:p>
            <a:r>
              <a:rPr b="0" lang="en-US" sz="2160" spc="-1" strike="noStrike">
                <a:solidFill>
                  <a:srgbClr val="000000"/>
                </a:solidFill>
                <a:latin typeface="Noto Sans"/>
              </a:rPr>
              <a:t>Welche Fläche besitzt ein Schutzgebiet?</a:t>
            </a:r>
            <a:endParaRPr b="0" lang="en-US" sz="2160" spc="-1" strike="noStrike">
              <a:solidFill>
                <a:srgbClr val="000000"/>
              </a:solidFill>
              <a:latin typeface="Arial"/>
            </a:endParaRPr>
          </a:p>
        </p:txBody>
      </p:sp>
      <p:sp>
        <p:nvSpPr>
          <p:cNvPr id="156" name=""/>
          <p:cNvSpPr/>
          <p:nvPr/>
        </p:nvSpPr>
        <p:spPr>
          <a:xfrm>
            <a:off x="8496360" y="4267080"/>
            <a:ext cx="30250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7" name=""/>
          <p:cNvSpPr txBox="1"/>
          <p:nvPr/>
        </p:nvSpPr>
        <p:spPr>
          <a:xfrm>
            <a:off x="8633520" y="4396680"/>
            <a:ext cx="2773800" cy="647640"/>
          </a:xfrm>
          <a:prstGeom prst="rect">
            <a:avLst/>
          </a:prstGeom>
          <a:noFill/>
          <a:ln w="0">
            <a:noFill/>
          </a:ln>
        </p:spPr>
        <p:txBody>
          <a:bodyPr lIns="0" rIns="0" tIns="0" bIns="0" anchor="t">
            <a:noAutofit/>
          </a:bodyPr>
          <a:p>
            <a:r>
              <a:rPr b="0" lang="en-US" sz="2160" spc="-1" strike="noStrike">
                <a:solidFill>
                  <a:srgbClr val="000000"/>
                </a:solidFill>
                <a:latin typeface="Noto Sans"/>
              </a:rPr>
              <a:t>[Punkt / Linie / Polygon]</a:t>
            </a:r>
            <a:endParaRPr b="0" lang="en-US" sz="2160" spc="-1" strike="noStrike">
              <a:solidFill>
                <a:srgbClr val="000000"/>
              </a:solidFill>
              <a:latin typeface="Arial"/>
            </a:endParaRPr>
          </a:p>
        </p:txBody>
      </p:sp>
      <p:sp>
        <p:nvSpPr>
          <p:cNvPr id="15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9"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Entscheiden Sie nach der benötigten Information, nicht nach dem Objektnamen.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Lösung: Ort, Verlauf und Fläche</a:t>
            </a:r>
            <a:endParaRPr b="0" lang="en-US" sz="3190" spc="-1" strike="noStrike">
              <a:solidFill>
                <a:srgbClr val="000000"/>
              </a:solidFill>
              <a:latin typeface="Arial"/>
            </a:endParaRPr>
          </a:p>
        </p:txBody>
      </p:sp>
      <p:sp>
        <p:nvSpPr>
          <p:cNvPr id="16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VEKTORMODELL · AUFLÖSUNG</a:t>
            </a:r>
            <a:endParaRPr b="0" lang="en-US" sz="1130" spc="-1" strike="noStrike">
              <a:solidFill>
                <a:srgbClr val="000000"/>
              </a:solidFill>
              <a:latin typeface="Arial"/>
            </a:endParaRPr>
          </a:p>
        </p:txBody>
      </p:sp>
      <p:sp>
        <p:nvSpPr>
          <p:cNvPr id="16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16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6</a:t>
            </a:r>
            <a:endParaRPr b="0" lang="en-US" sz="939" spc="-1" strike="noStrike">
              <a:solidFill>
                <a:srgbClr val="000000"/>
              </a:solidFill>
              <a:latin typeface="Arial"/>
            </a:endParaRPr>
          </a:p>
        </p:txBody>
      </p:sp>
      <p:sp>
        <p:nvSpPr>
          <p:cNvPr id="164" name=""/>
          <p:cNvSpPr/>
          <p:nvPr/>
        </p:nvSpPr>
        <p:spPr>
          <a:xfrm>
            <a:off x="647640" y="1905120"/>
            <a:ext cx="470160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5" name=""/>
          <p:cNvSpPr txBox="1"/>
          <p:nvPr/>
        </p:nvSpPr>
        <p:spPr>
          <a:xfrm>
            <a:off x="784800" y="2034720"/>
            <a:ext cx="4449960" cy="647640"/>
          </a:xfrm>
          <a:prstGeom prst="rect">
            <a:avLst/>
          </a:prstGeom>
          <a:noFill/>
          <a:ln w="0">
            <a:noFill/>
          </a:ln>
        </p:spPr>
        <p:txBody>
          <a:bodyPr lIns="0" rIns="0" tIns="0" bIns="0" anchor="t">
            <a:noAutofit/>
          </a:bodyPr>
          <a:p>
            <a:r>
              <a:rPr b="1" lang="en-US" sz="2160" spc="-1" strike="noStrike">
                <a:solidFill>
                  <a:srgbClr val="ffffff"/>
                </a:solidFill>
                <a:latin typeface="Noto Sans"/>
              </a:rPr>
              <a:t>Frage</a:t>
            </a:r>
            <a:endParaRPr b="0" lang="en-US" sz="2160" spc="-1" strike="noStrike">
              <a:solidFill>
                <a:srgbClr val="000000"/>
              </a:solidFill>
              <a:latin typeface="Arial"/>
            </a:endParaRPr>
          </a:p>
        </p:txBody>
      </p:sp>
      <p:sp>
        <p:nvSpPr>
          <p:cNvPr id="166" name=""/>
          <p:cNvSpPr/>
          <p:nvPr/>
        </p:nvSpPr>
        <p:spPr>
          <a:xfrm>
            <a:off x="5372280" y="1905120"/>
            <a:ext cx="22633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7" name=""/>
          <p:cNvSpPr txBox="1"/>
          <p:nvPr/>
        </p:nvSpPr>
        <p:spPr>
          <a:xfrm>
            <a:off x="5509440" y="2034720"/>
            <a:ext cx="2011680" cy="647640"/>
          </a:xfrm>
          <a:prstGeom prst="rect">
            <a:avLst/>
          </a:prstGeom>
          <a:noFill/>
          <a:ln w="0">
            <a:noFill/>
          </a:ln>
        </p:spPr>
        <p:txBody>
          <a:bodyPr lIns="0" rIns="0" tIns="0" bIns="0" anchor="t">
            <a:noAutofit/>
          </a:bodyPr>
          <a:p>
            <a:r>
              <a:rPr b="1" lang="en-US" sz="2160" spc="-1" strike="noStrike">
                <a:solidFill>
                  <a:srgbClr val="ffffff"/>
                </a:solidFill>
                <a:latin typeface="Noto Sans"/>
              </a:rPr>
              <a:t>Modell</a:t>
            </a:r>
            <a:endParaRPr b="0" lang="en-US" sz="2160" spc="-1" strike="noStrike">
              <a:solidFill>
                <a:srgbClr val="000000"/>
              </a:solidFill>
              <a:latin typeface="Arial"/>
            </a:endParaRPr>
          </a:p>
        </p:txBody>
      </p:sp>
      <p:sp>
        <p:nvSpPr>
          <p:cNvPr id="168" name=""/>
          <p:cNvSpPr/>
          <p:nvPr/>
        </p:nvSpPr>
        <p:spPr>
          <a:xfrm>
            <a:off x="7658280" y="1905120"/>
            <a:ext cx="38635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9" name=""/>
          <p:cNvSpPr txBox="1"/>
          <p:nvPr/>
        </p:nvSpPr>
        <p:spPr>
          <a:xfrm>
            <a:off x="7795440" y="2034720"/>
            <a:ext cx="3611880" cy="647640"/>
          </a:xfrm>
          <a:prstGeom prst="rect">
            <a:avLst/>
          </a:prstGeom>
          <a:noFill/>
          <a:ln w="0">
            <a:noFill/>
          </a:ln>
        </p:spPr>
        <p:txBody>
          <a:bodyPr lIns="0" rIns="0" tIns="0" bIns="0" anchor="t">
            <a:noAutofit/>
          </a:bodyPr>
          <a:p>
            <a:r>
              <a:rPr b="1" lang="en-US" sz="2160" spc="-1" strike="noStrike">
                <a:solidFill>
                  <a:srgbClr val="ffffff"/>
                </a:solidFill>
                <a:latin typeface="Noto Sans"/>
              </a:rPr>
              <a:t>Begründung</a:t>
            </a:r>
            <a:endParaRPr b="0" lang="en-US" sz="2160" spc="-1" strike="noStrike">
              <a:solidFill>
                <a:srgbClr val="000000"/>
              </a:solidFill>
              <a:latin typeface="Arial"/>
            </a:endParaRPr>
          </a:p>
        </p:txBody>
      </p:sp>
      <p:sp>
        <p:nvSpPr>
          <p:cNvPr id="170" name=""/>
          <p:cNvSpPr/>
          <p:nvPr/>
        </p:nvSpPr>
        <p:spPr>
          <a:xfrm>
            <a:off x="647640" y="2705040"/>
            <a:ext cx="47016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1" name=""/>
          <p:cNvSpPr txBox="1"/>
          <p:nvPr/>
        </p:nvSpPr>
        <p:spPr>
          <a:xfrm>
            <a:off x="784800" y="2834640"/>
            <a:ext cx="4449960" cy="647640"/>
          </a:xfrm>
          <a:prstGeom prst="rect">
            <a:avLst/>
          </a:prstGeom>
          <a:noFill/>
          <a:ln w="0">
            <a:noFill/>
          </a:ln>
        </p:spPr>
        <p:txBody>
          <a:bodyPr lIns="0" rIns="0" tIns="0" bIns="0" anchor="t">
            <a:noAutofit/>
          </a:bodyPr>
          <a:p>
            <a:r>
              <a:rPr b="0" lang="en-US" sz="2160" spc="-1" strike="noStrike">
                <a:solidFill>
                  <a:srgbClr val="000000"/>
                </a:solidFill>
                <a:latin typeface="Noto Sans"/>
              </a:rPr>
              <a:t>Mündung</a:t>
            </a:r>
            <a:endParaRPr b="0" lang="en-US" sz="2160" spc="-1" strike="noStrike">
              <a:solidFill>
                <a:srgbClr val="000000"/>
              </a:solidFill>
              <a:latin typeface="Arial"/>
            </a:endParaRPr>
          </a:p>
        </p:txBody>
      </p:sp>
      <p:sp>
        <p:nvSpPr>
          <p:cNvPr id="172" name=""/>
          <p:cNvSpPr/>
          <p:nvPr/>
        </p:nvSpPr>
        <p:spPr>
          <a:xfrm>
            <a:off x="5372280" y="2705040"/>
            <a:ext cx="22633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3" name=""/>
          <p:cNvSpPr txBox="1"/>
          <p:nvPr/>
        </p:nvSpPr>
        <p:spPr>
          <a:xfrm>
            <a:off x="5509440" y="2834640"/>
            <a:ext cx="2011680" cy="647640"/>
          </a:xfrm>
          <a:prstGeom prst="rect">
            <a:avLst/>
          </a:prstGeom>
          <a:noFill/>
          <a:ln w="0">
            <a:noFill/>
          </a:ln>
        </p:spPr>
        <p:txBody>
          <a:bodyPr lIns="0" rIns="0" tIns="0" bIns="0" anchor="t">
            <a:noAutofit/>
          </a:bodyPr>
          <a:p>
            <a:r>
              <a:rPr b="0" lang="en-US" sz="2160" spc="-1" strike="noStrike">
                <a:solidFill>
                  <a:srgbClr val="000000"/>
                </a:solidFill>
                <a:latin typeface="Noto Sans"/>
              </a:rPr>
              <a:t>Punkt</a:t>
            </a:r>
            <a:endParaRPr b="0" lang="en-US" sz="2160" spc="-1" strike="noStrike">
              <a:solidFill>
                <a:srgbClr val="000000"/>
              </a:solidFill>
              <a:latin typeface="Arial"/>
            </a:endParaRPr>
          </a:p>
        </p:txBody>
      </p:sp>
      <p:sp>
        <p:nvSpPr>
          <p:cNvPr id="174" name=""/>
          <p:cNvSpPr/>
          <p:nvPr/>
        </p:nvSpPr>
        <p:spPr>
          <a:xfrm>
            <a:off x="7658280" y="2705040"/>
            <a:ext cx="38635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5" name=""/>
          <p:cNvSpPr txBox="1"/>
          <p:nvPr/>
        </p:nvSpPr>
        <p:spPr>
          <a:xfrm>
            <a:off x="7795440" y="2834640"/>
            <a:ext cx="3611880" cy="647640"/>
          </a:xfrm>
          <a:prstGeom prst="rect">
            <a:avLst/>
          </a:prstGeom>
          <a:noFill/>
          <a:ln w="0">
            <a:noFill/>
          </a:ln>
        </p:spPr>
        <p:txBody>
          <a:bodyPr lIns="0" rIns="0" tIns="0" bIns="0" anchor="t">
            <a:noAutofit/>
          </a:bodyPr>
          <a:p>
            <a:r>
              <a:rPr b="0" lang="en-US" sz="2160" spc="-1" strike="noStrike">
                <a:solidFill>
                  <a:srgbClr val="000000"/>
                </a:solidFill>
                <a:latin typeface="Noto Sans"/>
              </a:rPr>
              <a:t>gesuchte Position</a:t>
            </a:r>
            <a:endParaRPr b="0" lang="en-US" sz="2160" spc="-1" strike="noStrike">
              <a:solidFill>
                <a:srgbClr val="000000"/>
              </a:solidFill>
              <a:latin typeface="Arial"/>
            </a:endParaRPr>
          </a:p>
        </p:txBody>
      </p:sp>
      <p:sp>
        <p:nvSpPr>
          <p:cNvPr id="176" name=""/>
          <p:cNvSpPr/>
          <p:nvPr/>
        </p:nvSpPr>
        <p:spPr>
          <a:xfrm>
            <a:off x="647640" y="3505320"/>
            <a:ext cx="470160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7" name=""/>
          <p:cNvSpPr txBox="1"/>
          <p:nvPr/>
        </p:nvSpPr>
        <p:spPr>
          <a:xfrm>
            <a:off x="784800" y="3634920"/>
            <a:ext cx="4449960" cy="647640"/>
          </a:xfrm>
          <a:prstGeom prst="rect">
            <a:avLst/>
          </a:prstGeom>
          <a:noFill/>
          <a:ln w="0">
            <a:noFill/>
          </a:ln>
        </p:spPr>
        <p:txBody>
          <a:bodyPr lIns="0" rIns="0" tIns="0" bIns="0" anchor="t">
            <a:noAutofit/>
          </a:bodyPr>
          <a:p>
            <a:r>
              <a:rPr b="0" lang="en-US" sz="2160" spc="-1" strike="noStrike">
                <a:solidFill>
                  <a:srgbClr val="000000"/>
                </a:solidFill>
                <a:latin typeface="Noto Sans"/>
              </a:rPr>
              <a:t>Gewässerverlauf</a:t>
            </a:r>
            <a:endParaRPr b="0" lang="en-US" sz="2160" spc="-1" strike="noStrike">
              <a:solidFill>
                <a:srgbClr val="000000"/>
              </a:solidFill>
              <a:latin typeface="Arial"/>
            </a:endParaRPr>
          </a:p>
        </p:txBody>
      </p:sp>
      <p:sp>
        <p:nvSpPr>
          <p:cNvPr id="178" name=""/>
          <p:cNvSpPr/>
          <p:nvPr/>
        </p:nvSpPr>
        <p:spPr>
          <a:xfrm>
            <a:off x="5372280" y="3505320"/>
            <a:ext cx="22633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9" name=""/>
          <p:cNvSpPr txBox="1"/>
          <p:nvPr/>
        </p:nvSpPr>
        <p:spPr>
          <a:xfrm>
            <a:off x="5509440" y="3634920"/>
            <a:ext cx="2011680" cy="647640"/>
          </a:xfrm>
          <a:prstGeom prst="rect">
            <a:avLst/>
          </a:prstGeom>
          <a:noFill/>
          <a:ln w="0">
            <a:noFill/>
          </a:ln>
        </p:spPr>
        <p:txBody>
          <a:bodyPr lIns="0" rIns="0" tIns="0" bIns="0" anchor="t">
            <a:noAutofit/>
          </a:bodyPr>
          <a:p>
            <a:r>
              <a:rPr b="0" lang="en-US" sz="2160" spc="-1" strike="noStrike">
                <a:solidFill>
                  <a:srgbClr val="000000"/>
                </a:solidFill>
                <a:latin typeface="Noto Sans"/>
              </a:rPr>
              <a:t>Linie</a:t>
            </a:r>
            <a:endParaRPr b="0" lang="en-US" sz="2160" spc="-1" strike="noStrike">
              <a:solidFill>
                <a:srgbClr val="000000"/>
              </a:solidFill>
              <a:latin typeface="Arial"/>
            </a:endParaRPr>
          </a:p>
        </p:txBody>
      </p:sp>
      <p:sp>
        <p:nvSpPr>
          <p:cNvPr id="180" name=""/>
          <p:cNvSpPr/>
          <p:nvPr/>
        </p:nvSpPr>
        <p:spPr>
          <a:xfrm>
            <a:off x="7658280" y="3505320"/>
            <a:ext cx="38635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1" name=""/>
          <p:cNvSpPr txBox="1"/>
          <p:nvPr/>
        </p:nvSpPr>
        <p:spPr>
          <a:xfrm>
            <a:off x="7795440" y="3634920"/>
            <a:ext cx="3611880" cy="647640"/>
          </a:xfrm>
          <a:prstGeom prst="rect">
            <a:avLst/>
          </a:prstGeom>
          <a:noFill/>
          <a:ln w="0">
            <a:noFill/>
          </a:ln>
        </p:spPr>
        <p:txBody>
          <a:bodyPr lIns="0" rIns="0" tIns="0" bIns="0" anchor="t">
            <a:noAutofit/>
          </a:bodyPr>
          <a:p>
            <a:r>
              <a:rPr b="0" lang="en-US" sz="2160" spc="-1" strike="noStrike">
                <a:solidFill>
                  <a:srgbClr val="000000"/>
                </a:solidFill>
                <a:latin typeface="Noto Sans"/>
              </a:rPr>
              <a:t>Reihenfolge und Verlauf</a:t>
            </a:r>
            <a:endParaRPr b="0" lang="en-US" sz="2160" spc="-1" strike="noStrike">
              <a:solidFill>
                <a:srgbClr val="000000"/>
              </a:solidFill>
              <a:latin typeface="Arial"/>
            </a:endParaRPr>
          </a:p>
        </p:txBody>
      </p:sp>
      <p:sp>
        <p:nvSpPr>
          <p:cNvPr id="182" name=""/>
          <p:cNvSpPr/>
          <p:nvPr/>
        </p:nvSpPr>
        <p:spPr>
          <a:xfrm>
            <a:off x="647640" y="4305240"/>
            <a:ext cx="47016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3" name=""/>
          <p:cNvSpPr txBox="1"/>
          <p:nvPr/>
        </p:nvSpPr>
        <p:spPr>
          <a:xfrm>
            <a:off x="784800" y="4434840"/>
            <a:ext cx="4449960" cy="647640"/>
          </a:xfrm>
          <a:prstGeom prst="rect">
            <a:avLst/>
          </a:prstGeom>
          <a:noFill/>
          <a:ln w="0">
            <a:noFill/>
          </a:ln>
        </p:spPr>
        <p:txBody>
          <a:bodyPr lIns="0" rIns="0" tIns="0" bIns="0" anchor="t">
            <a:noAutofit/>
          </a:bodyPr>
          <a:p>
            <a:r>
              <a:rPr b="0" lang="en-US" sz="2160" spc="-1" strike="noStrike">
                <a:solidFill>
                  <a:srgbClr val="000000"/>
                </a:solidFill>
                <a:latin typeface="Noto Sans"/>
              </a:rPr>
              <a:t>Schutzgebietsfläche</a:t>
            </a:r>
            <a:endParaRPr b="0" lang="en-US" sz="2160" spc="-1" strike="noStrike">
              <a:solidFill>
                <a:srgbClr val="000000"/>
              </a:solidFill>
              <a:latin typeface="Arial"/>
            </a:endParaRPr>
          </a:p>
        </p:txBody>
      </p:sp>
      <p:sp>
        <p:nvSpPr>
          <p:cNvPr id="184" name=""/>
          <p:cNvSpPr/>
          <p:nvPr/>
        </p:nvSpPr>
        <p:spPr>
          <a:xfrm>
            <a:off x="5372280" y="4305240"/>
            <a:ext cx="22633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5" name=""/>
          <p:cNvSpPr txBox="1"/>
          <p:nvPr/>
        </p:nvSpPr>
        <p:spPr>
          <a:xfrm>
            <a:off x="5509440" y="4434840"/>
            <a:ext cx="2011680" cy="647640"/>
          </a:xfrm>
          <a:prstGeom prst="rect">
            <a:avLst/>
          </a:prstGeom>
          <a:noFill/>
          <a:ln w="0">
            <a:noFill/>
          </a:ln>
        </p:spPr>
        <p:txBody>
          <a:bodyPr lIns="0" rIns="0" tIns="0" bIns="0" anchor="t">
            <a:noAutofit/>
          </a:bodyPr>
          <a:p>
            <a:r>
              <a:rPr b="0" lang="en-US" sz="2160" spc="-1" strike="noStrike">
                <a:solidFill>
                  <a:srgbClr val="000000"/>
                </a:solidFill>
                <a:latin typeface="Noto Sans"/>
              </a:rPr>
              <a:t>Polygon</a:t>
            </a:r>
            <a:endParaRPr b="0" lang="en-US" sz="2160" spc="-1" strike="noStrike">
              <a:solidFill>
                <a:srgbClr val="000000"/>
              </a:solidFill>
              <a:latin typeface="Arial"/>
            </a:endParaRPr>
          </a:p>
        </p:txBody>
      </p:sp>
      <p:sp>
        <p:nvSpPr>
          <p:cNvPr id="186" name=""/>
          <p:cNvSpPr/>
          <p:nvPr/>
        </p:nvSpPr>
        <p:spPr>
          <a:xfrm>
            <a:off x="7658280" y="4305240"/>
            <a:ext cx="38635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7" name=""/>
          <p:cNvSpPr txBox="1"/>
          <p:nvPr/>
        </p:nvSpPr>
        <p:spPr>
          <a:xfrm>
            <a:off x="7795440" y="4434840"/>
            <a:ext cx="3611880" cy="647640"/>
          </a:xfrm>
          <a:prstGeom prst="rect">
            <a:avLst/>
          </a:prstGeom>
          <a:noFill/>
          <a:ln w="0">
            <a:noFill/>
          </a:ln>
        </p:spPr>
        <p:txBody>
          <a:bodyPr lIns="0" rIns="0" tIns="0" bIns="0" anchor="t">
            <a:noAutofit/>
          </a:bodyPr>
          <a:p>
            <a:r>
              <a:rPr b="0" lang="en-US" sz="2160" spc="-1" strike="noStrike">
                <a:solidFill>
                  <a:srgbClr val="000000"/>
                </a:solidFill>
                <a:latin typeface="Noto Sans"/>
              </a:rPr>
              <a:t>Grenze und Inneres</a:t>
            </a:r>
            <a:endParaRPr b="0" lang="en-US" sz="2160" spc="-1" strike="noStrike">
              <a:solidFill>
                <a:srgbClr val="000000"/>
              </a:solidFill>
              <a:latin typeface="Arial"/>
            </a:endParaRPr>
          </a:p>
        </p:txBody>
      </p:sp>
      <p:sp>
        <p:nvSpPr>
          <p:cNvPr id="18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9"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Dasselbe reale Objekt kann je nach Maßstab und Frage anders modelliert werden.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Stützpunkte steuern den Linienverlauf</a:t>
            </a:r>
            <a:endParaRPr b="0" lang="en-US" sz="3190" spc="-1" strike="noStrike">
              <a:solidFill>
                <a:srgbClr val="000000"/>
              </a:solidFill>
              <a:latin typeface="Arial"/>
            </a:endParaRPr>
          </a:p>
        </p:txBody>
      </p:sp>
      <p:sp>
        <p:nvSpPr>
          <p:cNvPr id="19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VEKTORMODELL · GENERALISIERUNG</a:t>
            </a:r>
            <a:endParaRPr b="0" lang="en-US" sz="1130" spc="-1" strike="noStrike">
              <a:solidFill>
                <a:srgbClr val="000000"/>
              </a:solidFill>
              <a:latin typeface="Arial"/>
            </a:endParaRPr>
          </a:p>
        </p:txBody>
      </p:sp>
      <p:sp>
        <p:nvSpPr>
          <p:cNvPr id="19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19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7</a:t>
            </a:r>
            <a:endParaRPr b="0" lang="en-US" sz="939" spc="-1" strike="noStrike">
              <a:solidFill>
                <a:srgbClr val="000000"/>
              </a:solidFill>
              <a:latin typeface="Arial"/>
            </a:endParaRPr>
          </a:p>
        </p:txBody>
      </p:sp>
      <p:pic>
        <p:nvPicPr>
          <p:cNvPr id="194" name="" descr="Ein Linienzug aus neun Stützpunkten wird auf fünf dieser Punkte reduziert. Anfang und Ende bleiben erhalten, dazwischen entfallen Details."/>
          <p:cNvPicPr/>
          <p:nvPr/>
        </p:nvPicPr>
        <p:blipFill>
          <a:blip r:embed="rId1">
            <a:extLst>
              <a:ext uri="{96DAC541-7B7A-43D3-8B79-37D633B846F1}">
                <asvg:svgBlip xmlns:asvg="http://schemas.microsoft.com/office/drawing/2016/SVG/main" r:embed="rId2"/>
              </a:ext>
            </a:extLst>
          </a:blip>
          <a:stretch/>
        </p:blipFill>
        <p:spPr>
          <a:xfrm>
            <a:off x="2514600" y="1638360"/>
            <a:ext cx="3809880" cy="4256640"/>
          </a:xfrm>
          <a:prstGeom prst="rect">
            <a:avLst/>
          </a:prstGeom>
          <a:ln w="0">
            <a:noFill/>
          </a:ln>
        </p:spPr>
      </p:pic>
      <p:sp>
        <p:nvSpPr>
          <p:cNvPr id="195" name=""/>
          <p:cNvSpPr/>
          <p:nvPr/>
        </p:nvSpPr>
        <p:spPr>
          <a:xfrm>
            <a:off x="7010640" y="2171880"/>
            <a:ext cx="3962520" cy="1371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6" name=""/>
          <p:cNvSpPr/>
          <p:nvPr/>
        </p:nvSpPr>
        <p:spPr>
          <a:xfrm>
            <a:off x="7010640" y="2171880"/>
            <a:ext cx="53280" cy="1371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7" name=""/>
          <p:cNvSpPr txBox="1"/>
          <p:nvPr/>
        </p:nvSpPr>
        <p:spPr>
          <a:xfrm>
            <a:off x="7216200" y="235476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Strichbreite</a:t>
            </a:r>
            <a:endParaRPr b="0" lang="en-US" sz="2540" spc="-1" strike="noStrike">
              <a:solidFill>
                <a:srgbClr val="000000"/>
              </a:solidFill>
              <a:latin typeface="Arial"/>
            </a:endParaRPr>
          </a:p>
        </p:txBody>
      </p:sp>
      <p:sp>
        <p:nvSpPr>
          <p:cNvPr id="198" name=""/>
          <p:cNvSpPr txBox="1"/>
          <p:nvPr/>
        </p:nvSpPr>
        <p:spPr>
          <a:xfrm>
            <a:off x="7216200" y="2933640"/>
            <a:ext cx="3551040" cy="472320"/>
          </a:xfrm>
          <a:prstGeom prst="rect">
            <a:avLst/>
          </a:prstGeom>
          <a:noFill/>
          <a:ln w="0">
            <a:noFill/>
          </a:ln>
        </p:spPr>
        <p:txBody>
          <a:bodyPr lIns="0" rIns="0" tIns="0" bIns="0" anchor="t">
            <a:noAutofit/>
          </a:bodyPr>
          <a:p>
            <a:r>
              <a:rPr b="0" lang="en-US" sz="1979" spc="-1" strike="noStrike">
                <a:solidFill>
                  <a:srgbClr val="000000"/>
                </a:solidFill>
                <a:latin typeface="Noto Sans"/>
              </a:rPr>
              <a:t>Darstellung – nicht reale Gewässerbreite</a:t>
            </a:r>
            <a:endParaRPr b="0" lang="en-US" sz="1979" spc="-1" strike="noStrike">
              <a:solidFill>
                <a:srgbClr val="000000"/>
              </a:solidFill>
              <a:latin typeface="Arial"/>
            </a:endParaRPr>
          </a:p>
        </p:txBody>
      </p:sp>
      <p:sp>
        <p:nvSpPr>
          <p:cNvPr id="199" name=""/>
          <p:cNvSpPr/>
          <p:nvPr/>
        </p:nvSpPr>
        <p:spPr>
          <a:xfrm>
            <a:off x="7010640" y="3962520"/>
            <a:ext cx="3962520" cy="1371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0" name=""/>
          <p:cNvSpPr/>
          <p:nvPr/>
        </p:nvSpPr>
        <p:spPr>
          <a:xfrm>
            <a:off x="7010640" y="3962520"/>
            <a:ext cx="53280" cy="13716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1" name=""/>
          <p:cNvSpPr txBox="1"/>
          <p:nvPr/>
        </p:nvSpPr>
        <p:spPr>
          <a:xfrm>
            <a:off x="7216200" y="4145400"/>
            <a:ext cx="3551040" cy="647640"/>
          </a:xfrm>
          <a:prstGeom prst="rect">
            <a:avLst/>
          </a:prstGeom>
          <a:noFill/>
          <a:ln w="0">
            <a:noFill/>
          </a:ln>
        </p:spPr>
        <p:txBody>
          <a:bodyPr lIns="0" rIns="0" tIns="0" bIns="0" anchor="t">
            <a:noAutofit/>
          </a:bodyPr>
          <a:p>
            <a:r>
              <a:rPr b="1" lang="en-US" sz="2540" spc="-1" strike="noStrike">
                <a:solidFill>
                  <a:srgbClr val="a32123"/>
                </a:solidFill>
                <a:latin typeface="Noto Sans"/>
              </a:rPr>
              <a:t>Generalisierung</a:t>
            </a:r>
            <a:endParaRPr b="0" lang="en-US" sz="2540" spc="-1" strike="noStrike">
              <a:solidFill>
                <a:srgbClr val="000000"/>
              </a:solidFill>
              <a:latin typeface="Arial"/>
            </a:endParaRPr>
          </a:p>
        </p:txBody>
      </p:sp>
      <p:sp>
        <p:nvSpPr>
          <p:cNvPr id="202" name=""/>
          <p:cNvSpPr txBox="1"/>
          <p:nvPr/>
        </p:nvSpPr>
        <p:spPr>
          <a:xfrm>
            <a:off x="7216200" y="4724280"/>
            <a:ext cx="3551040" cy="472320"/>
          </a:xfrm>
          <a:prstGeom prst="rect">
            <a:avLst/>
          </a:prstGeom>
          <a:noFill/>
          <a:ln w="0">
            <a:noFill/>
          </a:ln>
        </p:spPr>
        <p:txBody>
          <a:bodyPr lIns="0" rIns="0" tIns="0" bIns="0" anchor="t">
            <a:noAutofit/>
          </a:bodyPr>
          <a:p>
            <a:r>
              <a:rPr b="0" lang="en-US" sz="1879" spc="-1" strike="noStrike">
                <a:solidFill>
                  <a:srgbClr val="000000"/>
                </a:solidFill>
                <a:latin typeface="Noto Sans"/>
              </a:rPr>
              <a:t>Details passend zu Maßstab und Zweck reduzieren</a:t>
            </a:r>
            <a:endParaRPr b="0" lang="en-US" sz="18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 Feature kann Loch oder mehrere Teile besitzen</a:t>
            </a:r>
            <a:endParaRPr b="0" lang="en-US" sz="3190" spc="-1" strike="noStrike">
              <a:solidFill>
                <a:srgbClr val="000000"/>
              </a:solidFill>
              <a:latin typeface="Arial"/>
            </a:endParaRPr>
          </a:p>
        </p:txBody>
      </p:sp>
      <p:sp>
        <p:nvSpPr>
          <p:cNvPr id="20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VEKTORMODELL · POLYGONE</a:t>
            </a:r>
            <a:endParaRPr b="0" lang="en-US" sz="1130" spc="-1" strike="noStrike">
              <a:solidFill>
                <a:srgbClr val="000000"/>
              </a:solidFill>
              <a:latin typeface="Arial"/>
            </a:endParaRPr>
          </a:p>
        </p:txBody>
      </p:sp>
      <p:sp>
        <p:nvSpPr>
          <p:cNvPr id="20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20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8</a:t>
            </a:r>
            <a:endParaRPr b="0" lang="en-US" sz="939" spc="-1" strike="noStrike">
              <a:solidFill>
                <a:srgbClr val="000000"/>
              </a:solidFill>
              <a:latin typeface="Arial"/>
            </a:endParaRPr>
          </a:p>
        </p:txBody>
      </p:sp>
      <p:pic>
        <p:nvPicPr>
          <p:cNvPr id="207" name="" descr="Ein Polygon mit innerem Ring besitzt eine ausgesparte Fläche. Ein Multipart-Feature besteht aus zwei getrennten gefüllten Polygonen. Beide Beispiele haben je eine Tabellenzeile."/>
          <p:cNvPicPr/>
          <p:nvPr/>
        </p:nvPicPr>
        <p:blipFill>
          <a:blip r:embed="rId1">
            <a:extLst>
              <a:ext uri="{96DAC541-7B7A-43D3-8B79-37D633B846F1}">
                <asvg:svgBlip xmlns:asvg="http://schemas.microsoft.com/office/drawing/2016/SVG/main" r:embed="rId2"/>
              </a:ext>
            </a:extLst>
          </a:blip>
          <a:stretch/>
        </p:blipFill>
        <p:spPr>
          <a:xfrm>
            <a:off x="2666880" y="1638360"/>
            <a:ext cx="3467160" cy="4361040"/>
          </a:xfrm>
          <a:prstGeom prst="rect">
            <a:avLst/>
          </a:prstGeom>
          <a:ln w="0">
            <a:noFill/>
          </a:ln>
        </p:spPr>
      </p:pic>
      <p:sp>
        <p:nvSpPr>
          <p:cNvPr id="208" name=""/>
          <p:cNvSpPr/>
          <p:nvPr/>
        </p:nvSpPr>
        <p:spPr>
          <a:xfrm>
            <a:off x="6858000" y="2286000"/>
            <a:ext cx="3962520" cy="1295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9" name=""/>
          <p:cNvSpPr/>
          <p:nvPr/>
        </p:nvSpPr>
        <p:spPr>
          <a:xfrm>
            <a:off x="6858000" y="2286000"/>
            <a:ext cx="53280" cy="1295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10" name=""/>
          <p:cNvSpPr txBox="1"/>
          <p:nvPr/>
        </p:nvSpPr>
        <p:spPr>
          <a:xfrm>
            <a:off x="7063920" y="246888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Loch</a:t>
            </a:r>
            <a:endParaRPr b="0" lang="en-US" sz="2540" spc="-1" strike="noStrike">
              <a:solidFill>
                <a:srgbClr val="000000"/>
              </a:solidFill>
              <a:latin typeface="Arial"/>
            </a:endParaRPr>
          </a:p>
        </p:txBody>
      </p:sp>
      <p:sp>
        <p:nvSpPr>
          <p:cNvPr id="211" name=""/>
          <p:cNvSpPr txBox="1"/>
          <p:nvPr/>
        </p:nvSpPr>
        <p:spPr>
          <a:xfrm>
            <a:off x="7063920" y="3048120"/>
            <a:ext cx="3551040" cy="396360"/>
          </a:xfrm>
          <a:prstGeom prst="rect">
            <a:avLst/>
          </a:prstGeom>
          <a:noFill/>
          <a:ln w="0">
            <a:noFill/>
          </a:ln>
        </p:spPr>
        <p:txBody>
          <a:bodyPr lIns="0" rIns="0" tIns="0" bIns="0" anchor="t">
            <a:noAutofit/>
          </a:bodyPr>
          <a:p>
            <a:r>
              <a:rPr b="0" lang="en-US" sz="2160" spc="-1" strike="noStrike">
                <a:solidFill>
                  <a:srgbClr val="000000"/>
                </a:solidFill>
                <a:latin typeface="Noto Sans"/>
              </a:rPr>
              <a:t>ausgesparte Innenfläche</a:t>
            </a:r>
            <a:endParaRPr b="0" lang="en-US" sz="2160" spc="-1" strike="noStrike">
              <a:solidFill>
                <a:srgbClr val="000000"/>
              </a:solidFill>
              <a:latin typeface="Arial"/>
            </a:endParaRPr>
          </a:p>
        </p:txBody>
      </p:sp>
      <p:sp>
        <p:nvSpPr>
          <p:cNvPr id="212" name=""/>
          <p:cNvSpPr/>
          <p:nvPr/>
        </p:nvSpPr>
        <p:spPr>
          <a:xfrm>
            <a:off x="6858000" y="4000680"/>
            <a:ext cx="3962520" cy="1295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3" name=""/>
          <p:cNvSpPr/>
          <p:nvPr/>
        </p:nvSpPr>
        <p:spPr>
          <a:xfrm>
            <a:off x="6858000" y="4000680"/>
            <a:ext cx="53280" cy="12952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14" name=""/>
          <p:cNvSpPr txBox="1"/>
          <p:nvPr/>
        </p:nvSpPr>
        <p:spPr>
          <a:xfrm>
            <a:off x="7063920" y="4183560"/>
            <a:ext cx="3551040" cy="647640"/>
          </a:xfrm>
          <a:prstGeom prst="rect">
            <a:avLst/>
          </a:prstGeom>
          <a:noFill/>
          <a:ln w="0">
            <a:noFill/>
          </a:ln>
        </p:spPr>
        <p:txBody>
          <a:bodyPr lIns="0" rIns="0" tIns="0" bIns="0" anchor="t">
            <a:noAutofit/>
          </a:bodyPr>
          <a:p>
            <a:r>
              <a:rPr b="1" lang="en-US" sz="2540" spc="-1" strike="noStrike">
                <a:solidFill>
                  <a:srgbClr val="a32123"/>
                </a:solidFill>
                <a:latin typeface="Noto Sans"/>
              </a:rPr>
              <a:t>Multipart</a:t>
            </a:r>
            <a:endParaRPr b="0" lang="en-US" sz="2540" spc="-1" strike="noStrike">
              <a:solidFill>
                <a:srgbClr val="000000"/>
              </a:solidFill>
              <a:latin typeface="Arial"/>
            </a:endParaRPr>
          </a:p>
        </p:txBody>
      </p:sp>
      <p:sp>
        <p:nvSpPr>
          <p:cNvPr id="215" name=""/>
          <p:cNvSpPr txBox="1"/>
          <p:nvPr/>
        </p:nvSpPr>
        <p:spPr>
          <a:xfrm>
            <a:off x="7063920" y="4762440"/>
            <a:ext cx="3551040" cy="396360"/>
          </a:xfrm>
          <a:prstGeom prst="rect">
            <a:avLst/>
          </a:prstGeom>
          <a:noFill/>
          <a:ln w="0">
            <a:noFill/>
          </a:ln>
        </p:spPr>
        <p:txBody>
          <a:bodyPr lIns="0" rIns="0" tIns="0" bIns="0" anchor="t">
            <a:noAutofit/>
          </a:bodyPr>
          <a:p>
            <a:r>
              <a:rPr b="0" lang="en-US" sz="2070" spc="-1" strike="noStrike">
                <a:solidFill>
                  <a:srgbClr val="000000"/>
                </a:solidFill>
                <a:latin typeface="Noto Sans"/>
              </a:rPr>
              <a:t>getrennte Teile · eine Tabellenzeile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Räumliche Beziehungen unterscheiden</a:t>
            </a:r>
            <a:endParaRPr b="0" lang="en-US" sz="3190" spc="-1" strike="noStrike">
              <a:solidFill>
                <a:srgbClr val="000000"/>
              </a:solidFill>
              <a:latin typeface="Arial"/>
            </a:endParaRPr>
          </a:p>
        </p:txBody>
      </p:sp>
      <p:sp>
        <p:nvSpPr>
          <p:cNvPr id="21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VEKTORMODELL · LAGEBEZUG</a:t>
            </a:r>
            <a:endParaRPr b="0" lang="en-US" sz="1130" spc="-1" strike="noStrike">
              <a:solidFill>
                <a:srgbClr val="000000"/>
              </a:solidFill>
              <a:latin typeface="Arial"/>
            </a:endParaRPr>
          </a:p>
        </p:txBody>
      </p:sp>
      <p:sp>
        <p:nvSpPr>
          <p:cNvPr id="21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21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9</a:t>
            </a:r>
            <a:endParaRPr b="0" lang="en-US" sz="939" spc="-1" strike="noStrike">
              <a:solidFill>
                <a:srgbClr val="000000"/>
              </a:solidFill>
              <a:latin typeface="Arial"/>
            </a:endParaRPr>
          </a:p>
        </p:txBody>
      </p:sp>
      <p:sp>
        <p:nvSpPr>
          <p:cNvPr id="220" name=""/>
          <p:cNvSpPr/>
          <p:nvPr/>
        </p:nvSpPr>
        <p:spPr>
          <a:xfrm>
            <a:off x="647640" y="1752480"/>
            <a:ext cx="32536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1" name=""/>
          <p:cNvSpPr txBox="1"/>
          <p:nvPr/>
        </p:nvSpPr>
        <p:spPr>
          <a:xfrm>
            <a:off x="784800" y="1882080"/>
            <a:ext cx="3002400" cy="533520"/>
          </a:xfrm>
          <a:prstGeom prst="rect">
            <a:avLst/>
          </a:prstGeom>
          <a:noFill/>
          <a:ln w="0">
            <a:noFill/>
          </a:ln>
        </p:spPr>
        <p:txBody>
          <a:bodyPr lIns="0" rIns="0" tIns="0" bIns="0" anchor="t">
            <a:noAutofit/>
          </a:bodyPr>
          <a:p>
            <a:r>
              <a:rPr b="1" lang="en-US" sz="2070" spc="-1" strike="noStrike">
                <a:solidFill>
                  <a:srgbClr val="ffffff"/>
                </a:solidFill>
                <a:latin typeface="Noto Sans"/>
              </a:rPr>
              <a:t>Beziehung</a:t>
            </a:r>
            <a:endParaRPr b="0" lang="en-US" sz="2070" spc="-1" strike="noStrike">
              <a:solidFill>
                <a:srgbClr val="000000"/>
              </a:solidFill>
              <a:latin typeface="Arial"/>
            </a:endParaRPr>
          </a:p>
        </p:txBody>
      </p:sp>
      <p:sp>
        <p:nvSpPr>
          <p:cNvPr id="222" name=""/>
          <p:cNvSpPr/>
          <p:nvPr/>
        </p:nvSpPr>
        <p:spPr>
          <a:xfrm>
            <a:off x="3924360" y="1752480"/>
            <a:ext cx="75970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3" name=""/>
          <p:cNvSpPr txBox="1"/>
          <p:nvPr/>
        </p:nvSpPr>
        <p:spPr>
          <a:xfrm>
            <a:off x="4061520" y="1882080"/>
            <a:ext cx="7345800" cy="533520"/>
          </a:xfrm>
          <a:prstGeom prst="rect">
            <a:avLst/>
          </a:prstGeom>
          <a:noFill/>
          <a:ln w="0">
            <a:noFill/>
          </a:ln>
        </p:spPr>
        <p:txBody>
          <a:bodyPr lIns="0" rIns="0" tIns="0" bIns="0" anchor="t">
            <a:noAutofit/>
          </a:bodyPr>
          <a:p>
            <a:r>
              <a:rPr b="1" lang="en-US" sz="2070" spc="-1" strike="noStrike">
                <a:solidFill>
                  <a:srgbClr val="ffffff"/>
                </a:solidFill>
                <a:latin typeface="Noto Sans"/>
              </a:rPr>
              <a:t>Beispiel</a:t>
            </a:r>
            <a:endParaRPr b="0" lang="en-US" sz="2070" spc="-1" strike="noStrike">
              <a:solidFill>
                <a:srgbClr val="000000"/>
              </a:solidFill>
              <a:latin typeface="Arial"/>
            </a:endParaRPr>
          </a:p>
        </p:txBody>
      </p:sp>
      <p:sp>
        <p:nvSpPr>
          <p:cNvPr id="224" name=""/>
          <p:cNvSpPr/>
          <p:nvPr/>
        </p:nvSpPr>
        <p:spPr>
          <a:xfrm>
            <a:off x="647640" y="2438280"/>
            <a:ext cx="3253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5" name=""/>
          <p:cNvSpPr txBox="1"/>
          <p:nvPr/>
        </p:nvSpPr>
        <p:spPr>
          <a:xfrm>
            <a:off x="784800" y="2567880"/>
            <a:ext cx="3002400" cy="533520"/>
          </a:xfrm>
          <a:prstGeom prst="rect">
            <a:avLst/>
          </a:prstGeom>
          <a:noFill/>
          <a:ln w="0">
            <a:noFill/>
          </a:ln>
        </p:spPr>
        <p:txBody>
          <a:bodyPr lIns="0" rIns="0" tIns="0" bIns="0" anchor="t">
            <a:noAutofit/>
          </a:bodyPr>
          <a:p>
            <a:r>
              <a:rPr b="0" lang="en-US" sz="2070" spc="-1" strike="noStrike">
                <a:solidFill>
                  <a:srgbClr val="000000"/>
                </a:solidFill>
                <a:latin typeface="Noto Sans"/>
              </a:rPr>
              <a:t>innerhalb</a:t>
            </a:r>
            <a:endParaRPr b="0" lang="en-US" sz="2070" spc="-1" strike="noStrike">
              <a:solidFill>
                <a:srgbClr val="000000"/>
              </a:solidFill>
              <a:latin typeface="Arial"/>
            </a:endParaRPr>
          </a:p>
        </p:txBody>
      </p:sp>
      <p:sp>
        <p:nvSpPr>
          <p:cNvPr id="226" name=""/>
          <p:cNvSpPr/>
          <p:nvPr/>
        </p:nvSpPr>
        <p:spPr>
          <a:xfrm>
            <a:off x="3924360" y="2438280"/>
            <a:ext cx="7597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7" name=""/>
          <p:cNvSpPr txBox="1"/>
          <p:nvPr/>
        </p:nvSpPr>
        <p:spPr>
          <a:xfrm>
            <a:off x="4061520" y="2567880"/>
            <a:ext cx="7345800" cy="533520"/>
          </a:xfrm>
          <a:prstGeom prst="rect">
            <a:avLst/>
          </a:prstGeom>
          <a:noFill/>
          <a:ln w="0">
            <a:noFill/>
          </a:ln>
        </p:spPr>
        <p:txBody>
          <a:bodyPr lIns="0" rIns="0" tIns="0" bIns="0" anchor="t">
            <a:noAutofit/>
          </a:bodyPr>
          <a:p>
            <a:r>
              <a:rPr b="0" lang="en-US" sz="2070" spc="-1" strike="noStrike">
                <a:solidFill>
                  <a:srgbClr val="000000"/>
                </a:solidFill>
                <a:latin typeface="Noto Sans"/>
              </a:rPr>
              <a:t>Punkt liegt im Inneren eines Polygons</a:t>
            </a:r>
            <a:endParaRPr b="0" lang="en-US" sz="2070" spc="-1" strike="noStrike">
              <a:solidFill>
                <a:srgbClr val="000000"/>
              </a:solidFill>
              <a:latin typeface="Arial"/>
            </a:endParaRPr>
          </a:p>
        </p:txBody>
      </p:sp>
      <p:sp>
        <p:nvSpPr>
          <p:cNvPr id="228" name=""/>
          <p:cNvSpPr/>
          <p:nvPr/>
        </p:nvSpPr>
        <p:spPr>
          <a:xfrm>
            <a:off x="647640" y="3124080"/>
            <a:ext cx="3253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9" name=""/>
          <p:cNvSpPr txBox="1"/>
          <p:nvPr/>
        </p:nvSpPr>
        <p:spPr>
          <a:xfrm>
            <a:off x="784800" y="3253680"/>
            <a:ext cx="3002400" cy="533520"/>
          </a:xfrm>
          <a:prstGeom prst="rect">
            <a:avLst/>
          </a:prstGeom>
          <a:noFill/>
          <a:ln w="0">
            <a:noFill/>
          </a:ln>
        </p:spPr>
        <p:txBody>
          <a:bodyPr lIns="0" rIns="0" tIns="0" bIns="0" anchor="t">
            <a:noAutofit/>
          </a:bodyPr>
          <a:p>
            <a:r>
              <a:rPr b="0" lang="en-US" sz="2070" spc="-1" strike="noStrike">
                <a:solidFill>
                  <a:srgbClr val="000000"/>
                </a:solidFill>
                <a:latin typeface="Noto Sans"/>
              </a:rPr>
              <a:t>enthält</a:t>
            </a:r>
            <a:endParaRPr b="0" lang="en-US" sz="2070" spc="-1" strike="noStrike">
              <a:solidFill>
                <a:srgbClr val="000000"/>
              </a:solidFill>
              <a:latin typeface="Arial"/>
            </a:endParaRPr>
          </a:p>
        </p:txBody>
      </p:sp>
      <p:sp>
        <p:nvSpPr>
          <p:cNvPr id="230" name=""/>
          <p:cNvSpPr/>
          <p:nvPr/>
        </p:nvSpPr>
        <p:spPr>
          <a:xfrm>
            <a:off x="3924360" y="3124080"/>
            <a:ext cx="7597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1" name=""/>
          <p:cNvSpPr txBox="1"/>
          <p:nvPr/>
        </p:nvSpPr>
        <p:spPr>
          <a:xfrm>
            <a:off x="4061520" y="3253680"/>
            <a:ext cx="7345800" cy="533520"/>
          </a:xfrm>
          <a:prstGeom prst="rect">
            <a:avLst/>
          </a:prstGeom>
          <a:noFill/>
          <a:ln w="0">
            <a:noFill/>
          </a:ln>
        </p:spPr>
        <p:txBody>
          <a:bodyPr lIns="0" rIns="0" tIns="0" bIns="0" anchor="t">
            <a:noAutofit/>
          </a:bodyPr>
          <a:p>
            <a:r>
              <a:rPr b="0" lang="en-US" sz="2070" spc="-1" strike="noStrike">
                <a:solidFill>
                  <a:srgbClr val="000000"/>
                </a:solidFill>
                <a:latin typeface="Noto Sans"/>
              </a:rPr>
              <a:t>Polygon enthält einen Punkt</a:t>
            </a:r>
            <a:endParaRPr b="0" lang="en-US" sz="2070" spc="-1" strike="noStrike">
              <a:solidFill>
                <a:srgbClr val="000000"/>
              </a:solidFill>
              <a:latin typeface="Arial"/>
            </a:endParaRPr>
          </a:p>
        </p:txBody>
      </p:sp>
      <p:sp>
        <p:nvSpPr>
          <p:cNvPr id="232" name=""/>
          <p:cNvSpPr/>
          <p:nvPr/>
        </p:nvSpPr>
        <p:spPr>
          <a:xfrm>
            <a:off x="647640" y="3809880"/>
            <a:ext cx="32536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3" name=""/>
          <p:cNvSpPr txBox="1"/>
          <p:nvPr/>
        </p:nvSpPr>
        <p:spPr>
          <a:xfrm>
            <a:off x="784800" y="3939480"/>
            <a:ext cx="3002400" cy="533520"/>
          </a:xfrm>
          <a:prstGeom prst="rect">
            <a:avLst/>
          </a:prstGeom>
          <a:noFill/>
          <a:ln w="0">
            <a:noFill/>
          </a:ln>
        </p:spPr>
        <p:txBody>
          <a:bodyPr lIns="0" rIns="0" tIns="0" bIns="0" anchor="t">
            <a:noAutofit/>
          </a:bodyPr>
          <a:p>
            <a:r>
              <a:rPr b="0" lang="en-US" sz="2070" spc="-1" strike="noStrike">
                <a:solidFill>
                  <a:srgbClr val="000000"/>
                </a:solidFill>
                <a:latin typeface="Noto Sans"/>
              </a:rPr>
              <a:t>schneidet</a:t>
            </a:r>
            <a:endParaRPr b="0" lang="en-US" sz="2070" spc="-1" strike="noStrike">
              <a:solidFill>
                <a:srgbClr val="000000"/>
              </a:solidFill>
              <a:latin typeface="Arial"/>
            </a:endParaRPr>
          </a:p>
        </p:txBody>
      </p:sp>
      <p:sp>
        <p:nvSpPr>
          <p:cNvPr id="234" name=""/>
          <p:cNvSpPr/>
          <p:nvPr/>
        </p:nvSpPr>
        <p:spPr>
          <a:xfrm>
            <a:off x="3924360" y="3809880"/>
            <a:ext cx="75970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5" name=""/>
          <p:cNvSpPr txBox="1"/>
          <p:nvPr/>
        </p:nvSpPr>
        <p:spPr>
          <a:xfrm>
            <a:off x="4061520" y="3939480"/>
            <a:ext cx="7345800" cy="533520"/>
          </a:xfrm>
          <a:prstGeom prst="rect">
            <a:avLst/>
          </a:prstGeom>
          <a:noFill/>
          <a:ln w="0">
            <a:noFill/>
          </a:ln>
        </p:spPr>
        <p:txBody>
          <a:bodyPr lIns="0" rIns="0" tIns="0" bIns="0" anchor="t">
            <a:noAutofit/>
          </a:bodyPr>
          <a:p>
            <a:r>
              <a:rPr b="0" lang="en-US" sz="2070" spc="-1" strike="noStrike">
                <a:solidFill>
                  <a:srgbClr val="000000"/>
                </a:solidFill>
                <a:latin typeface="Noto Sans"/>
              </a:rPr>
              <a:t>Geometrien besitzen mindestens einen gemeinsamen Ort</a:t>
            </a:r>
            <a:endParaRPr b="0" lang="en-US" sz="2070" spc="-1" strike="noStrike">
              <a:solidFill>
                <a:srgbClr val="000000"/>
              </a:solidFill>
              <a:latin typeface="Arial"/>
            </a:endParaRPr>
          </a:p>
        </p:txBody>
      </p:sp>
      <p:sp>
        <p:nvSpPr>
          <p:cNvPr id="236" name=""/>
          <p:cNvSpPr/>
          <p:nvPr/>
        </p:nvSpPr>
        <p:spPr>
          <a:xfrm>
            <a:off x="647640" y="4495680"/>
            <a:ext cx="32536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7" name=""/>
          <p:cNvSpPr txBox="1"/>
          <p:nvPr/>
        </p:nvSpPr>
        <p:spPr>
          <a:xfrm>
            <a:off x="784800" y="4625280"/>
            <a:ext cx="3002400" cy="533520"/>
          </a:xfrm>
          <a:prstGeom prst="rect">
            <a:avLst/>
          </a:prstGeom>
          <a:noFill/>
          <a:ln w="0">
            <a:noFill/>
          </a:ln>
        </p:spPr>
        <p:txBody>
          <a:bodyPr lIns="0" rIns="0" tIns="0" bIns="0" anchor="t">
            <a:noAutofit/>
          </a:bodyPr>
          <a:p>
            <a:r>
              <a:rPr b="0" lang="en-US" sz="2070" spc="-1" strike="noStrike">
                <a:solidFill>
                  <a:srgbClr val="000000"/>
                </a:solidFill>
                <a:latin typeface="Noto Sans"/>
              </a:rPr>
              <a:t>berührt</a:t>
            </a:r>
            <a:endParaRPr b="0" lang="en-US" sz="2070" spc="-1" strike="noStrike">
              <a:solidFill>
                <a:srgbClr val="000000"/>
              </a:solidFill>
              <a:latin typeface="Arial"/>
            </a:endParaRPr>
          </a:p>
        </p:txBody>
      </p:sp>
      <p:sp>
        <p:nvSpPr>
          <p:cNvPr id="238" name=""/>
          <p:cNvSpPr/>
          <p:nvPr/>
        </p:nvSpPr>
        <p:spPr>
          <a:xfrm>
            <a:off x="3924360" y="4495680"/>
            <a:ext cx="75970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9" name=""/>
          <p:cNvSpPr txBox="1"/>
          <p:nvPr/>
        </p:nvSpPr>
        <p:spPr>
          <a:xfrm>
            <a:off x="4061520" y="4625280"/>
            <a:ext cx="7345800" cy="533520"/>
          </a:xfrm>
          <a:prstGeom prst="rect">
            <a:avLst/>
          </a:prstGeom>
          <a:noFill/>
          <a:ln w="0">
            <a:noFill/>
          </a:ln>
        </p:spPr>
        <p:txBody>
          <a:bodyPr lIns="0" rIns="0" tIns="0" bIns="0" anchor="t">
            <a:noAutofit/>
          </a:bodyPr>
          <a:p>
            <a:r>
              <a:rPr b="0" lang="en-US" sz="2070" spc="-1" strike="noStrike">
                <a:solidFill>
                  <a:srgbClr val="000000"/>
                </a:solidFill>
                <a:latin typeface="Noto Sans"/>
              </a:rPr>
              <a:t>Grenzen treffen sich ohne Überlappung der Inneren</a:t>
            </a:r>
            <a:endParaRPr b="0" lang="en-US" sz="2070" spc="-1" strike="noStrike">
              <a:solidFill>
                <a:srgbClr val="000000"/>
              </a:solidFill>
              <a:latin typeface="Arial"/>
            </a:endParaRPr>
          </a:p>
        </p:txBody>
      </p:sp>
      <p:sp>
        <p:nvSpPr>
          <p:cNvPr id="24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1"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Die verwendete Beziehung gehört in die Ergebnisdokumentation.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Zählt ein Punkt auf der Grenze mit?</a:t>
            </a:r>
            <a:endParaRPr b="0" lang="en-US" sz="3190" spc="-1" strike="noStrike">
              <a:solidFill>
                <a:srgbClr val="000000"/>
              </a:solidFill>
              <a:latin typeface="Arial"/>
            </a:endParaRPr>
          </a:p>
        </p:txBody>
      </p:sp>
      <p:sp>
        <p:nvSpPr>
          <p:cNvPr id="24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VEKTORMODELL · GRENZFALL VORMERKEN</a:t>
            </a:r>
            <a:endParaRPr b="0" lang="en-US" sz="1130" spc="-1" strike="noStrike">
              <a:solidFill>
                <a:srgbClr val="000000"/>
              </a:solidFill>
              <a:latin typeface="Arial"/>
            </a:endParaRPr>
          </a:p>
        </p:txBody>
      </p:sp>
      <p:sp>
        <p:nvSpPr>
          <p:cNvPr id="24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24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10</a:t>
            </a:r>
            <a:endParaRPr b="0" lang="en-US" sz="939" spc="-1" strike="noStrike">
              <a:solidFill>
                <a:srgbClr val="000000"/>
              </a:solidFill>
              <a:latin typeface="Arial"/>
            </a:endParaRPr>
          </a:p>
        </p:txBody>
      </p:sp>
      <p:sp>
        <p:nvSpPr>
          <p:cNvPr id="246" name=""/>
          <p:cNvSpPr/>
          <p:nvPr/>
        </p:nvSpPr>
        <p:spPr>
          <a:xfrm>
            <a:off x="1523880" y="2057400"/>
            <a:ext cx="9144000" cy="228600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247" name=""/>
          <p:cNvSpPr txBox="1"/>
          <p:nvPr/>
        </p:nvSpPr>
        <p:spPr>
          <a:xfrm>
            <a:off x="1905120" y="2514600"/>
            <a:ext cx="8382240" cy="762120"/>
          </a:xfrm>
          <a:prstGeom prst="rect">
            <a:avLst/>
          </a:prstGeom>
          <a:noFill/>
          <a:ln w="0">
            <a:noFill/>
          </a:ln>
        </p:spPr>
        <p:txBody>
          <a:bodyPr lIns="0" rIns="0" tIns="0" bIns="0" anchor="t">
            <a:noAutofit/>
          </a:bodyPr>
          <a:p>
            <a:pPr algn="ctr"/>
            <a:r>
              <a:rPr b="1" lang="en-US" sz="3190" spc="-1" strike="noStrike">
                <a:solidFill>
                  <a:srgbClr val="000000"/>
                </a:solidFill>
                <a:latin typeface="Noto Sans"/>
              </a:rPr>
              <a:t>A innen · B genau auf der Grenze · C außen</a:t>
            </a:r>
            <a:endParaRPr b="0" lang="en-US" sz="3190" spc="-1" strike="noStrike">
              <a:solidFill>
                <a:srgbClr val="000000"/>
              </a:solidFill>
              <a:latin typeface="Arial"/>
            </a:endParaRPr>
          </a:p>
        </p:txBody>
      </p:sp>
      <p:sp>
        <p:nvSpPr>
          <p:cNvPr id="248" name=""/>
          <p:cNvSpPr txBox="1"/>
          <p:nvPr/>
        </p:nvSpPr>
        <p:spPr>
          <a:xfrm>
            <a:off x="1905120" y="3543480"/>
            <a:ext cx="8382240" cy="533520"/>
          </a:xfrm>
          <a:prstGeom prst="rect">
            <a:avLst/>
          </a:prstGeom>
          <a:noFill/>
          <a:ln w="0">
            <a:noFill/>
          </a:ln>
        </p:spPr>
        <p:txBody>
          <a:bodyPr lIns="0" rIns="0" tIns="0" bIns="0" anchor="t">
            <a:noAutofit/>
          </a:bodyPr>
          <a:p>
            <a:pPr algn="ctr"/>
            <a:r>
              <a:rPr b="1" lang="en-US" sz="2630" spc="-1" strike="noStrike">
                <a:solidFill>
                  <a:srgbClr val="004899"/>
                </a:solidFill>
                <a:latin typeface="Noto Sans"/>
              </a:rPr>
              <a:t>Welche Punkte wählt „schneidet“ – und welche „innerhalb“?</a:t>
            </a:r>
            <a:endParaRPr b="0" lang="en-US" sz="2630" spc="-1" strike="noStrike">
              <a:solidFill>
                <a:srgbClr val="000000"/>
              </a:solidFill>
              <a:latin typeface="Arial"/>
            </a:endParaRPr>
          </a:p>
        </p:txBody>
      </p:sp>
      <p:sp>
        <p:nvSpPr>
          <p:cNvPr id="24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0"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Hypothese notieren · Auflösung in Minute 82</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 Geoportal ist noch kein Datensatz</a:t>
            </a:r>
            <a:endParaRPr b="0" lang="en-US" sz="3190" spc="-1" strike="noStrike">
              <a:solidFill>
                <a:srgbClr val="000000"/>
              </a:solidFill>
              <a:latin typeface="Arial"/>
            </a:endParaRPr>
          </a:p>
        </p:txBody>
      </p:sp>
      <p:sp>
        <p:nvSpPr>
          <p:cNvPr id="25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GEOPORTALE · ORIENTIERUNG</a:t>
            </a:r>
            <a:endParaRPr b="0" lang="en-US" sz="1130" spc="-1" strike="noStrike">
              <a:solidFill>
                <a:srgbClr val="000000"/>
              </a:solidFill>
              <a:latin typeface="Arial"/>
            </a:endParaRPr>
          </a:p>
        </p:txBody>
      </p:sp>
      <p:sp>
        <p:nvSpPr>
          <p:cNvPr id="25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25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11</a:t>
            </a:r>
            <a:endParaRPr b="0" lang="en-US" sz="939" spc="-1" strike="noStrike">
              <a:solidFill>
                <a:srgbClr val="000000"/>
              </a:solidFill>
              <a:latin typeface="Arial"/>
            </a:endParaRPr>
          </a:p>
        </p:txBody>
      </p:sp>
      <p:sp>
        <p:nvSpPr>
          <p:cNvPr id="255" name=""/>
          <p:cNvSpPr/>
          <p:nvPr/>
        </p:nvSpPr>
        <p:spPr>
          <a:xfrm>
            <a:off x="762120" y="2171880"/>
            <a:ext cx="2514600" cy="2095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6" name=""/>
          <p:cNvSpPr/>
          <p:nvPr/>
        </p:nvSpPr>
        <p:spPr>
          <a:xfrm>
            <a:off x="762120" y="2171880"/>
            <a:ext cx="53280" cy="20955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7" name=""/>
          <p:cNvSpPr txBox="1"/>
          <p:nvPr/>
        </p:nvSpPr>
        <p:spPr>
          <a:xfrm>
            <a:off x="967680" y="23547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Suchen</a:t>
            </a:r>
            <a:endParaRPr b="0" lang="en-US" sz="2540" spc="-1" strike="noStrike">
              <a:solidFill>
                <a:srgbClr val="000000"/>
              </a:solidFill>
              <a:latin typeface="Arial"/>
            </a:endParaRPr>
          </a:p>
        </p:txBody>
      </p:sp>
      <p:sp>
        <p:nvSpPr>
          <p:cNvPr id="258" name=""/>
          <p:cNvSpPr txBox="1"/>
          <p:nvPr/>
        </p:nvSpPr>
        <p:spPr>
          <a:xfrm>
            <a:off x="967680" y="3116520"/>
            <a:ext cx="2103120" cy="1013400"/>
          </a:xfrm>
          <a:prstGeom prst="rect">
            <a:avLst/>
          </a:prstGeom>
          <a:noFill/>
          <a:ln w="0">
            <a:noFill/>
          </a:ln>
        </p:spPr>
        <p:txBody>
          <a:bodyPr lIns="0" rIns="0" tIns="0" bIns="0" anchor="t">
            <a:noAutofit/>
          </a:bodyPr>
          <a:p>
            <a:r>
              <a:rPr b="0" lang="en-US" sz="2070" spc="-1" strike="noStrike">
                <a:solidFill>
                  <a:srgbClr val="000000"/>
                </a:solidFill>
                <a:latin typeface="Noto Sans"/>
              </a:rPr>
              <a:t>Thema und Gebiet</a:t>
            </a:r>
            <a:endParaRPr b="0" lang="en-US" sz="2070" spc="-1" strike="noStrike">
              <a:solidFill>
                <a:srgbClr val="000000"/>
              </a:solidFill>
              <a:latin typeface="Arial"/>
            </a:endParaRPr>
          </a:p>
        </p:txBody>
      </p:sp>
      <p:sp>
        <p:nvSpPr>
          <p:cNvPr id="259" name=""/>
          <p:cNvSpPr/>
          <p:nvPr/>
        </p:nvSpPr>
        <p:spPr>
          <a:xfrm>
            <a:off x="3619440" y="2171880"/>
            <a:ext cx="2514600" cy="2095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0" name=""/>
          <p:cNvSpPr/>
          <p:nvPr/>
        </p:nvSpPr>
        <p:spPr>
          <a:xfrm>
            <a:off x="3619440" y="2171880"/>
            <a:ext cx="53280" cy="20955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1" name=""/>
          <p:cNvSpPr txBox="1"/>
          <p:nvPr/>
        </p:nvSpPr>
        <p:spPr>
          <a:xfrm>
            <a:off x="3825360" y="23547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Prüfen</a:t>
            </a:r>
            <a:endParaRPr b="0" lang="en-US" sz="2540" spc="-1" strike="noStrike">
              <a:solidFill>
                <a:srgbClr val="000000"/>
              </a:solidFill>
              <a:latin typeface="Arial"/>
            </a:endParaRPr>
          </a:p>
        </p:txBody>
      </p:sp>
      <p:sp>
        <p:nvSpPr>
          <p:cNvPr id="262" name=""/>
          <p:cNvSpPr txBox="1"/>
          <p:nvPr/>
        </p:nvSpPr>
        <p:spPr>
          <a:xfrm>
            <a:off x="3825360" y="3116520"/>
            <a:ext cx="2103120" cy="1013400"/>
          </a:xfrm>
          <a:prstGeom prst="rect">
            <a:avLst/>
          </a:prstGeom>
          <a:noFill/>
          <a:ln w="0">
            <a:noFill/>
          </a:ln>
        </p:spPr>
        <p:txBody>
          <a:bodyPr lIns="0" rIns="0" tIns="0" bIns="0" anchor="t">
            <a:noAutofit/>
          </a:bodyPr>
          <a:p>
            <a:r>
              <a:rPr b="0" lang="en-US" sz="2070" spc="-1" strike="noStrike">
                <a:solidFill>
                  <a:srgbClr val="000000"/>
                </a:solidFill>
                <a:latin typeface="Noto Sans"/>
              </a:rPr>
              <a:t>Metadaten und Zugang</a:t>
            </a:r>
            <a:endParaRPr b="0" lang="en-US" sz="2070" spc="-1" strike="noStrike">
              <a:solidFill>
                <a:srgbClr val="000000"/>
              </a:solidFill>
              <a:latin typeface="Arial"/>
            </a:endParaRPr>
          </a:p>
        </p:txBody>
      </p:sp>
      <p:sp>
        <p:nvSpPr>
          <p:cNvPr id="263" name=""/>
          <p:cNvSpPr/>
          <p:nvPr/>
        </p:nvSpPr>
        <p:spPr>
          <a:xfrm>
            <a:off x="6477120" y="2171880"/>
            <a:ext cx="2514600" cy="2095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4" name=""/>
          <p:cNvSpPr/>
          <p:nvPr/>
        </p:nvSpPr>
        <p:spPr>
          <a:xfrm>
            <a:off x="6477120" y="2171880"/>
            <a:ext cx="53280" cy="20955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5" name=""/>
          <p:cNvSpPr txBox="1"/>
          <p:nvPr/>
        </p:nvSpPr>
        <p:spPr>
          <a:xfrm>
            <a:off x="6682680" y="23547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Beziehen</a:t>
            </a:r>
            <a:endParaRPr b="0" lang="en-US" sz="2540" spc="-1" strike="noStrike">
              <a:solidFill>
                <a:srgbClr val="000000"/>
              </a:solidFill>
              <a:latin typeface="Arial"/>
            </a:endParaRPr>
          </a:p>
        </p:txBody>
      </p:sp>
      <p:sp>
        <p:nvSpPr>
          <p:cNvPr id="266" name=""/>
          <p:cNvSpPr txBox="1"/>
          <p:nvPr/>
        </p:nvSpPr>
        <p:spPr>
          <a:xfrm>
            <a:off x="6682680" y="3116520"/>
            <a:ext cx="2103120" cy="1013400"/>
          </a:xfrm>
          <a:prstGeom prst="rect">
            <a:avLst/>
          </a:prstGeom>
          <a:noFill/>
          <a:ln w="0">
            <a:noFill/>
          </a:ln>
        </p:spPr>
        <p:txBody>
          <a:bodyPr lIns="0" rIns="0" tIns="0" bIns="0" anchor="t">
            <a:noAutofit/>
          </a:bodyPr>
          <a:p>
            <a:r>
              <a:rPr b="0" lang="en-US" sz="2070" spc="-1" strike="noStrike">
                <a:solidFill>
                  <a:srgbClr val="000000"/>
                </a:solidFill>
                <a:latin typeface="Noto Sans"/>
              </a:rPr>
              <a:t>Download oder WFS</a:t>
            </a:r>
            <a:endParaRPr b="0" lang="en-US" sz="2070" spc="-1" strike="noStrike">
              <a:solidFill>
                <a:srgbClr val="000000"/>
              </a:solidFill>
              <a:latin typeface="Arial"/>
            </a:endParaRPr>
          </a:p>
        </p:txBody>
      </p:sp>
      <p:sp>
        <p:nvSpPr>
          <p:cNvPr id="267" name=""/>
          <p:cNvSpPr/>
          <p:nvPr/>
        </p:nvSpPr>
        <p:spPr>
          <a:xfrm>
            <a:off x="9334440" y="2171880"/>
            <a:ext cx="2514600" cy="2095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8" name=""/>
          <p:cNvSpPr/>
          <p:nvPr/>
        </p:nvSpPr>
        <p:spPr>
          <a:xfrm>
            <a:off x="9334440" y="2171880"/>
            <a:ext cx="53280" cy="20955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9" name=""/>
          <p:cNvSpPr txBox="1"/>
          <p:nvPr/>
        </p:nvSpPr>
        <p:spPr>
          <a:xfrm>
            <a:off x="9540360" y="2354760"/>
            <a:ext cx="2103120" cy="647640"/>
          </a:xfrm>
          <a:prstGeom prst="rect">
            <a:avLst/>
          </a:prstGeom>
          <a:noFill/>
          <a:ln w="0">
            <a:noFill/>
          </a:ln>
        </p:spPr>
        <p:txBody>
          <a:bodyPr lIns="0" rIns="0" tIns="0" bIns="0" anchor="t">
            <a:noAutofit/>
          </a:bodyPr>
          <a:p>
            <a:r>
              <a:rPr b="1" lang="en-US" sz="2540" spc="-1" strike="noStrike">
                <a:solidFill>
                  <a:srgbClr val="004899"/>
                </a:solidFill>
                <a:latin typeface="Noto Sans"/>
              </a:rPr>
              <a:t>Nutzen</a:t>
            </a:r>
            <a:endParaRPr b="0" lang="en-US" sz="2540" spc="-1" strike="noStrike">
              <a:solidFill>
                <a:srgbClr val="000000"/>
              </a:solidFill>
              <a:latin typeface="Arial"/>
            </a:endParaRPr>
          </a:p>
        </p:txBody>
      </p:sp>
      <p:sp>
        <p:nvSpPr>
          <p:cNvPr id="270" name=""/>
          <p:cNvSpPr txBox="1"/>
          <p:nvPr/>
        </p:nvSpPr>
        <p:spPr>
          <a:xfrm>
            <a:off x="9540360" y="3116520"/>
            <a:ext cx="2103120" cy="1013400"/>
          </a:xfrm>
          <a:prstGeom prst="rect">
            <a:avLst/>
          </a:prstGeom>
          <a:noFill/>
          <a:ln w="0">
            <a:noFill/>
          </a:ln>
        </p:spPr>
        <p:txBody>
          <a:bodyPr lIns="0" rIns="0" tIns="0" bIns="0" anchor="t">
            <a:noAutofit/>
          </a:bodyPr>
          <a:p>
            <a:r>
              <a:rPr b="0" lang="en-US" sz="2070" spc="-1" strike="noStrike">
                <a:solidFill>
                  <a:srgbClr val="000000"/>
                </a:solidFill>
                <a:latin typeface="Noto Sans"/>
              </a:rPr>
              <a:t>lokal dokumentieren</a:t>
            </a:r>
            <a:endParaRPr b="0" lang="en-US" sz="2070" spc="-1" strike="noStrike">
              <a:solidFill>
                <a:srgbClr val="000000"/>
              </a:solidFill>
              <a:latin typeface="Arial"/>
            </a:endParaRPr>
          </a:p>
        </p:txBody>
      </p:sp>
      <p:sp>
        <p:nvSpPr>
          <p:cNvPr id="27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2"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Kartenansicht entdecken · Metadaten entscheiden · Features analysieren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Kartenbild oder analysierbare Features?</a:t>
            </a:r>
            <a:endParaRPr b="0" lang="en-US" sz="3190" spc="-1" strike="noStrike">
              <a:solidFill>
                <a:srgbClr val="000000"/>
              </a:solidFill>
              <a:latin typeface="Arial"/>
            </a:endParaRPr>
          </a:p>
        </p:txBody>
      </p:sp>
      <p:sp>
        <p:nvSpPr>
          <p:cNvPr id="27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GEOPORTALE · WMS, WFS, DOWNLOAD</a:t>
            </a:r>
            <a:endParaRPr b="0" lang="en-US" sz="1130" spc="-1" strike="noStrike">
              <a:solidFill>
                <a:srgbClr val="000000"/>
              </a:solidFill>
              <a:latin typeface="Arial"/>
            </a:endParaRPr>
          </a:p>
        </p:txBody>
      </p:sp>
      <p:sp>
        <p:nvSpPr>
          <p:cNvPr id="27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27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12</a:t>
            </a:r>
            <a:endParaRPr b="0" lang="en-US" sz="939" spc="-1" strike="noStrike">
              <a:solidFill>
                <a:srgbClr val="000000"/>
              </a:solidFill>
              <a:latin typeface="Arial"/>
            </a:endParaRPr>
          </a:p>
        </p:txBody>
      </p:sp>
      <p:sp>
        <p:nvSpPr>
          <p:cNvPr id="277" name=""/>
          <p:cNvSpPr/>
          <p:nvPr/>
        </p:nvSpPr>
        <p:spPr>
          <a:xfrm>
            <a:off x="647640" y="1866960"/>
            <a:ext cx="22633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8" name=""/>
          <p:cNvSpPr txBox="1"/>
          <p:nvPr/>
        </p:nvSpPr>
        <p:spPr>
          <a:xfrm>
            <a:off x="784800" y="1996560"/>
            <a:ext cx="2011680" cy="647640"/>
          </a:xfrm>
          <a:prstGeom prst="rect">
            <a:avLst/>
          </a:prstGeom>
          <a:noFill/>
          <a:ln w="0">
            <a:noFill/>
          </a:ln>
        </p:spPr>
        <p:txBody>
          <a:bodyPr lIns="0" rIns="0" tIns="0" bIns="0" anchor="t">
            <a:noAutofit/>
          </a:bodyPr>
          <a:p>
            <a:r>
              <a:rPr b="1" lang="en-US" sz="1979" spc="-1" strike="noStrike">
                <a:solidFill>
                  <a:srgbClr val="ffffff"/>
                </a:solidFill>
                <a:latin typeface="Noto Sans"/>
              </a:rPr>
              <a:t>Angebot</a:t>
            </a:r>
            <a:endParaRPr b="0" lang="en-US" sz="1979" spc="-1" strike="noStrike">
              <a:solidFill>
                <a:srgbClr val="000000"/>
              </a:solidFill>
              <a:latin typeface="Arial"/>
            </a:endParaRPr>
          </a:p>
        </p:txBody>
      </p:sp>
      <p:sp>
        <p:nvSpPr>
          <p:cNvPr id="279" name=""/>
          <p:cNvSpPr/>
          <p:nvPr/>
        </p:nvSpPr>
        <p:spPr>
          <a:xfrm>
            <a:off x="2933640" y="1866960"/>
            <a:ext cx="56923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0" name=""/>
          <p:cNvSpPr txBox="1"/>
          <p:nvPr/>
        </p:nvSpPr>
        <p:spPr>
          <a:xfrm>
            <a:off x="3070800" y="1996560"/>
            <a:ext cx="5440680" cy="647640"/>
          </a:xfrm>
          <a:prstGeom prst="rect">
            <a:avLst/>
          </a:prstGeom>
          <a:noFill/>
          <a:ln w="0">
            <a:noFill/>
          </a:ln>
        </p:spPr>
        <p:txBody>
          <a:bodyPr lIns="0" rIns="0" tIns="0" bIns="0" anchor="t">
            <a:noAutofit/>
          </a:bodyPr>
          <a:p>
            <a:r>
              <a:rPr b="1" lang="en-US" sz="1979" spc="-1" strike="noStrike">
                <a:solidFill>
                  <a:srgbClr val="ffffff"/>
                </a:solidFill>
                <a:latin typeface="Noto Sans"/>
              </a:rPr>
              <a:t>Ergebnis</a:t>
            </a:r>
            <a:endParaRPr b="0" lang="en-US" sz="1979" spc="-1" strike="noStrike">
              <a:solidFill>
                <a:srgbClr val="000000"/>
              </a:solidFill>
              <a:latin typeface="Arial"/>
            </a:endParaRPr>
          </a:p>
        </p:txBody>
      </p:sp>
      <p:sp>
        <p:nvSpPr>
          <p:cNvPr id="281" name=""/>
          <p:cNvSpPr/>
          <p:nvPr/>
        </p:nvSpPr>
        <p:spPr>
          <a:xfrm>
            <a:off x="8648640" y="1866960"/>
            <a:ext cx="287280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2" name=""/>
          <p:cNvSpPr txBox="1"/>
          <p:nvPr/>
        </p:nvSpPr>
        <p:spPr>
          <a:xfrm>
            <a:off x="8785800" y="1996560"/>
            <a:ext cx="2621160" cy="647640"/>
          </a:xfrm>
          <a:prstGeom prst="rect">
            <a:avLst/>
          </a:prstGeom>
          <a:noFill/>
          <a:ln w="0">
            <a:noFill/>
          </a:ln>
        </p:spPr>
        <p:txBody>
          <a:bodyPr lIns="0" rIns="0" tIns="0" bIns="0" anchor="t">
            <a:noAutofit/>
          </a:bodyPr>
          <a:p>
            <a:r>
              <a:rPr b="1" lang="en-US" sz="1979" spc="-1" strike="noStrike">
                <a:solidFill>
                  <a:srgbClr val="ffffff"/>
                </a:solidFill>
                <a:latin typeface="Noto Sans"/>
              </a:rPr>
              <a:t>Heute analysierbar?</a:t>
            </a:r>
            <a:endParaRPr b="0" lang="en-US" sz="1979" spc="-1" strike="noStrike">
              <a:solidFill>
                <a:srgbClr val="000000"/>
              </a:solidFill>
              <a:latin typeface="Arial"/>
            </a:endParaRPr>
          </a:p>
        </p:txBody>
      </p:sp>
      <p:sp>
        <p:nvSpPr>
          <p:cNvPr id="283" name=""/>
          <p:cNvSpPr/>
          <p:nvPr/>
        </p:nvSpPr>
        <p:spPr>
          <a:xfrm>
            <a:off x="647640" y="2666880"/>
            <a:ext cx="22633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4" name=""/>
          <p:cNvSpPr txBox="1"/>
          <p:nvPr/>
        </p:nvSpPr>
        <p:spPr>
          <a:xfrm>
            <a:off x="784800" y="2796480"/>
            <a:ext cx="2011680" cy="647640"/>
          </a:xfrm>
          <a:prstGeom prst="rect">
            <a:avLst/>
          </a:prstGeom>
          <a:noFill/>
          <a:ln w="0">
            <a:noFill/>
          </a:ln>
        </p:spPr>
        <p:txBody>
          <a:bodyPr lIns="0" rIns="0" tIns="0" bIns="0" anchor="t">
            <a:noAutofit/>
          </a:bodyPr>
          <a:p>
            <a:r>
              <a:rPr b="0" lang="en-US" sz="1979" spc="-1" strike="noStrike">
                <a:solidFill>
                  <a:srgbClr val="000000"/>
                </a:solidFill>
                <a:latin typeface="Noto Sans"/>
              </a:rPr>
              <a:t>WMS</a:t>
            </a:r>
            <a:endParaRPr b="0" lang="en-US" sz="1979" spc="-1" strike="noStrike">
              <a:solidFill>
                <a:srgbClr val="000000"/>
              </a:solidFill>
              <a:latin typeface="Arial"/>
            </a:endParaRPr>
          </a:p>
        </p:txBody>
      </p:sp>
      <p:sp>
        <p:nvSpPr>
          <p:cNvPr id="285" name=""/>
          <p:cNvSpPr/>
          <p:nvPr/>
        </p:nvSpPr>
        <p:spPr>
          <a:xfrm>
            <a:off x="2933640" y="2666880"/>
            <a:ext cx="56923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6" name=""/>
          <p:cNvSpPr txBox="1"/>
          <p:nvPr/>
        </p:nvSpPr>
        <p:spPr>
          <a:xfrm>
            <a:off x="3070800" y="2796480"/>
            <a:ext cx="5440680" cy="647640"/>
          </a:xfrm>
          <a:prstGeom prst="rect">
            <a:avLst/>
          </a:prstGeom>
          <a:noFill/>
          <a:ln w="0">
            <a:noFill/>
          </a:ln>
        </p:spPr>
        <p:txBody>
          <a:bodyPr lIns="0" rIns="0" tIns="0" bIns="0" anchor="t">
            <a:noAutofit/>
          </a:bodyPr>
          <a:p>
            <a:r>
              <a:rPr b="0" lang="en-US" sz="1979" spc="-1" strike="noStrike">
                <a:solidFill>
                  <a:srgbClr val="000000"/>
                </a:solidFill>
                <a:latin typeface="Noto Sans"/>
              </a:rPr>
              <a:t>Kartenbild vom Server</a:t>
            </a:r>
            <a:endParaRPr b="0" lang="en-US" sz="1979" spc="-1" strike="noStrike">
              <a:solidFill>
                <a:srgbClr val="000000"/>
              </a:solidFill>
              <a:latin typeface="Arial"/>
            </a:endParaRPr>
          </a:p>
        </p:txBody>
      </p:sp>
      <p:sp>
        <p:nvSpPr>
          <p:cNvPr id="287" name=""/>
          <p:cNvSpPr/>
          <p:nvPr/>
        </p:nvSpPr>
        <p:spPr>
          <a:xfrm>
            <a:off x="8648640" y="2666880"/>
            <a:ext cx="28728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8" name=""/>
          <p:cNvSpPr txBox="1"/>
          <p:nvPr/>
        </p:nvSpPr>
        <p:spPr>
          <a:xfrm>
            <a:off x="8785800" y="2796480"/>
            <a:ext cx="2621160" cy="647640"/>
          </a:xfrm>
          <a:prstGeom prst="rect">
            <a:avLst/>
          </a:prstGeom>
          <a:noFill/>
          <a:ln w="0">
            <a:noFill/>
          </a:ln>
        </p:spPr>
        <p:txBody>
          <a:bodyPr lIns="0" rIns="0" tIns="0" bIns="0" anchor="t">
            <a:noAutofit/>
          </a:bodyPr>
          <a:p>
            <a:r>
              <a:rPr b="0" lang="en-US" sz="1979" spc="-1" strike="noStrike">
                <a:solidFill>
                  <a:srgbClr val="000000"/>
                </a:solidFill>
                <a:latin typeface="Noto Sans"/>
              </a:rPr>
              <a:t>nein · nur Darstellung</a:t>
            </a:r>
            <a:endParaRPr b="0" lang="en-US" sz="1979" spc="-1" strike="noStrike">
              <a:solidFill>
                <a:srgbClr val="000000"/>
              </a:solidFill>
              <a:latin typeface="Arial"/>
            </a:endParaRPr>
          </a:p>
        </p:txBody>
      </p:sp>
      <p:sp>
        <p:nvSpPr>
          <p:cNvPr id="289" name=""/>
          <p:cNvSpPr/>
          <p:nvPr/>
        </p:nvSpPr>
        <p:spPr>
          <a:xfrm>
            <a:off x="647640" y="3467160"/>
            <a:ext cx="22633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0" name=""/>
          <p:cNvSpPr txBox="1"/>
          <p:nvPr/>
        </p:nvSpPr>
        <p:spPr>
          <a:xfrm>
            <a:off x="784800" y="3596760"/>
            <a:ext cx="2011680" cy="647640"/>
          </a:xfrm>
          <a:prstGeom prst="rect">
            <a:avLst/>
          </a:prstGeom>
          <a:noFill/>
          <a:ln w="0">
            <a:noFill/>
          </a:ln>
        </p:spPr>
        <p:txBody>
          <a:bodyPr lIns="0" rIns="0" tIns="0" bIns="0" anchor="t">
            <a:noAutofit/>
          </a:bodyPr>
          <a:p>
            <a:r>
              <a:rPr b="0" lang="en-US" sz="1979" spc="-1" strike="noStrike">
                <a:solidFill>
                  <a:srgbClr val="000000"/>
                </a:solidFill>
                <a:latin typeface="Noto Sans"/>
              </a:rPr>
              <a:t>WFS</a:t>
            </a:r>
            <a:endParaRPr b="0" lang="en-US" sz="1979" spc="-1" strike="noStrike">
              <a:solidFill>
                <a:srgbClr val="000000"/>
              </a:solidFill>
              <a:latin typeface="Arial"/>
            </a:endParaRPr>
          </a:p>
        </p:txBody>
      </p:sp>
      <p:sp>
        <p:nvSpPr>
          <p:cNvPr id="291" name=""/>
          <p:cNvSpPr/>
          <p:nvPr/>
        </p:nvSpPr>
        <p:spPr>
          <a:xfrm>
            <a:off x="2933640" y="3467160"/>
            <a:ext cx="56923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2" name=""/>
          <p:cNvSpPr txBox="1"/>
          <p:nvPr/>
        </p:nvSpPr>
        <p:spPr>
          <a:xfrm>
            <a:off x="3070800" y="3596760"/>
            <a:ext cx="5440680" cy="647640"/>
          </a:xfrm>
          <a:prstGeom prst="rect">
            <a:avLst/>
          </a:prstGeom>
          <a:noFill/>
          <a:ln w="0">
            <a:noFill/>
          </a:ln>
        </p:spPr>
        <p:txBody>
          <a:bodyPr lIns="0" rIns="0" tIns="0" bIns="0" anchor="t">
            <a:noAutofit/>
          </a:bodyPr>
          <a:p>
            <a:r>
              <a:rPr b="0" lang="en-US" sz="1979" spc="-1" strike="noStrike">
                <a:solidFill>
                  <a:srgbClr val="000000"/>
                </a:solidFill>
                <a:latin typeface="Noto Sans"/>
              </a:rPr>
              <a:t>Features mit Geometrie und Attributen</a:t>
            </a:r>
            <a:endParaRPr b="0" lang="en-US" sz="1979" spc="-1" strike="noStrike">
              <a:solidFill>
                <a:srgbClr val="000000"/>
              </a:solidFill>
              <a:latin typeface="Arial"/>
            </a:endParaRPr>
          </a:p>
        </p:txBody>
      </p:sp>
      <p:sp>
        <p:nvSpPr>
          <p:cNvPr id="293" name=""/>
          <p:cNvSpPr/>
          <p:nvPr/>
        </p:nvSpPr>
        <p:spPr>
          <a:xfrm>
            <a:off x="8648640" y="3467160"/>
            <a:ext cx="287280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4" name=""/>
          <p:cNvSpPr txBox="1"/>
          <p:nvPr/>
        </p:nvSpPr>
        <p:spPr>
          <a:xfrm>
            <a:off x="8785800" y="3596760"/>
            <a:ext cx="2621160" cy="647640"/>
          </a:xfrm>
          <a:prstGeom prst="rect">
            <a:avLst/>
          </a:prstGeom>
          <a:noFill/>
          <a:ln w="0">
            <a:noFill/>
          </a:ln>
        </p:spPr>
        <p:txBody>
          <a:bodyPr lIns="0" rIns="0" tIns="0" bIns="0" anchor="t">
            <a:noAutofit/>
          </a:bodyPr>
          <a:p>
            <a:r>
              <a:rPr b="0" lang="en-US" sz="1979" spc="-1" strike="noStrike">
                <a:solidFill>
                  <a:srgbClr val="000000"/>
                </a:solidFill>
                <a:latin typeface="Noto Sans"/>
              </a:rPr>
              <a:t>ja · wenn Dienst stabil</a:t>
            </a:r>
            <a:endParaRPr b="0" lang="en-US" sz="1979" spc="-1" strike="noStrike">
              <a:solidFill>
                <a:srgbClr val="000000"/>
              </a:solidFill>
              <a:latin typeface="Arial"/>
            </a:endParaRPr>
          </a:p>
        </p:txBody>
      </p:sp>
      <p:sp>
        <p:nvSpPr>
          <p:cNvPr id="295" name=""/>
          <p:cNvSpPr/>
          <p:nvPr/>
        </p:nvSpPr>
        <p:spPr>
          <a:xfrm>
            <a:off x="647640" y="4267080"/>
            <a:ext cx="22633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6" name=""/>
          <p:cNvSpPr txBox="1"/>
          <p:nvPr/>
        </p:nvSpPr>
        <p:spPr>
          <a:xfrm>
            <a:off x="784800" y="4396680"/>
            <a:ext cx="2011680" cy="647640"/>
          </a:xfrm>
          <a:prstGeom prst="rect">
            <a:avLst/>
          </a:prstGeom>
          <a:noFill/>
          <a:ln w="0">
            <a:noFill/>
          </a:ln>
        </p:spPr>
        <p:txBody>
          <a:bodyPr lIns="0" rIns="0" tIns="0" bIns="0" anchor="t">
            <a:noAutofit/>
          </a:bodyPr>
          <a:p>
            <a:r>
              <a:rPr b="0" lang="en-US" sz="1979" spc="-1" strike="noStrike">
                <a:solidFill>
                  <a:srgbClr val="000000"/>
                </a:solidFill>
                <a:latin typeface="Noto Sans"/>
              </a:rPr>
              <a:t>Download</a:t>
            </a:r>
            <a:endParaRPr b="0" lang="en-US" sz="1979" spc="-1" strike="noStrike">
              <a:solidFill>
                <a:srgbClr val="000000"/>
              </a:solidFill>
              <a:latin typeface="Arial"/>
            </a:endParaRPr>
          </a:p>
        </p:txBody>
      </p:sp>
      <p:sp>
        <p:nvSpPr>
          <p:cNvPr id="297" name=""/>
          <p:cNvSpPr/>
          <p:nvPr/>
        </p:nvSpPr>
        <p:spPr>
          <a:xfrm>
            <a:off x="2933640" y="4267080"/>
            <a:ext cx="56923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8" name=""/>
          <p:cNvSpPr txBox="1"/>
          <p:nvPr/>
        </p:nvSpPr>
        <p:spPr>
          <a:xfrm>
            <a:off x="3070800" y="4396680"/>
            <a:ext cx="5440680" cy="647640"/>
          </a:xfrm>
          <a:prstGeom prst="rect">
            <a:avLst/>
          </a:prstGeom>
          <a:noFill/>
          <a:ln w="0">
            <a:noFill/>
          </a:ln>
        </p:spPr>
        <p:txBody>
          <a:bodyPr lIns="0" rIns="0" tIns="0" bIns="0" anchor="t">
            <a:noAutofit/>
          </a:bodyPr>
          <a:p>
            <a:r>
              <a:rPr b="0" lang="en-US" sz="1979" spc="-1" strike="noStrike">
                <a:solidFill>
                  <a:srgbClr val="000000"/>
                </a:solidFill>
                <a:latin typeface="Noto Sans"/>
              </a:rPr>
              <a:t>lokale Datendatei</a:t>
            </a:r>
            <a:endParaRPr b="0" lang="en-US" sz="1979" spc="-1" strike="noStrike">
              <a:solidFill>
                <a:srgbClr val="000000"/>
              </a:solidFill>
              <a:latin typeface="Arial"/>
            </a:endParaRPr>
          </a:p>
        </p:txBody>
      </p:sp>
      <p:sp>
        <p:nvSpPr>
          <p:cNvPr id="299" name=""/>
          <p:cNvSpPr/>
          <p:nvPr/>
        </p:nvSpPr>
        <p:spPr>
          <a:xfrm>
            <a:off x="8648640" y="4267080"/>
            <a:ext cx="28728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0" name=""/>
          <p:cNvSpPr txBox="1"/>
          <p:nvPr/>
        </p:nvSpPr>
        <p:spPr>
          <a:xfrm>
            <a:off x="8785800" y="4396680"/>
            <a:ext cx="2621160" cy="647640"/>
          </a:xfrm>
          <a:prstGeom prst="rect">
            <a:avLst/>
          </a:prstGeom>
          <a:noFill/>
          <a:ln w="0">
            <a:noFill/>
          </a:ln>
        </p:spPr>
        <p:txBody>
          <a:bodyPr lIns="0" rIns="0" tIns="0" bIns="0" anchor="t">
            <a:noAutofit/>
          </a:bodyPr>
          <a:p>
            <a:r>
              <a:rPr b="0" lang="en-US" sz="1979" spc="-1" strike="noStrike">
                <a:solidFill>
                  <a:srgbClr val="000000"/>
                </a:solidFill>
                <a:latin typeface="Noto Sans"/>
              </a:rPr>
              <a:t>ja · reproduzierbarer Snapshot</a:t>
            </a:r>
            <a:endParaRPr b="0" lang="en-US" sz="1979" spc="-1" strike="noStrike">
              <a:solidFill>
                <a:srgbClr val="000000"/>
              </a:solidFill>
              <a:latin typeface="Arial"/>
            </a:endParaRPr>
          </a:p>
        </p:txBody>
      </p:sp>
      <p:sp>
        <p:nvSpPr>
          <p:cNvPr id="30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2"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Für die Sitzung: lokale Vektordaten statt abhängiger Live-Suche.</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Metadaten beantworten die Eignungsfrage</a:t>
            </a:r>
            <a:endParaRPr b="0" lang="en-US" sz="3190" spc="-1" strike="noStrike">
              <a:solidFill>
                <a:srgbClr val="000000"/>
              </a:solidFill>
              <a:latin typeface="Arial"/>
            </a:endParaRPr>
          </a:p>
        </p:txBody>
      </p:sp>
      <p:sp>
        <p:nvSpPr>
          <p:cNvPr id="30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GEOPORTALE · PRÜFRASTER</a:t>
            </a:r>
            <a:endParaRPr b="0" lang="en-US" sz="1130" spc="-1" strike="noStrike">
              <a:solidFill>
                <a:srgbClr val="000000"/>
              </a:solidFill>
              <a:latin typeface="Arial"/>
            </a:endParaRPr>
          </a:p>
        </p:txBody>
      </p:sp>
      <p:sp>
        <p:nvSpPr>
          <p:cNvPr id="30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30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13</a:t>
            </a:r>
            <a:endParaRPr b="0" lang="en-US" sz="939" spc="-1" strike="noStrike">
              <a:solidFill>
                <a:srgbClr val="000000"/>
              </a:solidFill>
              <a:latin typeface="Arial"/>
            </a:endParaRPr>
          </a:p>
        </p:txBody>
      </p:sp>
      <p:sp>
        <p:nvSpPr>
          <p:cNvPr id="307" name=""/>
          <p:cNvSpPr/>
          <p:nvPr/>
        </p:nvSpPr>
        <p:spPr>
          <a:xfrm>
            <a:off x="647640" y="1752480"/>
            <a:ext cx="378720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08" name=""/>
          <p:cNvSpPr txBox="1"/>
          <p:nvPr/>
        </p:nvSpPr>
        <p:spPr>
          <a:xfrm>
            <a:off x="784800" y="1882080"/>
            <a:ext cx="3535560" cy="533520"/>
          </a:xfrm>
          <a:prstGeom prst="rect">
            <a:avLst/>
          </a:prstGeom>
          <a:noFill/>
          <a:ln w="0">
            <a:noFill/>
          </a:ln>
        </p:spPr>
        <p:txBody>
          <a:bodyPr lIns="0" rIns="0" tIns="0" bIns="0" anchor="t">
            <a:noAutofit/>
          </a:bodyPr>
          <a:p>
            <a:r>
              <a:rPr b="1" lang="en-US" sz="2070" spc="-1" strike="noStrike">
                <a:solidFill>
                  <a:srgbClr val="ffffff"/>
                </a:solidFill>
                <a:latin typeface="Noto Sans"/>
              </a:rPr>
              <a:t>Metadatum</a:t>
            </a:r>
            <a:endParaRPr b="0" lang="en-US" sz="2070" spc="-1" strike="noStrike">
              <a:solidFill>
                <a:srgbClr val="000000"/>
              </a:solidFill>
              <a:latin typeface="Arial"/>
            </a:endParaRPr>
          </a:p>
        </p:txBody>
      </p:sp>
      <p:sp>
        <p:nvSpPr>
          <p:cNvPr id="309" name=""/>
          <p:cNvSpPr/>
          <p:nvPr/>
        </p:nvSpPr>
        <p:spPr>
          <a:xfrm>
            <a:off x="4457880" y="1752480"/>
            <a:ext cx="706392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0" name=""/>
          <p:cNvSpPr txBox="1"/>
          <p:nvPr/>
        </p:nvSpPr>
        <p:spPr>
          <a:xfrm>
            <a:off x="4595040" y="1882080"/>
            <a:ext cx="6812280" cy="533520"/>
          </a:xfrm>
          <a:prstGeom prst="rect">
            <a:avLst/>
          </a:prstGeom>
          <a:noFill/>
          <a:ln w="0">
            <a:noFill/>
          </a:ln>
        </p:spPr>
        <p:txBody>
          <a:bodyPr lIns="0" rIns="0" tIns="0" bIns="0" anchor="t">
            <a:noAutofit/>
          </a:bodyPr>
          <a:p>
            <a:r>
              <a:rPr b="1" lang="en-US" sz="2070" spc="-1" strike="noStrike">
                <a:solidFill>
                  <a:srgbClr val="ffffff"/>
                </a:solidFill>
                <a:latin typeface="Noto Sans"/>
              </a:rPr>
              <a:t>Leitfrage</a:t>
            </a:r>
            <a:endParaRPr b="0" lang="en-US" sz="2070" spc="-1" strike="noStrike">
              <a:solidFill>
                <a:srgbClr val="000000"/>
              </a:solidFill>
              <a:latin typeface="Arial"/>
            </a:endParaRPr>
          </a:p>
        </p:txBody>
      </p:sp>
      <p:sp>
        <p:nvSpPr>
          <p:cNvPr id="311" name=""/>
          <p:cNvSpPr/>
          <p:nvPr/>
        </p:nvSpPr>
        <p:spPr>
          <a:xfrm>
            <a:off x="647640" y="2438280"/>
            <a:ext cx="37872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2" name=""/>
          <p:cNvSpPr txBox="1"/>
          <p:nvPr/>
        </p:nvSpPr>
        <p:spPr>
          <a:xfrm>
            <a:off x="784800" y="2567880"/>
            <a:ext cx="3535560" cy="533520"/>
          </a:xfrm>
          <a:prstGeom prst="rect">
            <a:avLst/>
          </a:prstGeom>
          <a:noFill/>
          <a:ln w="0">
            <a:noFill/>
          </a:ln>
        </p:spPr>
        <p:txBody>
          <a:bodyPr lIns="0" rIns="0" tIns="0" bIns="0" anchor="t">
            <a:noAutofit/>
          </a:bodyPr>
          <a:p>
            <a:r>
              <a:rPr b="0" lang="en-US" sz="2070" spc="-1" strike="noStrike">
                <a:solidFill>
                  <a:srgbClr val="000000"/>
                </a:solidFill>
                <a:latin typeface="Noto Sans"/>
              </a:rPr>
              <a:t>Inhalt / Geometrie</a:t>
            </a:r>
            <a:endParaRPr b="0" lang="en-US" sz="2070" spc="-1" strike="noStrike">
              <a:solidFill>
                <a:srgbClr val="000000"/>
              </a:solidFill>
              <a:latin typeface="Arial"/>
            </a:endParaRPr>
          </a:p>
        </p:txBody>
      </p:sp>
      <p:sp>
        <p:nvSpPr>
          <p:cNvPr id="313" name=""/>
          <p:cNvSpPr/>
          <p:nvPr/>
        </p:nvSpPr>
        <p:spPr>
          <a:xfrm>
            <a:off x="4457880" y="2438280"/>
            <a:ext cx="70639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4" name=""/>
          <p:cNvSpPr txBox="1"/>
          <p:nvPr/>
        </p:nvSpPr>
        <p:spPr>
          <a:xfrm>
            <a:off x="4595040" y="2567880"/>
            <a:ext cx="6812280" cy="533520"/>
          </a:xfrm>
          <a:prstGeom prst="rect">
            <a:avLst/>
          </a:prstGeom>
          <a:noFill/>
          <a:ln w="0">
            <a:noFill/>
          </a:ln>
        </p:spPr>
        <p:txBody>
          <a:bodyPr lIns="0" rIns="0" tIns="0" bIns="0" anchor="t">
            <a:noAutofit/>
          </a:bodyPr>
          <a:p>
            <a:r>
              <a:rPr b="0" lang="en-US" sz="2070" spc="-1" strike="noStrike">
                <a:solidFill>
                  <a:srgbClr val="000000"/>
                </a:solidFill>
                <a:latin typeface="Noto Sans"/>
              </a:rPr>
              <a:t>Welche Objekte und Attribute sind enthalten?</a:t>
            </a:r>
            <a:endParaRPr b="0" lang="en-US" sz="2070" spc="-1" strike="noStrike">
              <a:solidFill>
                <a:srgbClr val="000000"/>
              </a:solidFill>
              <a:latin typeface="Arial"/>
            </a:endParaRPr>
          </a:p>
        </p:txBody>
      </p:sp>
      <p:sp>
        <p:nvSpPr>
          <p:cNvPr id="315" name=""/>
          <p:cNvSpPr/>
          <p:nvPr/>
        </p:nvSpPr>
        <p:spPr>
          <a:xfrm>
            <a:off x="647640" y="3124080"/>
            <a:ext cx="37872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6" name=""/>
          <p:cNvSpPr txBox="1"/>
          <p:nvPr/>
        </p:nvSpPr>
        <p:spPr>
          <a:xfrm>
            <a:off x="784800" y="3253680"/>
            <a:ext cx="3535560" cy="533520"/>
          </a:xfrm>
          <a:prstGeom prst="rect">
            <a:avLst/>
          </a:prstGeom>
          <a:noFill/>
          <a:ln w="0">
            <a:noFill/>
          </a:ln>
        </p:spPr>
        <p:txBody>
          <a:bodyPr lIns="0" rIns="0" tIns="0" bIns="0" anchor="t">
            <a:noAutofit/>
          </a:bodyPr>
          <a:p>
            <a:r>
              <a:rPr b="0" lang="en-US" sz="2070" spc="-1" strike="noStrike">
                <a:solidFill>
                  <a:srgbClr val="000000"/>
                </a:solidFill>
                <a:latin typeface="Noto Sans"/>
              </a:rPr>
              <a:t>Abdeckung / Stand</a:t>
            </a:r>
            <a:endParaRPr b="0" lang="en-US" sz="2070" spc="-1" strike="noStrike">
              <a:solidFill>
                <a:srgbClr val="000000"/>
              </a:solidFill>
              <a:latin typeface="Arial"/>
            </a:endParaRPr>
          </a:p>
        </p:txBody>
      </p:sp>
      <p:sp>
        <p:nvSpPr>
          <p:cNvPr id="317" name=""/>
          <p:cNvSpPr/>
          <p:nvPr/>
        </p:nvSpPr>
        <p:spPr>
          <a:xfrm>
            <a:off x="4457880" y="3124080"/>
            <a:ext cx="70639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8" name=""/>
          <p:cNvSpPr txBox="1"/>
          <p:nvPr/>
        </p:nvSpPr>
        <p:spPr>
          <a:xfrm>
            <a:off x="4595040" y="3253680"/>
            <a:ext cx="6812280" cy="533520"/>
          </a:xfrm>
          <a:prstGeom prst="rect">
            <a:avLst/>
          </a:prstGeom>
          <a:noFill/>
          <a:ln w="0">
            <a:noFill/>
          </a:ln>
        </p:spPr>
        <p:txBody>
          <a:bodyPr lIns="0" rIns="0" tIns="0" bIns="0" anchor="t">
            <a:noAutofit/>
          </a:bodyPr>
          <a:p>
            <a:r>
              <a:rPr b="0" lang="en-US" sz="2070" spc="-1" strike="noStrike">
                <a:solidFill>
                  <a:srgbClr val="000000"/>
                </a:solidFill>
                <a:latin typeface="Noto Sans"/>
              </a:rPr>
              <a:t>Für welches Gebiet und welchen Zeitpunkt?</a:t>
            </a:r>
            <a:endParaRPr b="0" lang="en-US" sz="2070" spc="-1" strike="noStrike">
              <a:solidFill>
                <a:srgbClr val="000000"/>
              </a:solidFill>
              <a:latin typeface="Arial"/>
            </a:endParaRPr>
          </a:p>
        </p:txBody>
      </p:sp>
      <p:sp>
        <p:nvSpPr>
          <p:cNvPr id="319" name=""/>
          <p:cNvSpPr/>
          <p:nvPr/>
        </p:nvSpPr>
        <p:spPr>
          <a:xfrm>
            <a:off x="647640" y="3809880"/>
            <a:ext cx="378720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0" name=""/>
          <p:cNvSpPr txBox="1"/>
          <p:nvPr/>
        </p:nvSpPr>
        <p:spPr>
          <a:xfrm>
            <a:off x="784800" y="3939480"/>
            <a:ext cx="3535560" cy="533520"/>
          </a:xfrm>
          <a:prstGeom prst="rect">
            <a:avLst/>
          </a:prstGeom>
          <a:noFill/>
          <a:ln w="0">
            <a:noFill/>
          </a:ln>
        </p:spPr>
        <p:txBody>
          <a:bodyPr lIns="0" rIns="0" tIns="0" bIns="0" anchor="t">
            <a:noAutofit/>
          </a:bodyPr>
          <a:p>
            <a:r>
              <a:rPr b="0" lang="en-US" sz="2070" spc="-1" strike="noStrike">
                <a:solidFill>
                  <a:srgbClr val="000000"/>
                </a:solidFill>
                <a:latin typeface="Noto Sans"/>
              </a:rPr>
              <a:t>CRS / Genauigkeit</a:t>
            </a:r>
            <a:endParaRPr b="0" lang="en-US" sz="2070" spc="-1" strike="noStrike">
              <a:solidFill>
                <a:srgbClr val="000000"/>
              </a:solidFill>
              <a:latin typeface="Arial"/>
            </a:endParaRPr>
          </a:p>
        </p:txBody>
      </p:sp>
      <p:sp>
        <p:nvSpPr>
          <p:cNvPr id="321" name=""/>
          <p:cNvSpPr/>
          <p:nvPr/>
        </p:nvSpPr>
        <p:spPr>
          <a:xfrm>
            <a:off x="4457880" y="3809880"/>
            <a:ext cx="706392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2" name=""/>
          <p:cNvSpPr txBox="1"/>
          <p:nvPr/>
        </p:nvSpPr>
        <p:spPr>
          <a:xfrm>
            <a:off x="4595040" y="3939480"/>
            <a:ext cx="6812280" cy="533520"/>
          </a:xfrm>
          <a:prstGeom prst="rect">
            <a:avLst/>
          </a:prstGeom>
          <a:noFill/>
          <a:ln w="0">
            <a:noFill/>
          </a:ln>
        </p:spPr>
        <p:txBody>
          <a:bodyPr lIns="0" rIns="0" tIns="0" bIns="0" anchor="t">
            <a:noAutofit/>
          </a:bodyPr>
          <a:p>
            <a:r>
              <a:rPr b="0" lang="en-US" sz="2070" spc="-1" strike="noStrike">
                <a:solidFill>
                  <a:srgbClr val="000000"/>
                </a:solidFill>
                <a:latin typeface="Noto Sans"/>
              </a:rPr>
              <a:t>Passt der Raumbezug zur Analyse?</a:t>
            </a:r>
            <a:endParaRPr b="0" lang="en-US" sz="2070" spc="-1" strike="noStrike">
              <a:solidFill>
                <a:srgbClr val="000000"/>
              </a:solidFill>
              <a:latin typeface="Arial"/>
            </a:endParaRPr>
          </a:p>
        </p:txBody>
      </p:sp>
      <p:sp>
        <p:nvSpPr>
          <p:cNvPr id="323" name=""/>
          <p:cNvSpPr/>
          <p:nvPr/>
        </p:nvSpPr>
        <p:spPr>
          <a:xfrm>
            <a:off x="647640" y="4495680"/>
            <a:ext cx="378720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4" name=""/>
          <p:cNvSpPr txBox="1"/>
          <p:nvPr/>
        </p:nvSpPr>
        <p:spPr>
          <a:xfrm>
            <a:off x="784800" y="4625280"/>
            <a:ext cx="3535560" cy="533520"/>
          </a:xfrm>
          <a:prstGeom prst="rect">
            <a:avLst/>
          </a:prstGeom>
          <a:noFill/>
          <a:ln w="0">
            <a:noFill/>
          </a:ln>
        </p:spPr>
        <p:txBody>
          <a:bodyPr lIns="0" rIns="0" tIns="0" bIns="0" anchor="t">
            <a:noAutofit/>
          </a:bodyPr>
          <a:p>
            <a:r>
              <a:rPr b="0" lang="en-US" sz="2070" spc="-1" strike="noStrike">
                <a:solidFill>
                  <a:srgbClr val="000000"/>
                </a:solidFill>
                <a:latin typeface="Noto Sans"/>
              </a:rPr>
              <a:t>Zugang / Lizenz</a:t>
            </a:r>
            <a:endParaRPr b="0" lang="en-US" sz="2070" spc="-1" strike="noStrike">
              <a:solidFill>
                <a:srgbClr val="000000"/>
              </a:solidFill>
              <a:latin typeface="Arial"/>
            </a:endParaRPr>
          </a:p>
        </p:txBody>
      </p:sp>
      <p:sp>
        <p:nvSpPr>
          <p:cNvPr id="325" name=""/>
          <p:cNvSpPr/>
          <p:nvPr/>
        </p:nvSpPr>
        <p:spPr>
          <a:xfrm>
            <a:off x="4457880" y="4495680"/>
            <a:ext cx="706392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6" name=""/>
          <p:cNvSpPr txBox="1"/>
          <p:nvPr/>
        </p:nvSpPr>
        <p:spPr>
          <a:xfrm>
            <a:off x="4595040" y="4625280"/>
            <a:ext cx="6812280" cy="533520"/>
          </a:xfrm>
          <a:prstGeom prst="rect">
            <a:avLst/>
          </a:prstGeom>
          <a:noFill/>
          <a:ln w="0">
            <a:noFill/>
          </a:ln>
        </p:spPr>
        <p:txBody>
          <a:bodyPr lIns="0" rIns="0" tIns="0" bIns="0" anchor="t">
            <a:noAutofit/>
          </a:bodyPr>
          <a:p>
            <a:r>
              <a:rPr b="0" lang="en-US" sz="2070" spc="-1" strike="noStrike">
                <a:solidFill>
                  <a:srgbClr val="000000"/>
                </a:solidFill>
                <a:latin typeface="Noto Sans"/>
              </a:rPr>
              <a:t>Download, WFS oder WMS – und welche Nutzung?</a:t>
            </a:r>
            <a:endParaRPr b="0" lang="en-US" sz="2070" spc="-1" strike="noStrike">
              <a:solidFill>
                <a:srgbClr val="000000"/>
              </a:solidFill>
              <a:latin typeface="Arial"/>
            </a:endParaRPr>
          </a:p>
        </p:txBody>
      </p:sp>
      <p:sp>
        <p:nvSpPr>
          <p:cNvPr id="32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8"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Fehlt eine Angabe, ist die Eignung nur eingeschränkt beurteilbar.</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Unsere vorbereiteten Vektordaten</a:t>
            </a:r>
            <a:endParaRPr b="0" lang="en-US" sz="3190" spc="-1" strike="noStrike">
              <a:solidFill>
                <a:srgbClr val="000000"/>
              </a:solidFill>
              <a:latin typeface="Arial"/>
            </a:endParaRPr>
          </a:p>
        </p:txBody>
      </p:sp>
      <p:sp>
        <p:nvSpPr>
          <p:cNvPr id="33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GEOPORTALE · QUELLENSTAND</a:t>
            </a:r>
            <a:endParaRPr b="0" lang="en-US" sz="1130" spc="-1" strike="noStrike">
              <a:solidFill>
                <a:srgbClr val="000000"/>
              </a:solidFill>
              <a:latin typeface="Arial"/>
            </a:endParaRPr>
          </a:p>
        </p:txBody>
      </p:sp>
      <p:sp>
        <p:nvSpPr>
          <p:cNvPr id="33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33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14</a:t>
            </a:r>
            <a:endParaRPr b="0" lang="en-US" sz="939" spc="-1" strike="noStrike">
              <a:solidFill>
                <a:srgbClr val="000000"/>
              </a:solidFill>
              <a:latin typeface="Arial"/>
            </a:endParaRPr>
          </a:p>
        </p:txBody>
      </p:sp>
      <p:sp>
        <p:nvSpPr>
          <p:cNvPr id="333" name=""/>
          <p:cNvSpPr/>
          <p:nvPr/>
        </p:nvSpPr>
        <p:spPr>
          <a:xfrm>
            <a:off x="647640" y="1905120"/>
            <a:ext cx="39394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4" name=""/>
          <p:cNvSpPr txBox="1"/>
          <p:nvPr/>
        </p:nvSpPr>
        <p:spPr>
          <a:xfrm>
            <a:off x="784800" y="2034720"/>
            <a:ext cx="3688200" cy="647640"/>
          </a:xfrm>
          <a:prstGeom prst="rect">
            <a:avLst/>
          </a:prstGeom>
          <a:noFill/>
          <a:ln w="0">
            <a:noFill/>
          </a:ln>
        </p:spPr>
        <p:txBody>
          <a:bodyPr lIns="0" rIns="0" tIns="0" bIns="0" anchor="t">
            <a:noAutofit/>
          </a:bodyPr>
          <a:p>
            <a:r>
              <a:rPr b="1" lang="en-US" sz="1879" spc="-1" strike="noStrike">
                <a:solidFill>
                  <a:srgbClr val="ffffff"/>
                </a:solidFill>
                <a:latin typeface="Noto Sans"/>
              </a:rPr>
              <a:t>Datensatz</a:t>
            </a:r>
            <a:endParaRPr b="0" lang="en-US" sz="1879" spc="-1" strike="noStrike">
              <a:solidFill>
                <a:srgbClr val="000000"/>
              </a:solidFill>
              <a:latin typeface="Arial"/>
            </a:endParaRPr>
          </a:p>
        </p:txBody>
      </p:sp>
      <p:sp>
        <p:nvSpPr>
          <p:cNvPr id="335" name=""/>
          <p:cNvSpPr/>
          <p:nvPr/>
        </p:nvSpPr>
        <p:spPr>
          <a:xfrm>
            <a:off x="4610160" y="1905120"/>
            <a:ext cx="31777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6" name=""/>
          <p:cNvSpPr txBox="1"/>
          <p:nvPr/>
        </p:nvSpPr>
        <p:spPr>
          <a:xfrm>
            <a:off x="4747320" y="2034720"/>
            <a:ext cx="2926080" cy="647640"/>
          </a:xfrm>
          <a:prstGeom prst="rect">
            <a:avLst/>
          </a:prstGeom>
          <a:noFill/>
          <a:ln w="0">
            <a:noFill/>
          </a:ln>
        </p:spPr>
        <p:txBody>
          <a:bodyPr lIns="0" rIns="0" tIns="0" bIns="0" anchor="t">
            <a:noAutofit/>
          </a:bodyPr>
          <a:p>
            <a:r>
              <a:rPr b="1" lang="en-US" sz="1879" spc="-1" strike="noStrike">
                <a:solidFill>
                  <a:srgbClr val="ffffff"/>
                </a:solidFill>
                <a:latin typeface="Noto Sans"/>
              </a:rPr>
              <a:t>Herausgeber</a:t>
            </a:r>
            <a:endParaRPr b="0" lang="en-US" sz="1879" spc="-1" strike="noStrike">
              <a:solidFill>
                <a:srgbClr val="000000"/>
              </a:solidFill>
              <a:latin typeface="Arial"/>
            </a:endParaRPr>
          </a:p>
        </p:txBody>
      </p:sp>
      <p:sp>
        <p:nvSpPr>
          <p:cNvPr id="337" name=""/>
          <p:cNvSpPr/>
          <p:nvPr/>
        </p:nvSpPr>
        <p:spPr>
          <a:xfrm>
            <a:off x="7810560" y="1905120"/>
            <a:ext cx="241560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8" name=""/>
          <p:cNvSpPr txBox="1"/>
          <p:nvPr/>
        </p:nvSpPr>
        <p:spPr>
          <a:xfrm>
            <a:off x="7947720" y="2034720"/>
            <a:ext cx="2163960" cy="647640"/>
          </a:xfrm>
          <a:prstGeom prst="rect">
            <a:avLst/>
          </a:prstGeom>
          <a:noFill/>
          <a:ln w="0">
            <a:noFill/>
          </a:ln>
        </p:spPr>
        <p:txBody>
          <a:bodyPr lIns="0" rIns="0" tIns="0" bIns="0" anchor="t">
            <a:noAutofit/>
          </a:bodyPr>
          <a:p>
            <a:r>
              <a:rPr b="1" lang="en-US" sz="1879" spc="-1" strike="noStrike">
                <a:solidFill>
                  <a:srgbClr val="ffffff"/>
                </a:solidFill>
                <a:latin typeface="Noto Sans"/>
              </a:rPr>
              <a:t>Geometrie</a:t>
            </a:r>
            <a:endParaRPr b="0" lang="en-US" sz="1879" spc="-1" strike="noStrike">
              <a:solidFill>
                <a:srgbClr val="000000"/>
              </a:solidFill>
              <a:latin typeface="Arial"/>
            </a:endParaRPr>
          </a:p>
        </p:txBody>
      </p:sp>
      <p:sp>
        <p:nvSpPr>
          <p:cNvPr id="339" name=""/>
          <p:cNvSpPr/>
          <p:nvPr/>
        </p:nvSpPr>
        <p:spPr>
          <a:xfrm>
            <a:off x="10248840" y="1905120"/>
            <a:ext cx="127260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0" name=""/>
          <p:cNvSpPr txBox="1"/>
          <p:nvPr/>
        </p:nvSpPr>
        <p:spPr>
          <a:xfrm>
            <a:off x="10386000" y="2034720"/>
            <a:ext cx="1020960" cy="647640"/>
          </a:xfrm>
          <a:prstGeom prst="rect">
            <a:avLst/>
          </a:prstGeom>
          <a:noFill/>
          <a:ln w="0">
            <a:noFill/>
          </a:ln>
        </p:spPr>
        <p:txBody>
          <a:bodyPr lIns="0" rIns="0" tIns="0" bIns="0" anchor="t">
            <a:noAutofit/>
          </a:bodyPr>
          <a:p>
            <a:r>
              <a:rPr b="1" lang="en-US" sz="1879" spc="-1" strike="noStrike">
                <a:solidFill>
                  <a:srgbClr val="ffffff"/>
                </a:solidFill>
                <a:latin typeface="Noto Sans"/>
              </a:rPr>
              <a:t>Umfang</a:t>
            </a:r>
            <a:endParaRPr b="0" lang="en-US" sz="1879" spc="-1" strike="noStrike">
              <a:solidFill>
                <a:srgbClr val="000000"/>
              </a:solidFill>
              <a:latin typeface="Arial"/>
            </a:endParaRPr>
          </a:p>
        </p:txBody>
      </p:sp>
      <p:sp>
        <p:nvSpPr>
          <p:cNvPr id="341" name=""/>
          <p:cNvSpPr/>
          <p:nvPr/>
        </p:nvSpPr>
        <p:spPr>
          <a:xfrm>
            <a:off x="647640" y="2705040"/>
            <a:ext cx="39394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2" name=""/>
          <p:cNvSpPr txBox="1"/>
          <p:nvPr/>
        </p:nvSpPr>
        <p:spPr>
          <a:xfrm>
            <a:off x="784800" y="2834640"/>
            <a:ext cx="3688200" cy="647640"/>
          </a:xfrm>
          <a:prstGeom prst="rect">
            <a:avLst/>
          </a:prstGeom>
          <a:noFill/>
          <a:ln w="0">
            <a:noFill/>
          </a:ln>
        </p:spPr>
        <p:txBody>
          <a:bodyPr lIns="0" rIns="0" tIns="0" bIns="0" anchor="t">
            <a:noAutofit/>
          </a:bodyPr>
          <a:p>
            <a:r>
              <a:rPr b="0" lang="en-US" sz="1879" spc="-1" strike="noStrike">
                <a:solidFill>
                  <a:srgbClr val="000000"/>
                </a:solidFill>
                <a:latin typeface="Noto Sans"/>
              </a:rPr>
              <a:t>Schutzgebiete NSG/FFH</a:t>
            </a:r>
            <a:endParaRPr b="0" lang="en-US" sz="1879" spc="-1" strike="noStrike">
              <a:solidFill>
                <a:srgbClr val="000000"/>
              </a:solidFill>
              <a:latin typeface="Arial"/>
            </a:endParaRPr>
          </a:p>
        </p:txBody>
      </p:sp>
      <p:sp>
        <p:nvSpPr>
          <p:cNvPr id="343" name=""/>
          <p:cNvSpPr/>
          <p:nvPr/>
        </p:nvSpPr>
        <p:spPr>
          <a:xfrm>
            <a:off x="4610160" y="2705040"/>
            <a:ext cx="31777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4" name=""/>
          <p:cNvSpPr txBox="1"/>
          <p:nvPr/>
        </p:nvSpPr>
        <p:spPr>
          <a:xfrm>
            <a:off x="4747320" y="2834640"/>
            <a:ext cx="2926080" cy="647640"/>
          </a:xfrm>
          <a:prstGeom prst="rect">
            <a:avLst/>
          </a:prstGeom>
          <a:noFill/>
          <a:ln w="0">
            <a:noFill/>
          </a:ln>
        </p:spPr>
        <p:txBody>
          <a:bodyPr lIns="0" rIns="0" tIns="0" bIns="0" anchor="t">
            <a:noAutofit/>
          </a:bodyPr>
          <a:p>
            <a:r>
              <a:rPr b="0" lang="en-US" sz="1879" spc="-1" strike="noStrike">
                <a:solidFill>
                  <a:srgbClr val="000000"/>
                </a:solidFill>
                <a:latin typeface="Noto Sans"/>
              </a:rPr>
              <a:t>HMLU · HLNUG</a:t>
            </a:r>
            <a:endParaRPr b="0" lang="en-US" sz="1879" spc="-1" strike="noStrike">
              <a:solidFill>
                <a:srgbClr val="000000"/>
              </a:solidFill>
              <a:latin typeface="Arial"/>
            </a:endParaRPr>
          </a:p>
        </p:txBody>
      </p:sp>
      <p:sp>
        <p:nvSpPr>
          <p:cNvPr id="345" name=""/>
          <p:cNvSpPr/>
          <p:nvPr/>
        </p:nvSpPr>
        <p:spPr>
          <a:xfrm>
            <a:off x="7810560" y="2705040"/>
            <a:ext cx="24156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6" name=""/>
          <p:cNvSpPr txBox="1"/>
          <p:nvPr/>
        </p:nvSpPr>
        <p:spPr>
          <a:xfrm>
            <a:off x="7947720" y="2834640"/>
            <a:ext cx="2163960" cy="647640"/>
          </a:xfrm>
          <a:prstGeom prst="rect">
            <a:avLst/>
          </a:prstGeom>
          <a:noFill/>
          <a:ln w="0">
            <a:noFill/>
          </a:ln>
        </p:spPr>
        <p:txBody>
          <a:bodyPr lIns="0" rIns="0" tIns="0" bIns="0" anchor="t">
            <a:noAutofit/>
          </a:bodyPr>
          <a:p>
            <a:r>
              <a:rPr b="0" lang="en-US" sz="1879" spc="-1" strike="noStrike">
                <a:solidFill>
                  <a:srgbClr val="000000"/>
                </a:solidFill>
                <a:latin typeface="Noto Sans"/>
              </a:rPr>
              <a:t>MultiPolygon</a:t>
            </a:r>
            <a:endParaRPr b="0" lang="en-US" sz="1879" spc="-1" strike="noStrike">
              <a:solidFill>
                <a:srgbClr val="000000"/>
              </a:solidFill>
              <a:latin typeface="Arial"/>
            </a:endParaRPr>
          </a:p>
        </p:txBody>
      </p:sp>
      <p:sp>
        <p:nvSpPr>
          <p:cNvPr id="347" name=""/>
          <p:cNvSpPr/>
          <p:nvPr/>
        </p:nvSpPr>
        <p:spPr>
          <a:xfrm>
            <a:off x="10248840" y="2705040"/>
            <a:ext cx="12726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8" name=""/>
          <p:cNvSpPr txBox="1"/>
          <p:nvPr/>
        </p:nvSpPr>
        <p:spPr>
          <a:xfrm>
            <a:off x="10386000" y="2834640"/>
            <a:ext cx="1020960" cy="647640"/>
          </a:xfrm>
          <a:prstGeom prst="rect">
            <a:avLst/>
          </a:prstGeom>
          <a:noFill/>
          <a:ln w="0">
            <a:noFill/>
          </a:ln>
        </p:spPr>
        <p:txBody>
          <a:bodyPr lIns="0" rIns="0" tIns="0" bIns="0" anchor="t">
            <a:noAutofit/>
          </a:bodyPr>
          <a:p>
            <a:r>
              <a:rPr b="0" lang="en-US" sz="1879" spc="-1" strike="noStrike">
                <a:solidFill>
                  <a:srgbClr val="000000"/>
                </a:solidFill>
                <a:latin typeface="Noto Sans"/>
              </a:rPr>
              <a:t>22</a:t>
            </a:r>
            <a:endParaRPr b="0" lang="en-US" sz="1879" spc="-1" strike="noStrike">
              <a:solidFill>
                <a:srgbClr val="000000"/>
              </a:solidFill>
              <a:latin typeface="Arial"/>
            </a:endParaRPr>
          </a:p>
        </p:txBody>
      </p:sp>
      <p:sp>
        <p:nvSpPr>
          <p:cNvPr id="349" name=""/>
          <p:cNvSpPr/>
          <p:nvPr/>
        </p:nvSpPr>
        <p:spPr>
          <a:xfrm>
            <a:off x="647640" y="3505320"/>
            <a:ext cx="393948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0" name=""/>
          <p:cNvSpPr txBox="1"/>
          <p:nvPr/>
        </p:nvSpPr>
        <p:spPr>
          <a:xfrm>
            <a:off x="784800" y="3634920"/>
            <a:ext cx="3688200" cy="647640"/>
          </a:xfrm>
          <a:prstGeom prst="rect">
            <a:avLst/>
          </a:prstGeom>
          <a:noFill/>
          <a:ln w="0">
            <a:noFill/>
          </a:ln>
        </p:spPr>
        <p:txBody>
          <a:bodyPr lIns="0" rIns="0" tIns="0" bIns="0" anchor="t">
            <a:noAutofit/>
          </a:bodyPr>
          <a:p>
            <a:r>
              <a:rPr b="0" lang="en-US" sz="1879" spc="-1" strike="noStrike">
                <a:solidFill>
                  <a:srgbClr val="000000"/>
                </a:solidFill>
                <a:latin typeface="Noto Sans"/>
              </a:rPr>
              <a:t>Gewässernetz 1:25.000</a:t>
            </a:r>
            <a:endParaRPr b="0" lang="en-US" sz="1879" spc="-1" strike="noStrike">
              <a:solidFill>
                <a:srgbClr val="000000"/>
              </a:solidFill>
              <a:latin typeface="Arial"/>
            </a:endParaRPr>
          </a:p>
        </p:txBody>
      </p:sp>
      <p:sp>
        <p:nvSpPr>
          <p:cNvPr id="351" name=""/>
          <p:cNvSpPr/>
          <p:nvPr/>
        </p:nvSpPr>
        <p:spPr>
          <a:xfrm>
            <a:off x="4610160" y="3505320"/>
            <a:ext cx="31777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2" name=""/>
          <p:cNvSpPr txBox="1"/>
          <p:nvPr/>
        </p:nvSpPr>
        <p:spPr>
          <a:xfrm>
            <a:off x="4747320" y="3634920"/>
            <a:ext cx="2926080" cy="647640"/>
          </a:xfrm>
          <a:prstGeom prst="rect">
            <a:avLst/>
          </a:prstGeom>
          <a:noFill/>
          <a:ln w="0">
            <a:noFill/>
          </a:ln>
        </p:spPr>
        <p:txBody>
          <a:bodyPr lIns="0" rIns="0" tIns="0" bIns="0" anchor="t">
            <a:noAutofit/>
          </a:bodyPr>
          <a:p>
            <a:r>
              <a:rPr b="0" lang="en-US" sz="1879" spc="-1" strike="noStrike">
                <a:solidFill>
                  <a:srgbClr val="000000"/>
                </a:solidFill>
                <a:latin typeface="Noto Sans"/>
              </a:rPr>
              <a:t>HLNUG</a:t>
            </a:r>
            <a:endParaRPr b="0" lang="en-US" sz="1879" spc="-1" strike="noStrike">
              <a:solidFill>
                <a:srgbClr val="000000"/>
              </a:solidFill>
              <a:latin typeface="Arial"/>
            </a:endParaRPr>
          </a:p>
        </p:txBody>
      </p:sp>
      <p:sp>
        <p:nvSpPr>
          <p:cNvPr id="353" name=""/>
          <p:cNvSpPr/>
          <p:nvPr/>
        </p:nvSpPr>
        <p:spPr>
          <a:xfrm>
            <a:off x="7810560" y="3505320"/>
            <a:ext cx="241560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4" name=""/>
          <p:cNvSpPr txBox="1"/>
          <p:nvPr/>
        </p:nvSpPr>
        <p:spPr>
          <a:xfrm>
            <a:off x="7947720" y="3634920"/>
            <a:ext cx="2163960" cy="647640"/>
          </a:xfrm>
          <a:prstGeom prst="rect">
            <a:avLst/>
          </a:prstGeom>
          <a:noFill/>
          <a:ln w="0">
            <a:noFill/>
          </a:ln>
        </p:spPr>
        <p:txBody>
          <a:bodyPr lIns="0" rIns="0" tIns="0" bIns="0" anchor="t">
            <a:noAutofit/>
          </a:bodyPr>
          <a:p>
            <a:r>
              <a:rPr b="0" lang="en-US" sz="1879" spc="-1" strike="noStrike">
                <a:solidFill>
                  <a:srgbClr val="000000"/>
                </a:solidFill>
                <a:latin typeface="Noto Sans"/>
              </a:rPr>
              <a:t>MultiLineString</a:t>
            </a:r>
            <a:endParaRPr b="0" lang="en-US" sz="1879" spc="-1" strike="noStrike">
              <a:solidFill>
                <a:srgbClr val="000000"/>
              </a:solidFill>
              <a:latin typeface="Arial"/>
            </a:endParaRPr>
          </a:p>
        </p:txBody>
      </p:sp>
      <p:sp>
        <p:nvSpPr>
          <p:cNvPr id="355" name=""/>
          <p:cNvSpPr/>
          <p:nvPr/>
        </p:nvSpPr>
        <p:spPr>
          <a:xfrm>
            <a:off x="10248840" y="3505320"/>
            <a:ext cx="127260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6" name=""/>
          <p:cNvSpPr txBox="1"/>
          <p:nvPr/>
        </p:nvSpPr>
        <p:spPr>
          <a:xfrm>
            <a:off x="10386000" y="3634920"/>
            <a:ext cx="1020960" cy="647640"/>
          </a:xfrm>
          <a:prstGeom prst="rect">
            <a:avLst/>
          </a:prstGeom>
          <a:noFill/>
          <a:ln w="0">
            <a:noFill/>
          </a:ln>
        </p:spPr>
        <p:txBody>
          <a:bodyPr lIns="0" rIns="0" tIns="0" bIns="0" anchor="t">
            <a:noAutofit/>
          </a:bodyPr>
          <a:p>
            <a:r>
              <a:rPr b="0" lang="en-US" sz="1879" spc="-1" strike="noStrike">
                <a:solidFill>
                  <a:srgbClr val="000000"/>
                </a:solidFill>
                <a:latin typeface="Noto Sans"/>
              </a:rPr>
              <a:t>412</a:t>
            </a:r>
            <a:endParaRPr b="0" lang="en-US" sz="1879" spc="-1" strike="noStrike">
              <a:solidFill>
                <a:srgbClr val="000000"/>
              </a:solidFill>
              <a:latin typeface="Arial"/>
            </a:endParaRPr>
          </a:p>
        </p:txBody>
      </p:sp>
      <p:sp>
        <p:nvSpPr>
          <p:cNvPr id="357" name=""/>
          <p:cNvSpPr/>
          <p:nvPr/>
        </p:nvSpPr>
        <p:spPr>
          <a:xfrm>
            <a:off x="647640" y="4305240"/>
            <a:ext cx="39394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8" name=""/>
          <p:cNvSpPr txBox="1"/>
          <p:nvPr/>
        </p:nvSpPr>
        <p:spPr>
          <a:xfrm>
            <a:off x="784800" y="4434840"/>
            <a:ext cx="3688200" cy="647640"/>
          </a:xfrm>
          <a:prstGeom prst="rect">
            <a:avLst/>
          </a:prstGeom>
          <a:noFill/>
          <a:ln w="0">
            <a:noFill/>
          </a:ln>
        </p:spPr>
        <p:txBody>
          <a:bodyPr lIns="0" rIns="0" tIns="0" bIns="0" anchor="t">
            <a:noAutofit/>
          </a:bodyPr>
          <a:p>
            <a:r>
              <a:rPr b="0" lang="en-US" sz="1879" spc="-1" strike="noStrike">
                <a:solidFill>
                  <a:srgbClr val="000000"/>
                </a:solidFill>
                <a:latin typeface="Noto Sans"/>
              </a:rPr>
              <a:t>GBIF-Prüfergebnis</a:t>
            </a:r>
            <a:endParaRPr b="0" lang="en-US" sz="1879" spc="-1" strike="noStrike">
              <a:solidFill>
                <a:srgbClr val="000000"/>
              </a:solidFill>
              <a:latin typeface="Arial"/>
            </a:endParaRPr>
          </a:p>
        </p:txBody>
      </p:sp>
      <p:sp>
        <p:nvSpPr>
          <p:cNvPr id="359" name=""/>
          <p:cNvSpPr/>
          <p:nvPr/>
        </p:nvSpPr>
        <p:spPr>
          <a:xfrm>
            <a:off x="4610160" y="4305240"/>
            <a:ext cx="31777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0" name=""/>
          <p:cNvSpPr txBox="1"/>
          <p:nvPr/>
        </p:nvSpPr>
        <p:spPr>
          <a:xfrm>
            <a:off x="4747320" y="4434840"/>
            <a:ext cx="2926080" cy="647640"/>
          </a:xfrm>
          <a:prstGeom prst="rect">
            <a:avLst/>
          </a:prstGeom>
          <a:noFill/>
          <a:ln w="0">
            <a:noFill/>
          </a:ln>
        </p:spPr>
        <p:txBody>
          <a:bodyPr lIns="0" rIns="0" tIns="0" bIns="0" anchor="t">
            <a:noAutofit/>
          </a:bodyPr>
          <a:p>
            <a:r>
              <a:rPr b="0" lang="en-US" sz="1879" spc="-1" strike="noStrike">
                <a:solidFill>
                  <a:srgbClr val="000000"/>
                </a:solidFill>
                <a:latin typeface="Noto Sans"/>
              </a:rPr>
              <a:t>NABU|naturgucker via GBIF</a:t>
            </a:r>
            <a:endParaRPr b="0" lang="en-US" sz="1879" spc="-1" strike="noStrike">
              <a:solidFill>
                <a:srgbClr val="000000"/>
              </a:solidFill>
              <a:latin typeface="Arial"/>
            </a:endParaRPr>
          </a:p>
        </p:txBody>
      </p:sp>
      <p:sp>
        <p:nvSpPr>
          <p:cNvPr id="361" name=""/>
          <p:cNvSpPr/>
          <p:nvPr/>
        </p:nvSpPr>
        <p:spPr>
          <a:xfrm>
            <a:off x="7810560" y="4305240"/>
            <a:ext cx="24156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2" name=""/>
          <p:cNvSpPr txBox="1"/>
          <p:nvPr/>
        </p:nvSpPr>
        <p:spPr>
          <a:xfrm>
            <a:off x="7947720" y="4434840"/>
            <a:ext cx="2163960" cy="647640"/>
          </a:xfrm>
          <a:prstGeom prst="rect">
            <a:avLst/>
          </a:prstGeom>
          <a:noFill/>
          <a:ln w="0">
            <a:noFill/>
          </a:ln>
        </p:spPr>
        <p:txBody>
          <a:bodyPr lIns="0" rIns="0" tIns="0" bIns="0" anchor="t">
            <a:noAutofit/>
          </a:bodyPr>
          <a:p>
            <a:r>
              <a:rPr b="0" lang="en-US" sz="1879" spc="-1" strike="noStrike">
                <a:solidFill>
                  <a:srgbClr val="000000"/>
                </a:solidFill>
                <a:latin typeface="Noto Sans"/>
              </a:rPr>
              <a:t>Punkt</a:t>
            </a:r>
            <a:endParaRPr b="0" lang="en-US" sz="1879" spc="-1" strike="noStrike">
              <a:solidFill>
                <a:srgbClr val="000000"/>
              </a:solidFill>
              <a:latin typeface="Arial"/>
            </a:endParaRPr>
          </a:p>
        </p:txBody>
      </p:sp>
      <p:sp>
        <p:nvSpPr>
          <p:cNvPr id="363" name=""/>
          <p:cNvSpPr/>
          <p:nvPr/>
        </p:nvSpPr>
        <p:spPr>
          <a:xfrm>
            <a:off x="10248840" y="4305240"/>
            <a:ext cx="12726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4" name=""/>
          <p:cNvSpPr txBox="1"/>
          <p:nvPr/>
        </p:nvSpPr>
        <p:spPr>
          <a:xfrm>
            <a:off x="10386000" y="4434840"/>
            <a:ext cx="1020960" cy="647640"/>
          </a:xfrm>
          <a:prstGeom prst="rect">
            <a:avLst/>
          </a:prstGeom>
          <a:noFill/>
          <a:ln w="0">
            <a:noFill/>
          </a:ln>
        </p:spPr>
        <p:txBody>
          <a:bodyPr lIns="0" rIns="0" tIns="0" bIns="0" anchor="t">
            <a:noAutofit/>
          </a:bodyPr>
          <a:p>
            <a:r>
              <a:rPr b="0" lang="en-US" sz="1879" spc="-1" strike="noStrike">
                <a:solidFill>
                  <a:srgbClr val="000000"/>
                </a:solidFill>
                <a:latin typeface="Noto Sans"/>
              </a:rPr>
              <a:t>56</a:t>
            </a:r>
            <a:endParaRPr b="0" lang="en-US" sz="1879" spc="-1" strike="noStrike">
              <a:solidFill>
                <a:srgbClr val="000000"/>
              </a:solidFill>
              <a:latin typeface="Arial"/>
            </a:endParaRPr>
          </a:p>
        </p:txBody>
      </p:sp>
      <p:sp>
        <p:nvSpPr>
          <p:cNvPr id="36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6"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Gemeinsames Projekt- und Ausgabe-CRS: EPSG:25832</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Vom Layer zur dokumentierten Auswahl</a:t>
            </a:r>
            <a:endParaRPr b="0" lang="en-US" sz="3190" spc="-1" strike="noStrike">
              <a:solidFill>
                <a:srgbClr val="000000"/>
              </a:solidFill>
              <a:latin typeface="Arial"/>
            </a:endParaRPr>
          </a:p>
        </p:txBody>
      </p:sp>
      <p:sp>
        <p:nvSpPr>
          <p:cNvPr id="36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GEOPORTALE · ÜBERGANG ZUR PRAXIS</a:t>
            </a:r>
            <a:endParaRPr b="0" lang="en-US" sz="1130" spc="-1" strike="noStrike">
              <a:solidFill>
                <a:srgbClr val="000000"/>
              </a:solidFill>
              <a:latin typeface="Arial"/>
            </a:endParaRPr>
          </a:p>
        </p:txBody>
      </p:sp>
      <p:sp>
        <p:nvSpPr>
          <p:cNvPr id="36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37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15</a:t>
            </a:r>
            <a:endParaRPr b="0" lang="en-US" sz="939" spc="-1" strike="noStrike">
              <a:solidFill>
                <a:srgbClr val="000000"/>
              </a:solidFill>
              <a:latin typeface="Arial"/>
            </a:endParaRPr>
          </a:p>
        </p:txBody>
      </p:sp>
      <p:pic>
        <p:nvPicPr>
          <p:cNvPr id="371" name="" descr="Beobachtungspunkte und Gewässerlinien werden anhand ihrer räumlichen Beziehung zu Schutzgebietspolygonen ausgewählt."/>
          <p:cNvPicPr/>
          <p:nvPr/>
        </p:nvPicPr>
        <p:blipFill>
          <a:blip r:embed="rId1">
            <a:extLst>
              <a:ext uri="{96DAC541-7B7A-43D3-8B79-37D633B846F1}">
                <asvg:svgBlip xmlns:asvg="http://schemas.microsoft.com/office/drawing/2016/SVG/main" r:embed="rId2"/>
              </a:ext>
            </a:extLst>
          </a:blip>
          <a:stretch/>
        </p:blipFill>
        <p:spPr>
          <a:xfrm>
            <a:off x="1523880" y="1676520"/>
            <a:ext cx="9144000" cy="4114800"/>
          </a:xfrm>
          <a:prstGeom prst="rect">
            <a:avLst/>
          </a:prstGeom>
          <a:ln w="0">
            <a:noFill/>
          </a:ln>
        </p:spPr>
      </p:pic>
      <p:sp>
        <p:nvSpPr>
          <p:cNvPr id="37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3"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Fragestellung → Datenquelle → Geometrie → Beziehung → Ergebnis</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Projekt und drei Eingangslayer vorbereiten</a:t>
            </a:r>
            <a:endParaRPr b="0" lang="en-US" sz="3190" spc="-1" strike="noStrike">
              <a:solidFill>
                <a:srgbClr val="000000"/>
              </a:solidFill>
              <a:latin typeface="Arial"/>
            </a:endParaRPr>
          </a:p>
        </p:txBody>
      </p:sp>
      <p:sp>
        <p:nvSpPr>
          <p:cNvPr id="37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STARTZUSTAND</a:t>
            </a:r>
            <a:endParaRPr b="0" lang="en-US" sz="1130" spc="-1" strike="noStrike">
              <a:solidFill>
                <a:srgbClr val="000000"/>
              </a:solidFill>
              <a:latin typeface="Arial"/>
            </a:endParaRPr>
          </a:p>
        </p:txBody>
      </p:sp>
      <p:sp>
        <p:nvSpPr>
          <p:cNvPr id="37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37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16</a:t>
            </a:r>
            <a:endParaRPr b="0" lang="en-US" sz="939" spc="-1" strike="noStrike">
              <a:solidFill>
                <a:srgbClr val="000000"/>
              </a:solidFill>
              <a:latin typeface="Arial"/>
            </a:endParaRPr>
          </a:p>
        </p:txBody>
      </p:sp>
      <p:sp>
        <p:nvSpPr>
          <p:cNvPr id="378"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9"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80"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Punkte laden</a:t>
            </a:r>
            <a:endParaRPr b="0" lang="en-US" sz="2720" spc="-1" strike="noStrike">
              <a:solidFill>
                <a:srgbClr val="000000"/>
              </a:solidFill>
              <a:latin typeface="Arial"/>
            </a:endParaRPr>
          </a:p>
        </p:txBody>
      </p:sp>
      <p:sp>
        <p:nvSpPr>
          <p:cNvPr id="381"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unit11_results.gpkg · gbif_checked oder schemaidentischer Ersatz.</a:t>
            </a:r>
            <a:endParaRPr b="0" lang="en-US" sz="2260" spc="-1" strike="noStrike">
              <a:solidFill>
                <a:srgbClr val="000000"/>
              </a:solidFill>
              <a:latin typeface="Arial"/>
            </a:endParaRPr>
          </a:p>
        </p:txBody>
      </p:sp>
      <p:sp>
        <p:nvSpPr>
          <p:cNvPr id="382"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3"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84"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Linien laden</a:t>
            </a:r>
            <a:endParaRPr b="0" lang="en-US" sz="2720" spc="-1" strike="noStrike">
              <a:solidFill>
                <a:srgbClr val="000000"/>
              </a:solidFill>
              <a:latin typeface="Arial"/>
            </a:endParaRPr>
          </a:p>
        </p:txBody>
      </p:sp>
      <p:sp>
        <p:nvSpPr>
          <p:cNvPr id="385"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data_raw/marburg_basis.gpkg · gewaesser.</a:t>
            </a:r>
            <a:endParaRPr b="0" lang="en-US" sz="2260" spc="-1" strike="noStrike">
              <a:solidFill>
                <a:srgbClr val="000000"/>
              </a:solidFill>
              <a:latin typeface="Arial"/>
            </a:endParaRPr>
          </a:p>
        </p:txBody>
      </p:sp>
      <p:sp>
        <p:nvSpPr>
          <p:cNvPr id="386"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7"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88"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Polygone laden</a:t>
            </a:r>
            <a:endParaRPr b="0" lang="en-US" sz="2720" spc="-1" strike="noStrike">
              <a:solidFill>
                <a:srgbClr val="000000"/>
              </a:solidFill>
              <a:latin typeface="Arial"/>
            </a:endParaRPr>
          </a:p>
        </p:txBody>
      </p:sp>
      <p:sp>
        <p:nvSpPr>
          <p:cNvPr id="389"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data_raw/marburg_basis.gpkg · schutzgebiete.</a:t>
            </a:r>
            <a:endParaRPr b="0" lang="en-US" sz="2260" spc="-1" strike="noStrike">
              <a:solidFill>
                <a:srgbClr val="000000"/>
              </a:solidFill>
              <a:latin typeface="Arial"/>
            </a:endParaRPr>
          </a:p>
        </p:txBody>
      </p:sp>
      <p:sp>
        <p:nvSpPr>
          <p:cNvPr id="39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1"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Projekt: unit12_vectors.qgz · Projekt-CRS: EPSG:25832</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Kontrollpunkt vor jeder Auswahl</a:t>
            </a:r>
            <a:endParaRPr b="0" lang="en-US" sz="3190" spc="-1" strike="noStrike">
              <a:solidFill>
                <a:srgbClr val="000000"/>
              </a:solidFill>
              <a:latin typeface="Arial"/>
            </a:endParaRPr>
          </a:p>
        </p:txBody>
      </p:sp>
      <p:sp>
        <p:nvSpPr>
          <p:cNvPr id="39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EINGANG PRÜFEN</a:t>
            </a:r>
            <a:endParaRPr b="0" lang="en-US" sz="1130" spc="-1" strike="noStrike">
              <a:solidFill>
                <a:srgbClr val="000000"/>
              </a:solidFill>
              <a:latin typeface="Arial"/>
            </a:endParaRPr>
          </a:p>
        </p:txBody>
      </p:sp>
      <p:sp>
        <p:nvSpPr>
          <p:cNvPr id="39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39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17</a:t>
            </a:r>
            <a:endParaRPr b="0" lang="en-US" sz="939" spc="-1" strike="noStrike">
              <a:solidFill>
                <a:srgbClr val="000000"/>
              </a:solidFill>
              <a:latin typeface="Arial"/>
            </a:endParaRPr>
          </a:p>
        </p:txBody>
      </p:sp>
      <p:sp>
        <p:nvSpPr>
          <p:cNvPr id="396" name=""/>
          <p:cNvSpPr/>
          <p:nvPr/>
        </p:nvSpPr>
        <p:spPr>
          <a:xfrm>
            <a:off x="647640" y="1866960"/>
            <a:ext cx="39394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7" name=""/>
          <p:cNvSpPr txBox="1"/>
          <p:nvPr/>
        </p:nvSpPr>
        <p:spPr>
          <a:xfrm>
            <a:off x="784800" y="1996560"/>
            <a:ext cx="3688200" cy="647640"/>
          </a:xfrm>
          <a:prstGeom prst="rect">
            <a:avLst/>
          </a:prstGeom>
          <a:noFill/>
          <a:ln w="0">
            <a:noFill/>
          </a:ln>
        </p:spPr>
        <p:txBody>
          <a:bodyPr lIns="0" rIns="0" tIns="0" bIns="0" anchor="t">
            <a:noAutofit/>
          </a:bodyPr>
          <a:p>
            <a:r>
              <a:rPr b="1" lang="en-US" sz="2070" spc="-1" strike="noStrike">
                <a:solidFill>
                  <a:srgbClr val="ffffff"/>
                </a:solidFill>
                <a:latin typeface="Noto Sans"/>
              </a:rPr>
              <a:t>Layer</a:t>
            </a:r>
            <a:endParaRPr b="0" lang="en-US" sz="2070" spc="-1" strike="noStrike">
              <a:solidFill>
                <a:srgbClr val="000000"/>
              </a:solidFill>
              <a:latin typeface="Arial"/>
            </a:endParaRPr>
          </a:p>
        </p:txBody>
      </p:sp>
      <p:sp>
        <p:nvSpPr>
          <p:cNvPr id="398" name=""/>
          <p:cNvSpPr/>
          <p:nvPr/>
        </p:nvSpPr>
        <p:spPr>
          <a:xfrm>
            <a:off x="4610160" y="1866960"/>
            <a:ext cx="31777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9" name=""/>
          <p:cNvSpPr txBox="1"/>
          <p:nvPr/>
        </p:nvSpPr>
        <p:spPr>
          <a:xfrm>
            <a:off x="4747320" y="1996560"/>
            <a:ext cx="2926080" cy="647640"/>
          </a:xfrm>
          <a:prstGeom prst="rect">
            <a:avLst/>
          </a:prstGeom>
          <a:noFill/>
          <a:ln w="0">
            <a:noFill/>
          </a:ln>
        </p:spPr>
        <p:txBody>
          <a:bodyPr lIns="0" rIns="0" tIns="0" bIns="0" anchor="t">
            <a:noAutofit/>
          </a:bodyPr>
          <a:p>
            <a:r>
              <a:rPr b="1" lang="en-US" sz="2070" spc="-1" strike="noStrike">
                <a:solidFill>
                  <a:srgbClr val="ffffff"/>
                </a:solidFill>
                <a:latin typeface="Noto Sans"/>
              </a:rPr>
              <a:t>Geometrie</a:t>
            </a:r>
            <a:endParaRPr b="0" lang="en-US" sz="2070" spc="-1" strike="noStrike">
              <a:solidFill>
                <a:srgbClr val="000000"/>
              </a:solidFill>
              <a:latin typeface="Arial"/>
            </a:endParaRPr>
          </a:p>
        </p:txBody>
      </p:sp>
      <p:sp>
        <p:nvSpPr>
          <p:cNvPr id="400" name=""/>
          <p:cNvSpPr/>
          <p:nvPr/>
        </p:nvSpPr>
        <p:spPr>
          <a:xfrm>
            <a:off x="7810560" y="1866960"/>
            <a:ext cx="18820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1" name=""/>
          <p:cNvSpPr txBox="1"/>
          <p:nvPr/>
        </p:nvSpPr>
        <p:spPr>
          <a:xfrm>
            <a:off x="7947720" y="1996560"/>
            <a:ext cx="1630800" cy="647640"/>
          </a:xfrm>
          <a:prstGeom prst="rect">
            <a:avLst/>
          </a:prstGeom>
          <a:noFill/>
          <a:ln w="0">
            <a:noFill/>
          </a:ln>
        </p:spPr>
        <p:txBody>
          <a:bodyPr lIns="0" rIns="0" tIns="0" bIns="0" anchor="t">
            <a:noAutofit/>
          </a:bodyPr>
          <a:p>
            <a:r>
              <a:rPr b="1" lang="en-US" sz="2070" spc="-1" strike="noStrike">
                <a:solidFill>
                  <a:srgbClr val="ffffff"/>
                </a:solidFill>
                <a:latin typeface="Noto Sans"/>
              </a:rPr>
              <a:t>Features</a:t>
            </a:r>
            <a:endParaRPr b="0" lang="en-US" sz="2070" spc="-1" strike="noStrike">
              <a:solidFill>
                <a:srgbClr val="000000"/>
              </a:solidFill>
              <a:latin typeface="Arial"/>
            </a:endParaRPr>
          </a:p>
        </p:txBody>
      </p:sp>
      <p:sp>
        <p:nvSpPr>
          <p:cNvPr id="402" name=""/>
          <p:cNvSpPr/>
          <p:nvPr/>
        </p:nvSpPr>
        <p:spPr>
          <a:xfrm>
            <a:off x="9715680" y="1866960"/>
            <a:ext cx="18061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3" name=""/>
          <p:cNvSpPr txBox="1"/>
          <p:nvPr/>
        </p:nvSpPr>
        <p:spPr>
          <a:xfrm>
            <a:off x="9852840" y="1996560"/>
            <a:ext cx="1554480" cy="647640"/>
          </a:xfrm>
          <a:prstGeom prst="rect">
            <a:avLst/>
          </a:prstGeom>
          <a:noFill/>
          <a:ln w="0">
            <a:noFill/>
          </a:ln>
        </p:spPr>
        <p:txBody>
          <a:bodyPr lIns="0" rIns="0" tIns="0" bIns="0" anchor="t">
            <a:noAutofit/>
          </a:bodyPr>
          <a:p>
            <a:r>
              <a:rPr b="1" lang="en-US" sz="2070" spc="-1" strike="noStrike">
                <a:solidFill>
                  <a:srgbClr val="ffffff"/>
                </a:solidFill>
                <a:latin typeface="Noto Sans"/>
              </a:rPr>
              <a:t>CRS</a:t>
            </a:r>
            <a:endParaRPr b="0" lang="en-US" sz="2070" spc="-1" strike="noStrike">
              <a:solidFill>
                <a:srgbClr val="000000"/>
              </a:solidFill>
              <a:latin typeface="Arial"/>
            </a:endParaRPr>
          </a:p>
        </p:txBody>
      </p:sp>
      <p:sp>
        <p:nvSpPr>
          <p:cNvPr id="404" name=""/>
          <p:cNvSpPr/>
          <p:nvPr/>
        </p:nvSpPr>
        <p:spPr>
          <a:xfrm>
            <a:off x="647640" y="2666880"/>
            <a:ext cx="39394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5" name=""/>
          <p:cNvSpPr txBox="1"/>
          <p:nvPr/>
        </p:nvSpPr>
        <p:spPr>
          <a:xfrm>
            <a:off x="784800" y="2796480"/>
            <a:ext cx="3688200" cy="647640"/>
          </a:xfrm>
          <a:prstGeom prst="rect">
            <a:avLst/>
          </a:prstGeom>
          <a:noFill/>
          <a:ln w="0">
            <a:noFill/>
          </a:ln>
        </p:spPr>
        <p:txBody>
          <a:bodyPr lIns="0" rIns="0" tIns="0" bIns="0" anchor="t">
            <a:noAutofit/>
          </a:bodyPr>
          <a:p>
            <a:r>
              <a:rPr b="0" lang="en-US" sz="2070" spc="-1" strike="noStrike">
                <a:solidFill>
                  <a:srgbClr val="000000"/>
                </a:solidFill>
                <a:latin typeface="Noto Sans"/>
              </a:rPr>
              <a:t>gbif_checked</a:t>
            </a:r>
            <a:endParaRPr b="0" lang="en-US" sz="2070" spc="-1" strike="noStrike">
              <a:solidFill>
                <a:srgbClr val="000000"/>
              </a:solidFill>
              <a:latin typeface="Arial"/>
            </a:endParaRPr>
          </a:p>
        </p:txBody>
      </p:sp>
      <p:sp>
        <p:nvSpPr>
          <p:cNvPr id="406" name=""/>
          <p:cNvSpPr/>
          <p:nvPr/>
        </p:nvSpPr>
        <p:spPr>
          <a:xfrm>
            <a:off x="4610160" y="2666880"/>
            <a:ext cx="31777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7" name=""/>
          <p:cNvSpPr txBox="1"/>
          <p:nvPr/>
        </p:nvSpPr>
        <p:spPr>
          <a:xfrm>
            <a:off x="4747320" y="2796480"/>
            <a:ext cx="2926080" cy="647640"/>
          </a:xfrm>
          <a:prstGeom prst="rect">
            <a:avLst/>
          </a:prstGeom>
          <a:noFill/>
          <a:ln w="0">
            <a:noFill/>
          </a:ln>
        </p:spPr>
        <p:txBody>
          <a:bodyPr lIns="0" rIns="0" tIns="0" bIns="0" anchor="t">
            <a:noAutofit/>
          </a:bodyPr>
          <a:p>
            <a:r>
              <a:rPr b="0" lang="en-US" sz="2070" spc="-1" strike="noStrike">
                <a:solidFill>
                  <a:srgbClr val="000000"/>
                </a:solidFill>
                <a:latin typeface="Noto Sans"/>
              </a:rPr>
              <a:t>Punkt</a:t>
            </a:r>
            <a:endParaRPr b="0" lang="en-US" sz="2070" spc="-1" strike="noStrike">
              <a:solidFill>
                <a:srgbClr val="000000"/>
              </a:solidFill>
              <a:latin typeface="Arial"/>
            </a:endParaRPr>
          </a:p>
        </p:txBody>
      </p:sp>
      <p:sp>
        <p:nvSpPr>
          <p:cNvPr id="408" name=""/>
          <p:cNvSpPr/>
          <p:nvPr/>
        </p:nvSpPr>
        <p:spPr>
          <a:xfrm>
            <a:off x="7810560" y="2666880"/>
            <a:ext cx="18820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9" name=""/>
          <p:cNvSpPr txBox="1"/>
          <p:nvPr/>
        </p:nvSpPr>
        <p:spPr>
          <a:xfrm>
            <a:off x="7947720" y="2796480"/>
            <a:ext cx="1630800" cy="647640"/>
          </a:xfrm>
          <a:prstGeom prst="rect">
            <a:avLst/>
          </a:prstGeom>
          <a:noFill/>
          <a:ln w="0">
            <a:noFill/>
          </a:ln>
        </p:spPr>
        <p:txBody>
          <a:bodyPr lIns="0" rIns="0" tIns="0" bIns="0" anchor="t">
            <a:noAutofit/>
          </a:bodyPr>
          <a:p>
            <a:r>
              <a:rPr b="0" lang="en-US" sz="2070" spc="-1" strike="noStrike">
                <a:solidFill>
                  <a:srgbClr val="000000"/>
                </a:solidFill>
                <a:latin typeface="Noto Sans"/>
              </a:rPr>
              <a:t>56</a:t>
            </a:r>
            <a:endParaRPr b="0" lang="en-US" sz="2070" spc="-1" strike="noStrike">
              <a:solidFill>
                <a:srgbClr val="000000"/>
              </a:solidFill>
              <a:latin typeface="Arial"/>
            </a:endParaRPr>
          </a:p>
        </p:txBody>
      </p:sp>
      <p:sp>
        <p:nvSpPr>
          <p:cNvPr id="410" name=""/>
          <p:cNvSpPr/>
          <p:nvPr/>
        </p:nvSpPr>
        <p:spPr>
          <a:xfrm>
            <a:off x="9715680" y="2666880"/>
            <a:ext cx="18061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1" name=""/>
          <p:cNvSpPr txBox="1"/>
          <p:nvPr/>
        </p:nvSpPr>
        <p:spPr>
          <a:xfrm>
            <a:off x="9852840" y="2796480"/>
            <a:ext cx="1554480" cy="647640"/>
          </a:xfrm>
          <a:prstGeom prst="rect">
            <a:avLst/>
          </a:prstGeom>
          <a:noFill/>
          <a:ln w="0">
            <a:noFill/>
          </a:ln>
        </p:spPr>
        <p:txBody>
          <a:bodyPr lIns="0" rIns="0" tIns="0" bIns="0" anchor="t">
            <a:noAutofit/>
          </a:bodyPr>
          <a:p>
            <a:r>
              <a:rPr b="0" lang="en-US" sz="2070" spc="-1" strike="noStrike">
                <a:solidFill>
                  <a:srgbClr val="000000"/>
                </a:solidFill>
                <a:latin typeface="Noto Sans"/>
              </a:rPr>
              <a:t>EPSG:25832</a:t>
            </a:r>
            <a:endParaRPr b="0" lang="en-US" sz="2070" spc="-1" strike="noStrike">
              <a:solidFill>
                <a:srgbClr val="000000"/>
              </a:solidFill>
              <a:latin typeface="Arial"/>
            </a:endParaRPr>
          </a:p>
        </p:txBody>
      </p:sp>
      <p:sp>
        <p:nvSpPr>
          <p:cNvPr id="412" name=""/>
          <p:cNvSpPr/>
          <p:nvPr/>
        </p:nvSpPr>
        <p:spPr>
          <a:xfrm>
            <a:off x="647640" y="3467160"/>
            <a:ext cx="393948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3" name=""/>
          <p:cNvSpPr txBox="1"/>
          <p:nvPr/>
        </p:nvSpPr>
        <p:spPr>
          <a:xfrm>
            <a:off x="784800" y="3596760"/>
            <a:ext cx="3688200" cy="647640"/>
          </a:xfrm>
          <a:prstGeom prst="rect">
            <a:avLst/>
          </a:prstGeom>
          <a:noFill/>
          <a:ln w="0">
            <a:noFill/>
          </a:ln>
        </p:spPr>
        <p:txBody>
          <a:bodyPr lIns="0" rIns="0" tIns="0" bIns="0" anchor="t">
            <a:noAutofit/>
          </a:bodyPr>
          <a:p>
            <a:r>
              <a:rPr b="0" lang="en-US" sz="2070" spc="-1" strike="noStrike">
                <a:solidFill>
                  <a:srgbClr val="000000"/>
                </a:solidFill>
                <a:latin typeface="Noto Sans"/>
              </a:rPr>
              <a:t>gewaesser</a:t>
            </a:r>
            <a:endParaRPr b="0" lang="en-US" sz="2070" spc="-1" strike="noStrike">
              <a:solidFill>
                <a:srgbClr val="000000"/>
              </a:solidFill>
              <a:latin typeface="Arial"/>
            </a:endParaRPr>
          </a:p>
        </p:txBody>
      </p:sp>
      <p:sp>
        <p:nvSpPr>
          <p:cNvPr id="414" name=""/>
          <p:cNvSpPr/>
          <p:nvPr/>
        </p:nvSpPr>
        <p:spPr>
          <a:xfrm>
            <a:off x="4610160" y="3467160"/>
            <a:ext cx="31777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5" name=""/>
          <p:cNvSpPr txBox="1"/>
          <p:nvPr/>
        </p:nvSpPr>
        <p:spPr>
          <a:xfrm>
            <a:off x="4747320" y="3596760"/>
            <a:ext cx="2926080" cy="647640"/>
          </a:xfrm>
          <a:prstGeom prst="rect">
            <a:avLst/>
          </a:prstGeom>
          <a:noFill/>
          <a:ln w="0">
            <a:noFill/>
          </a:ln>
        </p:spPr>
        <p:txBody>
          <a:bodyPr lIns="0" rIns="0" tIns="0" bIns="0" anchor="t">
            <a:noAutofit/>
          </a:bodyPr>
          <a:p>
            <a:r>
              <a:rPr b="0" lang="en-US" sz="2070" spc="-1" strike="noStrike">
                <a:solidFill>
                  <a:srgbClr val="000000"/>
                </a:solidFill>
                <a:latin typeface="Noto Sans"/>
              </a:rPr>
              <a:t>MultiLineString</a:t>
            </a:r>
            <a:endParaRPr b="0" lang="en-US" sz="2070" spc="-1" strike="noStrike">
              <a:solidFill>
                <a:srgbClr val="000000"/>
              </a:solidFill>
              <a:latin typeface="Arial"/>
            </a:endParaRPr>
          </a:p>
        </p:txBody>
      </p:sp>
      <p:sp>
        <p:nvSpPr>
          <p:cNvPr id="416" name=""/>
          <p:cNvSpPr/>
          <p:nvPr/>
        </p:nvSpPr>
        <p:spPr>
          <a:xfrm>
            <a:off x="7810560" y="3467160"/>
            <a:ext cx="188208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7" name=""/>
          <p:cNvSpPr txBox="1"/>
          <p:nvPr/>
        </p:nvSpPr>
        <p:spPr>
          <a:xfrm>
            <a:off x="7947720" y="3596760"/>
            <a:ext cx="1630800" cy="647640"/>
          </a:xfrm>
          <a:prstGeom prst="rect">
            <a:avLst/>
          </a:prstGeom>
          <a:noFill/>
          <a:ln w="0">
            <a:noFill/>
          </a:ln>
        </p:spPr>
        <p:txBody>
          <a:bodyPr lIns="0" rIns="0" tIns="0" bIns="0" anchor="t">
            <a:noAutofit/>
          </a:bodyPr>
          <a:p>
            <a:r>
              <a:rPr b="0" lang="en-US" sz="2070" spc="-1" strike="noStrike">
                <a:solidFill>
                  <a:srgbClr val="000000"/>
                </a:solidFill>
                <a:latin typeface="Noto Sans"/>
              </a:rPr>
              <a:t>412</a:t>
            </a:r>
            <a:endParaRPr b="0" lang="en-US" sz="2070" spc="-1" strike="noStrike">
              <a:solidFill>
                <a:srgbClr val="000000"/>
              </a:solidFill>
              <a:latin typeface="Arial"/>
            </a:endParaRPr>
          </a:p>
        </p:txBody>
      </p:sp>
      <p:sp>
        <p:nvSpPr>
          <p:cNvPr id="418" name=""/>
          <p:cNvSpPr/>
          <p:nvPr/>
        </p:nvSpPr>
        <p:spPr>
          <a:xfrm>
            <a:off x="9715680" y="3467160"/>
            <a:ext cx="18061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9" name=""/>
          <p:cNvSpPr txBox="1"/>
          <p:nvPr/>
        </p:nvSpPr>
        <p:spPr>
          <a:xfrm>
            <a:off x="9852840" y="3596760"/>
            <a:ext cx="1554480" cy="647640"/>
          </a:xfrm>
          <a:prstGeom prst="rect">
            <a:avLst/>
          </a:prstGeom>
          <a:noFill/>
          <a:ln w="0">
            <a:noFill/>
          </a:ln>
        </p:spPr>
        <p:txBody>
          <a:bodyPr lIns="0" rIns="0" tIns="0" bIns="0" anchor="t">
            <a:noAutofit/>
          </a:bodyPr>
          <a:p>
            <a:r>
              <a:rPr b="0" lang="en-US" sz="2070" spc="-1" strike="noStrike">
                <a:solidFill>
                  <a:srgbClr val="000000"/>
                </a:solidFill>
                <a:latin typeface="Noto Sans"/>
              </a:rPr>
              <a:t>EPSG:25832</a:t>
            </a:r>
            <a:endParaRPr b="0" lang="en-US" sz="2070" spc="-1" strike="noStrike">
              <a:solidFill>
                <a:srgbClr val="000000"/>
              </a:solidFill>
              <a:latin typeface="Arial"/>
            </a:endParaRPr>
          </a:p>
        </p:txBody>
      </p:sp>
      <p:sp>
        <p:nvSpPr>
          <p:cNvPr id="420" name=""/>
          <p:cNvSpPr/>
          <p:nvPr/>
        </p:nvSpPr>
        <p:spPr>
          <a:xfrm>
            <a:off x="647640" y="4267080"/>
            <a:ext cx="39394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1" name=""/>
          <p:cNvSpPr txBox="1"/>
          <p:nvPr/>
        </p:nvSpPr>
        <p:spPr>
          <a:xfrm>
            <a:off x="784800" y="4396680"/>
            <a:ext cx="3688200" cy="647640"/>
          </a:xfrm>
          <a:prstGeom prst="rect">
            <a:avLst/>
          </a:prstGeom>
          <a:noFill/>
          <a:ln w="0">
            <a:noFill/>
          </a:ln>
        </p:spPr>
        <p:txBody>
          <a:bodyPr lIns="0" rIns="0" tIns="0" bIns="0" anchor="t">
            <a:noAutofit/>
          </a:bodyPr>
          <a:p>
            <a:r>
              <a:rPr b="0" lang="en-US" sz="2070" spc="-1" strike="noStrike">
                <a:solidFill>
                  <a:srgbClr val="000000"/>
                </a:solidFill>
                <a:latin typeface="Noto Sans"/>
              </a:rPr>
              <a:t>schutzgebiete</a:t>
            </a:r>
            <a:endParaRPr b="0" lang="en-US" sz="2070" spc="-1" strike="noStrike">
              <a:solidFill>
                <a:srgbClr val="000000"/>
              </a:solidFill>
              <a:latin typeface="Arial"/>
            </a:endParaRPr>
          </a:p>
        </p:txBody>
      </p:sp>
      <p:sp>
        <p:nvSpPr>
          <p:cNvPr id="422" name=""/>
          <p:cNvSpPr/>
          <p:nvPr/>
        </p:nvSpPr>
        <p:spPr>
          <a:xfrm>
            <a:off x="4610160" y="4267080"/>
            <a:ext cx="31777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3" name=""/>
          <p:cNvSpPr txBox="1"/>
          <p:nvPr/>
        </p:nvSpPr>
        <p:spPr>
          <a:xfrm>
            <a:off x="4747320" y="4396680"/>
            <a:ext cx="2926080" cy="647640"/>
          </a:xfrm>
          <a:prstGeom prst="rect">
            <a:avLst/>
          </a:prstGeom>
          <a:noFill/>
          <a:ln w="0">
            <a:noFill/>
          </a:ln>
        </p:spPr>
        <p:txBody>
          <a:bodyPr lIns="0" rIns="0" tIns="0" bIns="0" anchor="t">
            <a:noAutofit/>
          </a:bodyPr>
          <a:p>
            <a:r>
              <a:rPr b="0" lang="en-US" sz="2070" spc="-1" strike="noStrike">
                <a:solidFill>
                  <a:srgbClr val="000000"/>
                </a:solidFill>
                <a:latin typeface="Noto Sans"/>
              </a:rPr>
              <a:t>MultiPolygon</a:t>
            </a:r>
            <a:endParaRPr b="0" lang="en-US" sz="2070" spc="-1" strike="noStrike">
              <a:solidFill>
                <a:srgbClr val="000000"/>
              </a:solidFill>
              <a:latin typeface="Arial"/>
            </a:endParaRPr>
          </a:p>
        </p:txBody>
      </p:sp>
      <p:sp>
        <p:nvSpPr>
          <p:cNvPr id="424" name=""/>
          <p:cNvSpPr/>
          <p:nvPr/>
        </p:nvSpPr>
        <p:spPr>
          <a:xfrm>
            <a:off x="7810560" y="4267080"/>
            <a:ext cx="18820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5" name=""/>
          <p:cNvSpPr txBox="1"/>
          <p:nvPr/>
        </p:nvSpPr>
        <p:spPr>
          <a:xfrm>
            <a:off x="7947720" y="4396680"/>
            <a:ext cx="1630800" cy="647640"/>
          </a:xfrm>
          <a:prstGeom prst="rect">
            <a:avLst/>
          </a:prstGeom>
          <a:noFill/>
          <a:ln w="0">
            <a:noFill/>
          </a:ln>
        </p:spPr>
        <p:txBody>
          <a:bodyPr lIns="0" rIns="0" tIns="0" bIns="0" anchor="t">
            <a:noAutofit/>
          </a:bodyPr>
          <a:p>
            <a:r>
              <a:rPr b="0" lang="en-US" sz="2070" spc="-1" strike="noStrike">
                <a:solidFill>
                  <a:srgbClr val="000000"/>
                </a:solidFill>
                <a:latin typeface="Noto Sans"/>
              </a:rPr>
              <a:t>22</a:t>
            </a:r>
            <a:endParaRPr b="0" lang="en-US" sz="2070" spc="-1" strike="noStrike">
              <a:solidFill>
                <a:srgbClr val="000000"/>
              </a:solidFill>
              <a:latin typeface="Arial"/>
            </a:endParaRPr>
          </a:p>
        </p:txBody>
      </p:sp>
      <p:sp>
        <p:nvSpPr>
          <p:cNvPr id="426" name=""/>
          <p:cNvSpPr/>
          <p:nvPr/>
        </p:nvSpPr>
        <p:spPr>
          <a:xfrm>
            <a:off x="9715680" y="4267080"/>
            <a:ext cx="18061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7" name=""/>
          <p:cNvSpPr txBox="1"/>
          <p:nvPr/>
        </p:nvSpPr>
        <p:spPr>
          <a:xfrm>
            <a:off x="9852840" y="4396680"/>
            <a:ext cx="1554480" cy="647640"/>
          </a:xfrm>
          <a:prstGeom prst="rect">
            <a:avLst/>
          </a:prstGeom>
          <a:noFill/>
          <a:ln w="0">
            <a:noFill/>
          </a:ln>
        </p:spPr>
        <p:txBody>
          <a:bodyPr lIns="0" rIns="0" tIns="0" bIns="0" anchor="t">
            <a:noAutofit/>
          </a:bodyPr>
          <a:p>
            <a:r>
              <a:rPr b="0" lang="en-US" sz="2070" spc="-1" strike="noStrike">
                <a:solidFill>
                  <a:srgbClr val="000000"/>
                </a:solidFill>
                <a:latin typeface="Noto Sans"/>
              </a:rPr>
              <a:t>EPSG:25832</a:t>
            </a:r>
            <a:endParaRPr b="0" lang="en-US" sz="2070" spc="-1" strike="noStrike">
              <a:solidFill>
                <a:srgbClr val="000000"/>
              </a:solidFill>
              <a:latin typeface="Arial"/>
            </a:endParaRPr>
          </a:p>
        </p:txBody>
      </p:sp>
      <p:sp>
        <p:nvSpPr>
          <p:cNvPr id="42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9"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Kontrollfolge: Name · Geometrie · CRS · Anzahl · Lage · Attribute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Layerreihenfolge macht Beziehungen sichtbar</a:t>
            </a:r>
            <a:endParaRPr b="0" lang="en-US" sz="3190" spc="-1" strike="noStrike">
              <a:solidFill>
                <a:srgbClr val="000000"/>
              </a:solidFill>
              <a:latin typeface="Arial"/>
            </a:endParaRPr>
          </a:p>
        </p:txBody>
      </p:sp>
      <p:sp>
        <p:nvSpPr>
          <p:cNvPr id="43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DARSTELLUNG</a:t>
            </a:r>
            <a:endParaRPr b="0" lang="en-US" sz="1130" spc="-1" strike="noStrike">
              <a:solidFill>
                <a:srgbClr val="000000"/>
              </a:solidFill>
              <a:latin typeface="Arial"/>
            </a:endParaRPr>
          </a:p>
        </p:txBody>
      </p:sp>
      <p:sp>
        <p:nvSpPr>
          <p:cNvPr id="43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43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18</a:t>
            </a:r>
            <a:endParaRPr b="0" lang="en-US" sz="939" spc="-1" strike="noStrike">
              <a:solidFill>
                <a:srgbClr val="000000"/>
              </a:solidFill>
              <a:latin typeface="Arial"/>
            </a:endParaRPr>
          </a:p>
        </p:txBody>
      </p:sp>
      <p:sp>
        <p:nvSpPr>
          <p:cNvPr id="434" name=""/>
          <p:cNvSpPr/>
          <p:nvPr/>
        </p:nvSpPr>
        <p:spPr>
          <a:xfrm>
            <a:off x="1905120" y="1866960"/>
            <a:ext cx="8382240" cy="800280"/>
          </a:xfrm>
          <a:prstGeom prst="rect">
            <a:avLst/>
          </a:prstGeom>
          <a:solidFill>
            <a:srgbClr val="ffffff"/>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35" name=""/>
          <p:cNvSpPr/>
          <p:nvPr/>
        </p:nvSpPr>
        <p:spPr>
          <a:xfrm>
            <a:off x="1905120" y="1866960"/>
            <a:ext cx="91440" cy="8002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36" name=""/>
          <p:cNvSpPr txBox="1"/>
          <p:nvPr/>
        </p:nvSpPr>
        <p:spPr>
          <a:xfrm>
            <a:off x="2247840" y="2019240"/>
            <a:ext cx="3200400" cy="457200"/>
          </a:xfrm>
          <a:prstGeom prst="rect">
            <a:avLst/>
          </a:prstGeom>
          <a:noFill/>
          <a:ln w="0">
            <a:noFill/>
          </a:ln>
        </p:spPr>
        <p:txBody>
          <a:bodyPr lIns="0" rIns="0" tIns="0" bIns="0" anchor="t">
            <a:noAutofit/>
          </a:bodyPr>
          <a:p>
            <a:r>
              <a:rPr b="1" lang="en-US" sz="2540" spc="-1" strike="noStrike">
                <a:solidFill>
                  <a:srgbClr val="a32123"/>
                </a:solidFill>
                <a:latin typeface="Noto Sans"/>
              </a:rPr>
              <a:t>1 · Punkte</a:t>
            </a:r>
            <a:endParaRPr b="0" lang="en-US" sz="2540" spc="-1" strike="noStrike">
              <a:solidFill>
                <a:srgbClr val="000000"/>
              </a:solidFill>
              <a:latin typeface="Arial"/>
            </a:endParaRPr>
          </a:p>
        </p:txBody>
      </p:sp>
      <p:sp>
        <p:nvSpPr>
          <p:cNvPr id="437" name=""/>
          <p:cNvSpPr txBox="1"/>
          <p:nvPr/>
        </p:nvSpPr>
        <p:spPr>
          <a:xfrm>
            <a:off x="5486400" y="2034720"/>
            <a:ext cx="4419720" cy="457200"/>
          </a:xfrm>
          <a:prstGeom prst="rect">
            <a:avLst/>
          </a:prstGeom>
          <a:noFill/>
          <a:ln w="0">
            <a:noFill/>
          </a:ln>
        </p:spPr>
        <p:txBody>
          <a:bodyPr lIns="0" rIns="0" tIns="0" bIns="0" anchor="t">
            <a:noAutofit/>
          </a:bodyPr>
          <a:p>
            <a:r>
              <a:rPr b="0" lang="en-US" sz="2260" spc="-1" strike="noStrike">
                <a:solidFill>
                  <a:srgbClr val="000000"/>
                </a:solidFill>
                <a:latin typeface="Noto Sans"/>
              </a:rPr>
              <a:t>kontrastierendes Symbol</a:t>
            </a:r>
            <a:endParaRPr b="0" lang="en-US" sz="2260" spc="-1" strike="noStrike">
              <a:solidFill>
                <a:srgbClr val="000000"/>
              </a:solidFill>
              <a:latin typeface="Arial"/>
            </a:endParaRPr>
          </a:p>
        </p:txBody>
      </p:sp>
      <p:sp>
        <p:nvSpPr>
          <p:cNvPr id="438" name=""/>
          <p:cNvSpPr/>
          <p:nvPr/>
        </p:nvSpPr>
        <p:spPr>
          <a:xfrm>
            <a:off x="1905120" y="2971800"/>
            <a:ext cx="8382240" cy="800280"/>
          </a:xfrm>
          <a:prstGeom prst="rect">
            <a:avLst/>
          </a:prstGeom>
          <a:solidFill>
            <a:srgbClr val="ffffff"/>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39" name=""/>
          <p:cNvSpPr/>
          <p:nvPr/>
        </p:nvSpPr>
        <p:spPr>
          <a:xfrm>
            <a:off x="1905120" y="2971800"/>
            <a:ext cx="91440" cy="800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0" name=""/>
          <p:cNvSpPr txBox="1"/>
          <p:nvPr/>
        </p:nvSpPr>
        <p:spPr>
          <a:xfrm>
            <a:off x="2247840" y="3124080"/>
            <a:ext cx="3200400" cy="457200"/>
          </a:xfrm>
          <a:prstGeom prst="rect">
            <a:avLst/>
          </a:prstGeom>
          <a:noFill/>
          <a:ln w="0">
            <a:noFill/>
          </a:ln>
        </p:spPr>
        <p:txBody>
          <a:bodyPr lIns="0" rIns="0" tIns="0" bIns="0" anchor="t">
            <a:noAutofit/>
          </a:bodyPr>
          <a:p>
            <a:r>
              <a:rPr b="1" lang="en-US" sz="2540" spc="-1" strike="noStrike">
                <a:solidFill>
                  <a:srgbClr val="004899"/>
                </a:solidFill>
                <a:latin typeface="Noto Sans"/>
              </a:rPr>
              <a:t>2 · Gewässer</a:t>
            </a:r>
            <a:endParaRPr b="0" lang="en-US" sz="2540" spc="-1" strike="noStrike">
              <a:solidFill>
                <a:srgbClr val="000000"/>
              </a:solidFill>
              <a:latin typeface="Arial"/>
            </a:endParaRPr>
          </a:p>
        </p:txBody>
      </p:sp>
      <p:sp>
        <p:nvSpPr>
          <p:cNvPr id="441" name=""/>
          <p:cNvSpPr txBox="1"/>
          <p:nvPr/>
        </p:nvSpPr>
        <p:spPr>
          <a:xfrm>
            <a:off x="5486400" y="3139560"/>
            <a:ext cx="4419720" cy="457200"/>
          </a:xfrm>
          <a:prstGeom prst="rect">
            <a:avLst/>
          </a:prstGeom>
          <a:noFill/>
          <a:ln w="0">
            <a:noFill/>
          </a:ln>
        </p:spPr>
        <p:txBody>
          <a:bodyPr lIns="0" rIns="0" tIns="0" bIns="0" anchor="t">
            <a:noAutofit/>
          </a:bodyPr>
          <a:p>
            <a:r>
              <a:rPr b="0" lang="en-US" sz="2260" spc="-1" strike="noStrike">
                <a:solidFill>
                  <a:srgbClr val="000000"/>
                </a:solidFill>
                <a:latin typeface="Noto Sans"/>
              </a:rPr>
              <a:t>erkennbare Linie</a:t>
            </a:r>
            <a:endParaRPr b="0" lang="en-US" sz="2260" spc="-1" strike="noStrike">
              <a:solidFill>
                <a:srgbClr val="000000"/>
              </a:solidFill>
              <a:latin typeface="Arial"/>
            </a:endParaRPr>
          </a:p>
        </p:txBody>
      </p:sp>
      <p:sp>
        <p:nvSpPr>
          <p:cNvPr id="442" name=""/>
          <p:cNvSpPr/>
          <p:nvPr/>
        </p:nvSpPr>
        <p:spPr>
          <a:xfrm>
            <a:off x="1905120" y="4076640"/>
            <a:ext cx="8382240" cy="800280"/>
          </a:xfrm>
          <a:prstGeom prst="rect">
            <a:avLst/>
          </a:prstGeom>
          <a:solidFill>
            <a:srgbClr val="ffffff"/>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43" name=""/>
          <p:cNvSpPr/>
          <p:nvPr/>
        </p:nvSpPr>
        <p:spPr>
          <a:xfrm>
            <a:off x="1905120" y="4076640"/>
            <a:ext cx="91440" cy="800280"/>
          </a:xfrm>
          <a:prstGeom prst="rect">
            <a:avLst/>
          </a:prstGeom>
          <a:solidFill>
            <a:srgbClr val="2e7d32"/>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4" name=""/>
          <p:cNvSpPr txBox="1"/>
          <p:nvPr/>
        </p:nvSpPr>
        <p:spPr>
          <a:xfrm>
            <a:off x="2247840" y="4229280"/>
            <a:ext cx="3200400" cy="457200"/>
          </a:xfrm>
          <a:prstGeom prst="rect">
            <a:avLst/>
          </a:prstGeom>
          <a:noFill/>
          <a:ln w="0">
            <a:noFill/>
          </a:ln>
        </p:spPr>
        <p:txBody>
          <a:bodyPr lIns="0" rIns="0" tIns="0" bIns="0" anchor="t">
            <a:noAutofit/>
          </a:bodyPr>
          <a:p>
            <a:r>
              <a:rPr b="1" lang="en-US" sz="2540" spc="-1" strike="noStrike">
                <a:solidFill>
                  <a:srgbClr val="2e7d32"/>
                </a:solidFill>
                <a:latin typeface="Noto Sans"/>
              </a:rPr>
              <a:t>3 · Schutzgebiete</a:t>
            </a:r>
            <a:endParaRPr b="0" lang="en-US" sz="2540" spc="-1" strike="noStrike">
              <a:solidFill>
                <a:srgbClr val="000000"/>
              </a:solidFill>
              <a:latin typeface="Arial"/>
            </a:endParaRPr>
          </a:p>
        </p:txBody>
      </p:sp>
      <p:sp>
        <p:nvSpPr>
          <p:cNvPr id="445" name=""/>
          <p:cNvSpPr txBox="1"/>
          <p:nvPr/>
        </p:nvSpPr>
        <p:spPr>
          <a:xfrm>
            <a:off x="5486400" y="4244400"/>
            <a:ext cx="4419720" cy="457200"/>
          </a:xfrm>
          <a:prstGeom prst="rect">
            <a:avLst/>
          </a:prstGeom>
          <a:noFill/>
          <a:ln w="0">
            <a:noFill/>
          </a:ln>
        </p:spPr>
        <p:txBody>
          <a:bodyPr lIns="0" rIns="0" tIns="0" bIns="0" anchor="t">
            <a:noAutofit/>
          </a:bodyPr>
          <a:p>
            <a:r>
              <a:rPr b="0" lang="en-US" sz="2260" spc="-1" strike="noStrike">
                <a:solidFill>
                  <a:srgbClr val="000000"/>
                </a:solidFill>
                <a:latin typeface="Noto Sans"/>
              </a:rPr>
              <a:t>transparente Fläche</a:t>
            </a:r>
            <a:endParaRPr b="0" lang="en-US" sz="2260" spc="-1" strike="noStrike">
              <a:solidFill>
                <a:srgbClr val="000000"/>
              </a:solidFill>
              <a:latin typeface="Arial"/>
            </a:endParaRPr>
          </a:p>
        </p:txBody>
      </p:sp>
      <p:sp>
        <p:nvSpPr>
          <p:cNvPr id="44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7"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Darstellung prüfen – aber Auswahlregel nicht aus Farben ableiten.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Zuerst nach dem Attribut kategorie auswählen</a:t>
            </a:r>
            <a:endParaRPr b="0" lang="en-US" sz="3190" spc="-1" strike="noStrike">
              <a:solidFill>
                <a:srgbClr val="000000"/>
              </a:solidFill>
              <a:latin typeface="Arial"/>
            </a:endParaRPr>
          </a:p>
        </p:txBody>
      </p:sp>
      <p:sp>
        <p:nvSpPr>
          <p:cNvPr id="44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ATTRIBUTAUSWAHL</a:t>
            </a:r>
            <a:endParaRPr b="0" lang="en-US" sz="1130" spc="-1" strike="noStrike">
              <a:solidFill>
                <a:srgbClr val="000000"/>
              </a:solidFill>
              <a:latin typeface="Arial"/>
            </a:endParaRPr>
          </a:p>
        </p:txBody>
      </p:sp>
      <p:sp>
        <p:nvSpPr>
          <p:cNvPr id="45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45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19</a:t>
            </a:r>
            <a:endParaRPr b="0" lang="en-US" sz="939" spc="-1" strike="noStrike">
              <a:solidFill>
                <a:srgbClr val="000000"/>
              </a:solidFill>
              <a:latin typeface="Arial"/>
            </a:endParaRPr>
          </a:p>
        </p:txBody>
      </p:sp>
      <p:sp>
        <p:nvSpPr>
          <p:cNvPr id="452" name=""/>
          <p:cNvSpPr/>
          <p:nvPr/>
        </p:nvSpPr>
        <p:spPr>
          <a:xfrm>
            <a:off x="1600200" y="2171880"/>
            <a:ext cx="8991720" cy="1371600"/>
          </a:xfrm>
          <a:prstGeom prst="rect">
            <a:avLst/>
          </a:prstGeom>
          <a:solidFill>
            <a:srgbClr val="f4f4f4"/>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453" name=""/>
          <p:cNvSpPr txBox="1"/>
          <p:nvPr/>
        </p:nvSpPr>
        <p:spPr>
          <a:xfrm>
            <a:off x="1981080" y="2514600"/>
            <a:ext cx="8229600" cy="685800"/>
          </a:xfrm>
          <a:prstGeom prst="rect">
            <a:avLst/>
          </a:prstGeom>
          <a:noFill/>
          <a:ln w="0">
            <a:noFill/>
          </a:ln>
        </p:spPr>
        <p:txBody>
          <a:bodyPr lIns="0" rIns="0" tIns="0" bIns="0" anchor="t">
            <a:noAutofit/>
          </a:bodyPr>
          <a:p>
            <a:pPr algn="ctr"/>
            <a:r>
              <a:rPr b="1" lang="en-US" sz="3190" spc="-1" strike="noStrike">
                <a:solidFill>
                  <a:srgbClr val="000000"/>
                </a:solidFill>
                <a:latin typeface="Noto Sans"/>
              </a:rPr>
              <a:t>"kategorie" = 'FFH'</a:t>
            </a:r>
            <a:endParaRPr b="0" lang="en-US" sz="3190" spc="-1" strike="noStrike">
              <a:solidFill>
                <a:srgbClr val="000000"/>
              </a:solidFill>
              <a:latin typeface="Arial"/>
            </a:endParaRPr>
          </a:p>
        </p:txBody>
      </p:sp>
      <p:sp>
        <p:nvSpPr>
          <p:cNvPr id="454" name=""/>
          <p:cNvSpPr/>
          <p:nvPr/>
        </p:nvSpPr>
        <p:spPr>
          <a:xfrm>
            <a:off x="647640" y="43434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5" name=""/>
          <p:cNvSpPr txBox="1"/>
          <p:nvPr/>
        </p:nvSpPr>
        <p:spPr>
          <a:xfrm>
            <a:off x="838080" y="44499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Attributauswahl: Tabellenwert entscheidet · räumliche Auswahl folgt danach.</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Zehn FFH-Flächen als Vergleichslayer sichern</a:t>
            </a:r>
            <a:endParaRPr b="0" lang="en-US" sz="3190" spc="-1" strike="noStrike">
              <a:solidFill>
                <a:srgbClr val="000000"/>
              </a:solidFill>
              <a:latin typeface="Arial"/>
            </a:endParaRPr>
          </a:p>
        </p:txBody>
      </p:sp>
      <p:sp>
        <p:nvSpPr>
          <p:cNvPr id="45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ATTRIBUTERGEBNIS</a:t>
            </a:r>
            <a:endParaRPr b="0" lang="en-US" sz="1130" spc="-1" strike="noStrike">
              <a:solidFill>
                <a:srgbClr val="000000"/>
              </a:solidFill>
              <a:latin typeface="Arial"/>
            </a:endParaRPr>
          </a:p>
        </p:txBody>
      </p:sp>
      <p:sp>
        <p:nvSpPr>
          <p:cNvPr id="45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45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20</a:t>
            </a:r>
            <a:endParaRPr b="0" lang="en-US" sz="939" spc="-1" strike="noStrike">
              <a:solidFill>
                <a:srgbClr val="000000"/>
              </a:solidFill>
              <a:latin typeface="Arial"/>
            </a:endParaRPr>
          </a:p>
        </p:txBody>
      </p:sp>
      <p:sp>
        <p:nvSpPr>
          <p:cNvPr id="460" name=""/>
          <p:cNvSpPr/>
          <p:nvPr/>
        </p:nvSpPr>
        <p:spPr>
          <a:xfrm>
            <a:off x="1066680" y="2133720"/>
            <a:ext cx="3962520" cy="2209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1" name=""/>
          <p:cNvSpPr/>
          <p:nvPr/>
        </p:nvSpPr>
        <p:spPr>
          <a:xfrm>
            <a:off x="1066680" y="2133720"/>
            <a:ext cx="53280" cy="22096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62" name=""/>
          <p:cNvSpPr txBox="1"/>
          <p:nvPr/>
        </p:nvSpPr>
        <p:spPr>
          <a:xfrm>
            <a:off x="1272600" y="231660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22</a:t>
            </a:r>
            <a:endParaRPr b="0" lang="en-US" sz="2540" spc="-1" strike="noStrike">
              <a:solidFill>
                <a:srgbClr val="000000"/>
              </a:solidFill>
              <a:latin typeface="Arial"/>
            </a:endParaRPr>
          </a:p>
        </p:txBody>
      </p:sp>
      <p:sp>
        <p:nvSpPr>
          <p:cNvPr id="463" name=""/>
          <p:cNvSpPr txBox="1"/>
          <p:nvPr/>
        </p:nvSpPr>
        <p:spPr>
          <a:xfrm>
            <a:off x="1272600" y="3078360"/>
            <a:ext cx="3551040" cy="1127880"/>
          </a:xfrm>
          <a:prstGeom prst="rect">
            <a:avLst/>
          </a:prstGeom>
          <a:noFill/>
          <a:ln w="0">
            <a:noFill/>
          </a:ln>
        </p:spPr>
        <p:txBody>
          <a:bodyPr lIns="0" rIns="0" tIns="0" bIns="0" anchor="t">
            <a:noAutofit/>
          </a:bodyPr>
          <a:p>
            <a:r>
              <a:rPr b="0" lang="en-US" sz="2540" spc="-1" strike="noStrike">
                <a:solidFill>
                  <a:srgbClr val="000000"/>
                </a:solidFill>
                <a:latin typeface="Noto Sans"/>
              </a:rPr>
              <a:t>Schutzgebiete gesamt</a:t>
            </a:r>
            <a:endParaRPr b="0" lang="en-US" sz="2540" spc="-1" strike="noStrike">
              <a:solidFill>
                <a:srgbClr val="000000"/>
              </a:solidFill>
              <a:latin typeface="Arial"/>
            </a:endParaRPr>
          </a:p>
          <a:p>
            <a:r>
              <a:rPr b="0" lang="en-US" sz="2540" spc="-1" strike="noStrike">
                <a:solidFill>
                  <a:srgbClr val="000000"/>
                </a:solidFill>
                <a:latin typeface="Noto Sans"/>
              </a:rPr>
              <a:t>12 NSG · 10 FFH</a:t>
            </a:r>
            <a:endParaRPr b="0" lang="en-US" sz="2540" spc="-1" strike="noStrike">
              <a:solidFill>
                <a:srgbClr val="000000"/>
              </a:solidFill>
              <a:latin typeface="Arial"/>
            </a:endParaRPr>
          </a:p>
        </p:txBody>
      </p:sp>
      <p:sp>
        <p:nvSpPr>
          <p:cNvPr id="464" name=""/>
          <p:cNvSpPr/>
          <p:nvPr/>
        </p:nvSpPr>
        <p:spPr>
          <a:xfrm>
            <a:off x="6096240" y="2133720"/>
            <a:ext cx="5029200" cy="2209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5" name=""/>
          <p:cNvSpPr/>
          <p:nvPr/>
        </p:nvSpPr>
        <p:spPr>
          <a:xfrm>
            <a:off x="6096240" y="2133720"/>
            <a:ext cx="53280" cy="22096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66" name=""/>
          <p:cNvSpPr txBox="1"/>
          <p:nvPr/>
        </p:nvSpPr>
        <p:spPr>
          <a:xfrm>
            <a:off x="6301800" y="2316600"/>
            <a:ext cx="4617720" cy="647640"/>
          </a:xfrm>
          <a:prstGeom prst="rect">
            <a:avLst/>
          </a:prstGeom>
          <a:noFill/>
          <a:ln w="0">
            <a:noFill/>
          </a:ln>
        </p:spPr>
        <p:txBody>
          <a:bodyPr lIns="0" rIns="0" tIns="0" bIns="0" anchor="t">
            <a:noAutofit/>
          </a:bodyPr>
          <a:p>
            <a:r>
              <a:rPr b="1" lang="en-US" sz="2540" spc="-1" strike="noStrike">
                <a:solidFill>
                  <a:srgbClr val="a32123"/>
                </a:solidFill>
                <a:latin typeface="Noto Sans"/>
              </a:rPr>
              <a:t>10</a:t>
            </a:r>
            <a:endParaRPr b="0" lang="en-US" sz="2540" spc="-1" strike="noStrike">
              <a:solidFill>
                <a:srgbClr val="000000"/>
              </a:solidFill>
              <a:latin typeface="Arial"/>
            </a:endParaRPr>
          </a:p>
        </p:txBody>
      </p:sp>
      <p:sp>
        <p:nvSpPr>
          <p:cNvPr id="467" name=""/>
          <p:cNvSpPr txBox="1"/>
          <p:nvPr/>
        </p:nvSpPr>
        <p:spPr>
          <a:xfrm>
            <a:off x="6301800" y="3078360"/>
            <a:ext cx="4617720" cy="1127880"/>
          </a:xfrm>
          <a:prstGeom prst="rect">
            <a:avLst/>
          </a:prstGeom>
          <a:noFill/>
          <a:ln w="0">
            <a:noFill/>
          </a:ln>
        </p:spPr>
        <p:txBody>
          <a:bodyPr lIns="0" rIns="0" tIns="0" bIns="0" anchor="t">
            <a:noAutofit/>
          </a:bodyPr>
          <a:p>
            <a:r>
              <a:rPr b="0" lang="en-US" sz="2540" spc="-1" strike="noStrike">
                <a:solidFill>
                  <a:srgbClr val="000000"/>
                </a:solidFill>
                <a:latin typeface="Noto Sans"/>
              </a:rPr>
              <a:t>ausgewählte FFH-Features</a:t>
            </a:r>
            <a:endParaRPr b="0" lang="en-US" sz="2540" spc="-1" strike="noStrike">
              <a:solidFill>
                <a:srgbClr val="000000"/>
              </a:solidFill>
              <a:latin typeface="Arial"/>
            </a:endParaRPr>
          </a:p>
          <a:p>
            <a:r>
              <a:rPr b="0" lang="en-US" sz="2540" spc="-1" strike="noStrike">
                <a:solidFill>
                  <a:srgbClr val="000000"/>
                </a:solidFill>
                <a:latin typeface="Noto Sans"/>
              </a:rPr>
              <a:t>→ </a:t>
            </a:r>
            <a:r>
              <a:rPr b="0" lang="en-US" sz="2540" spc="-1" strike="noStrike">
                <a:solidFill>
                  <a:srgbClr val="000000"/>
                </a:solidFill>
                <a:latin typeface="Noto Sans"/>
              </a:rPr>
              <a:t>schutzgebiete_auswahl</a:t>
            </a:r>
            <a:endParaRPr b="0" lang="en-US" sz="2540" spc="-1" strike="noStrike">
              <a:solidFill>
                <a:srgbClr val="000000"/>
              </a:solidFill>
              <a:latin typeface="Arial"/>
            </a:endParaRPr>
          </a:p>
        </p:txBody>
      </p:sp>
      <p:sp>
        <p:nvSpPr>
          <p:cNvPr id="46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9"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Ausgabe: data_output/unit12_results.gpkg · EPSG:25832</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t>
            </a:r>
            <a:r>
              <a:rPr b="1" lang="en-US" sz="3190" spc="-1" strike="noStrike">
                <a:solidFill>
                  <a:srgbClr val="000000"/>
                </a:solidFill>
                <a:latin typeface="Noto Sans"/>
              </a:rPr>
              <a:t>Nach Position selektieren“ braucht klare Rollen</a:t>
            </a:r>
            <a:endParaRPr b="0" lang="en-US" sz="3190" spc="-1" strike="noStrike">
              <a:solidFill>
                <a:srgbClr val="000000"/>
              </a:solidFill>
              <a:latin typeface="Arial"/>
            </a:endParaRPr>
          </a:p>
        </p:txBody>
      </p:sp>
      <p:sp>
        <p:nvSpPr>
          <p:cNvPr id="47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RÄUMLICHE AUSWAHL · WERKZEUGLOGIK</a:t>
            </a:r>
            <a:endParaRPr b="0" lang="en-US" sz="1130" spc="-1" strike="noStrike">
              <a:solidFill>
                <a:srgbClr val="000000"/>
              </a:solidFill>
              <a:latin typeface="Arial"/>
            </a:endParaRPr>
          </a:p>
        </p:txBody>
      </p:sp>
      <p:sp>
        <p:nvSpPr>
          <p:cNvPr id="47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47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21</a:t>
            </a:r>
            <a:endParaRPr b="0" lang="en-US" sz="939" spc="-1" strike="noStrike">
              <a:solidFill>
                <a:srgbClr val="000000"/>
              </a:solidFill>
              <a:latin typeface="Arial"/>
            </a:endParaRPr>
          </a:p>
        </p:txBody>
      </p:sp>
      <p:sp>
        <p:nvSpPr>
          <p:cNvPr id="474" name=""/>
          <p:cNvSpPr/>
          <p:nvPr/>
        </p:nvSpPr>
        <p:spPr>
          <a:xfrm>
            <a:off x="914400" y="2095560"/>
            <a:ext cx="39625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5" name=""/>
          <p:cNvSpPr/>
          <p:nvPr/>
        </p:nvSpPr>
        <p:spPr>
          <a:xfrm>
            <a:off x="914400" y="209556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76" name=""/>
          <p:cNvSpPr txBox="1"/>
          <p:nvPr/>
        </p:nvSpPr>
        <p:spPr>
          <a:xfrm>
            <a:off x="1120320" y="227844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Eingabelayer</a:t>
            </a:r>
            <a:endParaRPr b="0" lang="en-US" sz="2540" spc="-1" strike="noStrike">
              <a:solidFill>
                <a:srgbClr val="000000"/>
              </a:solidFill>
              <a:latin typeface="Arial"/>
            </a:endParaRPr>
          </a:p>
        </p:txBody>
      </p:sp>
      <p:sp>
        <p:nvSpPr>
          <p:cNvPr id="477" name=""/>
          <p:cNvSpPr txBox="1"/>
          <p:nvPr/>
        </p:nvSpPr>
        <p:spPr>
          <a:xfrm>
            <a:off x="1120320" y="3040560"/>
            <a:ext cx="3551040" cy="1203840"/>
          </a:xfrm>
          <a:prstGeom prst="rect">
            <a:avLst/>
          </a:prstGeom>
          <a:noFill/>
          <a:ln w="0">
            <a:noFill/>
          </a:ln>
        </p:spPr>
        <p:txBody>
          <a:bodyPr lIns="0" rIns="0" tIns="0" bIns="0" anchor="t">
            <a:noAutofit/>
          </a:bodyPr>
          <a:p>
            <a:r>
              <a:rPr b="0" lang="en-US" sz="2540" spc="-1" strike="noStrike">
                <a:solidFill>
                  <a:srgbClr val="000000"/>
                </a:solidFill>
                <a:latin typeface="Noto Sans"/>
              </a:rPr>
              <a:t>Welche Features sollen</a:t>
            </a:r>
            <a:endParaRPr b="0" lang="en-US" sz="2540" spc="-1" strike="noStrike">
              <a:solidFill>
                <a:srgbClr val="000000"/>
              </a:solidFill>
              <a:latin typeface="Arial"/>
            </a:endParaRPr>
          </a:p>
          <a:p>
            <a:r>
              <a:rPr b="0" lang="en-US" sz="2540" spc="-1" strike="noStrike">
                <a:solidFill>
                  <a:srgbClr val="000000"/>
                </a:solidFill>
                <a:latin typeface="Noto Sans"/>
              </a:rPr>
              <a:t>ausgewählt werden?</a:t>
            </a:r>
            <a:endParaRPr b="0" lang="en-US" sz="2540" spc="-1" strike="noStrike">
              <a:solidFill>
                <a:srgbClr val="000000"/>
              </a:solidFill>
              <a:latin typeface="Arial"/>
            </a:endParaRPr>
          </a:p>
        </p:txBody>
      </p:sp>
      <p:sp>
        <p:nvSpPr>
          <p:cNvPr id="478" name=""/>
          <p:cNvSpPr txBox="1"/>
          <p:nvPr/>
        </p:nvSpPr>
        <p:spPr>
          <a:xfrm>
            <a:off x="5143680" y="2781360"/>
            <a:ext cx="1905120" cy="762120"/>
          </a:xfrm>
          <a:prstGeom prst="rect">
            <a:avLst/>
          </a:prstGeom>
          <a:noFill/>
          <a:ln w="0">
            <a:noFill/>
          </a:ln>
        </p:spPr>
        <p:txBody>
          <a:bodyPr lIns="0" rIns="0" tIns="0" bIns="0" anchor="t">
            <a:noAutofit/>
          </a:bodyPr>
          <a:p>
            <a:pPr algn="ctr"/>
            <a:r>
              <a:rPr b="1" lang="en-US" sz="2540" spc="-1" strike="noStrike">
                <a:solidFill>
                  <a:srgbClr val="004899"/>
                </a:solidFill>
                <a:latin typeface="Noto Sans"/>
              </a:rPr>
              <a:t>intersects</a:t>
            </a:r>
            <a:endParaRPr b="0" lang="en-US" sz="2540" spc="-1" strike="noStrike">
              <a:solidFill>
                <a:srgbClr val="000000"/>
              </a:solidFill>
              <a:latin typeface="Arial"/>
            </a:endParaRPr>
          </a:p>
          <a:p>
            <a:pPr algn="ctr"/>
            <a:r>
              <a:rPr b="1" lang="en-US" sz="2540" spc="-1" strike="noStrike">
                <a:solidFill>
                  <a:srgbClr val="004899"/>
                </a:solidFill>
                <a:latin typeface="Noto Sans"/>
              </a:rPr>
              <a:t>→</a:t>
            </a:r>
            <a:endParaRPr b="0" lang="en-US" sz="2540" spc="-1" strike="noStrike">
              <a:solidFill>
                <a:srgbClr val="000000"/>
              </a:solidFill>
              <a:latin typeface="Arial"/>
            </a:endParaRPr>
          </a:p>
        </p:txBody>
      </p:sp>
      <p:sp>
        <p:nvSpPr>
          <p:cNvPr id="479" name=""/>
          <p:cNvSpPr/>
          <p:nvPr/>
        </p:nvSpPr>
        <p:spPr>
          <a:xfrm>
            <a:off x="7315200" y="2095560"/>
            <a:ext cx="39625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0" name=""/>
          <p:cNvSpPr/>
          <p:nvPr/>
        </p:nvSpPr>
        <p:spPr>
          <a:xfrm>
            <a:off x="7315200" y="209556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81" name=""/>
          <p:cNvSpPr txBox="1"/>
          <p:nvPr/>
        </p:nvSpPr>
        <p:spPr>
          <a:xfrm>
            <a:off x="7521120" y="2278440"/>
            <a:ext cx="3551040" cy="647640"/>
          </a:xfrm>
          <a:prstGeom prst="rect">
            <a:avLst/>
          </a:prstGeom>
          <a:noFill/>
          <a:ln w="0">
            <a:noFill/>
          </a:ln>
        </p:spPr>
        <p:txBody>
          <a:bodyPr lIns="0" rIns="0" tIns="0" bIns="0" anchor="t">
            <a:noAutofit/>
          </a:bodyPr>
          <a:p>
            <a:r>
              <a:rPr b="1" lang="en-US" sz="2540" spc="-1" strike="noStrike">
                <a:solidFill>
                  <a:srgbClr val="a32123"/>
                </a:solidFill>
                <a:latin typeface="Noto Sans"/>
              </a:rPr>
              <a:t>Vergleichslayer</a:t>
            </a:r>
            <a:endParaRPr b="0" lang="en-US" sz="2540" spc="-1" strike="noStrike">
              <a:solidFill>
                <a:srgbClr val="000000"/>
              </a:solidFill>
              <a:latin typeface="Arial"/>
            </a:endParaRPr>
          </a:p>
        </p:txBody>
      </p:sp>
      <p:sp>
        <p:nvSpPr>
          <p:cNvPr id="482" name=""/>
          <p:cNvSpPr txBox="1"/>
          <p:nvPr/>
        </p:nvSpPr>
        <p:spPr>
          <a:xfrm>
            <a:off x="7521120" y="3040560"/>
            <a:ext cx="3551040" cy="1203840"/>
          </a:xfrm>
          <a:prstGeom prst="rect">
            <a:avLst/>
          </a:prstGeom>
          <a:noFill/>
          <a:ln w="0">
            <a:noFill/>
          </a:ln>
        </p:spPr>
        <p:txBody>
          <a:bodyPr lIns="0" rIns="0" tIns="0" bIns="0" anchor="t">
            <a:noAutofit/>
          </a:bodyPr>
          <a:p>
            <a:r>
              <a:rPr b="0" lang="en-US" sz="2350" spc="-1" strike="noStrike">
                <a:solidFill>
                  <a:srgbClr val="000000"/>
                </a:solidFill>
                <a:latin typeface="Noto Sans"/>
              </a:rPr>
              <a:t>schutzgebiete_auswahl</a:t>
            </a:r>
            <a:endParaRPr b="0" lang="en-US" sz="2350" spc="-1" strike="noStrike">
              <a:solidFill>
                <a:srgbClr val="000000"/>
              </a:solidFill>
              <a:latin typeface="Arial"/>
            </a:endParaRPr>
          </a:p>
          <a:p>
            <a:r>
              <a:rPr b="0" lang="en-US" sz="2350" spc="-1" strike="noStrike">
                <a:solidFill>
                  <a:srgbClr val="000000"/>
                </a:solidFill>
                <a:latin typeface="Noto Sans"/>
              </a:rPr>
              <a:t>10 FFH-Features</a:t>
            </a:r>
            <a:endParaRPr b="0" lang="en-US" sz="2350" spc="-1" strike="noStrike">
              <a:solidFill>
                <a:srgbClr val="000000"/>
              </a:solidFill>
              <a:latin typeface="Arial"/>
            </a:endParaRPr>
          </a:p>
        </p:txBody>
      </p:sp>
      <p:sp>
        <p:nvSpPr>
          <p:cNvPr id="48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4"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Beziehung und Richtung der Frage vor dem Start laut benennen.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GBIF-Punkte gegen FFH-Flächen auswählen</a:t>
            </a:r>
            <a:endParaRPr b="0" lang="en-US" sz="3190" spc="-1" strike="noStrike">
              <a:solidFill>
                <a:srgbClr val="000000"/>
              </a:solidFill>
              <a:latin typeface="Arial"/>
            </a:endParaRPr>
          </a:p>
        </p:txBody>
      </p:sp>
      <p:sp>
        <p:nvSpPr>
          <p:cNvPr id="48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RÄUMLICHE AUSWAHL · PUNKTE</a:t>
            </a:r>
            <a:endParaRPr b="0" lang="en-US" sz="1130" spc="-1" strike="noStrike">
              <a:solidFill>
                <a:srgbClr val="000000"/>
              </a:solidFill>
              <a:latin typeface="Arial"/>
            </a:endParaRPr>
          </a:p>
        </p:txBody>
      </p:sp>
      <p:sp>
        <p:nvSpPr>
          <p:cNvPr id="48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48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22</a:t>
            </a:r>
            <a:endParaRPr b="0" lang="en-US" sz="939" spc="-1" strike="noStrike">
              <a:solidFill>
                <a:srgbClr val="000000"/>
              </a:solidFill>
              <a:latin typeface="Arial"/>
            </a:endParaRPr>
          </a:p>
        </p:txBody>
      </p:sp>
      <p:sp>
        <p:nvSpPr>
          <p:cNvPr id="489" name=""/>
          <p:cNvSpPr/>
          <p:nvPr/>
        </p:nvSpPr>
        <p:spPr>
          <a:xfrm>
            <a:off x="647640" y="1790640"/>
            <a:ext cx="46252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0" name=""/>
          <p:cNvSpPr txBox="1"/>
          <p:nvPr/>
        </p:nvSpPr>
        <p:spPr>
          <a:xfrm>
            <a:off x="784800" y="1920240"/>
            <a:ext cx="4374000" cy="533520"/>
          </a:xfrm>
          <a:prstGeom prst="rect">
            <a:avLst/>
          </a:prstGeom>
          <a:noFill/>
          <a:ln w="0">
            <a:noFill/>
          </a:ln>
        </p:spPr>
        <p:txBody>
          <a:bodyPr lIns="0" rIns="0" tIns="0" bIns="0" anchor="t">
            <a:noAutofit/>
          </a:bodyPr>
          <a:p>
            <a:r>
              <a:rPr b="1" lang="en-US" sz="2070" spc="-1" strike="noStrike">
                <a:solidFill>
                  <a:srgbClr val="ffffff"/>
                </a:solidFill>
                <a:latin typeface="Noto Sans"/>
              </a:rPr>
              <a:t>Parameter</a:t>
            </a:r>
            <a:endParaRPr b="0" lang="en-US" sz="2070" spc="-1" strike="noStrike">
              <a:solidFill>
                <a:srgbClr val="000000"/>
              </a:solidFill>
              <a:latin typeface="Arial"/>
            </a:endParaRPr>
          </a:p>
        </p:txBody>
      </p:sp>
      <p:sp>
        <p:nvSpPr>
          <p:cNvPr id="491" name=""/>
          <p:cNvSpPr/>
          <p:nvPr/>
        </p:nvSpPr>
        <p:spPr>
          <a:xfrm>
            <a:off x="5295960" y="1790640"/>
            <a:ext cx="62254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2" name=""/>
          <p:cNvSpPr txBox="1"/>
          <p:nvPr/>
        </p:nvSpPr>
        <p:spPr>
          <a:xfrm>
            <a:off x="5433120" y="1920240"/>
            <a:ext cx="5974200" cy="533520"/>
          </a:xfrm>
          <a:prstGeom prst="rect">
            <a:avLst/>
          </a:prstGeom>
          <a:noFill/>
          <a:ln w="0">
            <a:noFill/>
          </a:ln>
        </p:spPr>
        <p:txBody>
          <a:bodyPr lIns="0" rIns="0" tIns="0" bIns="0" anchor="t">
            <a:noAutofit/>
          </a:bodyPr>
          <a:p>
            <a:r>
              <a:rPr b="1" lang="en-US" sz="2070" spc="-1" strike="noStrike">
                <a:solidFill>
                  <a:srgbClr val="ffffff"/>
                </a:solidFill>
                <a:latin typeface="Noto Sans"/>
              </a:rPr>
              <a:t>Wert</a:t>
            </a:r>
            <a:endParaRPr b="0" lang="en-US" sz="2070" spc="-1" strike="noStrike">
              <a:solidFill>
                <a:srgbClr val="000000"/>
              </a:solidFill>
              <a:latin typeface="Arial"/>
            </a:endParaRPr>
          </a:p>
        </p:txBody>
      </p:sp>
      <p:sp>
        <p:nvSpPr>
          <p:cNvPr id="493" name=""/>
          <p:cNvSpPr/>
          <p:nvPr/>
        </p:nvSpPr>
        <p:spPr>
          <a:xfrm>
            <a:off x="647640" y="2476440"/>
            <a:ext cx="4625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4" name=""/>
          <p:cNvSpPr txBox="1"/>
          <p:nvPr/>
        </p:nvSpPr>
        <p:spPr>
          <a:xfrm>
            <a:off x="784800" y="26060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Features auswählen aus</a:t>
            </a:r>
            <a:endParaRPr b="0" lang="en-US" sz="2070" spc="-1" strike="noStrike">
              <a:solidFill>
                <a:srgbClr val="000000"/>
              </a:solidFill>
              <a:latin typeface="Arial"/>
            </a:endParaRPr>
          </a:p>
        </p:txBody>
      </p:sp>
      <p:sp>
        <p:nvSpPr>
          <p:cNvPr id="495" name=""/>
          <p:cNvSpPr/>
          <p:nvPr/>
        </p:nvSpPr>
        <p:spPr>
          <a:xfrm>
            <a:off x="5295960" y="2476440"/>
            <a:ext cx="6225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6" name=""/>
          <p:cNvSpPr txBox="1"/>
          <p:nvPr/>
        </p:nvSpPr>
        <p:spPr>
          <a:xfrm>
            <a:off x="5433120" y="26060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gbif_checked</a:t>
            </a:r>
            <a:endParaRPr b="0" lang="en-US" sz="2070" spc="-1" strike="noStrike">
              <a:solidFill>
                <a:srgbClr val="000000"/>
              </a:solidFill>
              <a:latin typeface="Arial"/>
            </a:endParaRPr>
          </a:p>
        </p:txBody>
      </p:sp>
      <p:sp>
        <p:nvSpPr>
          <p:cNvPr id="497" name=""/>
          <p:cNvSpPr/>
          <p:nvPr/>
        </p:nvSpPr>
        <p:spPr>
          <a:xfrm>
            <a:off x="647640" y="3162240"/>
            <a:ext cx="4625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8" name=""/>
          <p:cNvSpPr txBox="1"/>
          <p:nvPr/>
        </p:nvSpPr>
        <p:spPr>
          <a:xfrm>
            <a:off x="784800" y="32918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räumliche Beziehung</a:t>
            </a:r>
            <a:endParaRPr b="0" lang="en-US" sz="2070" spc="-1" strike="noStrike">
              <a:solidFill>
                <a:srgbClr val="000000"/>
              </a:solidFill>
              <a:latin typeface="Arial"/>
            </a:endParaRPr>
          </a:p>
        </p:txBody>
      </p:sp>
      <p:sp>
        <p:nvSpPr>
          <p:cNvPr id="499" name=""/>
          <p:cNvSpPr/>
          <p:nvPr/>
        </p:nvSpPr>
        <p:spPr>
          <a:xfrm>
            <a:off x="5295960" y="3162240"/>
            <a:ext cx="6225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0" name=""/>
          <p:cNvSpPr txBox="1"/>
          <p:nvPr/>
        </p:nvSpPr>
        <p:spPr>
          <a:xfrm>
            <a:off x="5433120" y="32918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schneidet · intersects</a:t>
            </a:r>
            <a:endParaRPr b="0" lang="en-US" sz="2070" spc="-1" strike="noStrike">
              <a:solidFill>
                <a:srgbClr val="000000"/>
              </a:solidFill>
              <a:latin typeface="Arial"/>
            </a:endParaRPr>
          </a:p>
        </p:txBody>
      </p:sp>
      <p:sp>
        <p:nvSpPr>
          <p:cNvPr id="501" name=""/>
          <p:cNvSpPr/>
          <p:nvPr/>
        </p:nvSpPr>
        <p:spPr>
          <a:xfrm>
            <a:off x="647640" y="3848040"/>
            <a:ext cx="4625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2" name=""/>
          <p:cNvSpPr txBox="1"/>
          <p:nvPr/>
        </p:nvSpPr>
        <p:spPr>
          <a:xfrm>
            <a:off x="784800" y="39776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durch Vergleich mit</a:t>
            </a:r>
            <a:endParaRPr b="0" lang="en-US" sz="2070" spc="-1" strike="noStrike">
              <a:solidFill>
                <a:srgbClr val="000000"/>
              </a:solidFill>
              <a:latin typeface="Arial"/>
            </a:endParaRPr>
          </a:p>
        </p:txBody>
      </p:sp>
      <p:sp>
        <p:nvSpPr>
          <p:cNvPr id="503" name=""/>
          <p:cNvSpPr/>
          <p:nvPr/>
        </p:nvSpPr>
        <p:spPr>
          <a:xfrm>
            <a:off x="5295960" y="3848040"/>
            <a:ext cx="6225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4" name=""/>
          <p:cNvSpPr txBox="1"/>
          <p:nvPr/>
        </p:nvSpPr>
        <p:spPr>
          <a:xfrm>
            <a:off x="5433120" y="39776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schutzgebiete_auswahl</a:t>
            </a:r>
            <a:endParaRPr b="0" lang="en-US" sz="2070" spc="-1" strike="noStrike">
              <a:solidFill>
                <a:srgbClr val="000000"/>
              </a:solidFill>
              <a:latin typeface="Arial"/>
            </a:endParaRPr>
          </a:p>
        </p:txBody>
      </p:sp>
      <p:sp>
        <p:nvSpPr>
          <p:cNvPr id="505" name=""/>
          <p:cNvSpPr/>
          <p:nvPr/>
        </p:nvSpPr>
        <p:spPr>
          <a:xfrm>
            <a:off x="647640" y="4533840"/>
            <a:ext cx="4625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6" name=""/>
          <p:cNvSpPr txBox="1"/>
          <p:nvPr/>
        </p:nvSpPr>
        <p:spPr>
          <a:xfrm>
            <a:off x="784800" y="46634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Auswahlmethode</a:t>
            </a:r>
            <a:endParaRPr b="0" lang="en-US" sz="2070" spc="-1" strike="noStrike">
              <a:solidFill>
                <a:srgbClr val="000000"/>
              </a:solidFill>
              <a:latin typeface="Arial"/>
            </a:endParaRPr>
          </a:p>
        </p:txBody>
      </p:sp>
      <p:sp>
        <p:nvSpPr>
          <p:cNvPr id="507" name=""/>
          <p:cNvSpPr/>
          <p:nvPr/>
        </p:nvSpPr>
        <p:spPr>
          <a:xfrm>
            <a:off x="5295960" y="4533840"/>
            <a:ext cx="6225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8" name=""/>
          <p:cNvSpPr txBox="1"/>
          <p:nvPr/>
        </p:nvSpPr>
        <p:spPr>
          <a:xfrm>
            <a:off x="5433120" y="46634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neue Auswahl erstellen</a:t>
            </a:r>
            <a:endParaRPr b="0" lang="en-US" sz="2070" spc="-1" strike="noStrike">
              <a:solidFill>
                <a:srgbClr val="000000"/>
              </a:solidFill>
              <a:latin typeface="Arial"/>
            </a:endParaRPr>
          </a:p>
        </p:txBody>
      </p:sp>
      <p:sp>
        <p:nvSpPr>
          <p:cNvPr id="50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10"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Frage: Welche der 56 Punkte besitzen einen gemeinsamen Ort mit einer FFH-Fläche?</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Prüfwert: 4 von 56 Punkten</a:t>
            </a:r>
            <a:endParaRPr b="0" lang="en-US" sz="3190" spc="-1" strike="noStrike">
              <a:solidFill>
                <a:srgbClr val="000000"/>
              </a:solidFill>
              <a:latin typeface="Arial"/>
            </a:endParaRPr>
          </a:p>
        </p:txBody>
      </p:sp>
      <p:sp>
        <p:nvSpPr>
          <p:cNvPr id="51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RÄUMLICHE AUSWAHL · PUNKTERGEBNIS</a:t>
            </a:r>
            <a:endParaRPr b="0" lang="en-US" sz="1130" spc="-1" strike="noStrike">
              <a:solidFill>
                <a:srgbClr val="000000"/>
              </a:solidFill>
              <a:latin typeface="Arial"/>
            </a:endParaRPr>
          </a:p>
        </p:txBody>
      </p:sp>
      <p:sp>
        <p:nvSpPr>
          <p:cNvPr id="51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51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23</a:t>
            </a:r>
            <a:endParaRPr b="0" lang="en-US" sz="939" spc="-1" strike="noStrike">
              <a:solidFill>
                <a:srgbClr val="000000"/>
              </a:solidFill>
              <a:latin typeface="Arial"/>
            </a:endParaRPr>
          </a:p>
        </p:txBody>
      </p:sp>
      <p:sp>
        <p:nvSpPr>
          <p:cNvPr id="515" name=""/>
          <p:cNvSpPr/>
          <p:nvPr/>
        </p:nvSpPr>
        <p:spPr>
          <a:xfrm>
            <a:off x="1295280" y="2171880"/>
            <a:ext cx="41911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16" name=""/>
          <p:cNvSpPr/>
          <p:nvPr/>
        </p:nvSpPr>
        <p:spPr>
          <a:xfrm>
            <a:off x="1295280" y="21718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7" name=""/>
          <p:cNvSpPr txBox="1"/>
          <p:nvPr/>
        </p:nvSpPr>
        <p:spPr>
          <a:xfrm>
            <a:off x="1501200" y="2354760"/>
            <a:ext cx="3779640" cy="647640"/>
          </a:xfrm>
          <a:prstGeom prst="rect">
            <a:avLst/>
          </a:prstGeom>
          <a:noFill/>
          <a:ln w="0">
            <a:noFill/>
          </a:ln>
        </p:spPr>
        <p:txBody>
          <a:bodyPr lIns="0" rIns="0" tIns="0" bIns="0" anchor="t">
            <a:noAutofit/>
          </a:bodyPr>
          <a:p>
            <a:r>
              <a:rPr b="1" lang="en-US" sz="2540" spc="-1" strike="noStrike">
                <a:solidFill>
                  <a:srgbClr val="004899"/>
                </a:solidFill>
                <a:latin typeface="Noto Sans"/>
              </a:rPr>
              <a:t>56</a:t>
            </a:r>
            <a:endParaRPr b="0" lang="en-US" sz="2540" spc="-1" strike="noStrike">
              <a:solidFill>
                <a:srgbClr val="000000"/>
              </a:solidFill>
              <a:latin typeface="Arial"/>
            </a:endParaRPr>
          </a:p>
        </p:txBody>
      </p:sp>
      <p:sp>
        <p:nvSpPr>
          <p:cNvPr id="518" name=""/>
          <p:cNvSpPr txBox="1"/>
          <p:nvPr/>
        </p:nvSpPr>
        <p:spPr>
          <a:xfrm>
            <a:off x="1501200" y="3116520"/>
            <a:ext cx="3779640" cy="1203840"/>
          </a:xfrm>
          <a:prstGeom prst="rect">
            <a:avLst/>
          </a:prstGeom>
          <a:noFill/>
          <a:ln w="0">
            <a:noFill/>
          </a:ln>
        </p:spPr>
        <p:txBody>
          <a:bodyPr lIns="0" rIns="0" tIns="0" bIns="0" anchor="t">
            <a:noAutofit/>
          </a:bodyPr>
          <a:p>
            <a:r>
              <a:rPr b="0" lang="en-US" sz="2540" spc="-1" strike="noStrike">
                <a:solidFill>
                  <a:srgbClr val="000000"/>
                </a:solidFill>
                <a:latin typeface="Noto Sans"/>
              </a:rPr>
              <a:t>geprüfte GBIF-Records</a:t>
            </a:r>
            <a:endParaRPr b="0" lang="en-US" sz="2540" spc="-1" strike="noStrike">
              <a:solidFill>
                <a:srgbClr val="000000"/>
              </a:solidFill>
              <a:latin typeface="Arial"/>
            </a:endParaRPr>
          </a:p>
          <a:p>
            <a:r>
              <a:rPr b="0" lang="en-US" sz="2540" spc="-1" strike="noStrike">
                <a:solidFill>
                  <a:srgbClr val="000000"/>
                </a:solidFill>
                <a:latin typeface="Noto Sans"/>
              </a:rPr>
              <a:t>im Eingabelayer</a:t>
            </a:r>
            <a:endParaRPr b="0" lang="en-US" sz="2540" spc="-1" strike="noStrike">
              <a:solidFill>
                <a:srgbClr val="000000"/>
              </a:solidFill>
              <a:latin typeface="Arial"/>
            </a:endParaRPr>
          </a:p>
        </p:txBody>
      </p:sp>
      <p:sp>
        <p:nvSpPr>
          <p:cNvPr id="519" name=""/>
          <p:cNvSpPr/>
          <p:nvPr/>
        </p:nvSpPr>
        <p:spPr>
          <a:xfrm>
            <a:off x="6705720" y="2171880"/>
            <a:ext cx="41911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20" name=""/>
          <p:cNvSpPr/>
          <p:nvPr/>
        </p:nvSpPr>
        <p:spPr>
          <a:xfrm>
            <a:off x="6705720" y="21718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1" name=""/>
          <p:cNvSpPr txBox="1"/>
          <p:nvPr/>
        </p:nvSpPr>
        <p:spPr>
          <a:xfrm>
            <a:off x="6911280" y="2354760"/>
            <a:ext cx="3779640" cy="647640"/>
          </a:xfrm>
          <a:prstGeom prst="rect">
            <a:avLst/>
          </a:prstGeom>
          <a:noFill/>
          <a:ln w="0">
            <a:noFill/>
          </a:ln>
        </p:spPr>
        <p:txBody>
          <a:bodyPr lIns="0" rIns="0" tIns="0" bIns="0" anchor="t">
            <a:noAutofit/>
          </a:bodyPr>
          <a:p>
            <a:r>
              <a:rPr b="1" lang="en-US" sz="2540" spc="-1" strike="noStrike">
                <a:solidFill>
                  <a:srgbClr val="a32123"/>
                </a:solidFill>
                <a:latin typeface="Noto Sans"/>
              </a:rPr>
              <a:t>4</a:t>
            </a:r>
            <a:endParaRPr b="0" lang="en-US" sz="2540" spc="-1" strike="noStrike">
              <a:solidFill>
                <a:srgbClr val="000000"/>
              </a:solidFill>
              <a:latin typeface="Arial"/>
            </a:endParaRPr>
          </a:p>
        </p:txBody>
      </p:sp>
      <p:sp>
        <p:nvSpPr>
          <p:cNvPr id="522" name=""/>
          <p:cNvSpPr txBox="1"/>
          <p:nvPr/>
        </p:nvSpPr>
        <p:spPr>
          <a:xfrm>
            <a:off x="6911280" y="3116520"/>
            <a:ext cx="3779640" cy="1203840"/>
          </a:xfrm>
          <a:prstGeom prst="rect">
            <a:avLst/>
          </a:prstGeom>
          <a:noFill/>
          <a:ln w="0">
            <a:noFill/>
          </a:ln>
        </p:spPr>
        <p:txBody>
          <a:bodyPr lIns="0" rIns="0" tIns="0" bIns="0" anchor="t">
            <a:noAutofit/>
          </a:bodyPr>
          <a:p>
            <a:r>
              <a:rPr b="0" lang="en-US" sz="2540" spc="-1" strike="noStrike">
                <a:solidFill>
                  <a:srgbClr val="000000"/>
                </a:solidFill>
                <a:latin typeface="Noto Sans"/>
              </a:rPr>
              <a:t>schneiden mindestens</a:t>
            </a:r>
            <a:endParaRPr b="0" lang="en-US" sz="2540" spc="-1" strike="noStrike">
              <a:solidFill>
                <a:srgbClr val="000000"/>
              </a:solidFill>
              <a:latin typeface="Arial"/>
            </a:endParaRPr>
          </a:p>
          <a:p>
            <a:r>
              <a:rPr b="0" lang="en-US" sz="2540" spc="-1" strike="noStrike">
                <a:solidFill>
                  <a:srgbClr val="000000"/>
                </a:solidFill>
                <a:latin typeface="Noto Sans"/>
              </a:rPr>
              <a:t>eine ausgewählte FFH-Fläche</a:t>
            </a:r>
            <a:endParaRPr b="0" lang="en-US" sz="2540" spc="-1" strike="noStrike">
              <a:solidFill>
                <a:srgbClr val="000000"/>
              </a:solidFill>
              <a:latin typeface="Arial"/>
            </a:endParaRPr>
          </a:p>
        </p:txBody>
      </p:sp>
      <p:sp>
        <p:nvSpPr>
          <p:cNvPr id="52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24"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Noch temporär ausgewählt – dauerhafte Speicherung folgt ab Minute 70.</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Gewässer gegen dieselben FFH-Flächen auswählen</a:t>
            </a:r>
            <a:endParaRPr b="0" lang="en-US" sz="3190" spc="-1" strike="noStrike">
              <a:solidFill>
                <a:srgbClr val="000000"/>
              </a:solidFill>
              <a:latin typeface="Arial"/>
            </a:endParaRPr>
          </a:p>
        </p:txBody>
      </p:sp>
      <p:sp>
        <p:nvSpPr>
          <p:cNvPr id="52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RÄUMLICHE AUSWAHL · LINIEN</a:t>
            </a:r>
            <a:endParaRPr b="0" lang="en-US" sz="1130" spc="-1" strike="noStrike">
              <a:solidFill>
                <a:srgbClr val="000000"/>
              </a:solidFill>
              <a:latin typeface="Arial"/>
            </a:endParaRPr>
          </a:p>
        </p:txBody>
      </p:sp>
      <p:sp>
        <p:nvSpPr>
          <p:cNvPr id="52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52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24</a:t>
            </a:r>
            <a:endParaRPr b="0" lang="en-US" sz="939" spc="-1" strike="noStrike">
              <a:solidFill>
                <a:srgbClr val="000000"/>
              </a:solidFill>
              <a:latin typeface="Arial"/>
            </a:endParaRPr>
          </a:p>
        </p:txBody>
      </p:sp>
      <p:sp>
        <p:nvSpPr>
          <p:cNvPr id="529" name=""/>
          <p:cNvSpPr/>
          <p:nvPr/>
        </p:nvSpPr>
        <p:spPr>
          <a:xfrm>
            <a:off x="647640" y="1790640"/>
            <a:ext cx="46252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0" name=""/>
          <p:cNvSpPr txBox="1"/>
          <p:nvPr/>
        </p:nvSpPr>
        <p:spPr>
          <a:xfrm>
            <a:off x="784800" y="1920240"/>
            <a:ext cx="4374000" cy="533520"/>
          </a:xfrm>
          <a:prstGeom prst="rect">
            <a:avLst/>
          </a:prstGeom>
          <a:noFill/>
          <a:ln w="0">
            <a:noFill/>
          </a:ln>
        </p:spPr>
        <p:txBody>
          <a:bodyPr lIns="0" rIns="0" tIns="0" bIns="0" anchor="t">
            <a:noAutofit/>
          </a:bodyPr>
          <a:p>
            <a:r>
              <a:rPr b="1" lang="en-US" sz="2070" spc="-1" strike="noStrike">
                <a:solidFill>
                  <a:srgbClr val="ffffff"/>
                </a:solidFill>
                <a:latin typeface="Noto Sans"/>
              </a:rPr>
              <a:t>Parameter</a:t>
            </a:r>
            <a:endParaRPr b="0" lang="en-US" sz="2070" spc="-1" strike="noStrike">
              <a:solidFill>
                <a:srgbClr val="000000"/>
              </a:solidFill>
              <a:latin typeface="Arial"/>
            </a:endParaRPr>
          </a:p>
        </p:txBody>
      </p:sp>
      <p:sp>
        <p:nvSpPr>
          <p:cNvPr id="531" name=""/>
          <p:cNvSpPr/>
          <p:nvPr/>
        </p:nvSpPr>
        <p:spPr>
          <a:xfrm>
            <a:off x="5295960" y="1790640"/>
            <a:ext cx="62254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2" name=""/>
          <p:cNvSpPr txBox="1"/>
          <p:nvPr/>
        </p:nvSpPr>
        <p:spPr>
          <a:xfrm>
            <a:off x="5433120" y="1920240"/>
            <a:ext cx="5974200" cy="533520"/>
          </a:xfrm>
          <a:prstGeom prst="rect">
            <a:avLst/>
          </a:prstGeom>
          <a:noFill/>
          <a:ln w="0">
            <a:noFill/>
          </a:ln>
        </p:spPr>
        <p:txBody>
          <a:bodyPr lIns="0" rIns="0" tIns="0" bIns="0" anchor="t">
            <a:noAutofit/>
          </a:bodyPr>
          <a:p>
            <a:r>
              <a:rPr b="1" lang="en-US" sz="2070" spc="-1" strike="noStrike">
                <a:solidFill>
                  <a:srgbClr val="ffffff"/>
                </a:solidFill>
                <a:latin typeface="Noto Sans"/>
              </a:rPr>
              <a:t>Wert</a:t>
            </a:r>
            <a:endParaRPr b="0" lang="en-US" sz="2070" spc="-1" strike="noStrike">
              <a:solidFill>
                <a:srgbClr val="000000"/>
              </a:solidFill>
              <a:latin typeface="Arial"/>
            </a:endParaRPr>
          </a:p>
        </p:txBody>
      </p:sp>
      <p:sp>
        <p:nvSpPr>
          <p:cNvPr id="533" name=""/>
          <p:cNvSpPr/>
          <p:nvPr/>
        </p:nvSpPr>
        <p:spPr>
          <a:xfrm>
            <a:off x="647640" y="2476440"/>
            <a:ext cx="4625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4" name=""/>
          <p:cNvSpPr txBox="1"/>
          <p:nvPr/>
        </p:nvSpPr>
        <p:spPr>
          <a:xfrm>
            <a:off x="784800" y="26060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Features auswählen aus</a:t>
            </a:r>
            <a:endParaRPr b="0" lang="en-US" sz="2070" spc="-1" strike="noStrike">
              <a:solidFill>
                <a:srgbClr val="000000"/>
              </a:solidFill>
              <a:latin typeface="Arial"/>
            </a:endParaRPr>
          </a:p>
        </p:txBody>
      </p:sp>
      <p:sp>
        <p:nvSpPr>
          <p:cNvPr id="535" name=""/>
          <p:cNvSpPr/>
          <p:nvPr/>
        </p:nvSpPr>
        <p:spPr>
          <a:xfrm>
            <a:off x="5295960" y="2476440"/>
            <a:ext cx="6225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6" name=""/>
          <p:cNvSpPr txBox="1"/>
          <p:nvPr/>
        </p:nvSpPr>
        <p:spPr>
          <a:xfrm>
            <a:off x="5433120" y="26060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gewaesser</a:t>
            </a:r>
            <a:endParaRPr b="0" lang="en-US" sz="2070" spc="-1" strike="noStrike">
              <a:solidFill>
                <a:srgbClr val="000000"/>
              </a:solidFill>
              <a:latin typeface="Arial"/>
            </a:endParaRPr>
          </a:p>
        </p:txBody>
      </p:sp>
      <p:sp>
        <p:nvSpPr>
          <p:cNvPr id="537" name=""/>
          <p:cNvSpPr/>
          <p:nvPr/>
        </p:nvSpPr>
        <p:spPr>
          <a:xfrm>
            <a:off x="647640" y="3162240"/>
            <a:ext cx="4625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8" name=""/>
          <p:cNvSpPr txBox="1"/>
          <p:nvPr/>
        </p:nvSpPr>
        <p:spPr>
          <a:xfrm>
            <a:off x="784800" y="32918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räumliche Beziehung</a:t>
            </a:r>
            <a:endParaRPr b="0" lang="en-US" sz="2070" spc="-1" strike="noStrike">
              <a:solidFill>
                <a:srgbClr val="000000"/>
              </a:solidFill>
              <a:latin typeface="Arial"/>
            </a:endParaRPr>
          </a:p>
        </p:txBody>
      </p:sp>
      <p:sp>
        <p:nvSpPr>
          <p:cNvPr id="539" name=""/>
          <p:cNvSpPr/>
          <p:nvPr/>
        </p:nvSpPr>
        <p:spPr>
          <a:xfrm>
            <a:off x="5295960" y="3162240"/>
            <a:ext cx="6225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0" name=""/>
          <p:cNvSpPr txBox="1"/>
          <p:nvPr/>
        </p:nvSpPr>
        <p:spPr>
          <a:xfrm>
            <a:off x="5433120" y="32918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schneidet · intersects</a:t>
            </a:r>
            <a:endParaRPr b="0" lang="en-US" sz="2070" spc="-1" strike="noStrike">
              <a:solidFill>
                <a:srgbClr val="000000"/>
              </a:solidFill>
              <a:latin typeface="Arial"/>
            </a:endParaRPr>
          </a:p>
        </p:txBody>
      </p:sp>
      <p:sp>
        <p:nvSpPr>
          <p:cNvPr id="541" name=""/>
          <p:cNvSpPr/>
          <p:nvPr/>
        </p:nvSpPr>
        <p:spPr>
          <a:xfrm>
            <a:off x="647640" y="3848040"/>
            <a:ext cx="4625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2" name=""/>
          <p:cNvSpPr txBox="1"/>
          <p:nvPr/>
        </p:nvSpPr>
        <p:spPr>
          <a:xfrm>
            <a:off x="784800" y="39776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durch Vergleich mit</a:t>
            </a:r>
            <a:endParaRPr b="0" lang="en-US" sz="2070" spc="-1" strike="noStrike">
              <a:solidFill>
                <a:srgbClr val="000000"/>
              </a:solidFill>
              <a:latin typeface="Arial"/>
            </a:endParaRPr>
          </a:p>
        </p:txBody>
      </p:sp>
      <p:sp>
        <p:nvSpPr>
          <p:cNvPr id="543" name=""/>
          <p:cNvSpPr/>
          <p:nvPr/>
        </p:nvSpPr>
        <p:spPr>
          <a:xfrm>
            <a:off x="5295960" y="3848040"/>
            <a:ext cx="6225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4" name=""/>
          <p:cNvSpPr txBox="1"/>
          <p:nvPr/>
        </p:nvSpPr>
        <p:spPr>
          <a:xfrm>
            <a:off x="5433120" y="39776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schutzgebiete_auswahl</a:t>
            </a:r>
            <a:endParaRPr b="0" lang="en-US" sz="2070" spc="-1" strike="noStrike">
              <a:solidFill>
                <a:srgbClr val="000000"/>
              </a:solidFill>
              <a:latin typeface="Arial"/>
            </a:endParaRPr>
          </a:p>
        </p:txBody>
      </p:sp>
      <p:sp>
        <p:nvSpPr>
          <p:cNvPr id="545" name=""/>
          <p:cNvSpPr/>
          <p:nvPr/>
        </p:nvSpPr>
        <p:spPr>
          <a:xfrm>
            <a:off x="647640" y="4533840"/>
            <a:ext cx="4625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6" name=""/>
          <p:cNvSpPr txBox="1"/>
          <p:nvPr/>
        </p:nvSpPr>
        <p:spPr>
          <a:xfrm>
            <a:off x="784800" y="4663440"/>
            <a:ext cx="4374000" cy="533520"/>
          </a:xfrm>
          <a:prstGeom prst="rect">
            <a:avLst/>
          </a:prstGeom>
          <a:noFill/>
          <a:ln w="0">
            <a:noFill/>
          </a:ln>
        </p:spPr>
        <p:txBody>
          <a:bodyPr lIns="0" rIns="0" tIns="0" bIns="0" anchor="t">
            <a:noAutofit/>
          </a:bodyPr>
          <a:p>
            <a:r>
              <a:rPr b="0" lang="en-US" sz="2070" spc="-1" strike="noStrike">
                <a:solidFill>
                  <a:srgbClr val="000000"/>
                </a:solidFill>
                <a:latin typeface="Noto Sans"/>
              </a:rPr>
              <a:t>Auswahlmethode</a:t>
            </a:r>
            <a:endParaRPr b="0" lang="en-US" sz="2070" spc="-1" strike="noStrike">
              <a:solidFill>
                <a:srgbClr val="000000"/>
              </a:solidFill>
              <a:latin typeface="Arial"/>
            </a:endParaRPr>
          </a:p>
        </p:txBody>
      </p:sp>
      <p:sp>
        <p:nvSpPr>
          <p:cNvPr id="547" name=""/>
          <p:cNvSpPr/>
          <p:nvPr/>
        </p:nvSpPr>
        <p:spPr>
          <a:xfrm>
            <a:off x="5295960" y="4533840"/>
            <a:ext cx="6225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48" name=""/>
          <p:cNvSpPr txBox="1"/>
          <p:nvPr/>
        </p:nvSpPr>
        <p:spPr>
          <a:xfrm>
            <a:off x="5433120" y="4663440"/>
            <a:ext cx="5974200" cy="533520"/>
          </a:xfrm>
          <a:prstGeom prst="rect">
            <a:avLst/>
          </a:prstGeom>
          <a:noFill/>
          <a:ln w="0">
            <a:noFill/>
          </a:ln>
        </p:spPr>
        <p:txBody>
          <a:bodyPr lIns="0" rIns="0" tIns="0" bIns="0" anchor="t">
            <a:noAutofit/>
          </a:bodyPr>
          <a:p>
            <a:r>
              <a:rPr b="0" lang="en-US" sz="2070" spc="-1" strike="noStrike">
                <a:solidFill>
                  <a:srgbClr val="000000"/>
                </a:solidFill>
                <a:latin typeface="Noto Sans"/>
              </a:rPr>
              <a:t>neue Auswahl erstellen</a:t>
            </a:r>
            <a:endParaRPr b="0" lang="en-US" sz="2070" spc="-1" strike="noStrike">
              <a:solidFill>
                <a:srgbClr val="000000"/>
              </a:solidFill>
              <a:latin typeface="Arial"/>
            </a:endParaRPr>
          </a:p>
        </p:txBody>
      </p:sp>
      <p:sp>
        <p:nvSpPr>
          <p:cNvPr id="54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0"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Frage: Welche der 412 Linienfeatures besitzen einen gemeinsamen Ort mit einer FFH-Fläche?</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Prüfwert: 106 von 412 Linienfeatures</a:t>
            </a:r>
            <a:endParaRPr b="0" lang="en-US" sz="3190" spc="-1" strike="noStrike">
              <a:solidFill>
                <a:srgbClr val="000000"/>
              </a:solidFill>
              <a:latin typeface="Arial"/>
            </a:endParaRPr>
          </a:p>
        </p:txBody>
      </p:sp>
      <p:sp>
        <p:nvSpPr>
          <p:cNvPr id="55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RÄUMLICHE AUSWAHL · LINIENERGEBNIS</a:t>
            </a:r>
            <a:endParaRPr b="0" lang="en-US" sz="1130" spc="-1" strike="noStrike">
              <a:solidFill>
                <a:srgbClr val="000000"/>
              </a:solidFill>
              <a:latin typeface="Arial"/>
            </a:endParaRPr>
          </a:p>
        </p:txBody>
      </p:sp>
      <p:sp>
        <p:nvSpPr>
          <p:cNvPr id="55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55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25</a:t>
            </a:r>
            <a:endParaRPr b="0" lang="en-US" sz="939" spc="-1" strike="noStrike">
              <a:solidFill>
                <a:srgbClr val="000000"/>
              </a:solidFill>
              <a:latin typeface="Arial"/>
            </a:endParaRPr>
          </a:p>
        </p:txBody>
      </p:sp>
      <p:sp>
        <p:nvSpPr>
          <p:cNvPr id="555" name=""/>
          <p:cNvSpPr/>
          <p:nvPr/>
        </p:nvSpPr>
        <p:spPr>
          <a:xfrm>
            <a:off x="1295280" y="2171880"/>
            <a:ext cx="41911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6" name=""/>
          <p:cNvSpPr/>
          <p:nvPr/>
        </p:nvSpPr>
        <p:spPr>
          <a:xfrm>
            <a:off x="1295280" y="21718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57" name=""/>
          <p:cNvSpPr txBox="1"/>
          <p:nvPr/>
        </p:nvSpPr>
        <p:spPr>
          <a:xfrm>
            <a:off x="1501200" y="2354760"/>
            <a:ext cx="3779640" cy="647640"/>
          </a:xfrm>
          <a:prstGeom prst="rect">
            <a:avLst/>
          </a:prstGeom>
          <a:noFill/>
          <a:ln w="0">
            <a:noFill/>
          </a:ln>
        </p:spPr>
        <p:txBody>
          <a:bodyPr lIns="0" rIns="0" tIns="0" bIns="0" anchor="t">
            <a:noAutofit/>
          </a:bodyPr>
          <a:p>
            <a:r>
              <a:rPr b="1" lang="en-US" sz="2540" spc="-1" strike="noStrike">
                <a:solidFill>
                  <a:srgbClr val="004899"/>
                </a:solidFill>
                <a:latin typeface="Noto Sans"/>
              </a:rPr>
              <a:t>412</a:t>
            </a:r>
            <a:endParaRPr b="0" lang="en-US" sz="2540" spc="-1" strike="noStrike">
              <a:solidFill>
                <a:srgbClr val="000000"/>
              </a:solidFill>
              <a:latin typeface="Arial"/>
            </a:endParaRPr>
          </a:p>
        </p:txBody>
      </p:sp>
      <p:sp>
        <p:nvSpPr>
          <p:cNvPr id="558" name=""/>
          <p:cNvSpPr txBox="1"/>
          <p:nvPr/>
        </p:nvSpPr>
        <p:spPr>
          <a:xfrm>
            <a:off x="1501200" y="3116520"/>
            <a:ext cx="3779640" cy="1203840"/>
          </a:xfrm>
          <a:prstGeom prst="rect">
            <a:avLst/>
          </a:prstGeom>
          <a:noFill/>
          <a:ln w="0">
            <a:noFill/>
          </a:ln>
        </p:spPr>
        <p:txBody>
          <a:bodyPr lIns="0" rIns="0" tIns="0" bIns="0" anchor="t">
            <a:noAutofit/>
          </a:bodyPr>
          <a:p>
            <a:r>
              <a:rPr b="0" lang="en-US" sz="2540" spc="-1" strike="noStrike">
                <a:solidFill>
                  <a:srgbClr val="000000"/>
                </a:solidFill>
                <a:latin typeface="Noto Sans"/>
              </a:rPr>
              <a:t>Gewässer-Features</a:t>
            </a:r>
            <a:endParaRPr b="0" lang="en-US" sz="2540" spc="-1" strike="noStrike">
              <a:solidFill>
                <a:srgbClr val="000000"/>
              </a:solidFill>
              <a:latin typeface="Arial"/>
            </a:endParaRPr>
          </a:p>
          <a:p>
            <a:r>
              <a:rPr b="0" lang="en-US" sz="2540" spc="-1" strike="noStrike">
                <a:solidFill>
                  <a:srgbClr val="000000"/>
                </a:solidFill>
                <a:latin typeface="Noto Sans"/>
              </a:rPr>
              <a:t>im Eingabelayer</a:t>
            </a:r>
            <a:endParaRPr b="0" lang="en-US" sz="2540" spc="-1" strike="noStrike">
              <a:solidFill>
                <a:srgbClr val="000000"/>
              </a:solidFill>
              <a:latin typeface="Arial"/>
            </a:endParaRPr>
          </a:p>
        </p:txBody>
      </p:sp>
      <p:sp>
        <p:nvSpPr>
          <p:cNvPr id="559" name=""/>
          <p:cNvSpPr/>
          <p:nvPr/>
        </p:nvSpPr>
        <p:spPr>
          <a:xfrm>
            <a:off x="6705720" y="2171880"/>
            <a:ext cx="41911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0" name=""/>
          <p:cNvSpPr/>
          <p:nvPr/>
        </p:nvSpPr>
        <p:spPr>
          <a:xfrm>
            <a:off x="6705720" y="21718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61" name=""/>
          <p:cNvSpPr txBox="1"/>
          <p:nvPr/>
        </p:nvSpPr>
        <p:spPr>
          <a:xfrm>
            <a:off x="6911280" y="2354760"/>
            <a:ext cx="3779640" cy="647640"/>
          </a:xfrm>
          <a:prstGeom prst="rect">
            <a:avLst/>
          </a:prstGeom>
          <a:noFill/>
          <a:ln w="0">
            <a:noFill/>
          </a:ln>
        </p:spPr>
        <p:txBody>
          <a:bodyPr lIns="0" rIns="0" tIns="0" bIns="0" anchor="t">
            <a:noAutofit/>
          </a:bodyPr>
          <a:p>
            <a:r>
              <a:rPr b="1" lang="en-US" sz="2540" spc="-1" strike="noStrike">
                <a:solidFill>
                  <a:srgbClr val="a32123"/>
                </a:solidFill>
                <a:latin typeface="Noto Sans"/>
              </a:rPr>
              <a:t>106</a:t>
            </a:r>
            <a:endParaRPr b="0" lang="en-US" sz="2540" spc="-1" strike="noStrike">
              <a:solidFill>
                <a:srgbClr val="000000"/>
              </a:solidFill>
              <a:latin typeface="Arial"/>
            </a:endParaRPr>
          </a:p>
        </p:txBody>
      </p:sp>
      <p:sp>
        <p:nvSpPr>
          <p:cNvPr id="562" name=""/>
          <p:cNvSpPr txBox="1"/>
          <p:nvPr/>
        </p:nvSpPr>
        <p:spPr>
          <a:xfrm>
            <a:off x="6911280" y="3116520"/>
            <a:ext cx="3779640" cy="1203840"/>
          </a:xfrm>
          <a:prstGeom prst="rect">
            <a:avLst/>
          </a:prstGeom>
          <a:noFill/>
          <a:ln w="0">
            <a:noFill/>
          </a:ln>
        </p:spPr>
        <p:txBody>
          <a:bodyPr lIns="0" rIns="0" tIns="0" bIns="0" anchor="t">
            <a:noAutofit/>
          </a:bodyPr>
          <a:p>
            <a:r>
              <a:rPr b="0" lang="en-US" sz="2540" spc="-1" strike="noStrike">
                <a:solidFill>
                  <a:srgbClr val="000000"/>
                </a:solidFill>
                <a:latin typeface="Noto Sans"/>
              </a:rPr>
              <a:t>schneiden mindestens</a:t>
            </a:r>
            <a:endParaRPr b="0" lang="en-US" sz="2540" spc="-1" strike="noStrike">
              <a:solidFill>
                <a:srgbClr val="000000"/>
              </a:solidFill>
              <a:latin typeface="Arial"/>
            </a:endParaRPr>
          </a:p>
          <a:p>
            <a:r>
              <a:rPr b="0" lang="en-US" sz="2540" spc="-1" strike="noStrike">
                <a:solidFill>
                  <a:srgbClr val="000000"/>
                </a:solidFill>
                <a:latin typeface="Noto Sans"/>
              </a:rPr>
              <a:t>eine ausgewählte FFH-Fläche</a:t>
            </a:r>
            <a:endParaRPr b="0" lang="en-US" sz="2540" spc="-1" strike="noStrike">
              <a:solidFill>
                <a:srgbClr val="000000"/>
              </a:solidFill>
              <a:latin typeface="Arial"/>
            </a:endParaRPr>
          </a:p>
        </p:txBody>
      </p:sp>
      <p:sp>
        <p:nvSpPr>
          <p:cNvPr id="56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4"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Gezählt werden Features – nicht Flüsse und nicht Teilstrecken im Schutzgebiet.</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Auswahl ist nicht Zuschneiden</a:t>
            </a:r>
            <a:endParaRPr b="0" lang="en-US" sz="3190" spc="-1" strike="noStrike">
              <a:solidFill>
                <a:srgbClr val="000000"/>
              </a:solidFill>
              <a:latin typeface="Arial"/>
            </a:endParaRPr>
          </a:p>
        </p:txBody>
      </p:sp>
      <p:sp>
        <p:nvSpPr>
          <p:cNvPr id="56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RÄUMLICHE AUSWAHL · GEOMETRIE BLEIBT</a:t>
            </a:r>
            <a:endParaRPr b="0" lang="en-US" sz="1130" spc="-1" strike="noStrike">
              <a:solidFill>
                <a:srgbClr val="000000"/>
              </a:solidFill>
              <a:latin typeface="Arial"/>
            </a:endParaRPr>
          </a:p>
        </p:txBody>
      </p:sp>
      <p:sp>
        <p:nvSpPr>
          <p:cNvPr id="56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56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26</a:t>
            </a:r>
            <a:endParaRPr b="0" lang="en-US" sz="939" spc="-1" strike="noStrike">
              <a:solidFill>
                <a:srgbClr val="000000"/>
              </a:solidFill>
              <a:latin typeface="Arial"/>
            </a:endParaRPr>
          </a:p>
        </p:txBody>
      </p:sp>
      <p:pic>
        <p:nvPicPr>
          <p:cNvPr id="569" name="" descr="Dieselbe waagerechte Linie L schneidet dasselbe rechteckige Polygon. Intersects wählt die vollständige Linie aus. Clip gibt nur den innerhalb des Polygons liegenden Abschnitt aus."/>
          <p:cNvPicPr/>
          <p:nvPr/>
        </p:nvPicPr>
        <p:blipFill>
          <a:blip r:embed="rId1">
            <a:extLst>
              <a:ext uri="{96DAC541-7B7A-43D3-8B79-37D633B846F1}">
                <asvg:svgBlip xmlns:asvg="http://schemas.microsoft.com/office/drawing/2016/SVG/main" r:embed="rId2"/>
              </a:ext>
            </a:extLst>
          </a:blip>
          <a:stretch/>
        </p:blipFill>
        <p:spPr>
          <a:xfrm>
            <a:off x="2438280" y="1638360"/>
            <a:ext cx="3276720" cy="4362120"/>
          </a:xfrm>
          <a:prstGeom prst="rect">
            <a:avLst/>
          </a:prstGeom>
          <a:ln w="0">
            <a:noFill/>
          </a:ln>
        </p:spPr>
      </p:pic>
      <p:sp>
        <p:nvSpPr>
          <p:cNvPr id="570" name=""/>
          <p:cNvSpPr/>
          <p:nvPr/>
        </p:nvSpPr>
        <p:spPr>
          <a:xfrm>
            <a:off x="6477120" y="2286000"/>
            <a:ext cx="426708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1" name=""/>
          <p:cNvSpPr/>
          <p:nvPr/>
        </p:nvSpPr>
        <p:spPr>
          <a:xfrm>
            <a:off x="6477120" y="2286000"/>
            <a:ext cx="53280" cy="13334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72" name=""/>
          <p:cNvSpPr txBox="1"/>
          <p:nvPr/>
        </p:nvSpPr>
        <p:spPr>
          <a:xfrm>
            <a:off x="6682680" y="2468880"/>
            <a:ext cx="3855600" cy="647640"/>
          </a:xfrm>
          <a:prstGeom prst="rect">
            <a:avLst/>
          </a:prstGeom>
          <a:noFill/>
          <a:ln w="0">
            <a:noFill/>
          </a:ln>
        </p:spPr>
        <p:txBody>
          <a:bodyPr lIns="0" rIns="0" tIns="0" bIns="0" anchor="t">
            <a:noAutofit/>
          </a:bodyPr>
          <a:p>
            <a:r>
              <a:rPr b="1" lang="en-US" sz="2540" spc="-1" strike="noStrike">
                <a:solidFill>
                  <a:srgbClr val="004899"/>
                </a:solidFill>
                <a:latin typeface="Noto Sans"/>
              </a:rPr>
              <a:t>Auswahl + Export</a:t>
            </a:r>
            <a:endParaRPr b="0" lang="en-US" sz="2540" spc="-1" strike="noStrike">
              <a:solidFill>
                <a:srgbClr val="000000"/>
              </a:solidFill>
              <a:latin typeface="Arial"/>
            </a:endParaRPr>
          </a:p>
        </p:txBody>
      </p:sp>
      <p:sp>
        <p:nvSpPr>
          <p:cNvPr id="573" name=""/>
          <p:cNvSpPr txBox="1"/>
          <p:nvPr/>
        </p:nvSpPr>
        <p:spPr>
          <a:xfrm>
            <a:off x="6682680" y="3048120"/>
            <a:ext cx="3855600" cy="434520"/>
          </a:xfrm>
          <a:prstGeom prst="rect">
            <a:avLst/>
          </a:prstGeom>
          <a:noFill/>
          <a:ln w="0">
            <a:noFill/>
          </a:ln>
        </p:spPr>
        <p:txBody>
          <a:bodyPr lIns="0" rIns="0" tIns="0" bIns="0" anchor="t">
            <a:noAutofit/>
          </a:bodyPr>
          <a:p>
            <a:r>
              <a:rPr b="0" lang="en-US" sz="2070" spc="-1" strike="noStrike">
                <a:solidFill>
                  <a:srgbClr val="000000"/>
                </a:solidFill>
                <a:latin typeface="Noto Sans"/>
              </a:rPr>
              <a:t>vollständiges Linienfeature bleibt erhalten</a:t>
            </a:r>
            <a:endParaRPr b="0" lang="en-US" sz="2070" spc="-1" strike="noStrike">
              <a:solidFill>
                <a:srgbClr val="000000"/>
              </a:solidFill>
              <a:latin typeface="Arial"/>
            </a:endParaRPr>
          </a:p>
        </p:txBody>
      </p:sp>
      <p:sp>
        <p:nvSpPr>
          <p:cNvPr id="574" name=""/>
          <p:cNvSpPr/>
          <p:nvPr/>
        </p:nvSpPr>
        <p:spPr>
          <a:xfrm>
            <a:off x="6477120" y="4038480"/>
            <a:ext cx="426708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5" name=""/>
          <p:cNvSpPr/>
          <p:nvPr/>
        </p:nvSpPr>
        <p:spPr>
          <a:xfrm>
            <a:off x="6477120" y="4038480"/>
            <a:ext cx="53280" cy="13334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76" name=""/>
          <p:cNvSpPr txBox="1"/>
          <p:nvPr/>
        </p:nvSpPr>
        <p:spPr>
          <a:xfrm>
            <a:off x="6682680" y="4221360"/>
            <a:ext cx="3855600" cy="647640"/>
          </a:xfrm>
          <a:prstGeom prst="rect">
            <a:avLst/>
          </a:prstGeom>
          <a:noFill/>
          <a:ln w="0">
            <a:noFill/>
          </a:ln>
        </p:spPr>
        <p:txBody>
          <a:bodyPr lIns="0" rIns="0" tIns="0" bIns="0" anchor="t">
            <a:noAutofit/>
          </a:bodyPr>
          <a:p>
            <a:r>
              <a:rPr b="1" lang="en-US" sz="2540" spc="-1" strike="noStrike">
                <a:solidFill>
                  <a:srgbClr val="a32123"/>
                </a:solidFill>
                <a:latin typeface="Noto Sans"/>
              </a:rPr>
              <a:t>Clip</a:t>
            </a:r>
            <a:endParaRPr b="0" lang="en-US" sz="2540" spc="-1" strike="noStrike">
              <a:solidFill>
                <a:srgbClr val="000000"/>
              </a:solidFill>
              <a:latin typeface="Arial"/>
            </a:endParaRPr>
          </a:p>
        </p:txBody>
      </p:sp>
      <p:sp>
        <p:nvSpPr>
          <p:cNvPr id="577" name=""/>
          <p:cNvSpPr txBox="1"/>
          <p:nvPr/>
        </p:nvSpPr>
        <p:spPr>
          <a:xfrm>
            <a:off x="6682680" y="4800600"/>
            <a:ext cx="3855600" cy="434520"/>
          </a:xfrm>
          <a:prstGeom prst="rect">
            <a:avLst/>
          </a:prstGeom>
          <a:noFill/>
          <a:ln w="0">
            <a:noFill/>
          </a:ln>
        </p:spPr>
        <p:txBody>
          <a:bodyPr lIns="0" rIns="0" tIns="0" bIns="0" anchor="t">
            <a:noAutofit/>
          </a:bodyPr>
          <a:p>
            <a:r>
              <a:rPr b="0" lang="en-US" sz="2070" spc="-1" strike="noStrike">
                <a:solidFill>
                  <a:srgbClr val="000000"/>
                </a:solidFill>
                <a:latin typeface="Noto Sans"/>
              </a:rPr>
              <a:t>neue Geometrie endet an der Polygonkante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Was dürfen wir aus 106 Treffern folgern?</a:t>
            </a:r>
            <a:endParaRPr b="0" lang="en-US" sz="3190" spc="-1" strike="noStrike">
              <a:solidFill>
                <a:srgbClr val="000000"/>
              </a:solidFill>
              <a:latin typeface="Arial"/>
            </a:endParaRPr>
          </a:p>
        </p:txBody>
      </p:sp>
      <p:sp>
        <p:nvSpPr>
          <p:cNvPr id="57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RÄUMLICHE AUSWAHL · INTERPRETATION</a:t>
            </a:r>
            <a:endParaRPr b="0" lang="en-US" sz="1130" spc="-1" strike="noStrike">
              <a:solidFill>
                <a:srgbClr val="000000"/>
              </a:solidFill>
              <a:latin typeface="Arial"/>
            </a:endParaRPr>
          </a:p>
        </p:txBody>
      </p:sp>
      <p:sp>
        <p:nvSpPr>
          <p:cNvPr id="58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58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27</a:t>
            </a:r>
            <a:endParaRPr b="0" lang="en-US" sz="939" spc="-1" strike="noStrike">
              <a:solidFill>
                <a:srgbClr val="000000"/>
              </a:solidFill>
              <a:latin typeface="Arial"/>
            </a:endParaRPr>
          </a:p>
        </p:txBody>
      </p:sp>
      <p:sp>
        <p:nvSpPr>
          <p:cNvPr id="582" name=""/>
          <p:cNvSpPr txBox="1"/>
          <p:nvPr/>
        </p:nvSpPr>
        <p:spPr>
          <a:xfrm>
            <a:off x="1295280" y="2095560"/>
            <a:ext cx="9601200" cy="838080"/>
          </a:xfrm>
          <a:prstGeom prst="rect">
            <a:avLst/>
          </a:prstGeom>
          <a:noFill/>
          <a:ln w="0">
            <a:noFill/>
          </a:ln>
        </p:spPr>
        <p:txBody>
          <a:bodyPr lIns="0" rIns="0" tIns="0" bIns="0" anchor="t">
            <a:noAutofit/>
          </a:bodyPr>
          <a:p>
            <a:pPr algn="ctr"/>
            <a:r>
              <a:rPr b="1" lang="en-US" sz="3190" spc="-1" strike="noStrike">
                <a:solidFill>
                  <a:srgbClr val="000000"/>
                </a:solidFill>
                <a:latin typeface="Noto Sans"/>
              </a:rPr>
              <a:t>„</a:t>
            </a:r>
            <a:r>
              <a:rPr b="1" lang="en-US" sz="3190" spc="-1" strike="noStrike">
                <a:solidFill>
                  <a:srgbClr val="000000"/>
                </a:solidFill>
                <a:latin typeface="Noto Sans"/>
              </a:rPr>
              <a:t>106 Gewässer liegen vollständig in FFH-Gebieten.“</a:t>
            </a:r>
            <a:endParaRPr b="0" lang="en-US" sz="3190" spc="-1" strike="noStrike">
              <a:solidFill>
                <a:srgbClr val="000000"/>
              </a:solidFill>
              <a:latin typeface="Arial"/>
            </a:endParaRPr>
          </a:p>
        </p:txBody>
      </p:sp>
      <p:sp>
        <p:nvSpPr>
          <p:cNvPr id="583" name=""/>
          <p:cNvSpPr/>
          <p:nvPr/>
        </p:nvSpPr>
        <p:spPr>
          <a:xfrm>
            <a:off x="2514600" y="3276720"/>
            <a:ext cx="7162920" cy="0"/>
          </a:xfrm>
          <a:prstGeom prst="line">
            <a:avLst/>
          </a:prstGeom>
          <a:ln w="25200">
            <a:solidFill>
              <a:srgbClr val="a6d9e2"/>
            </a:solidFill>
            <a:round/>
          </a:ln>
        </p:spPr>
        <p:style>
          <a:lnRef idx="0"/>
          <a:fillRef idx="0"/>
          <a:effectRef idx="0"/>
          <a:fontRef idx="minor"/>
        </p:style>
        <p:txBody>
          <a:bodyPr lIns="102600" rIns="102600" tIns="-57600" bIns="-57600" anchor="ctr" anchorCtr="1">
            <a:noAutofit/>
          </a:bodyPr>
          <a:p>
            <a:endParaRPr b="0" lang="en-US" sz="1800" spc="-1" strike="noStrike">
              <a:solidFill>
                <a:srgbClr val="000000"/>
              </a:solidFill>
              <a:latin typeface="Arial"/>
            </a:endParaRPr>
          </a:p>
        </p:txBody>
      </p:sp>
      <p:sp>
        <p:nvSpPr>
          <p:cNvPr id="584" name=""/>
          <p:cNvSpPr txBox="1"/>
          <p:nvPr/>
        </p:nvSpPr>
        <p:spPr>
          <a:xfrm>
            <a:off x="1295280" y="3695760"/>
            <a:ext cx="9601200" cy="1143000"/>
          </a:xfrm>
          <a:prstGeom prst="rect">
            <a:avLst/>
          </a:prstGeom>
          <a:noFill/>
          <a:ln w="0">
            <a:noFill/>
          </a:ln>
        </p:spPr>
        <p:txBody>
          <a:bodyPr lIns="0" rIns="0" tIns="0" bIns="0" anchor="t">
            <a:noAutofit/>
          </a:bodyPr>
          <a:p>
            <a:pPr algn="ctr"/>
            <a:r>
              <a:rPr b="1" lang="en-US" sz="2820" spc="-1" strike="noStrike">
                <a:solidFill>
                  <a:srgbClr val="004899"/>
                </a:solidFill>
                <a:latin typeface="Noto Sans"/>
              </a:rPr>
              <a:t>Belegt ist: 106 Features schneiden mindestens eine</a:t>
            </a:r>
            <a:endParaRPr b="0" lang="en-US" sz="2820" spc="-1" strike="noStrike">
              <a:solidFill>
                <a:srgbClr val="000000"/>
              </a:solidFill>
              <a:latin typeface="Arial"/>
            </a:endParaRPr>
          </a:p>
          <a:p>
            <a:pPr algn="ctr"/>
            <a:r>
              <a:rPr b="1" lang="en-US" sz="2820" spc="-1" strike="noStrike">
                <a:solidFill>
                  <a:srgbClr val="004899"/>
                </a:solidFill>
                <a:latin typeface="Noto Sans"/>
              </a:rPr>
              <a:t>ausgewählte FFH-Geometrie.</a:t>
            </a:r>
            <a:endParaRPr b="0" lang="en-US" sz="2820" spc="-1" strike="noStrike">
              <a:solidFill>
                <a:srgbClr val="000000"/>
              </a:solidFill>
              <a:latin typeface="Arial"/>
            </a:endParaRPr>
          </a:p>
        </p:txBody>
      </p:sp>
      <p:sp>
        <p:nvSpPr>
          <p:cNvPr id="58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6"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Intersects beantwortet „ob“ – nicht automatisch „wie viel“.</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Beide räumlichen Auswahlen exportieren</a:t>
            </a:r>
            <a:endParaRPr b="0" lang="en-US" sz="3190" spc="-1" strike="noStrike">
              <a:solidFill>
                <a:srgbClr val="000000"/>
              </a:solidFill>
              <a:latin typeface="Arial"/>
            </a:endParaRPr>
          </a:p>
        </p:txBody>
      </p:sp>
      <p:sp>
        <p:nvSpPr>
          <p:cNvPr id="58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DAUERHAFTE ERGEBNISSE</a:t>
            </a:r>
            <a:endParaRPr b="0" lang="en-US" sz="1130" spc="-1" strike="noStrike">
              <a:solidFill>
                <a:srgbClr val="000000"/>
              </a:solidFill>
              <a:latin typeface="Arial"/>
            </a:endParaRPr>
          </a:p>
        </p:txBody>
      </p:sp>
      <p:sp>
        <p:nvSpPr>
          <p:cNvPr id="58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59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28</a:t>
            </a:r>
            <a:endParaRPr b="0" lang="en-US" sz="939" spc="-1" strike="noStrike">
              <a:solidFill>
                <a:srgbClr val="000000"/>
              </a:solidFill>
              <a:latin typeface="Arial"/>
            </a:endParaRPr>
          </a:p>
        </p:txBody>
      </p:sp>
      <p:sp>
        <p:nvSpPr>
          <p:cNvPr id="591" name=""/>
          <p:cNvSpPr/>
          <p:nvPr/>
        </p:nvSpPr>
        <p:spPr>
          <a:xfrm>
            <a:off x="647640" y="2171880"/>
            <a:ext cx="363492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2" name=""/>
          <p:cNvSpPr txBox="1"/>
          <p:nvPr/>
        </p:nvSpPr>
        <p:spPr>
          <a:xfrm>
            <a:off x="784800" y="2301120"/>
            <a:ext cx="3383280" cy="838080"/>
          </a:xfrm>
          <a:prstGeom prst="rect">
            <a:avLst/>
          </a:prstGeom>
          <a:noFill/>
          <a:ln w="0">
            <a:noFill/>
          </a:ln>
        </p:spPr>
        <p:txBody>
          <a:bodyPr lIns="0" rIns="0" tIns="0" bIns="0" anchor="t">
            <a:noAutofit/>
          </a:bodyPr>
          <a:p>
            <a:r>
              <a:rPr b="1" lang="en-US" sz="2350" spc="-1" strike="noStrike">
                <a:solidFill>
                  <a:srgbClr val="ffffff"/>
                </a:solidFill>
                <a:latin typeface="Noto Sans"/>
              </a:rPr>
              <a:t>Auswahl aus</a:t>
            </a:r>
            <a:endParaRPr b="0" lang="en-US" sz="2350" spc="-1" strike="noStrike">
              <a:solidFill>
                <a:srgbClr val="000000"/>
              </a:solidFill>
              <a:latin typeface="Arial"/>
            </a:endParaRPr>
          </a:p>
        </p:txBody>
      </p:sp>
      <p:sp>
        <p:nvSpPr>
          <p:cNvPr id="593" name=""/>
          <p:cNvSpPr/>
          <p:nvPr/>
        </p:nvSpPr>
        <p:spPr>
          <a:xfrm>
            <a:off x="4305240" y="2171880"/>
            <a:ext cx="546372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4" name=""/>
          <p:cNvSpPr txBox="1"/>
          <p:nvPr/>
        </p:nvSpPr>
        <p:spPr>
          <a:xfrm>
            <a:off x="4442400" y="2301120"/>
            <a:ext cx="5212080" cy="838080"/>
          </a:xfrm>
          <a:prstGeom prst="rect">
            <a:avLst/>
          </a:prstGeom>
          <a:noFill/>
          <a:ln w="0">
            <a:noFill/>
          </a:ln>
        </p:spPr>
        <p:txBody>
          <a:bodyPr lIns="0" rIns="0" tIns="0" bIns="0" anchor="t">
            <a:noAutofit/>
          </a:bodyPr>
          <a:p>
            <a:r>
              <a:rPr b="1" lang="en-US" sz="2350" spc="-1" strike="noStrike">
                <a:solidFill>
                  <a:srgbClr val="ffffff"/>
                </a:solidFill>
                <a:latin typeface="Noto Sans"/>
              </a:rPr>
              <a:t>Layername</a:t>
            </a:r>
            <a:endParaRPr b="0" lang="en-US" sz="2350" spc="-1" strike="noStrike">
              <a:solidFill>
                <a:srgbClr val="000000"/>
              </a:solidFill>
              <a:latin typeface="Arial"/>
            </a:endParaRPr>
          </a:p>
        </p:txBody>
      </p:sp>
      <p:sp>
        <p:nvSpPr>
          <p:cNvPr id="595" name=""/>
          <p:cNvSpPr/>
          <p:nvPr/>
        </p:nvSpPr>
        <p:spPr>
          <a:xfrm>
            <a:off x="9791640" y="2171880"/>
            <a:ext cx="172980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6" name=""/>
          <p:cNvSpPr txBox="1"/>
          <p:nvPr/>
        </p:nvSpPr>
        <p:spPr>
          <a:xfrm>
            <a:off x="9928800" y="2301120"/>
            <a:ext cx="1478160" cy="838080"/>
          </a:xfrm>
          <a:prstGeom prst="rect">
            <a:avLst/>
          </a:prstGeom>
          <a:noFill/>
          <a:ln w="0">
            <a:noFill/>
          </a:ln>
        </p:spPr>
        <p:txBody>
          <a:bodyPr lIns="0" rIns="0" tIns="0" bIns="0" anchor="t">
            <a:noAutofit/>
          </a:bodyPr>
          <a:p>
            <a:r>
              <a:rPr b="1" lang="en-US" sz="2350" spc="-1" strike="noStrike">
                <a:solidFill>
                  <a:srgbClr val="ffffff"/>
                </a:solidFill>
                <a:latin typeface="Noto Sans"/>
              </a:rPr>
              <a:t>Features</a:t>
            </a:r>
            <a:endParaRPr b="0" lang="en-US" sz="2350" spc="-1" strike="noStrike">
              <a:solidFill>
                <a:srgbClr val="000000"/>
              </a:solidFill>
              <a:latin typeface="Arial"/>
            </a:endParaRPr>
          </a:p>
        </p:txBody>
      </p:sp>
      <p:sp>
        <p:nvSpPr>
          <p:cNvPr id="597" name=""/>
          <p:cNvSpPr/>
          <p:nvPr/>
        </p:nvSpPr>
        <p:spPr>
          <a:xfrm>
            <a:off x="647640" y="3162240"/>
            <a:ext cx="3634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8" name=""/>
          <p:cNvSpPr txBox="1"/>
          <p:nvPr/>
        </p:nvSpPr>
        <p:spPr>
          <a:xfrm>
            <a:off x="784800" y="3291840"/>
            <a:ext cx="3383280" cy="838080"/>
          </a:xfrm>
          <a:prstGeom prst="rect">
            <a:avLst/>
          </a:prstGeom>
          <a:noFill/>
          <a:ln w="0">
            <a:noFill/>
          </a:ln>
        </p:spPr>
        <p:txBody>
          <a:bodyPr lIns="0" rIns="0" tIns="0" bIns="0" anchor="t">
            <a:noAutofit/>
          </a:bodyPr>
          <a:p>
            <a:r>
              <a:rPr b="0" lang="en-US" sz="2350" spc="-1" strike="noStrike">
                <a:solidFill>
                  <a:srgbClr val="000000"/>
                </a:solidFill>
                <a:latin typeface="Noto Sans"/>
              </a:rPr>
              <a:t>gbif_checked</a:t>
            </a:r>
            <a:endParaRPr b="0" lang="en-US" sz="2350" spc="-1" strike="noStrike">
              <a:solidFill>
                <a:srgbClr val="000000"/>
              </a:solidFill>
              <a:latin typeface="Arial"/>
            </a:endParaRPr>
          </a:p>
        </p:txBody>
      </p:sp>
      <p:sp>
        <p:nvSpPr>
          <p:cNvPr id="599" name=""/>
          <p:cNvSpPr/>
          <p:nvPr/>
        </p:nvSpPr>
        <p:spPr>
          <a:xfrm>
            <a:off x="4305240" y="3162240"/>
            <a:ext cx="54637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0" name=""/>
          <p:cNvSpPr txBox="1"/>
          <p:nvPr/>
        </p:nvSpPr>
        <p:spPr>
          <a:xfrm>
            <a:off x="4442400" y="3291840"/>
            <a:ext cx="5212080" cy="838080"/>
          </a:xfrm>
          <a:prstGeom prst="rect">
            <a:avLst/>
          </a:prstGeom>
          <a:noFill/>
          <a:ln w="0">
            <a:noFill/>
          </a:ln>
        </p:spPr>
        <p:txBody>
          <a:bodyPr lIns="0" rIns="0" tIns="0" bIns="0" anchor="t">
            <a:noAutofit/>
          </a:bodyPr>
          <a:p>
            <a:r>
              <a:rPr b="0" lang="en-US" sz="2350" spc="-1" strike="noStrike">
                <a:solidFill>
                  <a:srgbClr val="000000"/>
                </a:solidFill>
                <a:latin typeface="Noto Sans"/>
              </a:rPr>
              <a:t>gbif_in_schutzgebieten</a:t>
            </a:r>
            <a:endParaRPr b="0" lang="en-US" sz="2350" spc="-1" strike="noStrike">
              <a:solidFill>
                <a:srgbClr val="000000"/>
              </a:solidFill>
              <a:latin typeface="Arial"/>
            </a:endParaRPr>
          </a:p>
        </p:txBody>
      </p:sp>
      <p:sp>
        <p:nvSpPr>
          <p:cNvPr id="601" name=""/>
          <p:cNvSpPr/>
          <p:nvPr/>
        </p:nvSpPr>
        <p:spPr>
          <a:xfrm>
            <a:off x="9791640" y="3162240"/>
            <a:ext cx="172980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2" name=""/>
          <p:cNvSpPr txBox="1"/>
          <p:nvPr/>
        </p:nvSpPr>
        <p:spPr>
          <a:xfrm>
            <a:off x="9928800" y="3291840"/>
            <a:ext cx="1478160" cy="838080"/>
          </a:xfrm>
          <a:prstGeom prst="rect">
            <a:avLst/>
          </a:prstGeom>
          <a:noFill/>
          <a:ln w="0">
            <a:noFill/>
          </a:ln>
        </p:spPr>
        <p:txBody>
          <a:bodyPr lIns="0" rIns="0" tIns="0" bIns="0" anchor="t">
            <a:noAutofit/>
          </a:bodyPr>
          <a:p>
            <a:r>
              <a:rPr b="0" lang="en-US" sz="2350" spc="-1" strike="noStrike">
                <a:solidFill>
                  <a:srgbClr val="000000"/>
                </a:solidFill>
                <a:latin typeface="Noto Sans"/>
              </a:rPr>
              <a:t>4</a:t>
            </a:r>
            <a:endParaRPr b="0" lang="en-US" sz="2350" spc="-1" strike="noStrike">
              <a:solidFill>
                <a:srgbClr val="000000"/>
              </a:solidFill>
              <a:latin typeface="Arial"/>
            </a:endParaRPr>
          </a:p>
        </p:txBody>
      </p:sp>
      <p:sp>
        <p:nvSpPr>
          <p:cNvPr id="603" name=""/>
          <p:cNvSpPr/>
          <p:nvPr/>
        </p:nvSpPr>
        <p:spPr>
          <a:xfrm>
            <a:off x="647640" y="4152960"/>
            <a:ext cx="363492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4" name=""/>
          <p:cNvSpPr txBox="1"/>
          <p:nvPr/>
        </p:nvSpPr>
        <p:spPr>
          <a:xfrm>
            <a:off x="784800" y="4282560"/>
            <a:ext cx="3383280" cy="838080"/>
          </a:xfrm>
          <a:prstGeom prst="rect">
            <a:avLst/>
          </a:prstGeom>
          <a:noFill/>
          <a:ln w="0">
            <a:noFill/>
          </a:ln>
        </p:spPr>
        <p:txBody>
          <a:bodyPr lIns="0" rIns="0" tIns="0" bIns="0" anchor="t">
            <a:noAutofit/>
          </a:bodyPr>
          <a:p>
            <a:r>
              <a:rPr b="0" lang="en-US" sz="2350" spc="-1" strike="noStrike">
                <a:solidFill>
                  <a:srgbClr val="000000"/>
                </a:solidFill>
                <a:latin typeface="Noto Sans"/>
              </a:rPr>
              <a:t>gewaesser</a:t>
            </a:r>
            <a:endParaRPr b="0" lang="en-US" sz="2350" spc="-1" strike="noStrike">
              <a:solidFill>
                <a:srgbClr val="000000"/>
              </a:solidFill>
              <a:latin typeface="Arial"/>
            </a:endParaRPr>
          </a:p>
        </p:txBody>
      </p:sp>
      <p:sp>
        <p:nvSpPr>
          <p:cNvPr id="605" name=""/>
          <p:cNvSpPr/>
          <p:nvPr/>
        </p:nvSpPr>
        <p:spPr>
          <a:xfrm>
            <a:off x="4305240" y="4152960"/>
            <a:ext cx="546372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6" name=""/>
          <p:cNvSpPr txBox="1"/>
          <p:nvPr/>
        </p:nvSpPr>
        <p:spPr>
          <a:xfrm>
            <a:off x="4442400" y="4282560"/>
            <a:ext cx="5212080" cy="838080"/>
          </a:xfrm>
          <a:prstGeom prst="rect">
            <a:avLst/>
          </a:prstGeom>
          <a:noFill/>
          <a:ln w="0">
            <a:noFill/>
          </a:ln>
        </p:spPr>
        <p:txBody>
          <a:bodyPr lIns="0" rIns="0" tIns="0" bIns="0" anchor="t">
            <a:noAutofit/>
          </a:bodyPr>
          <a:p>
            <a:r>
              <a:rPr b="0" lang="en-US" sz="2350" spc="-1" strike="noStrike">
                <a:solidFill>
                  <a:srgbClr val="000000"/>
                </a:solidFill>
                <a:latin typeface="Noto Sans"/>
              </a:rPr>
              <a:t>gewaesser_an_schutzgebieten</a:t>
            </a:r>
            <a:endParaRPr b="0" lang="en-US" sz="2350" spc="-1" strike="noStrike">
              <a:solidFill>
                <a:srgbClr val="000000"/>
              </a:solidFill>
              <a:latin typeface="Arial"/>
            </a:endParaRPr>
          </a:p>
        </p:txBody>
      </p:sp>
      <p:sp>
        <p:nvSpPr>
          <p:cNvPr id="607" name=""/>
          <p:cNvSpPr/>
          <p:nvPr/>
        </p:nvSpPr>
        <p:spPr>
          <a:xfrm>
            <a:off x="9791640" y="4152960"/>
            <a:ext cx="172980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8" name=""/>
          <p:cNvSpPr txBox="1"/>
          <p:nvPr/>
        </p:nvSpPr>
        <p:spPr>
          <a:xfrm>
            <a:off x="9928800" y="4282560"/>
            <a:ext cx="1478160" cy="838080"/>
          </a:xfrm>
          <a:prstGeom prst="rect">
            <a:avLst/>
          </a:prstGeom>
          <a:noFill/>
          <a:ln w="0">
            <a:noFill/>
          </a:ln>
        </p:spPr>
        <p:txBody>
          <a:bodyPr lIns="0" rIns="0" tIns="0" bIns="0" anchor="t">
            <a:noAutofit/>
          </a:bodyPr>
          <a:p>
            <a:r>
              <a:rPr b="0" lang="en-US" sz="2350" spc="-1" strike="noStrike">
                <a:solidFill>
                  <a:srgbClr val="000000"/>
                </a:solidFill>
                <a:latin typeface="Noto Sans"/>
              </a:rPr>
              <a:t>106</a:t>
            </a:r>
            <a:endParaRPr b="0" lang="en-US" sz="2350" spc="-1" strike="noStrike">
              <a:solidFill>
                <a:srgbClr val="000000"/>
              </a:solidFill>
              <a:latin typeface="Arial"/>
            </a:endParaRPr>
          </a:p>
        </p:txBody>
      </p:sp>
      <p:sp>
        <p:nvSpPr>
          <p:cNvPr id="60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0"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Datei: data_output/unit12_results.gpkg · nur ausgewählte Objekte</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Das GeoPackage enthält drei Ergebnislayer</a:t>
            </a:r>
            <a:endParaRPr b="0" lang="en-US" sz="3190" spc="-1" strike="noStrike">
              <a:solidFill>
                <a:srgbClr val="000000"/>
              </a:solidFill>
              <a:latin typeface="Arial"/>
            </a:endParaRPr>
          </a:p>
        </p:txBody>
      </p:sp>
      <p:sp>
        <p:nvSpPr>
          <p:cNvPr id="61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SOLLZUSTAND</a:t>
            </a:r>
            <a:endParaRPr b="0" lang="en-US" sz="1130" spc="-1" strike="noStrike">
              <a:solidFill>
                <a:srgbClr val="000000"/>
              </a:solidFill>
              <a:latin typeface="Arial"/>
            </a:endParaRPr>
          </a:p>
        </p:txBody>
      </p:sp>
      <p:sp>
        <p:nvSpPr>
          <p:cNvPr id="61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61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29</a:t>
            </a:r>
            <a:endParaRPr b="0" lang="en-US" sz="939" spc="-1" strike="noStrike">
              <a:solidFill>
                <a:srgbClr val="000000"/>
              </a:solidFill>
              <a:latin typeface="Arial"/>
            </a:endParaRPr>
          </a:p>
        </p:txBody>
      </p:sp>
      <p:sp>
        <p:nvSpPr>
          <p:cNvPr id="615" name=""/>
          <p:cNvSpPr/>
          <p:nvPr/>
        </p:nvSpPr>
        <p:spPr>
          <a:xfrm>
            <a:off x="647640" y="1905120"/>
            <a:ext cx="59968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6" name=""/>
          <p:cNvSpPr txBox="1"/>
          <p:nvPr/>
        </p:nvSpPr>
        <p:spPr>
          <a:xfrm>
            <a:off x="784800" y="2034720"/>
            <a:ext cx="5745600" cy="647640"/>
          </a:xfrm>
          <a:prstGeom prst="rect">
            <a:avLst/>
          </a:prstGeom>
          <a:noFill/>
          <a:ln w="0">
            <a:noFill/>
          </a:ln>
        </p:spPr>
        <p:txBody>
          <a:bodyPr lIns="0" rIns="0" tIns="0" bIns="0" anchor="t">
            <a:noAutofit/>
          </a:bodyPr>
          <a:p>
            <a:r>
              <a:rPr b="1" lang="en-US" sz="2160" spc="-1" strike="noStrike">
                <a:solidFill>
                  <a:srgbClr val="ffffff"/>
                </a:solidFill>
                <a:latin typeface="Noto Sans"/>
              </a:rPr>
              <a:t>Layer</a:t>
            </a:r>
            <a:endParaRPr b="0" lang="en-US" sz="2160" spc="-1" strike="noStrike">
              <a:solidFill>
                <a:srgbClr val="000000"/>
              </a:solidFill>
              <a:latin typeface="Arial"/>
            </a:endParaRPr>
          </a:p>
        </p:txBody>
      </p:sp>
      <p:sp>
        <p:nvSpPr>
          <p:cNvPr id="617" name=""/>
          <p:cNvSpPr/>
          <p:nvPr/>
        </p:nvSpPr>
        <p:spPr>
          <a:xfrm>
            <a:off x="6667560" y="1905120"/>
            <a:ext cx="31777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8" name=""/>
          <p:cNvSpPr txBox="1"/>
          <p:nvPr/>
        </p:nvSpPr>
        <p:spPr>
          <a:xfrm>
            <a:off x="6804720" y="2034720"/>
            <a:ext cx="2926080" cy="647640"/>
          </a:xfrm>
          <a:prstGeom prst="rect">
            <a:avLst/>
          </a:prstGeom>
          <a:noFill/>
          <a:ln w="0">
            <a:noFill/>
          </a:ln>
        </p:spPr>
        <p:txBody>
          <a:bodyPr lIns="0" rIns="0" tIns="0" bIns="0" anchor="t">
            <a:noAutofit/>
          </a:bodyPr>
          <a:p>
            <a:r>
              <a:rPr b="1" lang="en-US" sz="2160" spc="-1" strike="noStrike">
                <a:solidFill>
                  <a:srgbClr val="ffffff"/>
                </a:solidFill>
                <a:latin typeface="Noto Sans"/>
              </a:rPr>
              <a:t>Geometrie</a:t>
            </a:r>
            <a:endParaRPr b="0" lang="en-US" sz="2160" spc="-1" strike="noStrike">
              <a:solidFill>
                <a:srgbClr val="000000"/>
              </a:solidFill>
              <a:latin typeface="Arial"/>
            </a:endParaRPr>
          </a:p>
        </p:txBody>
      </p:sp>
      <p:sp>
        <p:nvSpPr>
          <p:cNvPr id="619" name=""/>
          <p:cNvSpPr/>
          <p:nvPr/>
        </p:nvSpPr>
        <p:spPr>
          <a:xfrm>
            <a:off x="9867960" y="1905120"/>
            <a:ext cx="165348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20" name=""/>
          <p:cNvSpPr txBox="1"/>
          <p:nvPr/>
        </p:nvSpPr>
        <p:spPr>
          <a:xfrm>
            <a:off x="10005120" y="2034720"/>
            <a:ext cx="1402200" cy="647640"/>
          </a:xfrm>
          <a:prstGeom prst="rect">
            <a:avLst/>
          </a:prstGeom>
          <a:noFill/>
          <a:ln w="0">
            <a:noFill/>
          </a:ln>
        </p:spPr>
        <p:txBody>
          <a:bodyPr lIns="0" rIns="0" tIns="0" bIns="0" anchor="t">
            <a:noAutofit/>
          </a:bodyPr>
          <a:p>
            <a:r>
              <a:rPr b="1" lang="en-US" sz="2160" spc="-1" strike="noStrike">
                <a:solidFill>
                  <a:srgbClr val="ffffff"/>
                </a:solidFill>
                <a:latin typeface="Noto Sans"/>
              </a:rPr>
              <a:t>Features</a:t>
            </a:r>
            <a:endParaRPr b="0" lang="en-US" sz="2160" spc="-1" strike="noStrike">
              <a:solidFill>
                <a:srgbClr val="000000"/>
              </a:solidFill>
              <a:latin typeface="Arial"/>
            </a:endParaRPr>
          </a:p>
        </p:txBody>
      </p:sp>
      <p:sp>
        <p:nvSpPr>
          <p:cNvPr id="621" name=""/>
          <p:cNvSpPr/>
          <p:nvPr/>
        </p:nvSpPr>
        <p:spPr>
          <a:xfrm>
            <a:off x="647640" y="2705040"/>
            <a:ext cx="59968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2" name=""/>
          <p:cNvSpPr txBox="1"/>
          <p:nvPr/>
        </p:nvSpPr>
        <p:spPr>
          <a:xfrm>
            <a:off x="784800" y="2834640"/>
            <a:ext cx="5745600" cy="647640"/>
          </a:xfrm>
          <a:prstGeom prst="rect">
            <a:avLst/>
          </a:prstGeom>
          <a:noFill/>
          <a:ln w="0">
            <a:noFill/>
          </a:ln>
        </p:spPr>
        <p:txBody>
          <a:bodyPr lIns="0" rIns="0" tIns="0" bIns="0" anchor="t">
            <a:noAutofit/>
          </a:bodyPr>
          <a:p>
            <a:r>
              <a:rPr b="0" lang="en-US" sz="2160" spc="-1" strike="noStrike">
                <a:solidFill>
                  <a:srgbClr val="000000"/>
                </a:solidFill>
                <a:latin typeface="Noto Sans"/>
              </a:rPr>
              <a:t>schutzgebiete_auswahl</a:t>
            </a:r>
            <a:endParaRPr b="0" lang="en-US" sz="2160" spc="-1" strike="noStrike">
              <a:solidFill>
                <a:srgbClr val="000000"/>
              </a:solidFill>
              <a:latin typeface="Arial"/>
            </a:endParaRPr>
          </a:p>
        </p:txBody>
      </p:sp>
      <p:sp>
        <p:nvSpPr>
          <p:cNvPr id="623" name=""/>
          <p:cNvSpPr/>
          <p:nvPr/>
        </p:nvSpPr>
        <p:spPr>
          <a:xfrm>
            <a:off x="6667560" y="2705040"/>
            <a:ext cx="31777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4" name=""/>
          <p:cNvSpPr txBox="1"/>
          <p:nvPr/>
        </p:nvSpPr>
        <p:spPr>
          <a:xfrm>
            <a:off x="6804720" y="2834640"/>
            <a:ext cx="2926080" cy="647640"/>
          </a:xfrm>
          <a:prstGeom prst="rect">
            <a:avLst/>
          </a:prstGeom>
          <a:noFill/>
          <a:ln w="0">
            <a:noFill/>
          </a:ln>
        </p:spPr>
        <p:txBody>
          <a:bodyPr lIns="0" rIns="0" tIns="0" bIns="0" anchor="t">
            <a:noAutofit/>
          </a:bodyPr>
          <a:p>
            <a:r>
              <a:rPr b="0" lang="en-US" sz="2160" spc="-1" strike="noStrike">
                <a:solidFill>
                  <a:srgbClr val="000000"/>
                </a:solidFill>
                <a:latin typeface="Noto Sans"/>
              </a:rPr>
              <a:t>MultiPolygon</a:t>
            </a:r>
            <a:endParaRPr b="0" lang="en-US" sz="2160" spc="-1" strike="noStrike">
              <a:solidFill>
                <a:srgbClr val="000000"/>
              </a:solidFill>
              <a:latin typeface="Arial"/>
            </a:endParaRPr>
          </a:p>
        </p:txBody>
      </p:sp>
      <p:sp>
        <p:nvSpPr>
          <p:cNvPr id="625" name=""/>
          <p:cNvSpPr/>
          <p:nvPr/>
        </p:nvSpPr>
        <p:spPr>
          <a:xfrm>
            <a:off x="9867960" y="2705040"/>
            <a:ext cx="16534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6" name=""/>
          <p:cNvSpPr txBox="1"/>
          <p:nvPr/>
        </p:nvSpPr>
        <p:spPr>
          <a:xfrm>
            <a:off x="10005120" y="2834640"/>
            <a:ext cx="1402200" cy="647640"/>
          </a:xfrm>
          <a:prstGeom prst="rect">
            <a:avLst/>
          </a:prstGeom>
          <a:noFill/>
          <a:ln w="0">
            <a:noFill/>
          </a:ln>
        </p:spPr>
        <p:txBody>
          <a:bodyPr lIns="0" rIns="0" tIns="0" bIns="0" anchor="t">
            <a:noAutofit/>
          </a:bodyPr>
          <a:p>
            <a:r>
              <a:rPr b="0" lang="en-US" sz="2160" spc="-1" strike="noStrike">
                <a:solidFill>
                  <a:srgbClr val="000000"/>
                </a:solidFill>
                <a:latin typeface="Noto Sans"/>
              </a:rPr>
              <a:t>10</a:t>
            </a:r>
            <a:endParaRPr b="0" lang="en-US" sz="2160" spc="-1" strike="noStrike">
              <a:solidFill>
                <a:srgbClr val="000000"/>
              </a:solidFill>
              <a:latin typeface="Arial"/>
            </a:endParaRPr>
          </a:p>
        </p:txBody>
      </p:sp>
      <p:sp>
        <p:nvSpPr>
          <p:cNvPr id="627" name=""/>
          <p:cNvSpPr/>
          <p:nvPr/>
        </p:nvSpPr>
        <p:spPr>
          <a:xfrm>
            <a:off x="647640" y="3505320"/>
            <a:ext cx="599688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8" name=""/>
          <p:cNvSpPr txBox="1"/>
          <p:nvPr/>
        </p:nvSpPr>
        <p:spPr>
          <a:xfrm>
            <a:off x="784800" y="3634920"/>
            <a:ext cx="5745600" cy="647640"/>
          </a:xfrm>
          <a:prstGeom prst="rect">
            <a:avLst/>
          </a:prstGeom>
          <a:noFill/>
          <a:ln w="0">
            <a:noFill/>
          </a:ln>
        </p:spPr>
        <p:txBody>
          <a:bodyPr lIns="0" rIns="0" tIns="0" bIns="0" anchor="t">
            <a:noAutofit/>
          </a:bodyPr>
          <a:p>
            <a:r>
              <a:rPr b="0" lang="en-US" sz="2160" spc="-1" strike="noStrike">
                <a:solidFill>
                  <a:srgbClr val="000000"/>
                </a:solidFill>
                <a:latin typeface="Noto Sans"/>
              </a:rPr>
              <a:t>gbif_in_schutzgebieten</a:t>
            </a:r>
            <a:endParaRPr b="0" lang="en-US" sz="2160" spc="-1" strike="noStrike">
              <a:solidFill>
                <a:srgbClr val="000000"/>
              </a:solidFill>
              <a:latin typeface="Arial"/>
            </a:endParaRPr>
          </a:p>
        </p:txBody>
      </p:sp>
      <p:sp>
        <p:nvSpPr>
          <p:cNvPr id="629" name=""/>
          <p:cNvSpPr/>
          <p:nvPr/>
        </p:nvSpPr>
        <p:spPr>
          <a:xfrm>
            <a:off x="6667560" y="3505320"/>
            <a:ext cx="31777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0" name=""/>
          <p:cNvSpPr txBox="1"/>
          <p:nvPr/>
        </p:nvSpPr>
        <p:spPr>
          <a:xfrm>
            <a:off x="6804720" y="3634920"/>
            <a:ext cx="2926080" cy="647640"/>
          </a:xfrm>
          <a:prstGeom prst="rect">
            <a:avLst/>
          </a:prstGeom>
          <a:noFill/>
          <a:ln w="0">
            <a:noFill/>
          </a:ln>
        </p:spPr>
        <p:txBody>
          <a:bodyPr lIns="0" rIns="0" tIns="0" bIns="0" anchor="t">
            <a:noAutofit/>
          </a:bodyPr>
          <a:p>
            <a:r>
              <a:rPr b="0" lang="en-US" sz="2160" spc="-1" strike="noStrike">
                <a:solidFill>
                  <a:srgbClr val="000000"/>
                </a:solidFill>
                <a:latin typeface="Noto Sans"/>
              </a:rPr>
              <a:t>Punkt</a:t>
            </a:r>
            <a:endParaRPr b="0" lang="en-US" sz="2160" spc="-1" strike="noStrike">
              <a:solidFill>
                <a:srgbClr val="000000"/>
              </a:solidFill>
              <a:latin typeface="Arial"/>
            </a:endParaRPr>
          </a:p>
        </p:txBody>
      </p:sp>
      <p:sp>
        <p:nvSpPr>
          <p:cNvPr id="631" name=""/>
          <p:cNvSpPr/>
          <p:nvPr/>
        </p:nvSpPr>
        <p:spPr>
          <a:xfrm>
            <a:off x="9867960" y="3505320"/>
            <a:ext cx="165348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2" name=""/>
          <p:cNvSpPr txBox="1"/>
          <p:nvPr/>
        </p:nvSpPr>
        <p:spPr>
          <a:xfrm>
            <a:off x="10005120" y="3634920"/>
            <a:ext cx="1402200" cy="647640"/>
          </a:xfrm>
          <a:prstGeom prst="rect">
            <a:avLst/>
          </a:prstGeom>
          <a:noFill/>
          <a:ln w="0">
            <a:noFill/>
          </a:ln>
        </p:spPr>
        <p:txBody>
          <a:bodyPr lIns="0" rIns="0" tIns="0" bIns="0" anchor="t">
            <a:noAutofit/>
          </a:bodyPr>
          <a:p>
            <a:r>
              <a:rPr b="0" lang="en-US" sz="2160" spc="-1" strike="noStrike">
                <a:solidFill>
                  <a:srgbClr val="000000"/>
                </a:solidFill>
                <a:latin typeface="Noto Sans"/>
              </a:rPr>
              <a:t>4</a:t>
            </a:r>
            <a:endParaRPr b="0" lang="en-US" sz="2160" spc="-1" strike="noStrike">
              <a:solidFill>
                <a:srgbClr val="000000"/>
              </a:solidFill>
              <a:latin typeface="Arial"/>
            </a:endParaRPr>
          </a:p>
        </p:txBody>
      </p:sp>
      <p:sp>
        <p:nvSpPr>
          <p:cNvPr id="633" name=""/>
          <p:cNvSpPr/>
          <p:nvPr/>
        </p:nvSpPr>
        <p:spPr>
          <a:xfrm>
            <a:off x="647640" y="4305240"/>
            <a:ext cx="59968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4" name=""/>
          <p:cNvSpPr txBox="1"/>
          <p:nvPr/>
        </p:nvSpPr>
        <p:spPr>
          <a:xfrm>
            <a:off x="784800" y="4434840"/>
            <a:ext cx="5745600" cy="647640"/>
          </a:xfrm>
          <a:prstGeom prst="rect">
            <a:avLst/>
          </a:prstGeom>
          <a:noFill/>
          <a:ln w="0">
            <a:noFill/>
          </a:ln>
        </p:spPr>
        <p:txBody>
          <a:bodyPr lIns="0" rIns="0" tIns="0" bIns="0" anchor="t">
            <a:noAutofit/>
          </a:bodyPr>
          <a:p>
            <a:r>
              <a:rPr b="0" lang="en-US" sz="2160" spc="-1" strike="noStrike">
                <a:solidFill>
                  <a:srgbClr val="000000"/>
                </a:solidFill>
                <a:latin typeface="Noto Sans"/>
              </a:rPr>
              <a:t>gewaesser_an_schutzgebieten</a:t>
            </a:r>
            <a:endParaRPr b="0" lang="en-US" sz="2160" spc="-1" strike="noStrike">
              <a:solidFill>
                <a:srgbClr val="000000"/>
              </a:solidFill>
              <a:latin typeface="Arial"/>
            </a:endParaRPr>
          </a:p>
        </p:txBody>
      </p:sp>
      <p:sp>
        <p:nvSpPr>
          <p:cNvPr id="635" name=""/>
          <p:cNvSpPr/>
          <p:nvPr/>
        </p:nvSpPr>
        <p:spPr>
          <a:xfrm>
            <a:off x="6667560" y="4305240"/>
            <a:ext cx="31777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6" name=""/>
          <p:cNvSpPr txBox="1"/>
          <p:nvPr/>
        </p:nvSpPr>
        <p:spPr>
          <a:xfrm>
            <a:off x="6804720" y="4434840"/>
            <a:ext cx="2926080" cy="647640"/>
          </a:xfrm>
          <a:prstGeom prst="rect">
            <a:avLst/>
          </a:prstGeom>
          <a:noFill/>
          <a:ln w="0">
            <a:noFill/>
          </a:ln>
        </p:spPr>
        <p:txBody>
          <a:bodyPr lIns="0" rIns="0" tIns="0" bIns="0" anchor="t">
            <a:noAutofit/>
          </a:bodyPr>
          <a:p>
            <a:r>
              <a:rPr b="0" lang="en-US" sz="2160" spc="-1" strike="noStrike">
                <a:solidFill>
                  <a:srgbClr val="000000"/>
                </a:solidFill>
                <a:latin typeface="Noto Sans"/>
              </a:rPr>
              <a:t>MultiLineString</a:t>
            </a:r>
            <a:endParaRPr b="0" lang="en-US" sz="2160" spc="-1" strike="noStrike">
              <a:solidFill>
                <a:srgbClr val="000000"/>
              </a:solidFill>
              <a:latin typeface="Arial"/>
            </a:endParaRPr>
          </a:p>
        </p:txBody>
      </p:sp>
      <p:sp>
        <p:nvSpPr>
          <p:cNvPr id="637" name=""/>
          <p:cNvSpPr/>
          <p:nvPr/>
        </p:nvSpPr>
        <p:spPr>
          <a:xfrm>
            <a:off x="9867960" y="4305240"/>
            <a:ext cx="165348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8" name=""/>
          <p:cNvSpPr txBox="1"/>
          <p:nvPr/>
        </p:nvSpPr>
        <p:spPr>
          <a:xfrm>
            <a:off x="10005120" y="4434840"/>
            <a:ext cx="1402200" cy="647640"/>
          </a:xfrm>
          <a:prstGeom prst="rect">
            <a:avLst/>
          </a:prstGeom>
          <a:noFill/>
          <a:ln w="0">
            <a:noFill/>
          </a:ln>
        </p:spPr>
        <p:txBody>
          <a:bodyPr lIns="0" rIns="0" tIns="0" bIns="0" anchor="t">
            <a:noAutofit/>
          </a:bodyPr>
          <a:p>
            <a:r>
              <a:rPr b="0" lang="en-US" sz="2160" spc="-1" strike="noStrike">
                <a:solidFill>
                  <a:srgbClr val="000000"/>
                </a:solidFill>
                <a:latin typeface="Noto Sans"/>
              </a:rPr>
              <a:t>106</a:t>
            </a:r>
            <a:endParaRPr b="0" lang="en-US" sz="2160" spc="-1" strike="noStrike">
              <a:solidFill>
                <a:srgbClr val="000000"/>
              </a:solidFill>
              <a:latin typeface="Arial"/>
            </a:endParaRPr>
          </a:p>
        </p:txBody>
      </p:sp>
      <p:sp>
        <p:nvSpPr>
          <p:cNvPr id="63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0"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Ein GeoPackage · drei eindeutig benannte und getrennt prüfbare Layer</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Neu laden, Auswahl lösen, Ergebnis prüfen</a:t>
            </a:r>
            <a:endParaRPr b="0" lang="en-US" sz="3190" spc="-1" strike="noStrike">
              <a:solidFill>
                <a:srgbClr val="000000"/>
              </a:solidFill>
              <a:latin typeface="Arial"/>
            </a:endParaRPr>
          </a:p>
        </p:txBody>
      </p:sp>
      <p:sp>
        <p:nvSpPr>
          <p:cNvPr id="64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EXPORT · KONTROLLE</a:t>
            </a:r>
            <a:endParaRPr b="0" lang="en-US" sz="1130" spc="-1" strike="noStrike">
              <a:solidFill>
                <a:srgbClr val="000000"/>
              </a:solidFill>
              <a:latin typeface="Arial"/>
            </a:endParaRPr>
          </a:p>
        </p:txBody>
      </p:sp>
      <p:sp>
        <p:nvSpPr>
          <p:cNvPr id="64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64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30</a:t>
            </a:r>
            <a:endParaRPr b="0" lang="en-US" sz="939" spc="-1" strike="noStrike">
              <a:solidFill>
                <a:srgbClr val="000000"/>
              </a:solidFill>
              <a:latin typeface="Arial"/>
            </a:endParaRPr>
          </a:p>
        </p:txBody>
      </p:sp>
      <p:sp>
        <p:nvSpPr>
          <p:cNvPr id="645"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46"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647"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Neu laden</a:t>
            </a:r>
            <a:endParaRPr b="0" lang="en-US" sz="2720" spc="-1" strike="noStrike">
              <a:solidFill>
                <a:srgbClr val="000000"/>
              </a:solidFill>
              <a:latin typeface="Arial"/>
            </a:endParaRPr>
          </a:p>
        </p:txBody>
      </p:sp>
      <p:sp>
        <p:nvSpPr>
          <p:cNvPr id="648"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Alle drei Layer aus data_output/unit12_results.gpkg.</a:t>
            </a:r>
            <a:endParaRPr b="0" lang="en-US" sz="2260" spc="-1" strike="noStrike">
              <a:solidFill>
                <a:srgbClr val="000000"/>
              </a:solidFill>
              <a:latin typeface="Arial"/>
            </a:endParaRPr>
          </a:p>
        </p:txBody>
      </p:sp>
      <p:sp>
        <p:nvSpPr>
          <p:cNvPr id="649"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50"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651"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Prüfen</a:t>
            </a:r>
            <a:endParaRPr b="0" lang="en-US" sz="2720" spc="-1" strike="noStrike">
              <a:solidFill>
                <a:srgbClr val="000000"/>
              </a:solidFill>
              <a:latin typeface="Arial"/>
            </a:endParaRPr>
          </a:p>
        </p:txBody>
      </p:sp>
      <p:sp>
        <p:nvSpPr>
          <p:cNvPr id="652"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10 Polygone · 4 Punkte · 106 Linien · EPSG:25832.</a:t>
            </a:r>
            <a:endParaRPr b="0" lang="en-US" sz="2260" spc="-1" strike="noStrike">
              <a:solidFill>
                <a:srgbClr val="000000"/>
              </a:solidFill>
              <a:latin typeface="Arial"/>
            </a:endParaRPr>
          </a:p>
        </p:txBody>
      </p:sp>
      <p:sp>
        <p:nvSpPr>
          <p:cNvPr id="653"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54"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655"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Sichern</a:t>
            </a:r>
            <a:endParaRPr b="0" lang="en-US" sz="2720" spc="-1" strike="noStrike">
              <a:solidFill>
                <a:srgbClr val="000000"/>
              </a:solidFill>
              <a:latin typeface="Arial"/>
            </a:endParaRPr>
          </a:p>
        </p:txBody>
      </p:sp>
      <p:sp>
        <p:nvSpPr>
          <p:cNvPr id="656"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Projekt speichern; Ersatznutzung gegebenenfalls notieren.</a:t>
            </a:r>
            <a:endParaRPr b="0" lang="en-US" sz="2260" spc="-1" strike="noStrike">
              <a:solidFill>
                <a:srgbClr val="000000"/>
              </a:solidFill>
              <a:latin typeface="Arial"/>
            </a:endParaRPr>
          </a:p>
        </p:txBody>
      </p:sp>
      <p:sp>
        <p:nvSpPr>
          <p:cNvPr id="65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58"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Fallback: ersatz/unit12_results.gpkg mit gleichnamigen Layern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 Ergebnis braucht Regel, Zahl und Grenze</a:t>
            </a:r>
            <a:endParaRPr b="0" lang="en-US" sz="3190" spc="-1" strike="noStrike">
              <a:solidFill>
                <a:srgbClr val="000000"/>
              </a:solidFill>
              <a:latin typeface="Arial"/>
            </a:endParaRPr>
          </a:p>
        </p:txBody>
      </p:sp>
      <p:sp>
        <p:nvSpPr>
          <p:cNvPr id="66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DOKUMENTATION · REPRODUZIERBARKEIT</a:t>
            </a:r>
            <a:endParaRPr b="0" lang="en-US" sz="1130" spc="-1" strike="noStrike">
              <a:solidFill>
                <a:srgbClr val="000000"/>
              </a:solidFill>
              <a:latin typeface="Arial"/>
            </a:endParaRPr>
          </a:p>
        </p:txBody>
      </p:sp>
      <p:sp>
        <p:nvSpPr>
          <p:cNvPr id="66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66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31</a:t>
            </a:r>
            <a:endParaRPr b="0" lang="en-US" sz="939" spc="-1" strike="noStrike">
              <a:solidFill>
                <a:srgbClr val="000000"/>
              </a:solidFill>
              <a:latin typeface="Arial"/>
            </a:endParaRPr>
          </a:p>
        </p:txBody>
      </p:sp>
      <p:sp>
        <p:nvSpPr>
          <p:cNvPr id="663" name=""/>
          <p:cNvSpPr/>
          <p:nvPr/>
        </p:nvSpPr>
        <p:spPr>
          <a:xfrm>
            <a:off x="647640" y="1676520"/>
            <a:ext cx="3939480" cy="69336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64" name=""/>
          <p:cNvSpPr txBox="1"/>
          <p:nvPr/>
        </p:nvSpPr>
        <p:spPr>
          <a:xfrm>
            <a:off x="784800" y="1806120"/>
            <a:ext cx="3688200" cy="563760"/>
          </a:xfrm>
          <a:prstGeom prst="rect">
            <a:avLst/>
          </a:prstGeom>
          <a:noFill/>
          <a:ln w="0">
            <a:noFill/>
          </a:ln>
        </p:spPr>
        <p:txBody>
          <a:bodyPr lIns="0" rIns="0" tIns="0" bIns="0" anchor="t">
            <a:noAutofit/>
          </a:bodyPr>
          <a:p>
            <a:r>
              <a:rPr b="1" lang="en-US" sz="1979" spc="-1" strike="noStrike">
                <a:solidFill>
                  <a:srgbClr val="ffffff"/>
                </a:solidFill>
                <a:latin typeface="Noto Sans"/>
              </a:rPr>
              <a:t>Dokumentieren</a:t>
            </a:r>
            <a:endParaRPr b="0" lang="en-US" sz="1979" spc="-1" strike="noStrike">
              <a:solidFill>
                <a:srgbClr val="000000"/>
              </a:solidFill>
              <a:latin typeface="Arial"/>
            </a:endParaRPr>
          </a:p>
        </p:txBody>
      </p:sp>
      <p:sp>
        <p:nvSpPr>
          <p:cNvPr id="665" name=""/>
          <p:cNvSpPr/>
          <p:nvPr/>
        </p:nvSpPr>
        <p:spPr>
          <a:xfrm>
            <a:off x="4610160" y="1676520"/>
            <a:ext cx="6911280" cy="69336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66" name=""/>
          <p:cNvSpPr txBox="1"/>
          <p:nvPr/>
        </p:nvSpPr>
        <p:spPr>
          <a:xfrm>
            <a:off x="4747320" y="1806120"/>
            <a:ext cx="6660000" cy="563760"/>
          </a:xfrm>
          <a:prstGeom prst="rect">
            <a:avLst/>
          </a:prstGeom>
          <a:noFill/>
          <a:ln w="0">
            <a:noFill/>
          </a:ln>
        </p:spPr>
        <p:txBody>
          <a:bodyPr lIns="0" rIns="0" tIns="0" bIns="0" anchor="t">
            <a:noAutofit/>
          </a:bodyPr>
          <a:p>
            <a:r>
              <a:rPr b="1" lang="en-US" sz="1979" spc="-1" strike="noStrike">
                <a:solidFill>
                  <a:srgbClr val="ffffff"/>
                </a:solidFill>
                <a:latin typeface="Noto Sans"/>
              </a:rPr>
              <a:t>Heute</a:t>
            </a:r>
            <a:endParaRPr b="0" lang="en-US" sz="1979" spc="-1" strike="noStrike">
              <a:solidFill>
                <a:srgbClr val="000000"/>
              </a:solidFill>
              <a:latin typeface="Arial"/>
            </a:endParaRPr>
          </a:p>
        </p:txBody>
      </p:sp>
      <p:sp>
        <p:nvSpPr>
          <p:cNvPr id="667" name=""/>
          <p:cNvSpPr/>
          <p:nvPr/>
        </p:nvSpPr>
        <p:spPr>
          <a:xfrm>
            <a:off x="647640" y="2392560"/>
            <a:ext cx="3939480" cy="693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68" name=""/>
          <p:cNvSpPr txBox="1"/>
          <p:nvPr/>
        </p:nvSpPr>
        <p:spPr>
          <a:xfrm>
            <a:off x="784800" y="2522160"/>
            <a:ext cx="3688200" cy="563760"/>
          </a:xfrm>
          <a:prstGeom prst="rect">
            <a:avLst/>
          </a:prstGeom>
          <a:noFill/>
          <a:ln w="0">
            <a:noFill/>
          </a:ln>
        </p:spPr>
        <p:txBody>
          <a:bodyPr lIns="0" rIns="0" tIns="0" bIns="0" anchor="t">
            <a:noAutofit/>
          </a:bodyPr>
          <a:p>
            <a:r>
              <a:rPr b="0" lang="en-US" sz="1979" spc="-1" strike="noStrike">
                <a:solidFill>
                  <a:srgbClr val="000000"/>
                </a:solidFill>
                <a:latin typeface="Noto Sans"/>
              </a:rPr>
              <a:t>Eingänge</a:t>
            </a:r>
            <a:endParaRPr b="0" lang="en-US" sz="1979" spc="-1" strike="noStrike">
              <a:solidFill>
                <a:srgbClr val="000000"/>
              </a:solidFill>
              <a:latin typeface="Arial"/>
            </a:endParaRPr>
          </a:p>
        </p:txBody>
      </p:sp>
      <p:sp>
        <p:nvSpPr>
          <p:cNvPr id="669" name=""/>
          <p:cNvSpPr/>
          <p:nvPr/>
        </p:nvSpPr>
        <p:spPr>
          <a:xfrm>
            <a:off x="4610160" y="2392560"/>
            <a:ext cx="6911280" cy="693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0" name=""/>
          <p:cNvSpPr txBox="1"/>
          <p:nvPr/>
        </p:nvSpPr>
        <p:spPr>
          <a:xfrm>
            <a:off x="4747320" y="2522160"/>
            <a:ext cx="6660000" cy="563760"/>
          </a:xfrm>
          <a:prstGeom prst="rect">
            <a:avLst/>
          </a:prstGeom>
          <a:noFill/>
          <a:ln w="0">
            <a:noFill/>
          </a:ln>
        </p:spPr>
        <p:txBody>
          <a:bodyPr lIns="0" rIns="0" tIns="0" bIns="0" anchor="t">
            <a:noAutofit/>
          </a:bodyPr>
          <a:p>
            <a:r>
              <a:rPr b="0" lang="en-US" sz="1979" spc="-1" strike="noStrike">
                <a:solidFill>
                  <a:srgbClr val="000000"/>
                </a:solidFill>
                <a:latin typeface="Noto Sans"/>
              </a:rPr>
              <a:t>56 Punkte · 412 Linien · 22 Polygone</a:t>
            </a:r>
            <a:endParaRPr b="0" lang="en-US" sz="1979" spc="-1" strike="noStrike">
              <a:solidFill>
                <a:srgbClr val="000000"/>
              </a:solidFill>
              <a:latin typeface="Arial"/>
            </a:endParaRPr>
          </a:p>
        </p:txBody>
      </p:sp>
      <p:sp>
        <p:nvSpPr>
          <p:cNvPr id="671" name=""/>
          <p:cNvSpPr/>
          <p:nvPr/>
        </p:nvSpPr>
        <p:spPr>
          <a:xfrm>
            <a:off x="647640" y="3108960"/>
            <a:ext cx="3939480" cy="693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2" name=""/>
          <p:cNvSpPr txBox="1"/>
          <p:nvPr/>
        </p:nvSpPr>
        <p:spPr>
          <a:xfrm>
            <a:off x="784800" y="3238560"/>
            <a:ext cx="3688200" cy="563760"/>
          </a:xfrm>
          <a:prstGeom prst="rect">
            <a:avLst/>
          </a:prstGeom>
          <a:noFill/>
          <a:ln w="0">
            <a:noFill/>
          </a:ln>
        </p:spPr>
        <p:txBody>
          <a:bodyPr lIns="0" rIns="0" tIns="0" bIns="0" anchor="t">
            <a:noAutofit/>
          </a:bodyPr>
          <a:p>
            <a:r>
              <a:rPr b="0" lang="en-US" sz="1979" spc="-1" strike="noStrike">
                <a:solidFill>
                  <a:srgbClr val="000000"/>
                </a:solidFill>
                <a:latin typeface="Noto Sans"/>
              </a:rPr>
              <a:t>Attributregel</a:t>
            </a:r>
            <a:endParaRPr b="0" lang="en-US" sz="1979" spc="-1" strike="noStrike">
              <a:solidFill>
                <a:srgbClr val="000000"/>
              </a:solidFill>
              <a:latin typeface="Arial"/>
            </a:endParaRPr>
          </a:p>
        </p:txBody>
      </p:sp>
      <p:sp>
        <p:nvSpPr>
          <p:cNvPr id="673" name=""/>
          <p:cNvSpPr/>
          <p:nvPr/>
        </p:nvSpPr>
        <p:spPr>
          <a:xfrm>
            <a:off x="4610160" y="3108960"/>
            <a:ext cx="6911280" cy="693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4" name=""/>
          <p:cNvSpPr txBox="1"/>
          <p:nvPr/>
        </p:nvSpPr>
        <p:spPr>
          <a:xfrm>
            <a:off x="4747320" y="3238560"/>
            <a:ext cx="6660000" cy="563760"/>
          </a:xfrm>
          <a:prstGeom prst="rect">
            <a:avLst/>
          </a:prstGeom>
          <a:noFill/>
          <a:ln w="0">
            <a:noFill/>
          </a:ln>
        </p:spPr>
        <p:txBody>
          <a:bodyPr lIns="0" rIns="0" tIns="0" bIns="0" anchor="t">
            <a:noAutofit/>
          </a:bodyPr>
          <a:p>
            <a:r>
              <a:rPr b="0" lang="en-US" sz="1979" spc="-1" strike="noStrike">
                <a:solidFill>
                  <a:srgbClr val="000000"/>
                </a:solidFill>
                <a:latin typeface="Noto Sans"/>
              </a:rPr>
              <a:t>kategorie = FFH · 10 Polygone</a:t>
            </a:r>
            <a:endParaRPr b="0" lang="en-US" sz="1979" spc="-1" strike="noStrike">
              <a:solidFill>
                <a:srgbClr val="000000"/>
              </a:solidFill>
              <a:latin typeface="Arial"/>
            </a:endParaRPr>
          </a:p>
        </p:txBody>
      </p:sp>
      <p:sp>
        <p:nvSpPr>
          <p:cNvPr id="675" name=""/>
          <p:cNvSpPr/>
          <p:nvPr/>
        </p:nvSpPr>
        <p:spPr>
          <a:xfrm>
            <a:off x="647640" y="3825360"/>
            <a:ext cx="3939480" cy="693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6" name=""/>
          <p:cNvSpPr txBox="1"/>
          <p:nvPr/>
        </p:nvSpPr>
        <p:spPr>
          <a:xfrm>
            <a:off x="784800" y="3954960"/>
            <a:ext cx="3688200" cy="563760"/>
          </a:xfrm>
          <a:prstGeom prst="rect">
            <a:avLst/>
          </a:prstGeom>
          <a:noFill/>
          <a:ln w="0">
            <a:noFill/>
          </a:ln>
        </p:spPr>
        <p:txBody>
          <a:bodyPr lIns="0" rIns="0" tIns="0" bIns="0" anchor="t">
            <a:noAutofit/>
          </a:bodyPr>
          <a:p>
            <a:r>
              <a:rPr b="0" lang="en-US" sz="1979" spc="-1" strike="noStrike">
                <a:solidFill>
                  <a:srgbClr val="000000"/>
                </a:solidFill>
                <a:latin typeface="Noto Sans"/>
              </a:rPr>
              <a:t>räumliche Regel</a:t>
            </a:r>
            <a:endParaRPr b="0" lang="en-US" sz="1979" spc="-1" strike="noStrike">
              <a:solidFill>
                <a:srgbClr val="000000"/>
              </a:solidFill>
              <a:latin typeface="Arial"/>
            </a:endParaRPr>
          </a:p>
        </p:txBody>
      </p:sp>
      <p:sp>
        <p:nvSpPr>
          <p:cNvPr id="677" name=""/>
          <p:cNvSpPr/>
          <p:nvPr/>
        </p:nvSpPr>
        <p:spPr>
          <a:xfrm>
            <a:off x="4610160" y="3825360"/>
            <a:ext cx="6911280" cy="693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8" name=""/>
          <p:cNvSpPr txBox="1"/>
          <p:nvPr/>
        </p:nvSpPr>
        <p:spPr>
          <a:xfrm>
            <a:off x="4747320" y="3954960"/>
            <a:ext cx="6660000" cy="563760"/>
          </a:xfrm>
          <a:prstGeom prst="rect">
            <a:avLst/>
          </a:prstGeom>
          <a:noFill/>
          <a:ln w="0">
            <a:noFill/>
          </a:ln>
        </p:spPr>
        <p:txBody>
          <a:bodyPr lIns="0" rIns="0" tIns="0" bIns="0" anchor="t">
            <a:noAutofit/>
          </a:bodyPr>
          <a:p>
            <a:r>
              <a:rPr b="0" lang="en-US" sz="1979" spc="-1" strike="noStrike">
                <a:solidFill>
                  <a:srgbClr val="000000"/>
                </a:solidFill>
                <a:latin typeface="Noto Sans"/>
              </a:rPr>
              <a:t>intersects · 4 Punkte · 106 Linien</a:t>
            </a:r>
            <a:endParaRPr b="0" lang="en-US" sz="1979" spc="-1" strike="noStrike">
              <a:solidFill>
                <a:srgbClr val="000000"/>
              </a:solidFill>
              <a:latin typeface="Arial"/>
            </a:endParaRPr>
          </a:p>
        </p:txBody>
      </p:sp>
      <p:sp>
        <p:nvSpPr>
          <p:cNvPr id="679" name=""/>
          <p:cNvSpPr/>
          <p:nvPr/>
        </p:nvSpPr>
        <p:spPr>
          <a:xfrm>
            <a:off x="647640" y="4541400"/>
            <a:ext cx="3939480" cy="693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0" name=""/>
          <p:cNvSpPr txBox="1"/>
          <p:nvPr/>
        </p:nvSpPr>
        <p:spPr>
          <a:xfrm>
            <a:off x="784800" y="4671000"/>
            <a:ext cx="3688200" cy="563760"/>
          </a:xfrm>
          <a:prstGeom prst="rect">
            <a:avLst/>
          </a:prstGeom>
          <a:noFill/>
          <a:ln w="0">
            <a:noFill/>
          </a:ln>
        </p:spPr>
        <p:txBody>
          <a:bodyPr lIns="0" rIns="0" tIns="0" bIns="0" anchor="t">
            <a:noAutofit/>
          </a:bodyPr>
          <a:p>
            <a:r>
              <a:rPr b="0" lang="en-US" sz="1979" spc="-1" strike="noStrike">
                <a:solidFill>
                  <a:srgbClr val="000000"/>
                </a:solidFill>
                <a:latin typeface="Noto Sans"/>
              </a:rPr>
              <a:t>Ausgabe</a:t>
            </a:r>
            <a:endParaRPr b="0" lang="en-US" sz="1979" spc="-1" strike="noStrike">
              <a:solidFill>
                <a:srgbClr val="000000"/>
              </a:solidFill>
              <a:latin typeface="Arial"/>
            </a:endParaRPr>
          </a:p>
        </p:txBody>
      </p:sp>
      <p:sp>
        <p:nvSpPr>
          <p:cNvPr id="681" name=""/>
          <p:cNvSpPr/>
          <p:nvPr/>
        </p:nvSpPr>
        <p:spPr>
          <a:xfrm>
            <a:off x="4610160" y="4541400"/>
            <a:ext cx="6911280" cy="693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2" name=""/>
          <p:cNvSpPr txBox="1"/>
          <p:nvPr/>
        </p:nvSpPr>
        <p:spPr>
          <a:xfrm>
            <a:off x="4747320" y="4671000"/>
            <a:ext cx="6660000" cy="563760"/>
          </a:xfrm>
          <a:prstGeom prst="rect">
            <a:avLst/>
          </a:prstGeom>
          <a:noFill/>
          <a:ln w="0">
            <a:noFill/>
          </a:ln>
        </p:spPr>
        <p:txBody>
          <a:bodyPr lIns="0" rIns="0" tIns="0" bIns="0" anchor="t">
            <a:noAutofit/>
          </a:bodyPr>
          <a:p>
            <a:r>
              <a:rPr b="0" lang="en-US" sz="1979" spc="-1" strike="noStrike">
                <a:solidFill>
                  <a:srgbClr val="000000"/>
                </a:solidFill>
                <a:latin typeface="Noto Sans"/>
              </a:rPr>
              <a:t>unit12_results.gpkg · drei Layer · EPSG:25832</a:t>
            </a:r>
            <a:endParaRPr b="0" lang="en-US" sz="1979" spc="-1" strike="noStrike">
              <a:solidFill>
                <a:srgbClr val="000000"/>
              </a:solidFill>
              <a:latin typeface="Arial"/>
            </a:endParaRPr>
          </a:p>
        </p:txBody>
      </p:sp>
      <p:sp>
        <p:nvSpPr>
          <p:cNvPr id="683" name=""/>
          <p:cNvSpPr/>
          <p:nvPr/>
        </p:nvSpPr>
        <p:spPr>
          <a:xfrm>
            <a:off x="647640" y="5257800"/>
            <a:ext cx="3939480" cy="693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4" name=""/>
          <p:cNvSpPr txBox="1"/>
          <p:nvPr/>
        </p:nvSpPr>
        <p:spPr>
          <a:xfrm>
            <a:off x="784800" y="5387400"/>
            <a:ext cx="3688200" cy="563760"/>
          </a:xfrm>
          <a:prstGeom prst="rect">
            <a:avLst/>
          </a:prstGeom>
          <a:noFill/>
          <a:ln w="0">
            <a:noFill/>
          </a:ln>
        </p:spPr>
        <p:txBody>
          <a:bodyPr lIns="0" rIns="0" tIns="0" bIns="0" anchor="t">
            <a:noAutofit/>
          </a:bodyPr>
          <a:p>
            <a:r>
              <a:rPr b="0" lang="en-US" sz="1979" spc="-1" strike="noStrike">
                <a:solidFill>
                  <a:srgbClr val="000000"/>
                </a:solidFill>
                <a:latin typeface="Noto Sans"/>
              </a:rPr>
              <a:t>Aussagegrenze</a:t>
            </a:r>
            <a:endParaRPr b="0" lang="en-US" sz="1979" spc="-1" strike="noStrike">
              <a:solidFill>
                <a:srgbClr val="000000"/>
              </a:solidFill>
              <a:latin typeface="Arial"/>
            </a:endParaRPr>
          </a:p>
        </p:txBody>
      </p:sp>
      <p:sp>
        <p:nvSpPr>
          <p:cNvPr id="685" name=""/>
          <p:cNvSpPr/>
          <p:nvPr/>
        </p:nvSpPr>
        <p:spPr>
          <a:xfrm>
            <a:off x="4610160" y="5257800"/>
            <a:ext cx="6911280" cy="693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6" name=""/>
          <p:cNvSpPr txBox="1"/>
          <p:nvPr/>
        </p:nvSpPr>
        <p:spPr>
          <a:xfrm>
            <a:off x="4747320" y="5387400"/>
            <a:ext cx="6660000" cy="563760"/>
          </a:xfrm>
          <a:prstGeom prst="rect">
            <a:avLst/>
          </a:prstGeom>
          <a:noFill/>
          <a:ln w="0">
            <a:noFill/>
          </a:ln>
        </p:spPr>
        <p:txBody>
          <a:bodyPr lIns="0" rIns="0" tIns="0" bIns="0" anchor="t">
            <a:noAutofit/>
          </a:bodyPr>
          <a:p>
            <a:r>
              <a:rPr b="0" lang="en-US" sz="1979" spc="-1" strike="noStrike">
                <a:solidFill>
                  <a:srgbClr val="000000"/>
                </a:solidFill>
                <a:latin typeface="Noto Sans"/>
              </a:rPr>
              <a:t>Koordinate, Grenze und Datenstand bleiben unsicher</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Grenzfall · erst zu zweit erklären</a:t>
            </a:r>
            <a:endParaRPr b="0" lang="en-US" sz="3190" spc="-1" strike="noStrike">
              <a:solidFill>
                <a:srgbClr val="000000"/>
              </a:solidFill>
              <a:latin typeface="Arial"/>
            </a:endParaRPr>
          </a:p>
        </p:txBody>
      </p:sp>
      <p:sp>
        <p:nvSpPr>
          <p:cNvPr id="68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NACHBARSCHAFTSGESPRÄCH</a:t>
            </a:r>
            <a:endParaRPr b="0" lang="en-US" sz="1130" spc="-1" strike="noStrike">
              <a:solidFill>
                <a:srgbClr val="000000"/>
              </a:solidFill>
              <a:latin typeface="Arial"/>
            </a:endParaRPr>
          </a:p>
        </p:txBody>
      </p:sp>
      <p:sp>
        <p:nvSpPr>
          <p:cNvPr id="68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69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32</a:t>
            </a:r>
            <a:endParaRPr b="0" lang="en-US" sz="939" spc="-1" strike="noStrike">
              <a:solidFill>
                <a:srgbClr val="000000"/>
              </a:solidFill>
              <a:latin typeface="Arial"/>
            </a:endParaRPr>
          </a:p>
        </p:txBody>
      </p:sp>
      <p:sp>
        <p:nvSpPr>
          <p:cNvPr id="691" name=""/>
          <p:cNvSpPr txBox="1"/>
          <p:nvPr/>
        </p:nvSpPr>
        <p:spPr>
          <a:xfrm>
            <a:off x="990720" y="1981080"/>
            <a:ext cx="10211040" cy="914400"/>
          </a:xfrm>
          <a:prstGeom prst="rect">
            <a:avLst/>
          </a:prstGeom>
          <a:noFill/>
          <a:ln w="0">
            <a:noFill/>
          </a:ln>
        </p:spPr>
        <p:txBody>
          <a:bodyPr lIns="0" rIns="0" tIns="0" bIns="0" anchor="t">
            <a:noAutofit/>
          </a:bodyPr>
          <a:p>
            <a:pPr algn="ctr"/>
            <a:r>
              <a:rPr b="1" lang="en-US" sz="2910" spc="-1" strike="noStrike">
                <a:solidFill>
                  <a:srgbClr val="000000"/>
                </a:solidFill>
                <a:latin typeface="Noto Sans"/>
              </a:rPr>
              <a:t>A liegt innen · B liegt auf der Grenze · C liegt außen</a:t>
            </a:r>
            <a:endParaRPr b="0" lang="en-US" sz="2910" spc="-1" strike="noStrike">
              <a:solidFill>
                <a:srgbClr val="000000"/>
              </a:solidFill>
              <a:latin typeface="Arial"/>
            </a:endParaRPr>
          </a:p>
        </p:txBody>
      </p:sp>
      <p:sp>
        <p:nvSpPr>
          <p:cNvPr id="692" name=""/>
          <p:cNvSpPr/>
          <p:nvPr/>
        </p:nvSpPr>
        <p:spPr>
          <a:xfrm>
            <a:off x="762120" y="3200400"/>
            <a:ext cx="3025080" cy="6019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93" name=""/>
          <p:cNvSpPr txBox="1"/>
          <p:nvPr/>
        </p:nvSpPr>
        <p:spPr>
          <a:xfrm>
            <a:off x="899280" y="3330000"/>
            <a:ext cx="2773800" cy="472320"/>
          </a:xfrm>
          <a:prstGeom prst="rect">
            <a:avLst/>
          </a:prstGeom>
          <a:noFill/>
          <a:ln w="0">
            <a:noFill/>
          </a:ln>
        </p:spPr>
        <p:txBody>
          <a:bodyPr lIns="0" rIns="0" tIns="0" bIns="0" anchor="t">
            <a:noAutofit/>
          </a:bodyPr>
          <a:p>
            <a:r>
              <a:rPr b="1" lang="en-US" sz="2160" spc="-1" strike="noStrike">
                <a:solidFill>
                  <a:srgbClr val="ffffff"/>
                </a:solidFill>
                <a:latin typeface="Noto Sans"/>
              </a:rPr>
              <a:t>Punkt</a:t>
            </a:r>
            <a:endParaRPr b="0" lang="en-US" sz="2160" spc="-1" strike="noStrike">
              <a:solidFill>
                <a:srgbClr val="000000"/>
              </a:solidFill>
              <a:latin typeface="Arial"/>
            </a:endParaRPr>
          </a:p>
        </p:txBody>
      </p:sp>
      <p:sp>
        <p:nvSpPr>
          <p:cNvPr id="694" name=""/>
          <p:cNvSpPr/>
          <p:nvPr/>
        </p:nvSpPr>
        <p:spPr>
          <a:xfrm>
            <a:off x="3809880" y="3200400"/>
            <a:ext cx="3787200" cy="6019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95" name=""/>
          <p:cNvSpPr txBox="1"/>
          <p:nvPr/>
        </p:nvSpPr>
        <p:spPr>
          <a:xfrm>
            <a:off x="3947040" y="3330000"/>
            <a:ext cx="3535560" cy="472320"/>
          </a:xfrm>
          <a:prstGeom prst="rect">
            <a:avLst/>
          </a:prstGeom>
          <a:noFill/>
          <a:ln w="0">
            <a:noFill/>
          </a:ln>
        </p:spPr>
        <p:txBody>
          <a:bodyPr lIns="0" rIns="0" tIns="0" bIns="0" anchor="t">
            <a:noAutofit/>
          </a:bodyPr>
          <a:p>
            <a:r>
              <a:rPr b="1" lang="en-US" sz="2160" spc="-1" strike="noStrike">
                <a:solidFill>
                  <a:srgbClr val="ffffff"/>
                </a:solidFill>
                <a:latin typeface="Noto Sans"/>
              </a:rPr>
              <a:t>intersects?</a:t>
            </a:r>
            <a:endParaRPr b="0" lang="en-US" sz="2160" spc="-1" strike="noStrike">
              <a:solidFill>
                <a:srgbClr val="000000"/>
              </a:solidFill>
              <a:latin typeface="Arial"/>
            </a:endParaRPr>
          </a:p>
        </p:txBody>
      </p:sp>
      <p:sp>
        <p:nvSpPr>
          <p:cNvPr id="696" name=""/>
          <p:cNvSpPr/>
          <p:nvPr/>
        </p:nvSpPr>
        <p:spPr>
          <a:xfrm>
            <a:off x="7620120" y="3200400"/>
            <a:ext cx="3787200" cy="6019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97" name=""/>
          <p:cNvSpPr txBox="1"/>
          <p:nvPr/>
        </p:nvSpPr>
        <p:spPr>
          <a:xfrm>
            <a:off x="7757280" y="3330000"/>
            <a:ext cx="3535560" cy="472320"/>
          </a:xfrm>
          <a:prstGeom prst="rect">
            <a:avLst/>
          </a:prstGeom>
          <a:noFill/>
          <a:ln w="0">
            <a:noFill/>
          </a:ln>
        </p:spPr>
        <p:txBody>
          <a:bodyPr lIns="0" rIns="0" tIns="0" bIns="0" anchor="t">
            <a:noAutofit/>
          </a:bodyPr>
          <a:p>
            <a:r>
              <a:rPr b="1" lang="en-US" sz="2160" spc="-1" strike="noStrike">
                <a:solidFill>
                  <a:srgbClr val="ffffff"/>
                </a:solidFill>
                <a:latin typeface="Noto Sans"/>
              </a:rPr>
              <a:t>within?</a:t>
            </a:r>
            <a:endParaRPr b="0" lang="en-US" sz="2160" spc="-1" strike="noStrike">
              <a:solidFill>
                <a:srgbClr val="000000"/>
              </a:solidFill>
              <a:latin typeface="Arial"/>
            </a:endParaRPr>
          </a:p>
        </p:txBody>
      </p:sp>
      <p:sp>
        <p:nvSpPr>
          <p:cNvPr id="698" name=""/>
          <p:cNvSpPr/>
          <p:nvPr/>
        </p:nvSpPr>
        <p:spPr>
          <a:xfrm>
            <a:off x="762120" y="3825360"/>
            <a:ext cx="30250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99" name=""/>
          <p:cNvSpPr txBox="1"/>
          <p:nvPr/>
        </p:nvSpPr>
        <p:spPr>
          <a:xfrm>
            <a:off x="899280" y="3954960"/>
            <a:ext cx="2773800" cy="472320"/>
          </a:xfrm>
          <a:prstGeom prst="rect">
            <a:avLst/>
          </a:prstGeom>
          <a:noFill/>
          <a:ln w="0">
            <a:noFill/>
          </a:ln>
        </p:spPr>
        <p:txBody>
          <a:bodyPr lIns="0" rIns="0" tIns="0" bIns="0" anchor="t">
            <a:noAutofit/>
          </a:bodyPr>
          <a:p>
            <a:r>
              <a:rPr b="0" lang="en-US" sz="2160" spc="-1" strike="noStrike">
                <a:solidFill>
                  <a:srgbClr val="000000"/>
                </a:solidFill>
                <a:latin typeface="Noto Sans"/>
              </a:rPr>
              <a:t>A</a:t>
            </a:r>
            <a:endParaRPr b="0" lang="en-US" sz="2160" spc="-1" strike="noStrike">
              <a:solidFill>
                <a:srgbClr val="000000"/>
              </a:solidFill>
              <a:latin typeface="Arial"/>
            </a:endParaRPr>
          </a:p>
        </p:txBody>
      </p:sp>
      <p:sp>
        <p:nvSpPr>
          <p:cNvPr id="700" name=""/>
          <p:cNvSpPr/>
          <p:nvPr/>
        </p:nvSpPr>
        <p:spPr>
          <a:xfrm>
            <a:off x="3809880" y="3825360"/>
            <a:ext cx="378720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01" name=""/>
          <p:cNvSpPr txBox="1"/>
          <p:nvPr/>
        </p:nvSpPr>
        <p:spPr>
          <a:xfrm>
            <a:off x="3947040" y="3954960"/>
            <a:ext cx="3535560" cy="472320"/>
          </a:xfrm>
          <a:prstGeom prst="rect">
            <a:avLst/>
          </a:prstGeom>
          <a:noFill/>
          <a:ln w="0">
            <a:noFill/>
          </a:ln>
        </p:spPr>
        <p:txBody>
          <a:bodyPr lIns="0" rIns="0" tIns="0" bIns="0" anchor="t">
            <a:noAutofit/>
          </a:bodyPr>
          <a:p>
            <a:r>
              <a:rPr b="0" lang="en-US" sz="2160" spc="-1" strike="noStrike">
                <a:solidFill>
                  <a:srgbClr val="000000"/>
                </a:solidFill>
                <a:latin typeface="Noto Sans"/>
              </a:rPr>
              <a:t>[ja / nein]</a:t>
            </a:r>
            <a:endParaRPr b="0" lang="en-US" sz="2160" spc="-1" strike="noStrike">
              <a:solidFill>
                <a:srgbClr val="000000"/>
              </a:solidFill>
              <a:latin typeface="Arial"/>
            </a:endParaRPr>
          </a:p>
        </p:txBody>
      </p:sp>
      <p:sp>
        <p:nvSpPr>
          <p:cNvPr id="702" name=""/>
          <p:cNvSpPr/>
          <p:nvPr/>
        </p:nvSpPr>
        <p:spPr>
          <a:xfrm>
            <a:off x="7620120" y="3825360"/>
            <a:ext cx="378720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03" name=""/>
          <p:cNvSpPr txBox="1"/>
          <p:nvPr/>
        </p:nvSpPr>
        <p:spPr>
          <a:xfrm>
            <a:off x="7757280" y="3954960"/>
            <a:ext cx="3535560" cy="472320"/>
          </a:xfrm>
          <a:prstGeom prst="rect">
            <a:avLst/>
          </a:prstGeom>
          <a:noFill/>
          <a:ln w="0">
            <a:noFill/>
          </a:ln>
        </p:spPr>
        <p:txBody>
          <a:bodyPr lIns="0" rIns="0" tIns="0" bIns="0" anchor="t">
            <a:noAutofit/>
          </a:bodyPr>
          <a:p>
            <a:r>
              <a:rPr b="0" lang="en-US" sz="2160" spc="-1" strike="noStrike">
                <a:solidFill>
                  <a:srgbClr val="000000"/>
                </a:solidFill>
                <a:latin typeface="Noto Sans"/>
              </a:rPr>
              <a:t>[ja / nein]</a:t>
            </a:r>
            <a:endParaRPr b="0" lang="en-US" sz="2160" spc="-1" strike="noStrike">
              <a:solidFill>
                <a:srgbClr val="000000"/>
              </a:solidFill>
              <a:latin typeface="Arial"/>
            </a:endParaRPr>
          </a:p>
        </p:txBody>
      </p:sp>
      <p:sp>
        <p:nvSpPr>
          <p:cNvPr id="704" name=""/>
          <p:cNvSpPr/>
          <p:nvPr/>
        </p:nvSpPr>
        <p:spPr>
          <a:xfrm>
            <a:off x="762120" y="4449960"/>
            <a:ext cx="302508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05" name=""/>
          <p:cNvSpPr txBox="1"/>
          <p:nvPr/>
        </p:nvSpPr>
        <p:spPr>
          <a:xfrm>
            <a:off x="899280" y="4579560"/>
            <a:ext cx="2773800" cy="472320"/>
          </a:xfrm>
          <a:prstGeom prst="rect">
            <a:avLst/>
          </a:prstGeom>
          <a:noFill/>
          <a:ln w="0">
            <a:noFill/>
          </a:ln>
        </p:spPr>
        <p:txBody>
          <a:bodyPr lIns="0" rIns="0" tIns="0" bIns="0" anchor="t">
            <a:noAutofit/>
          </a:bodyPr>
          <a:p>
            <a:r>
              <a:rPr b="0" lang="en-US" sz="2160" spc="-1" strike="noStrike">
                <a:solidFill>
                  <a:srgbClr val="000000"/>
                </a:solidFill>
                <a:latin typeface="Noto Sans"/>
              </a:rPr>
              <a:t>B</a:t>
            </a:r>
            <a:endParaRPr b="0" lang="en-US" sz="2160" spc="-1" strike="noStrike">
              <a:solidFill>
                <a:srgbClr val="000000"/>
              </a:solidFill>
              <a:latin typeface="Arial"/>
            </a:endParaRPr>
          </a:p>
        </p:txBody>
      </p:sp>
      <p:sp>
        <p:nvSpPr>
          <p:cNvPr id="706" name=""/>
          <p:cNvSpPr/>
          <p:nvPr/>
        </p:nvSpPr>
        <p:spPr>
          <a:xfrm>
            <a:off x="3809880" y="4449960"/>
            <a:ext cx="378720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07" name=""/>
          <p:cNvSpPr txBox="1"/>
          <p:nvPr/>
        </p:nvSpPr>
        <p:spPr>
          <a:xfrm>
            <a:off x="3947040" y="4579560"/>
            <a:ext cx="3535560" cy="472320"/>
          </a:xfrm>
          <a:prstGeom prst="rect">
            <a:avLst/>
          </a:prstGeom>
          <a:noFill/>
          <a:ln w="0">
            <a:noFill/>
          </a:ln>
        </p:spPr>
        <p:txBody>
          <a:bodyPr lIns="0" rIns="0" tIns="0" bIns="0" anchor="t">
            <a:noAutofit/>
          </a:bodyPr>
          <a:p>
            <a:r>
              <a:rPr b="0" lang="en-US" sz="2160" spc="-1" strike="noStrike">
                <a:solidFill>
                  <a:srgbClr val="000000"/>
                </a:solidFill>
                <a:latin typeface="Noto Sans"/>
              </a:rPr>
              <a:t>[ja / nein]</a:t>
            </a:r>
            <a:endParaRPr b="0" lang="en-US" sz="2160" spc="-1" strike="noStrike">
              <a:solidFill>
                <a:srgbClr val="000000"/>
              </a:solidFill>
              <a:latin typeface="Arial"/>
            </a:endParaRPr>
          </a:p>
        </p:txBody>
      </p:sp>
      <p:sp>
        <p:nvSpPr>
          <p:cNvPr id="708" name=""/>
          <p:cNvSpPr/>
          <p:nvPr/>
        </p:nvSpPr>
        <p:spPr>
          <a:xfrm>
            <a:off x="7620120" y="4449960"/>
            <a:ext cx="378720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09" name=""/>
          <p:cNvSpPr txBox="1"/>
          <p:nvPr/>
        </p:nvSpPr>
        <p:spPr>
          <a:xfrm>
            <a:off x="7757280" y="4579560"/>
            <a:ext cx="3535560" cy="472320"/>
          </a:xfrm>
          <a:prstGeom prst="rect">
            <a:avLst/>
          </a:prstGeom>
          <a:noFill/>
          <a:ln w="0">
            <a:noFill/>
          </a:ln>
        </p:spPr>
        <p:txBody>
          <a:bodyPr lIns="0" rIns="0" tIns="0" bIns="0" anchor="t">
            <a:noAutofit/>
          </a:bodyPr>
          <a:p>
            <a:r>
              <a:rPr b="0" lang="en-US" sz="2160" spc="-1" strike="noStrike">
                <a:solidFill>
                  <a:srgbClr val="000000"/>
                </a:solidFill>
                <a:latin typeface="Noto Sans"/>
              </a:rPr>
              <a:t>[ja / nein]</a:t>
            </a:r>
            <a:endParaRPr b="0" lang="en-US" sz="2160" spc="-1" strike="noStrike">
              <a:solidFill>
                <a:srgbClr val="000000"/>
              </a:solidFill>
              <a:latin typeface="Arial"/>
            </a:endParaRPr>
          </a:p>
        </p:txBody>
      </p:sp>
      <p:sp>
        <p:nvSpPr>
          <p:cNvPr id="710" name=""/>
          <p:cNvSpPr/>
          <p:nvPr/>
        </p:nvSpPr>
        <p:spPr>
          <a:xfrm>
            <a:off x="762120" y="5074920"/>
            <a:ext cx="30250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11" name=""/>
          <p:cNvSpPr txBox="1"/>
          <p:nvPr/>
        </p:nvSpPr>
        <p:spPr>
          <a:xfrm>
            <a:off x="899280" y="5204520"/>
            <a:ext cx="2773800" cy="472320"/>
          </a:xfrm>
          <a:prstGeom prst="rect">
            <a:avLst/>
          </a:prstGeom>
          <a:noFill/>
          <a:ln w="0">
            <a:noFill/>
          </a:ln>
        </p:spPr>
        <p:txBody>
          <a:bodyPr lIns="0" rIns="0" tIns="0" bIns="0" anchor="t">
            <a:noAutofit/>
          </a:bodyPr>
          <a:p>
            <a:r>
              <a:rPr b="0" lang="en-US" sz="2160" spc="-1" strike="noStrike">
                <a:solidFill>
                  <a:srgbClr val="000000"/>
                </a:solidFill>
                <a:latin typeface="Noto Sans"/>
              </a:rPr>
              <a:t>C</a:t>
            </a:r>
            <a:endParaRPr b="0" lang="en-US" sz="2160" spc="-1" strike="noStrike">
              <a:solidFill>
                <a:srgbClr val="000000"/>
              </a:solidFill>
              <a:latin typeface="Arial"/>
            </a:endParaRPr>
          </a:p>
        </p:txBody>
      </p:sp>
      <p:sp>
        <p:nvSpPr>
          <p:cNvPr id="712" name=""/>
          <p:cNvSpPr/>
          <p:nvPr/>
        </p:nvSpPr>
        <p:spPr>
          <a:xfrm>
            <a:off x="3809880" y="5074920"/>
            <a:ext cx="378720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13" name=""/>
          <p:cNvSpPr txBox="1"/>
          <p:nvPr/>
        </p:nvSpPr>
        <p:spPr>
          <a:xfrm>
            <a:off x="3947040" y="5204520"/>
            <a:ext cx="3535560" cy="472320"/>
          </a:xfrm>
          <a:prstGeom prst="rect">
            <a:avLst/>
          </a:prstGeom>
          <a:noFill/>
          <a:ln w="0">
            <a:noFill/>
          </a:ln>
        </p:spPr>
        <p:txBody>
          <a:bodyPr lIns="0" rIns="0" tIns="0" bIns="0" anchor="t">
            <a:noAutofit/>
          </a:bodyPr>
          <a:p>
            <a:r>
              <a:rPr b="0" lang="en-US" sz="2160" spc="-1" strike="noStrike">
                <a:solidFill>
                  <a:srgbClr val="000000"/>
                </a:solidFill>
                <a:latin typeface="Noto Sans"/>
              </a:rPr>
              <a:t>[ja / nein]</a:t>
            </a:r>
            <a:endParaRPr b="0" lang="en-US" sz="2160" spc="-1" strike="noStrike">
              <a:solidFill>
                <a:srgbClr val="000000"/>
              </a:solidFill>
              <a:latin typeface="Arial"/>
            </a:endParaRPr>
          </a:p>
        </p:txBody>
      </p:sp>
      <p:sp>
        <p:nvSpPr>
          <p:cNvPr id="714" name=""/>
          <p:cNvSpPr/>
          <p:nvPr/>
        </p:nvSpPr>
        <p:spPr>
          <a:xfrm>
            <a:off x="7620120" y="5074920"/>
            <a:ext cx="378720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15" name=""/>
          <p:cNvSpPr txBox="1"/>
          <p:nvPr/>
        </p:nvSpPr>
        <p:spPr>
          <a:xfrm>
            <a:off x="7757280" y="5204520"/>
            <a:ext cx="3535560" cy="472320"/>
          </a:xfrm>
          <a:prstGeom prst="rect">
            <a:avLst/>
          </a:prstGeom>
          <a:noFill/>
          <a:ln w="0">
            <a:noFill/>
          </a:ln>
        </p:spPr>
        <p:txBody>
          <a:bodyPr lIns="0" rIns="0" tIns="0" bIns="0" anchor="t">
            <a:noAutofit/>
          </a:bodyPr>
          <a:p>
            <a:r>
              <a:rPr b="0" lang="en-US" sz="2160" spc="-1" strike="noStrike">
                <a:solidFill>
                  <a:srgbClr val="000000"/>
                </a:solidFill>
                <a:latin typeface="Noto Sans"/>
              </a:rPr>
              <a:t>[ja / nein]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Intersects zählt den Rand – Unsicherheit bleibt</a:t>
            </a:r>
            <a:endParaRPr b="0" lang="en-US" sz="3190" spc="-1" strike="noStrike">
              <a:solidFill>
                <a:srgbClr val="000000"/>
              </a:solidFill>
              <a:latin typeface="Arial"/>
            </a:endParaRPr>
          </a:p>
        </p:txBody>
      </p:sp>
      <p:sp>
        <p:nvSpPr>
          <p:cNvPr id="71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AUFLÖSUNG</a:t>
            </a:r>
            <a:endParaRPr b="0" lang="en-US" sz="1130" spc="-1" strike="noStrike">
              <a:solidFill>
                <a:srgbClr val="000000"/>
              </a:solidFill>
              <a:latin typeface="Arial"/>
            </a:endParaRPr>
          </a:p>
        </p:txBody>
      </p:sp>
      <p:sp>
        <p:nvSpPr>
          <p:cNvPr id="71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71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33</a:t>
            </a:r>
            <a:endParaRPr b="0" lang="en-US" sz="939" spc="-1" strike="noStrike">
              <a:solidFill>
                <a:srgbClr val="000000"/>
              </a:solidFill>
              <a:latin typeface="Arial"/>
            </a:endParaRPr>
          </a:p>
        </p:txBody>
      </p:sp>
      <p:pic>
        <p:nvPicPr>
          <p:cNvPr id="720" name="" descr="Punkt A liegt im Inneren des Polygons, B genau auf dem Rand und C außerhalb. Intersects wählt A und B aus; within nur A. Die Aussagen beziehen sich auf die gespeicherten Geometrien und beseitigen keine Koordinatenunsicherheit."/>
          <p:cNvPicPr/>
          <p:nvPr/>
        </p:nvPicPr>
        <p:blipFill>
          <a:blip r:embed="rId1">
            <a:extLst>
              <a:ext uri="{96DAC541-7B7A-43D3-8B79-37D633B846F1}">
                <asvg:svgBlip xmlns:asvg="http://schemas.microsoft.com/office/drawing/2016/SVG/main" r:embed="rId2"/>
              </a:ext>
            </a:extLst>
          </a:blip>
          <a:stretch/>
        </p:blipFill>
        <p:spPr>
          <a:xfrm>
            <a:off x="2286000" y="1638360"/>
            <a:ext cx="3809880" cy="4381560"/>
          </a:xfrm>
          <a:prstGeom prst="rect">
            <a:avLst/>
          </a:prstGeom>
          <a:ln w="0">
            <a:noFill/>
          </a:ln>
        </p:spPr>
      </p:pic>
      <p:sp>
        <p:nvSpPr>
          <p:cNvPr id="721" name=""/>
          <p:cNvSpPr/>
          <p:nvPr/>
        </p:nvSpPr>
        <p:spPr>
          <a:xfrm>
            <a:off x="6858000" y="2171880"/>
            <a:ext cx="3962520" cy="1371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22" name=""/>
          <p:cNvSpPr/>
          <p:nvPr/>
        </p:nvSpPr>
        <p:spPr>
          <a:xfrm>
            <a:off x="6858000" y="2171880"/>
            <a:ext cx="53280" cy="1371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723" name=""/>
          <p:cNvSpPr txBox="1"/>
          <p:nvPr/>
        </p:nvSpPr>
        <p:spPr>
          <a:xfrm>
            <a:off x="7063920" y="235476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Rechnerisch</a:t>
            </a:r>
            <a:endParaRPr b="0" lang="en-US" sz="2540" spc="-1" strike="noStrike">
              <a:solidFill>
                <a:srgbClr val="000000"/>
              </a:solidFill>
              <a:latin typeface="Arial"/>
            </a:endParaRPr>
          </a:p>
        </p:txBody>
      </p:sp>
      <p:sp>
        <p:nvSpPr>
          <p:cNvPr id="724" name=""/>
          <p:cNvSpPr txBox="1"/>
          <p:nvPr/>
        </p:nvSpPr>
        <p:spPr>
          <a:xfrm>
            <a:off x="7063920" y="2933640"/>
            <a:ext cx="3551040" cy="472320"/>
          </a:xfrm>
          <a:prstGeom prst="rect">
            <a:avLst/>
          </a:prstGeom>
          <a:noFill/>
          <a:ln w="0">
            <a:noFill/>
          </a:ln>
        </p:spPr>
        <p:txBody>
          <a:bodyPr lIns="0" rIns="0" tIns="0" bIns="0" anchor="t">
            <a:noAutofit/>
          </a:bodyPr>
          <a:p>
            <a:r>
              <a:rPr b="0" lang="en-US" sz="2260" spc="-1" strike="noStrike">
                <a:solidFill>
                  <a:srgbClr val="000000"/>
                </a:solidFill>
                <a:latin typeface="Noto Sans"/>
              </a:rPr>
              <a:t>intersects: A + B</a:t>
            </a:r>
            <a:endParaRPr b="0" lang="en-US" sz="2260" spc="-1" strike="noStrike">
              <a:solidFill>
                <a:srgbClr val="000000"/>
              </a:solidFill>
              <a:latin typeface="Arial"/>
            </a:endParaRPr>
          </a:p>
          <a:p>
            <a:r>
              <a:rPr b="0" lang="en-US" sz="2260" spc="-1" strike="noStrike">
                <a:solidFill>
                  <a:srgbClr val="000000"/>
                </a:solidFill>
                <a:latin typeface="Noto Sans"/>
              </a:rPr>
              <a:t>within: A</a:t>
            </a:r>
            <a:endParaRPr b="0" lang="en-US" sz="2260" spc="-1" strike="noStrike">
              <a:solidFill>
                <a:srgbClr val="000000"/>
              </a:solidFill>
              <a:latin typeface="Arial"/>
            </a:endParaRPr>
          </a:p>
        </p:txBody>
      </p:sp>
      <p:sp>
        <p:nvSpPr>
          <p:cNvPr id="725" name=""/>
          <p:cNvSpPr/>
          <p:nvPr/>
        </p:nvSpPr>
        <p:spPr>
          <a:xfrm>
            <a:off x="6858000" y="4000680"/>
            <a:ext cx="3962520" cy="1371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26" name=""/>
          <p:cNvSpPr/>
          <p:nvPr/>
        </p:nvSpPr>
        <p:spPr>
          <a:xfrm>
            <a:off x="6858000" y="4000680"/>
            <a:ext cx="53280" cy="13716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727" name=""/>
          <p:cNvSpPr txBox="1"/>
          <p:nvPr/>
        </p:nvSpPr>
        <p:spPr>
          <a:xfrm>
            <a:off x="7063920" y="4183560"/>
            <a:ext cx="3551040" cy="647640"/>
          </a:xfrm>
          <a:prstGeom prst="rect">
            <a:avLst/>
          </a:prstGeom>
          <a:noFill/>
          <a:ln w="0">
            <a:noFill/>
          </a:ln>
        </p:spPr>
        <p:txBody>
          <a:bodyPr lIns="0" rIns="0" tIns="0" bIns="0" anchor="t">
            <a:noAutofit/>
          </a:bodyPr>
          <a:p>
            <a:r>
              <a:rPr b="1" lang="en-US" sz="2540" spc="-1" strike="noStrike">
                <a:solidFill>
                  <a:srgbClr val="a32123"/>
                </a:solidFill>
                <a:latin typeface="Noto Sans"/>
              </a:rPr>
              <a:t>Fachlich</a:t>
            </a:r>
            <a:endParaRPr b="0" lang="en-US" sz="2540" spc="-1" strike="noStrike">
              <a:solidFill>
                <a:srgbClr val="000000"/>
              </a:solidFill>
              <a:latin typeface="Arial"/>
            </a:endParaRPr>
          </a:p>
        </p:txBody>
      </p:sp>
      <p:sp>
        <p:nvSpPr>
          <p:cNvPr id="728" name=""/>
          <p:cNvSpPr txBox="1"/>
          <p:nvPr/>
        </p:nvSpPr>
        <p:spPr>
          <a:xfrm>
            <a:off x="7063920" y="4762440"/>
            <a:ext cx="3551040" cy="472320"/>
          </a:xfrm>
          <a:prstGeom prst="rect">
            <a:avLst/>
          </a:prstGeom>
          <a:noFill/>
          <a:ln w="0">
            <a:noFill/>
          </a:ln>
        </p:spPr>
        <p:txBody>
          <a:bodyPr lIns="0" rIns="0" tIns="0" bIns="0" anchor="t">
            <a:noAutofit/>
          </a:bodyPr>
          <a:p>
            <a:r>
              <a:rPr b="0" lang="en-US" sz="1979" spc="-1" strike="noStrike">
                <a:solidFill>
                  <a:srgbClr val="000000"/>
                </a:solidFill>
                <a:latin typeface="Noto Sans"/>
              </a:rPr>
              <a:t>Koordinaten- und Grenzunsicherheit bleiben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Exit Ticket · eine Frage auswählen</a:t>
            </a:r>
            <a:endParaRPr b="0" lang="en-US" sz="3190" spc="-1" strike="noStrike">
              <a:solidFill>
                <a:srgbClr val="000000"/>
              </a:solidFill>
              <a:latin typeface="Arial"/>
            </a:endParaRPr>
          </a:p>
        </p:txBody>
      </p:sp>
      <p:sp>
        <p:nvSpPr>
          <p:cNvPr id="73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SICHERUNG · EINZELARBEIT</a:t>
            </a:r>
            <a:endParaRPr b="0" lang="en-US" sz="1130" spc="-1" strike="noStrike">
              <a:solidFill>
                <a:srgbClr val="000000"/>
              </a:solidFill>
              <a:latin typeface="Arial"/>
            </a:endParaRPr>
          </a:p>
        </p:txBody>
      </p:sp>
      <p:sp>
        <p:nvSpPr>
          <p:cNvPr id="73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73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34</a:t>
            </a:r>
            <a:endParaRPr b="0" lang="en-US" sz="939" spc="-1" strike="noStrike">
              <a:solidFill>
                <a:srgbClr val="000000"/>
              </a:solidFill>
              <a:latin typeface="Arial"/>
            </a:endParaRPr>
          </a:p>
        </p:txBody>
      </p:sp>
      <p:sp>
        <p:nvSpPr>
          <p:cNvPr id="733" name=""/>
          <p:cNvSpPr/>
          <p:nvPr/>
        </p:nvSpPr>
        <p:spPr>
          <a:xfrm>
            <a:off x="647640" y="1790640"/>
            <a:ext cx="134892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734" name=""/>
          <p:cNvSpPr txBox="1"/>
          <p:nvPr/>
        </p:nvSpPr>
        <p:spPr>
          <a:xfrm>
            <a:off x="784800" y="1920240"/>
            <a:ext cx="1097280" cy="838080"/>
          </a:xfrm>
          <a:prstGeom prst="rect">
            <a:avLst/>
          </a:prstGeom>
          <a:noFill/>
          <a:ln w="0">
            <a:noFill/>
          </a:ln>
        </p:spPr>
        <p:txBody>
          <a:bodyPr lIns="0" rIns="0" tIns="0" bIns="0" anchor="t">
            <a:noAutofit/>
          </a:bodyPr>
          <a:p>
            <a:r>
              <a:rPr b="1" lang="en-US" sz="2070" spc="-1" strike="noStrike">
                <a:solidFill>
                  <a:srgbClr val="ffffff"/>
                </a:solidFill>
                <a:latin typeface="Noto Sans"/>
              </a:rPr>
              <a:t>Option</a:t>
            </a:r>
            <a:endParaRPr b="0" lang="en-US" sz="2070" spc="-1" strike="noStrike">
              <a:solidFill>
                <a:srgbClr val="000000"/>
              </a:solidFill>
              <a:latin typeface="Arial"/>
            </a:endParaRPr>
          </a:p>
        </p:txBody>
      </p:sp>
      <p:sp>
        <p:nvSpPr>
          <p:cNvPr id="735" name=""/>
          <p:cNvSpPr/>
          <p:nvPr/>
        </p:nvSpPr>
        <p:spPr>
          <a:xfrm>
            <a:off x="2019240" y="1790640"/>
            <a:ext cx="950220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736" name=""/>
          <p:cNvSpPr txBox="1"/>
          <p:nvPr/>
        </p:nvSpPr>
        <p:spPr>
          <a:xfrm>
            <a:off x="2156400" y="1920240"/>
            <a:ext cx="9250920" cy="838080"/>
          </a:xfrm>
          <a:prstGeom prst="rect">
            <a:avLst/>
          </a:prstGeom>
          <a:noFill/>
          <a:ln w="0">
            <a:noFill/>
          </a:ln>
        </p:spPr>
        <p:txBody>
          <a:bodyPr lIns="0" rIns="0" tIns="0" bIns="0" anchor="t">
            <a:noAutofit/>
          </a:bodyPr>
          <a:p>
            <a:r>
              <a:rPr b="1" lang="en-US" sz="2070" spc="-1" strike="noStrike">
                <a:solidFill>
                  <a:srgbClr val="ffffff"/>
                </a:solidFill>
                <a:latin typeface="Noto Sans"/>
              </a:rPr>
              <a:t>Frage</a:t>
            </a:r>
            <a:endParaRPr b="0" lang="en-US" sz="2070" spc="-1" strike="noStrike">
              <a:solidFill>
                <a:srgbClr val="000000"/>
              </a:solidFill>
              <a:latin typeface="Arial"/>
            </a:endParaRPr>
          </a:p>
        </p:txBody>
      </p:sp>
      <p:sp>
        <p:nvSpPr>
          <p:cNvPr id="737" name=""/>
          <p:cNvSpPr/>
          <p:nvPr/>
        </p:nvSpPr>
        <p:spPr>
          <a:xfrm>
            <a:off x="647640" y="2781360"/>
            <a:ext cx="1348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38" name=""/>
          <p:cNvSpPr txBox="1"/>
          <p:nvPr/>
        </p:nvSpPr>
        <p:spPr>
          <a:xfrm>
            <a:off x="784800" y="291096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A</a:t>
            </a:r>
            <a:endParaRPr b="0" lang="en-US" sz="2070" spc="-1" strike="noStrike">
              <a:solidFill>
                <a:srgbClr val="000000"/>
              </a:solidFill>
              <a:latin typeface="Arial"/>
            </a:endParaRPr>
          </a:p>
        </p:txBody>
      </p:sp>
      <p:sp>
        <p:nvSpPr>
          <p:cNvPr id="739" name=""/>
          <p:cNvSpPr/>
          <p:nvPr/>
        </p:nvSpPr>
        <p:spPr>
          <a:xfrm>
            <a:off x="2019240" y="2781360"/>
            <a:ext cx="950220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40" name=""/>
          <p:cNvSpPr txBox="1"/>
          <p:nvPr/>
        </p:nvSpPr>
        <p:spPr>
          <a:xfrm>
            <a:off x="2156400" y="291096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Wodurch unterscheiden sich Auswahl und neu gespeicherter Ergebnislayer?</a:t>
            </a:r>
            <a:endParaRPr b="0" lang="en-US" sz="2070" spc="-1" strike="noStrike">
              <a:solidFill>
                <a:srgbClr val="000000"/>
              </a:solidFill>
              <a:latin typeface="Arial"/>
            </a:endParaRPr>
          </a:p>
        </p:txBody>
      </p:sp>
      <p:sp>
        <p:nvSpPr>
          <p:cNvPr id="741" name=""/>
          <p:cNvSpPr/>
          <p:nvPr/>
        </p:nvSpPr>
        <p:spPr>
          <a:xfrm>
            <a:off x="647640" y="3772080"/>
            <a:ext cx="134892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42" name=""/>
          <p:cNvSpPr txBox="1"/>
          <p:nvPr/>
        </p:nvSpPr>
        <p:spPr>
          <a:xfrm>
            <a:off x="784800" y="390132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B</a:t>
            </a:r>
            <a:endParaRPr b="0" lang="en-US" sz="2070" spc="-1" strike="noStrike">
              <a:solidFill>
                <a:srgbClr val="000000"/>
              </a:solidFill>
              <a:latin typeface="Arial"/>
            </a:endParaRPr>
          </a:p>
        </p:txBody>
      </p:sp>
      <p:sp>
        <p:nvSpPr>
          <p:cNvPr id="743" name=""/>
          <p:cNvSpPr/>
          <p:nvPr/>
        </p:nvSpPr>
        <p:spPr>
          <a:xfrm>
            <a:off x="2019240" y="3772080"/>
            <a:ext cx="950220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44" name=""/>
          <p:cNvSpPr txBox="1"/>
          <p:nvPr/>
        </p:nvSpPr>
        <p:spPr>
          <a:xfrm>
            <a:off x="2156400" y="390132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Welche räumliche Beziehung wurde für Punkte und Gewässer verwendet?</a:t>
            </a:r>
            <a:endParaRPr b="0" lang="en-US" sz="2070" spc="-1" strike="noStrike">
              <a:solidFill>
                <a:srgbClr val="000000"/>
              </a:solidFill>
              <a:latin typeface="Arial"/>
            </a:endParaRPr>
          </a:p>
        </p:txBody>
      </p:sp>
      <p:sp>
        <p:nvSpPr>
          <p:cNvPr id="745" name=""/>
          <p:cNvSpPr/>
          <p:nvPr/>
        </p:nvSpPr>
        <p:spPr>
          <a:xfrm>
            <a:off x="647640" y="4762440"/>
            <a:ext cx="1348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46" name=""/>
          <p:cNvSpPr txBox="1"/>
          <p:nvPr/>
        </p:nvSpPr>
        <p:spPr>
          <a:xfrm>
            <a:off x="784800" y="489204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C</a:t>
            </a:r>
            <a:endParaRPr b="0" lang="en-US" sz="2070" spc="-1" strike="noStrike">
              <a:solidFill>
                <a:srgbClr val="000000"/>
              </a:solidFill>
              <a:latin typeface="Arial"/>
            </a:endParaRPr>
          </a:p>
        </p:txBody>
      </p:sp>
      <p:sp>
        <p:nvSpPr>
          <p:cNvPr id="747" name=""/>
          <p:cNvSpPr/>
          <p:nvPr/>
        </p:nvSpPr>
        <p:spPr>
          <a:xfrm>
            <a:off x="2019240" y="4762440"/>
            <a:ext cx="950220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48" name=""/>
          <p:cNvSpPr txBox="1"/>
          <p:nvPr/>
        </p:nvSpPr>
        <p:spPr>
          <a:xfrm>
            <a:off x="2156400" y="489204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Warum benötigen Messungen ein geeignetes projiziertes CRS?</a:t>
            </a:r>
            <a:endParaRPr b="0" lang="en-US" sz="2070" spc="-1" strike="noStrike">
              <a:solidFill>
                <a:srgbClr val="000000"/>
              </a:solidFill>
              <a:latin typeface="Arial"/>
            </a:endParaRPr>
          </a:p>
        </p:txBody>
      </p:sp>
      <p:sp>
        <p:nvSpPr>
          <p:cNvPr id="74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50"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Heute ausgewählt: [A / B / C]</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Nachbereitung · JiTT zu Unit 12</a:t>
            </a:r>
            <a:endParaRPr b="0" lang="en-US" sz="3190" spc="-1" strike="noStrike">
              <a:solidFill>
                <a:srgbClr val="000000"/>
              </a:solidFill>
              <a:latin typeface="Arial"/>
            </a:endParaRPr>
          </a:p>
        </p:txBody>
      </p:sp>
      <p:sp>
        <p:nvSpPr>
          <p:cNvPr id="75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AUSBLICK</a:t>
            </a:r>
            <a:endParaRPr b="0" lang="en-US" sz="1130" spc="-1" strike="noStrike">
              <a:solidFill>
                <a:srgbClr val="000000"/>
              </a:solidFill>
              <a:latin typeface="Arial"/>
            </a:endParaRPr>
          </a:p>
        </p:txBody>
      </p:sp>
      <p:sp>
        <p:nvSpPr>
          <p:cNvPr id="75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75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35</a:t>
            </a:r>
            <a:endParaRPr b="0" lang="en-US" sz="939" spc="-1" strike="noStrike">
              <a:solidFill>
                <a:srgbClr val="000000"/>
              </a:solidFill>
              <a:latin typeface="Arial"/>
            </a:endParaRPr>
          </a:p>
        </p:txBody>
      </p:sp>
      <p:sp>
        <p:nvSpPr>
          <p:cNvPr id="755" name=""/>
          <p:cNvSpPr/>
          <p:nvPr/>
        </p:nvSpPr>
        <p:spPr>
          <a:xfrm>
            <a:off x="9907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56" name=""/>
          <p:cNvSpPr/>
          <p:nvPr/>
        </p:nvSpPr>
        <p:spPr>
          <a:xfrm>
            <a:off x="990720" y="19810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757" name=""/>
          <p:cNvSpPr txBox="1"/>
          <p:nvPr/>
        </p:nvSpPr>
        <p:spPr>
          <a:xfrm>
            <a:off x="1196280" y="2163960"/>
            <a:ext cx="4312800" cy="647640"/>
          </a:xfrm>
          <a:prstGeom prst="rect">
            <a:avLst/>
          </a:prstGeom>
          <a:noFill/>
          <a:ln w="0">
            <a:noFill/>
          </a:ln>
        </p:spPr>
        <p:txBody>
          <a:bodyPr lIns="0" rIns="0" tIns="0" bIns="0" anchor="t">
            <a:noAutofit/>
          </a:bodyPr>
          <a:p>
            <a:r>
              <a:rPr b="1" lang="en-US" sz="2540" spc="-1" strike="noStrike">
                <a:solidFill>
                  <a:srgbClr val="004899"/>
                </a:solidFill>
                <a:latin typeface="Noto Sans"/>
              </a:rPr>
              <a:t>Einzige Übungsaufgabe</a:t>
            </a:r>
            <a:endParaRPr b="0" lang="en-US" sz="2540" spc="-1" strike="noStrike">
              <a:solidFill>
                <a:srgbClr val="000000"/>
              </a:solidFill>
              <a:latin typeface="Arial"/>
            </a:endParaRPr>
          </a:p>
        </p:txBody>
      </p:sp>
      <p:sp>
        <p:nvSpPr>
          <p:cNvPr id="758" name=""/>
          <p:cNvSpPr txBox="1"/>
          <p:nvPr/>
        </p:nvSpPr>
        <p:spPr>
          <a:xfrm>
            <a:off x="1196280" y="2926080"/>
            <a:ext cx="4312800" cy="1203840"/>
          </a:xfrm>
          <a:prstGeom prst="rect">
            <a:avLst/>
          </a:prstGeom>
          <a:noFill/>
          <a:ln w="0">
            <a:noFill/>
          </a:ln>
        </p:spPr>
        <p:txBody>
          <a:bodyPr lIns="0" rIns="0" tIns="0" bIns="0" anchor="t">
            <a:noAutofit/>
          </a:bodyPr>
          <a:p>
            <a:r>
              <a:rPr b="0" lang="en-US" sz="2540" spc="-1" strike="noStrike">
                <a:solidFill>
                  <a:srgbClr val="000000"/>
                </a:solidFill>
                <a:latin typeface="Noto Sans"/>
              </a:rPr>
              <a:t>JiTT-Fragen zu Unit 12</a:t>
            </a:r>
            <a:endParaRPr b="0" lang="en-US" sz="2540" spc="-1" strike="noStrike">
              <a:solidFill>
                <a:srgbClr val="000000"/>
              </a:solidFill>
              <a:latin typeface="Arial"/>
            </a:endParaRPr>
          </a:p>
          <a:p>
            <a:r>
              <a:rPr b="0" lang="en-US" sz="2540" spc="-1" strike="noStrike">
                <a:solidFill>
                  <a:srgbClr val="000000"/>
                </a:solidFill>
                <a:latin typeface="Noto Sans"/>
              </a:rPr>
              <a:t>im ILIAS-Kurs beantworten</a:t>
            </a:r>
            <a:endParaRPr b="0" lang="en-US" sz="2540" spc="-1" strike="noStrike">
              <a:solidFill>
                <a:srgbClr val="000000"/>
              </a:solidFill>
              <a:latin typeface="Arial"/>
            </a:endParaRPr>
          </a:p>
        </p:txBody>
      </p:sp>
      <p:sp>
        <p:nvSpPr>
          <p:cNvPr id="759" name=""/>
          <p:cNvSpPr/>
          <p:nvPr/>
        </p:nvSpPr>
        <p:spPr>
          <a:xfrm>
            <a:off x="64771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60" name=""/>
          <p:cNvSpPr/>
          <p:nvPr/>
        </p:nvSpPr>
        <p:spPr>
          <a:xfrm>
            <a:off x="6477120" y="19810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761" name=""/>
          <p:cNvSpPr txBox="1"/>
          <p:nvPr/>
        </p:nvSpPr>
        <p:spPr>
          <a:xfrm>
            <a:off x="6682680" y="2163960"/>
            <a:ext cx="4312800" cy="647640"/>
          </a:xfrm>
          <a:prstGeom prst="rect">
            <a:avLst/>
          </a:prstGeom>
          <a:noFill/>
          <a:ln w="0">
            <a:noFill/>
          </a:ln>
        </p:spPr>
        <p:txBody>
          <a:bodyPr lIns="0" rIns="0" tIns="0" bIns="0" anchor="t">
            <a:noAutofit/>
          </a:bodyPr>
          <a:p>
            <a:r>
              <a:rPr b="1" lang="en-US" sz="2540" spc="-1" strike="noStrike">
                <a:solidFill>
                  <a:srgbClr val="a32123"/>
                </a:solidFill>
                <a:latin typeface="Noto Sans"/>
              </a:rPr>
              <a:t>Nächste Unit</a:t>
            </a:r>
            <a:endParaRPr b="0" lang="en-US" sz="2540" spc="-1" strike="noStrike">
              <a:solidFill>
                <a:srgbClr val="000000"/>
              </a:solidFill>
              <a:latin typeface="Arial"/>
            </a:endParaRPr>
          </a:p>
        </p:txBody>
      </p:sp>
      <p:sp>
        <p:nvSpPr>
          <p:cNvPr id="762" name=""/>
          <p:cNvSpPr txBox="1"/>
          <p:nvPr/>
        </p:nvSpPr>
        <p:spPr>
          <a:xfrm>
            <a:off x="6682680" y="2926080"/>
            <a:ext cx="4312800" cy="1203840"/>
          </a:xfrm>
          <a:prstGeom prst="rect">
            <a:avLst/>
          </a:prstGeom>
          <a:noFill/>
          <a:ln w="0">
            <a:noFill/>
          </a:ln>
        </p:spPr>
        <p:txBody>
          <a:bodyPr lIns="0" rIns="0" tIns="0" bIns="0" anchor="t">
            <a:noAutofit/>
          </a:bodyPr>
          <a:p>
            <a:r>
              <a:rPr b="0" lang="en-US" sz="2260" spc="-1" strike="noStrike">
                <a:solidFill>
                  <a:srgbClr val="000000"/>
                </a:solidFill>
                <a:latin typeface="Noto Sans"/>
              </a:rPr>
              <a:t>Rasterwerte an alle 56 Punkte</a:t>
            </a:r>
            <a:endParaRPr b="0" lang="en-US" sz="2260" spc="-1" strike="noStrike">
              <a:solidFill>
                <a:srgbClr val="000000"/>
              </a:solidFill>
              <a:latin typeface="Arial"/>
            </a:endParaRPr>
          </a:p>
          <a:p>
            <a:r>
              <a:rPr b="0" lang="en-US" sz="2260" spc="-1" strike="noStrike">
                <a:solidFill>
                  <a:srgbClr val="000000"/>
                </a:solidFill>
                <a:latin typeface="Noto Sans"/>
              </a:rPr>
              <a:t>aus gbif_checked übertragen</a:t>
            </a:r>
            <a:endParaRPr b="0" lang="en-US" sz="2260" spc="-1" strike="noStrike">
              <a:solidFill>
                <a:srgbClr val="000000"/>
              </a:solidFill>
              <a:latin typeface="Arial"/>
            </a:endParaRPr>
          </a:p>
        </p:txBody>
      </p:sp>
      <p:sp>
        <p:nvSpPr>
          <p:cNvPr id="76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764"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Fragen, Frist und Link: ausschließlich die aktuellen Angaben in ILIAS verwenden.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Quellen und Arbeitsstand</a:t>
            </a:r>
            <a:endParaRPr b="0" lang="en-US" sz="3190" spc="-1" strike="noStrike">
              <a:solidFill>
                <a:srgbClr val="000000"/>
              </a:solidFill>
              <a:latin typeface="Arial"/>
            </a:endParaRPr>
          </a:p>
        </p:txBody>
      </p:sp>
      <p:sp>
        <p:nvSpPr>
          <p:cNvPr id="76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NACHWEISE</a:t>
            </a:r>
            <a:endParaRPr b="0" lang="en-US" sz="1130" spc="-1" strike="noStrike">
              <a:solidFill>
                <a:srgbClr val="000000"/>
              </a:solidFill>
              <a:latin typeface="Arial"/>
            </a:endParaRPr>
          </a:p>
        </p:txBody>
      </p:sp>
      <p:sp>
        <p:nvSpPr>
          <p:cNvPr id="76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12</a:t>
            </a:r>
            <a:endParaRPr b="0" lang="en-US" sz="939" spc="-1" strike="noStrike">
              <a:solidFill>
                <a:srgbClr val="000000"/>
              </a:solidFill>
              <a:latin typeface="Arial"/>
            </a:endParaRPr>
          </a:p>
        </p:txBody>
      </p:sp>
      <p:sp>
        <p:nvSpPr>
          <p:cNvPr id="76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36</a:t>
            </a:r>
            <a:endParaRPr b="0" lang="en-US" sz="939" spc="-1" strike="noStrike">
              <a:solidFill>
                <a:srgbClr val="000000"/>
              </a:solidFill>
              <a:latin typeface="Arial"/>
            </a:endParaRPr>
          </a:p>
        </p:txBody>
      </p:sp>
      <p:sp>
        <p:nvSpPr>
          <p:cNvPr id="769" name=""/>
          <p:cNvSpPr txBox="1"/>
          <p:nvPr/>
        </p:nvSpPr>
        <p:spPr>
          <a:xfrm>
            <a:off x="838080" y="163836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1"/>
              </a:rPr>
              <a:t>Unit 12 · Kursübersicht</a:t>
            </a:r>
            <a:endParaRPr b="0" lang="en-US" sz="2160" spc="-1" strike="noStrike">
              <a:solidFill>
                <a:srgbClr val="000000"/>
              </a:solidFill>
              <a:latin typeface="Arial"/>
            </a:endParaRPr>
          </a:p>
        </p:txBody>
      </p:sp>
      <p:sp>
        <p:nvSpPr>
          <p:cNvPr id="770" name=""/>
          <p:cNvSpPr txBox="1"/>
          <p:nvPr/>
        </p:nvSpPr>
        <p:spPr>
          <a:xfrm>
            <a:off x="838080" y="210312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2"/>
              </a:rPr>
              <a:t>Linien und Polygone</a:t>
            </a:r>
            <a:endParaRPr b="0" lang="en-US" sz="2160" spc="-1" strike="noStrike">
              <a:solidFill>
                <a:srgbClr val="000000"/>
              </a:solidFill>
              <a:latin typeface="Arial"/>
            </a:endParaRPr>
          </a:p>
        </p:txBody>
      </p:sp>
      <p:sp>
        <p:nvSpPr>
          <p:cNvPr id="771" name=""/>
          <p:cNvSpPr txBox="1"/>
          <p:nvPr/>
        </p:nvSpPr>
        <p:spPr>
          <a:xfrm>
            <a:off x="838080" y="256788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3"/>
              </a:rPr>
              <a:t>Vektordaten aus Geoportalen</a:t>
            </a:r>
            <a:endParaRPr b="0" lang="en-US" sz="2160" spc="-1" strike="noStrike">
              <a:solidFill>
                <a:srgbClr val="000000"/>
              </a:solidFill>
              <a:latin typeface="Arial"/>
            </a:endParaRPr>
          </a:p>
        </p:txBody>
      </p:sp>
      <p:sp>
        <p:nvSpPr>
          <p:cNvPr id="772" name=""/>
          <p:cNvSpPr txBox="1"/>
          <p:nvPr/>
        </p:nvSpPr>
        <p:spPr>
          <a:xfrm>
            <a:off x="838080" y="303264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4"/>
              </a:rPr>
              <a:t>Linien und Polygone in QGIS</a:t>
            </a:r>
            <a:endParaRPr b="0" lang="en-US" sz="2160" spc="-1" strike="noStrike">
              <a:solidFill>
                <a:srgbClr val="000000"/>
              </a:solidFill>
              <a:latin typeface="Arial"/>
            </a:endParaRPr>
          </a:p>
        </p:txBody>
      </p:sp>
      <p:sp>
        <p:nvSpPr>
          <p:cNvPr id="773" name=""/>
          <p:cNvSpPr txBox="1"/>
          <p:nvPr/>
        </p:nvSpPr>
        <p:spPr>
          <a:xfrm>
            <a:off x="838080" y="349776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5"/>
              </a:rPr>
              <a:t>QGIS 3.40 · Benutzerhandbuch</a:t>
            </a:r>
            <a:endParaRPr b="0" lang="en-US" sz="2160" spc="-1" strike="noStrike">
              <a:solidFill>
                <a:srgbClr val="000000"/>
              </a:solidFill>
              <a:latin typeface="Arial"/>
            </a:endParaRPr>
          </a:p>
        </p:txBody>
      </p:sp>
      <p:sp>
        <p:nvSpPr>
          <p:cNvPr id="774" name=""/>
          <p:cNvSpPr txBox="1"/>
          <p:nvPr/>
        </p:nvSpPr>
        <p:spPr>
          <a:xfrm>
            <a:off x="838080" y="396252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6"/>
              </a:rPr>
              <a:t>HLNUG · Naturschutz</a:t>
            </a:r>
            <a:endParaRPr b="0" lang="en-US" sz="2160" spc="-1" strike="noStrike">
              <a:solidFill>
                <a:srgbClr val="000000"/>
              </a:solidFill>
              <a:latin typeface="Arial"/>
            </a:endParaRPr>
          </a:p>
        </p:txBody>
      </p:sp>
      <p:sp>
        <p:nvSpPr>
          <p:cNvPr id="775" name=""/>
          <p:cNvSpPr txBox="1"/>
          <p:nvPr/>
        </p:nvSpPr>
        <p:spPr>
          <a:xfrm>
            <a:off x="838080" y="442728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7"/>
              </a:rPr>
              <a:t>HLNUG · Wasser</a:t>
            </a:r>
            <a:endParaRPr b="0" lang="en-US" sz="2160" spc="-1" strike="noStrike">
              <a:solidFill>
                <a:srgbClr val="000000"/>
              </a:solidFill>
              <a:latin typeface="Arial"/>
            </a:endParaRPr>
          </a:p>
        </p:txBody>
      </p:sp>
      <p:sp>
        <p:nvSpPr>
          <p:cNvPr id="776" name=""/>
          <p:cNvSpPr txBox="1"/>
          <p:nvPr/>
        </p:nvSpPr>
        <p:spPr>
          <a:xfrm>
            <a:off x="838080" y="5143680"/>
            <a:ext cx="10591920" cy="960120"/>
          </a:xfrm>
          <a:prstGeom prst="rect">
            <a:avLst/>
          </a:prstGeom>
          <a:noFill/>
          <a:ln w="0">
            <a:noFill/>
          </a:ln>
        </p:spPr>
        <p:txBody>
          <a:bodyPr lIns="0" rIns="0" tIns="0" bIns="0" anchor="t">
            <a:noAutofit/>
          </a:bodyPr>
          <a:p>
            <a:r>
              <a:rPr b="0" lang="en-US" sz="1600" spc="-1" strike="noStrike">
                <a:solidFill>
                  <a:srgbClr val="414141"/>
                </a:solidFill>
                <a:latin typeface="Noto Sans"/>
              </a:rPr>
              <a:t>Paketstand: 08.09.2026 · Abgleich der Folien: 09.09.2026</a:t>
            </a:r>
            <a:endParaRPr b="0" lang="en-US" sz="1600" spc="-1" strike="noStrike">
              <a:solidFill>
                <a:srgbClr val="000000"/>
              </a:solidFill>
              <a:latin typeface="Arial"/>
            </a:endParaRPr>
          </a:p>
          <a:p>
            <a:r>
              <a:rPr b="0" lang="en-US" sz="1600" spc="-1" strike="noStrike">
                <a:solidFill>
                  <a:srgbClr val="414141"/>
                </a:solidFill>
                <a:latin typeface="Noto Sans"/>
              </a:rPr>
              <a:t>Layout: Universität-Marburg-Vorlage · Titel-/Abschlussbild: FB19-Vorlage</a:t>
            </a:r>
            <a:endParaRPr b="0" lang="en-US" sz="1600" spc="-1" strike="noStrike">
              <a:solidFill>
                <a:srgbClr val="000000"/>
              </a:solidFill>
              <a:latin typeface="Arial"/>
            </a:endParaRPr>
          </a:p>
          <a:p>
            <a:r>
              <a:rPr b="0" lang="en-US" sz="1600" spc="-1" strike="noStrike">
                <a:solidFill>
                  <a:srgbClr val="414141"/>
                </a:solidFill>
                <a:latin typeface="Noto Sans"/>
              </a:rPr>
              <a:t>Lehrabbildungen: fünf vorhandene SVGs der Unit 12</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
          <p:cNvSpPr/>
          <p:nvPr/>
        </p:nvSpPr>
        <p:spPr>
          <a:xfrm>
            <a:off x="335160" y="335160"/>
            <a:ext cx="6164640" cy="6149520"/>
          </a:xfrm>
          <a:prstGeom prst="rect">
            <a:avLst/>
          </a:prstGeom>
          <a:solidFill>
            <a:srgbClr val="f7deed"/>
          </a:solidFill>
          <a:ln w="0">
            <a:noFill/>
          </a:ln>
        </p:spPr>
        <p:txBody>
          <a:bodyPr lIns="90000" rIns="90000" tIns="45000" bIns="45000" anchor="ctr" anchorCtr="1">
            <a:noAutofit/>
          </a:bodyPr>
          <a:p>
            <a:endParaRPr b="0" lang="en-US" sz="1800" spc="-1" strike="noStrike">
              <a:solidFill>
                <a:srgbClr val="000000"/>
              </a:solidFill>
              <a:latin typeface="Arial"/>
            </a:endParaRPr>
          </a:p>
        </p:txBody>
      </p:sp>
      <p:pic>
        <p:nvPicPr>
          <p:cNvPr id="778" name="" descr=""/>
          <p:cNvPicPr/>
          <p:nvPr/>
        </p:nvPicPr>
        <p:blipFill>
          <a:blip r:embed="rId1"/>
          <a:stretch/>
        </p:blipFill>
        <p:spPr>
          <a:xfrm>
            <a:off x="6972480" y="2666880"/>
            <a:ext cx="4876920" cy="1671120"/>
          </a:xfrm>
          <a:prstGeom prst="rect">
            <a:avLst/>
          </a:prstGeom>
          <a:ln w="0">
            <a:noFill/>
          </a:ln>
        </p:spPr>
      </p:pic>
      <p:sp>
        <p:nvSpPr>
          <p:cNvPr id="779" name=""/>
          <p:cNvSpPr txBox="1"/>
          <p:nvPr/>
        </p:nvSpPr>
        <p:spPr>
          <a:xfrm>
            <a:off x="762120" y="2895480"/>
            <a:ext cx="5334120" cy="1905120"/>
          </a:xfrm>
          <a:prstGeom prst="rect">
            <a:avLst/>
          </a:prstGeom>
          <a:noFill/>
          <a:ln w="0">
            <a:noFill/>
          </a:ln>
        </p:spPr>
        <p:txBody>
          <a:bodyPr lIns="0" rIns="0" tIns="0" bIns="0" anchor="t">
            <a:noAutofit/>
          </a:bodyPr>
          <a:p>
            <a:r>
              <a:rPr b="0" lang="en-US" sz="3859" spc="-1" strike="noStrike">
                <a:solidFill>
                  <a:srgbClr val="000000"/>
                </a:solidFill>
                <a:latin typeface="Noto Sans"/>
              </a:rPr>
              <a:t>Vielen Dank für Ihre Aufmerksamkeit</a:t>
            </a:r>
            <a:endParaRPr b="0" lang="en-US" sz="3859" spc="-1" strike="noStrike">
              <a:solidFill>
                <a:srgbClr val="ffffff"/>
              </a:solidFill>
              <a:latin typeface="Arial"/>
            </a:endParaRPr>
          </a:p>
        </p:txBody>
      </p:sp>
      <p:sp>
        <p:nvSpPr>
          <p:cNvPr id="780" name=""/>
          <p:cNvSpPr txBox="1"/>
          <p:nvPr/>
        </p:nvSpPr>
        <p:spPr>
          <a:xfrm>
            <a:off x="1257480" y="5410080"/>
            <a:ext cx="4724280" cy="838080"/>
          </a:xfrm>
          <a:prstGeom prst="rect">
            <a:avLst/>
          </a:prstGeom>
          <a:noFill/>
          <a:ln w="0">
            <a:noFill/>
          </a:ln>
        </p:spPr>
        <p:txBody>
          <a:bodyPr lIns="0" rIns="0" tIns="0" bIns="0" anchor="t">
            <a:noAutofit/>
          </a:bodyPr>
          <a:p>
            <a:r>
              <a:rPr b="0" lang="en-US" sz="1690" spc="-1" strike="noStrike">
                <a:solidFill>
                  <a:srgbClr val="000000"/>
                </a:solidFill>
                <a:latin typeface="Noto Sans"/>
              </a:rPr>
              <a:t>Geodaten · Unit 12</a:t>
            </a:r>
            <a:endParaRPr b="0" lang="en-US" sz="1690" spc="-1" strike="noStrike">
              <a:solidFill>
                <a:srgbClr val="ffffff"/>
              </a:solidFill>
              <a:latin typeface="Arial"/>
            </a:endParaRPr>
          </a:p>
          <a:p>
            <a:r>
              <a:rPr b="0" lang="en-US" sz="1690" spc="-1" strike="noStrike">
                <a:solidFill>
                  <a:srgbClr val="000000"/>
                </a:solidFill>
                <a:latin typeface="Noto Sans"/>
              </a:rPr>
              <a:t>Fachbereich 19 · Geographie</a:t>
            </a:r>
            <a:endParaRPr b="0" lang="en-US" sz="16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1825</Words>
  <Paragraphs>216</Paragraphs>
  <Company>Universität Marburg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2025-02-27T00:25:01Z</dcterms:created>
  <dc:creator>GeoMOER</dc:creator>
  <dc:description/>
  <dc:language>en-US</dc:language>
  <cp:lastModifiedBy/>
  <dcterms:modified xsi:type="dcterms:W3CDTF">2026-09-11T16:23:02Z</dcterms:modified>
  <cp:revision>35</cp:revision>
  <dc:subject>Geodaten · Unit 12 · Präsenzlehre</dc:subject>
  <dc:title>Unit 12 – Linien, Polygone und räumliche Auswahl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