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svg" ContentType="image/svg"/>
  <Override PartName="/ppt/media/image6.png" ContentType="image/png"/>
  <Override PartName="/ppt/media/image10.png" ContentType="image/png"/>
  <Override PartName="/ppt/media/image4.png" ContentType="image/png"/>
  <Override PartName="/ppt/media/image5.svg" ContentType="image/svg"/>
  <Override PartName="/ppt/media/image8.png" ContentType="image/png"/>
  <Override PartName="/ppt/media/image12.png" ContentType="image/png"/>
  <Override PartName="/ppt/media/image7.svg" ContentType="image/svg"/>
  <Override PartName="/ppt/media/image11.svg" ContentType="image/svg"/>
  <Override PartName="/ppt/media/image9.svg" ContentType="image/svg"/>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13.xml.rels" ContentType="application/vnd.openxmlformats-package.relationships+xml"/>
  <Override PartName="/ppt/notesSlides/_rels/notesSlide25.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27.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26.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24.xml.rels" ContentType="application/vnd.openxmlformats-package.relationships+xml"/>
  <Override PartName="/ppt/notesSlides/_rels/notesSlide9.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14.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9" r:id="rId17"/>
    <p:sldMasterId id="2147483681"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pc="-1" strike="noStrike">
                <a:solidFill>
                  <a:schemeClr val="dk1"/>
                </a:solidFill>
                <a:latin typeface="Noto Sans"/>
              </a:rPr>
              <a:t>Click to move the slide</a:t>
            </a:r>
            <a:endParaRPr b="0" lang="de-DE" sz="1800" spc="-1" strike="noStrike">
              <a:solidFill>
                <a:schemeClr val="dk1"/>
              </a:solidFill>
              <a:latin typeface="Noto Sans"/>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049FDC3-E29E-423A-B8FD-92D4DC9A065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216000" y="812520"/>
            <a:ext cx="7127280" cy="4008960"/>
          </a:xfrm>
          <a:prstGeom prst="rect">
            <a:avLst/>
          </a:prstGeom>
          <a:ln w="0">
            <a:noFill/>
          </a:ln>
        </p:spPr>
      </p:sp>
      <p:sp>
        <p:nvSpPr>
          <p:cNvPr id="41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Titelfolie vor Beginn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Beim Ankommen zeigen. Für Bachelor- und Lehramtsstudierende gilt derselbe gemeinsame Abschluss. Kein neuer fachlicher Inhalt und keine neue Übungsaufgabe.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https://geomoer.github.io/moer-bsc-geodaten/unit15/unit15-00_overview.html</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216000" y="812520"/>
            <a:ext cx="7127280" cy="4008960"/>
          </a:xfrm>
          <a:prstGeom prst="rect">
            <a:avLst/>
          </a:prstGeom>
          <a:ln w="0">
            <a:noFill/>
          </a:ln>
        </p:spPr>
      </p:sp>
      <p:sp>
        <p:nvSpPr>
          <p:cNvPr id="418" name="PlaceHolder 2"/>
          <p:cNvSpPr>
            <a:spLocks noGrp="1"/>
          </p:cNvSpPr>
          <p:nvPr>
            <p:ph type="body"/>
          </p:nvPr>
        </p:nvSpPr>
        <p:spPr>
          <a:xfrm>
            <a:off x="756000" y="5078520"/>
            <a:ext cx="6047640" cy="51001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0–10 (10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Termin die aggregierten JiTT-Ergebnisse zu Unit 14 sichten. Den ganzen Platzhalter durch zwei bis drei tatsächliche Fragen und anonymisierte Antwortverteilungen ersetzen. Begründung und typisches Missverständnis zu Klassierung, Symbolisierung, Layout oder Aussagegrenze klären. Keine Namen, Noten, neue Abstimmung oder weiteren Test zeigen. Die ganze Phase dauert zehn Minuten. Überleitung: „Die Abschlusskarte verbindet viele Schritte unseres Kurses. Wir gehen nun den Weg von den ersten Daten bis zu dieser Karte noch einmal durch.“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https://geomoer.github.io/moer-bsc-geodaten/unit15/unit15-00_overview.html</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216000" y="812520"/>
            <a:ext cx="7127280" cy="4008960"/>
          </a:xfrm>
          <a:prstGeom prst="rect">
            <a:avLst/>
          </a:prstGeom>
          <a:ln w="0">
            <a:noFill/>
          </a:ln>
        </p:spPr>
      </p:sp>
      <p:sp>
        <p:nvSpPr>
          <p:cNvPr id="42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10–12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 einem tatsächlich benutzten Datei- oder Pfadfall erinnern: dauerhafte Speicherung ist etwas anderes als Arbeitsspeicher.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https://geomoer.github.io/moer-bsc-geodaten/unit01/unit01-00_overview.html</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216000" y="812520"/>
            <a:ext cx="7127280" cy="4008960"/>
          </a:xfrm>
          <a:prstGeom prst="rect">
            <a:avLst/>
          </a:prstGeom>
          <a:ln w="0">
            <a:noFill/>
          </a:ln>
        </p:spPr>
      </p:sp>
      <p:sp>
        <p:nvSpPr>
          <p:cNvPr id="4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12–14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eine bekannte Tabelle aufgreifen; Textzahlen und Datumswerte als mögliche Fehler kurz benennen.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https://geomoer.github.io/moer-bsc-geodaten/unit02/unit02-00_overview.html</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216000" y="812520"/>
            <a:ext cx="7127280" cy="4008960"/>
          </a:xfrm>
          <a:prstGeom prst="rect">
            <a:avLst/>
          </a:prstGeom>
          <a:ln w="0">
            <a:noFill/>
          </a:ln>
        </p:spPr>
      </p:sp>
      <p:sp>
        <p:nvSpPr>
          <p:cNvPr id="4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14–16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vorhandenem Kursbeispiel Original und bereinigte Tabelle gegenüberstellen; Protokoll als Beleg nennen.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https://geomoer.github.io/moer-bsc-geodaten/unit03/unit03-00_overview.html</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216000" y="812520"/>
            <a:ext cx="7127280" cy="4008960"/>
          </a:xfrm>
          <a:prstGeom prst="rect">
            <a:avLst/>
          </a:prstGeom>
          <a:ln w="0">
            <a:noFill/>
          </a:ln>
        </p:spPr>
      </p:sp>
      <p:sp>
        <p:nvSpPr>
          <p:cNvPr id="4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16–18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eine tatsächlich behandelte Verteilung zeigen; Median und Mittelwert ohne neue Rechnung erinnern.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https://geomoer.github.io/moer-bsc-geodaten/unit04/unit04-00_overview.html</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216000" y="812520"/>
            <a:ext cx="7127280" cy="4008960"/>
          </a:xfrm>
          <a:prstGeom prst="rect">
            <a:avLst/>
          </a:prstGeom>
          <a:ln w="0">
            <a:noFill/>
          </a:ln>
        </p:spPr>
      </p:sp>
      <p:sp>
        <p:nvSpPr>
          <p:cNvPr id="42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18–20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ein tatsächlich besprochenes Streudiagramm oder Pivot-Beispiel verwenden; Muster und Ausreißer nennen.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https://geomoer.github.io/moer-bsc-geodaten/unit05/unit05-00_overview.html</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216000" y="812520"/>
            <a:ext cx="7127280" cy="4008960"/>
          </a:xfrm>
          <a:prstGeom prst="rect">
            <a:avLst/>
          </a:prstGeom>
          <a:ln w="0">
            <a:noFill/>
          </a:ln>
        </p:spPr>
      </p:sp>
      <p:sp>
        <p:nvSpPr>
          <p:cNvPr id="43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20–22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eine im Kurs eingesetzte Formel verwenden; relativen und festen Bezug kurz erinnern.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https://geomoer.github.io/moer-bsc-geodaten/unit06/unit06-00_overview.html</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216000" y="812520"/>
            <a:ext cx="7127280" cy="4008960"/>
          </a:xfrm>
          <a:prstGeom prst="rect">
            <a:avLst/>
          </a:prstGeom>
          <a:ln w="0">
            <a:noFill/>
          </a:ln>
        </p:spPr>
      </p:sp>
      <p:sp>
        <p:nvSpPr>
          <p:cNvPr id="43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einen tatsächlich besprochenen Datenordner oder eine README zeigen.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https://geomoer.github.io/moer-bsc-geodaten/unit07/unit07-00_overview.html</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216000" y="812520"/>
            <a:ext cx="7127280" cy="4008960"/>
          </a:xfrm>
          <a:prstGeom prst="rect">
            <a:avLst/>
          </a:prstGeom>
          <a:ln w="0">
            <a:noFill/>
          </a:ln>
        </p:spPr>
      </p:sp>
      <p:sp>
        <p:nvSpPr>
          <p:cNvPr id="43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24–26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einen im Kurs tatsächlich bearbeiteten Ablauf verwenden; keine neue Software-Demonstration. Die Fachseiten dieser frühen Unit sind noch in Arbeit. Vor dem Unterricht ein tatsächlich behandeltes Beispiel auswählen; den sichtbaren Platzhalter dann ersetzen. Keinen unbekannten Arbeitsstand als abgeschlossen darstellen. Diskussionen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https://geomoer.github.io/moer-bsc-geodaten/unit08/unit08-00_overview.html</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216000" y="812520"/>
            <a:ext cx="7127280" cy="4008960"/>
          </a:xfrm>
          <a:prstGeom prst="rect">
            <a:avLst/>
          </a:prstGeom>
          <a:ln w="0">
            <a:noFill/>
          </a:ln>
        </p:spPr>
      </p:sp>
      <p:sp>
        <p:nvSpPr>
          <p:cNvPr id="4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26–28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Erste von höchstens drei kurzen Rückfragen: Welche Angaben machen ein Koordinatenpaar eindeutig? Erwartet: Achsen, Einheit und CRS. Nur einen kurzen Rückblick; längere Nachfragen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https://geomoer.github.io/moer-bsc-geodaten/unit09/unit09-00_overview.html</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216000" y="812520"/>
            <a:ext cx="7127280" cy="4008960"/>
          </a:xfrm>
          <a:prstGeom prst="rect">
            <a:avLst/>
          </a:prstGeom>
          <a:ln w="0">
            <a:noFill/>
          </a:ln>
        </p:spPr>
      </p:sp>
      <p:sp>
        <p:nvSpPr>
          <p:cNvPr id="4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28–30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Punkt, Linie, Polygon und Raster am ersten QGIS-Projekt kurz wiedererkennen lassen. Nur einen kurzen Rückblick; längere Nachfragen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https://geomoer.github.io/moer-bsc-geodaten/unit10/unit10-00_overview.html</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216000" y="812520"/>
            <a:ext cx="7127280" cy="4008960"/>
          </a:xfrm>
          <a:prstGeom prst="rect">
            <a:avLst/>
          </a:prstGeom>
          <a:ln w="0">
            <a:noFill/>
          </a:ln>
        </p:spPr>
      </p:sp>
      <p:sp>
        <p:nvSpPr>
          <p:cNvPr id="44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30–32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Regel 0 &lt; coordinateUncertaintyInMeters ≤ 100 nennen. Keine neue Qualitätsregel erfinden. Nur einen kurzen Rückblick; längere Nachfragen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https://geomoer.github.io/moer-bsc-geodaten/unit11/unit11-00_overview.html</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216000" y="812520"/>
            <a:ext cx="7127280" cy="4008960"/>
          </a:xfrm>
          <a:prstGeom prst="rect">
            <a:avLst/>
          </a:prstGeom>
          <a:ln w="0">
            <a:noFill/>
          </a:ln>
        </p:spPr>
      </p:sp>
      <p:sp>
        <p:nvSpPr>
          <p:cNvPr id="4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32–34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Zweite kurze Rückfrage: Welche räumliche Beziehung bestimmte die Treffer? Erwartet: schneidet mit ausgewählten FFH-Polygonen. Nur einen kurzen Rückblick; längere Nachfragen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https://geomoer.github.io/moer-bsc-geodaten/unit12/unit12-00_overview.html</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216000" y="812520"/>
            <a:ext cx="7127280" cy="4008960"/>
          </a:xfrm>
          <a:prstGeom prst="rect">
            <a:avLst/>
          </a:prstGeom>
          <a:ln w="0">
            <a:noFill/>
          </a:ln>
        </p:spPr>
      </p:sp>
      <p:sp>
        <p:nvSpPr>
          <p:cNvPr id="44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34–36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räumliche Lücke des DGM als Grund für NULL erinnern. Nicht alle 56 Punkte auf 35 reduzieren. Nur einen kurzen Rückblick; längere Nachfragen für Minute 40–60 sammeln.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https://geomoer.github.io/moer-bsc-geodaten/unit13/unit13-00_overview.html</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216000" y="812520"/>
            <a:ext cx="7127280" cy="4008960"/>
          </a:xfrm>
          <a:prstGeom prst="rect">
            <a:avLst/>
          </a:prstGeom>
          <a:ln w="0">
            <a:noFill/>
          </a:ln>
        </p:spPr>
      </p:sp>
      <p:sp>
        <p:nvSpPr>
          <p:cNvPr id="44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36–38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bekannte Karte mit 35 Höhenpunkten zeigen. Dritte kurze Rückfrage: Welche sichtbaren Entscheidungen beeinflussen die Aussage? Erwartet: Klassengrenzen, sequentielle Farben, Titel, Legende und Quellen. Die 21 geprüften Nachweise ohne DGM-Höhe und die Grenze „keine vollständige Verbreitungskarte“ benennen.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https://geomoer.github.io/moer-bsc-geodaten/unit14/unit14-00_overview.html</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216000" y="812520"/>
            <a:ext cx="7127280" cy="4008960"/>
          </a:xfrm>
          <a:prstGeom prst="rect">
            <a:avLst/>
          </a:prstGeom>
          <a:ln w="0">
            <a:noFill/>
          </a:ln>
        </p:spPr>
      </p:sp>
      <p:sp>
        <p:nvSpPr>
          <p:cNvPr id="44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38–40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Kurskette von Daten zu begründeter Darstellung schließen. Dokumentation und Ergebniskontrolle begleiten alle Schritte. Über den ganzen Rückblick nur zwei bis drei kurze Rückfragen zulassen. Überleitung: „Welche dieser Schritte können Sie inzwischen selbst erklären, und wo ist noch etwas offen?“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https://geomoer.github.io/moer-bsc-geodaten/unit15/unit15-01_rueckblick.html</a:t>
            </a:r>
            <a:endParaRPr b="0" lang="en-US" sz="20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216000" y="812520"/>
            <a:ext cx="7127280" cy="4008960"/>
          </a:xfrm>
          <a:prstGeom prst="rect">
            <a:avLst/>
          </a:prstGeom>
          <a:ln w="0">
            <a:noFill/>
          </a:ln>
        </p:spPr>
      </p:sp>
      <p:sp>
        <p:nvSpPr>
          <p:cNvPr id="4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40–43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Drei Minuten Einzelarbeit. Jede Person notiert einen jetzt erklärbaren Arbeitsschritt und eine verbliebene Unsicherheit; Unit oder bekanntes Beispiel ergänzen. Notizen bleiben privat und werden nicht bewertet.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https://geomoer.github.io/moer-bsc-geodaten/unit15/unit15-00_overview.html</a:t>
            </a:r>
            <a:endParaRPr b="0" lang="en-US" sz="20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216000" y="812520"/>
            <a:ext cx="7127280" cy="4008960"/>
          </a:xfrm>
          <a:prstGeom prst="rect">
            <a:avLst/>
          </a:prstGeom>
          <a:ln w="0">
            <a:noFill/>
          </a:ln>
        </p:spPr>
      </p:sp>
      <p:sp>
        <p:nvSpPr>
          <p:cNvPr id="45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43–47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Vier Minuten Partneraustausch. Höchstens eine gemeinsame, konkrete Frage formulieren lassen. Bei 100–150 Personen keine Einzelrunde beginnen; nur die gemeinsame Frage ins Plenum nehmen.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https://geomoer.github.io/moer-bsc-geodaten/unit15/unit15-00_overview.html</a:t>
            </a:r>
            <a:endParaRPr b="0" lang="en-US" sz="20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216000" y="812520"/>
            <a:ext cx="7127280" cy="4008960"/>
          </a:xfrm>
          <a:prstGeom prst="rect">
            <a:avLst/>
          </a:prstGeom>
          <a:ln w="0">
            <a:noFill/>
          </a:ln>
        </p:spPr>
      </p:sp>
      <p:sp>
        <p:nvSpPr>
          <p:cNvPr id="45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47–60 (13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Fragen sammeln, ähnliche Fragen bündeln und die häufigsten anhand bereits behandelter Beispiele klären. Offenbleibende Fragen samt Materialhinweis festhalten. Keine neue Analyse, QGIS-Demo oder Prüfungsbesprechung beginnen. Überleitung: „Neben Ihren Fragen interessiert uns, welche Teile des Kurses beim Lernen geholfen haben und was wir verbessern sollten.“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https://geomoer.github.io/moer-bsc-geodaten/unit15/unit15-01_rueckblick.html</a:t>
            </a:r>
            <a:endParaRPr b="0" lang="en-US" sz="20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216000" y="812520"/>
            <a:ext cx="7127280" cy="4008960"/>
          </a:xfrm>
          <a:prstGeom prst="rect">
            <a:avLst/>
          </a:prstGeom>
          <a:ln w="0">
            <a:noFill/>
          </a:ln>
        </p:spPr>
      </p:sp>
      <p:sp>
        <p:nvSpPr>
          <p:cNvPr id="45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60–68 (8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Fragebogen ohne Namensfeld und Sammelbox austeilen. Acht Minuten für sieben Einschätzungen und zwei offene Rückmeldungen geben. „Kann ich nicht beurteilen“ ist zulässig. Um keine Namen oder personenbezogenen Angaben bitten. Gefaltete Bögen in die Box geben lassen; erst nach der Sitzung auswerten.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https://geomoer.github.io/moer-bsc-geodaten/unit15/unit15-05_assignment.html</a:t>
            </a:r>
            <a:endParaRPr b="0" lang="en-US" sz="20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216000" y="812520"/>
            <a:ext cx="7127280" cy="4008960"/>
          </a:xfrm>
          <a:prstGeom prst="rect">
            <a:avLst/>
          </a:prstGeom>
          <a:ln w="0">
            <a:noFill/>
          </a:ln>
        </p:spPr>
      </p:sp>
      <p:sp>
        <p:nvSpPr>
          <p:cNvPr id="45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68–75 (7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Sieben Minuten für konkrete Ergänzungen anbieten. Beiträge bündeln: Was sollte bleiben, was sollte sich ändern? Mündliche Beiträge sind nicht anonym. Keine individuellen Leistungen oder handschriftlichen Freitexte live zeigen. Überleitung: „Zum Kursende halten wir drei Gedanken fest, die Sie bei späteren Datenprojekten wiederverwenden können.“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https://geomoer.github.io/moer-bsc-geodaten/unit15/unit15-05_assignment.html</a:t>
            </a:r>
            <a:endParaRPr b="0" lang="en-US" sz="20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216000" y="812520"/>
            <a:ext cx="7127280" cy="4008960"/>
          </a:xfrm>
          <a:prstGeom prst="rect">
            <a:avLst/>
          </a:prstGeom>
          <a:ln w="0">
            <a:noFill/>
          </a:ln>
        </p:spPr>
      </p:sp>
      <p:sp>
        <p:nvSpPr>
          <p:cNvPr id="46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75–80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Datentypen, Einheiten, Herkunft und Raumbezug nennen lassen. Als bekannten Fehlerfall das falsche CRS oder als Text gelesene Zahlen verwenden, nur wenn tatsächlich behandelt. Eine plausible Darstellung kann fachlich irreführen.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https://geomoer.github.io/moer-bsc-geodaten/unit15/unit15-05_assignment.html</a:t>
            </a:r>
            <a:endParaRPr b="0" lang="en-US" sz="20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216000" y="812520"/>
            <a:ext cx="7127280" cy="4008960"/>
          </a:xfrm>
          <a:prstGeom prst="rect">
            <a:avLst/>
          </a:prstGeom>
          <a:ln w="0">
            <a:noFill/>
          </a:ln>
        </p:spPr>
      </p:sp>
      <p:sp>
        <p:nvSpPr>
          <p:cNvPr id="46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80–85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 Units 11–14 den Weg von Rohrecords über Prüfregel und Zwischenergebnis zur Karte wiedererkennen lassen. Andere müssen später verstehen können, wie eine Zahl, ein Layer oder eine Karte entstanden ist.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https://geomoer.github.io/moer-bsc-geodaten/unit15/unit15-05_assignment.html</a:t>
            </a:r>
            <a:endParaRPr b="0" lang="en-US"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216000" y="812520"/>
            <a:ext cx="7127280" cy="4008960"/>
          </a:xfrm>
          <a:prstGeom prst="rect">
            <a:avLst/>
          </a:prstGeom>
          <a:ln w="0">
            <a:noFill/>
          </a:ln>
        </p:spPr>
      </p:sp>
      <p:sp>
        <p:nvSpPr>
          <p:cNvPr id="46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85–90 (5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Darstellung und Datengrundlage bestimmen, was eine Aussage trägt und wo ihre Grenze liegt. Auf Rückblick und Unit-Materialien verweisen. Keine neue Übungsaufgabe, Abgabe oder Pflicht-JiTT zu Unit 15 ankündigen. Bestehende Fristen früherer Units bleiben bestehen. Organisatorisches nur mit bestätigten Angaben beantworten, sonst auf reguläre Kurskanäle verweisen.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https://geomoer.github.io/moer-bsc-geodaten/unit15/unit15-05_assignment.html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https://geomoer.github.io/moer-bsc-geodaten/unit15/unit15-01_rueckblick.html</a:t>
            </a:r>
            <a:endParaRPr b="0" lang="en-US" sz="20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216000" y="812520"/>
            <a:ext cx="7127280" cy="4008960"/>
          </a:xfrm>
          <a:prstGeom prst="rect">
            <a:avLst/>
          </a:prstGeom>
          <a:ln w="0">
            <a:noFill/>
          </a:ln>
        </p:spPr>
      </p:sp>
      <p:sp>
        <p:nvSpPr>
          <p:cNvPr id="46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außerhalb der 90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vorhandener Zeit oder späterem Bedarf zeigen. Die Rückblicksseite verlinkt alle Units. Die GIS-Stationen 09–14 sind hier direkt erreichbar.</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https://geomoer.github.io/moer-bsc-geodaten/unit15/unit15-01_rueckblick.html</a:t>
            </a: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216000" y="812520"/>
            <a:ext cx="7127280" cy="4008960"/>
          </a:xfrm>
          <a:prstGeom prst="rect">
            <a:avLst/>
          </a:prstGeom>
          <a:ln w="0">
            <a:noFill/>
          </a:ln>
        </p:spPr>
      </p:sp>
      <p:sp>
        <p:nvSpPr>
          <p:cNvPr id="4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Nach Minute 90 zeigen; kein zusätzlicher Zeitblock.</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Sitzung mit dieser Folie beenden. Das FB19-Motiv erscheint wie in der Serie nur auf Titel und Abschluss.</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Kursseiten: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2 Bilder">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38CDF470-7753-4167-8D35-91EF370B489E}"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E8E031EF-157C-4BA4-A05B-2FC84D60F9EA}"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65ADA9B-31AB-4092-B87A-BD16AF555682}"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44DCE330-A2DE-434A-9161-47EC85354C9C}"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9DDA02B5-C67D-407F-A966-215E82159375}"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F7D37833-5AD3-406C-AA25-DAB96336FCC2}"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mit Bild">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A">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B">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3C9EFE7A-2A54-4EEE-871E-35E76739680A}"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15"/>
          </p:nvPr>
        </p:nvSpPr>
        <p:spPr/>
        <p:txBody>
          <a:bodyPr/>
          <a:p>
            <a:r>
              <a:t>Footer</a:t>
            </a:r>
          </a:p>
        </p:txBody>
      </p:sp>
      <p:sp>
        <p:nvSpPr>
          <p:cNvPr id="4" name="PlaceHolder 3"/>
          <p:cNvSpPr>
            <a:spLocks noGrp="1"/>
          </p:cNvSpPr>
          <p:nvPr>
            <p:ph type="sldNum" idx="16"/>
          </p:nvPr>
        </p:nvSpPr>
        <p:spPr/>
        <p:txBody>
          <a:bodyPr/>
          <a:p>
            <a:fld id="{F1F66C7F-D15D-40E4-B8AD-EB1FD521E79F}"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379EFBFB-E6D7-499B-A848-6505A7348CC4}"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C54B2A1B-10A7-408F-975F-ED2ED9ED8B27}"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44EE67BA-4257-4143-8609-B6627B663FC2}"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21"/>
          </p:nvPr>
        </p:nvSpPr>
        <p:spPr/>
        <p:txBody>
          <a:bodyPr/>
          <a:p>
            <a:r>
              <a:t>Footer</a:t>
            </a:r>
          </a:p>
        </p:txBody>
      </p:sp>
      <p:sp>
        <p:nvSpPr>
          <p:cNvPr id="5" name="PlaceHolder 4"/>
          <p:cNvSpPr>
            <a:spLocks noGrp="1"/>
          </p:cNvSpPr>
          <p:nvPr>
            <p:ph type="sldNum" idx="22"/>
          </p:nvPr>
        </p:nvSpPr>
        <p:spPr/>
        <p:txBody>
          <a:bodyPr/>
          <a:p>
            <a:fld id="{38FF0DF3-15DC-4E86-B3AA-83C54E5CA768}"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53650594-C0B5-4C56-81C4-6DECADA9E9F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62440" y="2187000"/>
            <a:ext cx="6662520" cy="200376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1" name="PlaceHolder 2"/>
          <p:cNvSpPr>
            <a:spLocks noGrp="1"/>
          </p:cNvSpPr>
          <p:nvPr>
            <p:ph type="body"/>
          </p:nvPr>
        </p:nvSpPr>
        <p:spPr>
          <a:xfrm>
            <a:off x="4762440" y="5524560"/>
            <a:ext cx="66625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4" name="PlaceHolder 2"/>
          <p:cNvSpPr>
            <a:spLocks noGrp="1"/>
          </p:cNvSpPr>
          <p:nvPr>
            <p:ph type="body"/>
          </p:nvPr>
        </p:nvSpPr>
        <p:spPr>
          <a:xfrm>
            <a:off x="7551360" y="333360"/>
            <a:ext cx="4305240" cy="58320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5" name="PlaceHolder 3"/>
          <p:cNvSpPr>
            <a:spLocks noGrp="1"/>
          </p:cNvSpPr>
          <p:nvPr>
            <p:ph type="body"/>
          </p:nvPr>
        </p:nvSpPr>
        <p:spPr>
          <a:xfrm>
            <a:off x="766800" y="1665360"/>
            <a:ext cx="6228000" cy="450036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 name="PlaceHolder 4"/>
          <p:cNvSpPr>
            <a:spLocks noGrp="1"/>
          </p:cNvSpPr>
          <p:nvPr>
            <p:ph type="ftr" idx="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 name="PlaceHolder 5">
            <a:extLst>
              <a:ext uri="{C183D7F6-B498-43B3-948B-1728B52AA6E4}">
                <adec:decorative xmlns:adec="http://schemas.microsoft.com/office/drawing/2017/decorative" val="1"/>
              </a:ext>
            </a:extLst>
          </p:cNvPr>
          <p:cNvSpPr>
            <a:spLocks noGrp="1"/>
          </p:cNvSpPr>
          <p:nvPr>
            <p:ph type="sldNum" idx="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9DD1E27A-F74C-4622-8A64-E18B5FCED473}"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 name="PlaceHolder 6"/>
          <p:cNvSpPr>
            <a:spLocks noGrp="1"/>
          </p:cNvSpPr>
          <p:nvPr>
            <p:ph type="body"/>
          </p:nvPr>
        </p:nvSpPr>
        <p:spPr>
          <a:xfrm rot="16200000">
            <a:off x="87746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9" name="PlaceHolder 7"/>
          <p:cNvSpPr>
            <a:spLocks noGrp="1"/>
          </p:cNvSpPr>
          <p:nvPr>
            <p:ph type="body"/>
          </p:nvPr>
        </p:nvSpPr>
        <p:spPr>
          <a:xfrm rot="16200000">
            <a:off x="4577400" y="3748320"/>
            <a:ext cx="450036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rIns="0" tIns="0" bIns="0" anchor="t">
            <a:noAutofit/>
          </a:bodyPr>
          <a:p>
            <a:pPr indent="0" defTabSz="914400">
              <a:lnSpc>
                <a:spcPct val="110000"/>
              </a:lnSpc>
              <a:buNone/>
              <a:tabLst>
                <a:tab algn="l" pos="0"/>
              </a:tabLst>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012BF01B-7711-433F-9993-59682D4EE99F}"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100" spc="-1" strike="noStrike">
                <a:solidFill>
                  <a:schemeClr val="dk1"/>
                </a:solidFill>
                <a:latin typeface="Noto Sans"/>
              </a:rPr>
              <a:t>Mastertextformat bearbeiten</a:t>
            </a:r>
            <a:endParaRPr b="0" lang="de-DE" sz="11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100" spc="-1" strike="noStrike">
                <a:solidFill>
                  <a:schemeClr val="dk1"/>
                </a:solidFill>
                <a:latin typeface="Noto Sans"/>
              </a:rPr>
              <a:t>Zweite Ebene</a:t>
            </a:r>
            <a:endParaRPr b="0" lang="de-DE" sz="11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100" spc="-1" strike="noStrike">
                <a:solidFill>
                  <a:schemeClr val="dk1"/>
                </a:solidFill>
                <a:latin typeface="Noto Sans"/>
              </a:rPr>
              <a:t>Dritte Ebene</a:t>
            </a:r>
            <a:endParaRPr b="0" lang="de-DE" sz="11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100" spc="-1" strike="noStrike">
                <a:solidFill>
                  <a:schemeClr val="dk1"/>
                </a:solidFill>
                <a:latin typeface="Noto Sans"/>
              </a:rPr>
              <a:t>Vierte Ebene</a:t>
            </a:r>
            <a:endParaRPr b="0" lang="de-DE" sz="11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100" spc="-1" strike="noStrike">
                <a:solidFill>
                  <a:schemeClr val="dk1"/>
                </a:solidFill>
                <a:latin typeface="Noto Sans"/>
              </a:rPr>
              <a:t>Fünfte Ebene</a:t>
            </a:r>
            <a:endParaRPr b="0" lang="de-DE" sz="1100" spc="-1" strike="noStrike">
              <a:solidFill>
                <a:schemeClr val="dk1"/>
              </a:solidFill>
              <a:latin typeface="Noto Sans"/>
            </a:endParaRP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F030CB1C-D4D6-42FC-B496-9D178EC97AC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46F02EC9-0241-4BF0-93D4-881ACBE4902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E65E95AE-C43A-4107-B06B-F33900E542A3}"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pc="-1" strike="noStrike">
                <a:solidFill>
                  <a:schemeClr val="dk1"/>
                </a:solidFill>
                <a:latin typeface="Noto Sans"/>
              </a:rPr>
              <a:t>Click to edit the title text format</a:t>
            </a: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9302855A-8AD4-487F-B493-6848431AA5D5}"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ffffff"/>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rIns="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rIns="0" tIns="1944000" bIns="0" anchor="t">
            <a:noAutofit/>
          </a:bodyPr>
          <a:p>
            <a:pPr indent="0" defTabSz="914400">
              <a:lnSpc>
                <a:spcPct val="100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accent1"/>
                </a:solidFill>
                <a:latin typeface="Noto Sans"/>
              </a:rPr>
              <a:t>Mastertextformat bearbeiten</a:t>
            </a:r>
            <a:endParaRPr b="0" lang="de-DE" sz="1200" spc="-1" strike="noStrike">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358920" indent="-358920" defTabSz="914400">
              <a:lnSpc>
                <a:spcPct val="120000"/>
              </a:lnSpc>
              <a:buClr>
                <a:srgbClr val="000000"/>
              </a:buClr>
              <a:buFont typeface="Noto Sans"/>
              <a:buAutoNum type="arabicPeriod"/>
            </a:pPr>
            <a:r>
              <a:rPr b="0" lang="de-DE" sz="2000" spc="-1" strike="noStrike">
                <a:solidFill>
                  <a:schemeClr val="dk1"/>
                </a:solidFill>
                <a:latin typeface="Noto Sans"/>
              </a:rPr>
              <a:t>Mastertextformat bearbeiten</a:t>
            </a:r>
            <a:endParaRPr b="0" lang="de-DE" sz="2000" spc="-1" strike="noStrike">
              <a:solidFill>
                <a:schemeClr val="dk1"/>
              </a:solidFill>
              <a:latin typeface="Noto Sans"/>
            </a:endParaRPr>
          </a:p>
          <a:p>
            <a:pPr lvl="1" marL="541440" indent="-182520" defTabSz="914400">
              <a:lnSpc>
                <a:spcPct val="120000"/>
              </a:lnSpc>
              <a:buClr>
                <a:srgbClr val="000000"/>
              </a:buClr>
              <a:buFont typeface="Noto Sans"/>
              <a:buChar char="‒"/>
            </a:pPr>
            <a:r>
              <a:rPr b="0" lang="de-DE" sz="2000" spc="-1" strike="noStrike">
                <a:solidFill>
                  <a:schemeClr val="dk1"/>
                </a:solidFill>
                <a:latin typeface="Noto Sans"/>
              </a:rPr>
              <a:t>Zweite Ebene</a:t>
            </a:r>
            <a:endParaRPr b="0" lang="de-DE" sz="2000" spc="-1" strike="noStrike">
              <a:solidFill>
                <a:schemeClr val="dk1"/>
              </a:solidFill>
              <a:latin typeface="Noto Sans"/>
            </a:endParaRPr>
          </a:p>
          <a:p>
            <a:pPr lvl="2" marL="716040" indent="-174600" defTabSz="914400">
              <a:lnSpc>
                <a:spcPct val="120000"/>
              </a:lnSpc>
              <a:buClr>
                <a:srgbClr val="000000"/>
              </a:buClr>
              <a:buFont typeface="Noto Sans"/>
              <a:buChar char="‒"/>
            </a:pPr>
            <a:r>
              <a:rPr b="0" lang="de-DE" sz="2000" spc="-1" strike="noStrike">
                <a:solidFill>
                  <a:schemeClr val="dk1"/>
                </a:solidFill>
                <a:latin typeface="Noto Sans"/>
              </a:rPr>
              <a:t>Dritte Ebene</a:t>
            </a:r>
            <a:endParaRPr b="0" lang="de-DE" sz="2000" spc="-1" strike="noStrike">
              <a:solidFill>
                <a:schemeClr val="dk1"/>
              </a:solidFill>
              <a:latin typeface="Noto Sans"/>
            </a:endParaRPr>
          </a:p>
          <a:p>
            <a:pPr lvl="3" marL="898560" indent="-181080" defTabSz="914400">
              <a:lnSpc>
                <a:spcPct val="120000"/>
              </a:lnSpc>
              <a:buClr>
                <a:srgbClr val="000000"/>
              </a:buClr>
              <a:buFont typeface="Noto Sans"/>
              <a:buChar char="‒"/>
            </a:pPr>
            <a:r>
              <a:rPr b="0" lang="de-DE" sz="2000" spc="-1" strike="noStrike">
                <a:solidFill>
                  <a:schemeClr val="dk1"/>
                </a:solidFill>
                <a:latin typeface="Noto Sans"/>
              </a:rPr>
              <a:t>Vierte Ebene</a:t>
            </a:r>
            <a:endParaRPr b="0" lang="de-DE" sz="2000" spc="-1" strike="noStrike">
              <a:solidFill>
                <a:schemeClr val="dk1"/>
              </a:solidFill>
              <a:latin typeface="Noto Sans"/>
            </a:endParaRPr>
          </a:p>
          <a:p>
            <a:pPr lvl="4" marL="1074600" indent="-176040" defTabSz="914400">
              <a:lnSpc>
                <a:spcPct val="120000"/>
              </a:lnSpc>
              <a:buClr>
                <a:srgbClr val="000000"/>
              </a:buClr>
              <a:buFont typeface="Noto Sans"/>
              <a:buChar char="‒"/>
            </a:pPr>
            <a:r>
              <a:rPr b="0" lang="de-DE" sz="2000" spc="-1" strike="noStrike">
                <a:solidFill>
                  <a:schemeClr val="dk1"/>
                </a:solidFill>
                <a:latin typeface="Noto Sans"/>
              </a:rPr>
              <a:t>Fünfte Ebene</a:t>
            </a:r>
            <a:endParaRPr b="0" lang="de-DE" sz="2000" spc="-1" strike="noStrike">
              <a:solidFill>
                <a:schemeClr val="dk1"/>
              </a:solidFill>
              <a:latin typeface="Noto Sans"/>
            </a:endParaRP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81968331-69AD-44DA-8C9A-20FF4C06A3C9}"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lt1"/>
                </a:solidFill>
                <a:latin typeface="Noto Sans"/>
              </a:rPr>
              <a:t>Mastertitelformat bearbeiten</a:t>
            </a:r>
            <a:endParaRPr b="0" lang="de-DE" sz="3600" spc="-1" strike="noStrike">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lt1"/>
                </a:solidFill>
                <a:latin typeface="Noto Sans"/>
              </a:defRPr>
            </a:lvl1pPr>
          </a:lstStyle>
          <a:p>
            <a:pPr indent="0" defTabSz="914400">
              <a:lnSpc>
                <a:spcPct val="100000"/>
              </a:lnSpc>
              <a:buNone/>
            </a:pPr>
            <a:r>
              <a:rPr b="0" lang="de-DE" sz="800" spc="-1" strike="noStrike">
                <a:solidFill>
                  <a:schemeClr val="lt1"/>
                </a:solidFill>
                <a:latin typeface="Noto Sans"/>
              </a:rPr>
              <a:t>&lt;footer&gt;</a:t>
            </a:r>
            <a:endParaRPr b="0" lang="en-US" sz="800" spc="-1" strike="noStrike">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1E76781E-01DF-4511-A1D2-38160BB53C6A}" type="slidenum">
              <a:rPr b="0" lang="de-DE" sz="800" spc="-1" strike="noStrike">
                <a:solidFill>
                  <a:schemeClr val="lt1"/>
                </a:solidFill>
                <a:latin typeface="Noto Sans"/>
              </a:rPr>
              <a:t>&lt;number&gt;</a:t>
            </a:fld>
            <a:endParaRPr b="0" lang="en-US" sz="800" spc="-1" strike="noStrike">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FA0CA3B4-5A12-472A-9F9E-5B09A091C089}" type="slidenum">
              <a:rPr b="0" lang="de-DE" sz="800" spc="-1" strike="noStrike">
                <a:solidFill>
                  <a:schemeClr val="lt1"/>
                </a:solidFill>
                <a:latin typeface="Noto Sans"/>
              </a:rPr>
              <a:t>&lt;number&gt;</a:t>
            </a:fld>
            <a:endParaRPr b="0" lang="en-US" sz="800" spc="-1" strike="noStrike">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1BFC3A84-D924-4A65-A43F-96E848B8B8BE}"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C3A1848F-EC7D-4B3F-B4E5-74547EB47B6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29C4BE83-DDBC-461C-B5C7-4648299EBC6F}"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slideLayout" Target="../slideLayouts/slideLayout16.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slideLayout" Target="../slideLayouts/slideLayout16.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slideLayout" Target="../slideLayouts/slideLayout16.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svg"/><Relationship Id="rId3" Type="http://schemas.openxmlformats.org/officeDocument/2006/relationships/slideLayout" Target="../slideLayouts/slideLayout16.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slideLayout" Target="../slideLayouts/slideLayout16.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6.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hyperlink" Target="https://geomoer.github.io/moer-bsc-geodaten/unit15/unit15-01_rueckblick.html" TargetMode="External"/><Relationship Id="rId2" Type="http://schemas.openxmlformats.org/officeDocument/2006/relationships/hyperlink" Target="https://geomoer.github.io/moer-bsc-geodaten/unit09/unit09-00_overview.html" TargetMode="External"/><Relationship Id="rId3" Type="http://schemas.openxmlformats.org/officeDocument/2006/relationships/hyperlink" Target="https://geomoer.github.io/moer-bsc-geodaten/unit10/unit10-00_overview.html" TargetMode="External"/><Relationship Id="rId4" Type="http://schemas.openxmlformats.org/officeDocument/2006/relationships/hyperlink" Target="https://geomoer.github.io/moer-bsc-geodaten/unit11/unit11-00_overview.html" TargetMode="External"/><Relationship Id="rId5" Type="http://schemas.openxmlformats.org/officeDocument/2006/relationships/hyperlink" Target="https://geomoer.github.io/moer-bsc-geodaten/unit12/unit12-00_overview.html" TargetMode="External"/><Relationship Id="rId6" Type="http://schemas.openxmlformats.org/officeDocument/2006/relationships/hyperlink" Target="https://geomoer.github.io/moer-bsc-geodaten/unit13/unit13-00_overview.html" TargetMode="External"/><Relationship Id="rId7" Type="http://schemas.openxmlformats.org/officeDocument/2006/relationships/hyperlink" Target="https://geomoer.github.io/moer-bsc-geodaten/unit14/unit14-00_overview.html" TargetMode="External"/><Relationship Id="rId8" Type="http://schemas.openxmlformats.org/officeDocument/2006/relationships/slideLayout" Target="../slideLayouts/slideLayout16.xml"/><Relationship Id="rId9"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35160" y="2666880"/>
            <a:ext cx="4107240" cy="1407240"/>
          </a:xfrm>
          <a:prstGeom prst="rect">
            <a:avLst/>
          </a:prstGeom>
          <a:ln w="0">
            <a:noFill/>
          </a:ln>
        </p:spPr>
      </p:pic>
      <p:sp>
        <p:nvSpPr>
          <p:cNvPr id="92" name=""/>
          <p:cNvSpPr txBox="1"/>
          <p:nvPr/>
        </p:nvSpPr>
        <p:spPr>
          <a:xfrm>
            <a:off x="4762440" y="2095560"/>
            <a:ext cx="6553440" cy="2400480"/>
          </a:xfrm>
          <a:prstGeom prst="rect">
            <a:avLst/>
          </a:prstGeom>
          <a:noFill/>
          <a:ln w="0">
            <a:noFill/>
          </a:ln>
        </p:spPr>
        <p:txBody>
          <a:bodyPr lIns="0" rIns="0" tIns="0" bIns="0" anchor="t">
            <a:noAutofit/>
          </a:bodyPr>
          <a:p>
            <a:r>
              <a:rPr b="0" lang="en-US" sz="4040" spc="-1" strike="noStrike">
                <a:solidFill>
                  <a:srgbClr val="ffffff"/>
                </a:solidFill>
                <a:latin typeface="Noto Sans"/>
              </a:rPr>
              <a:t>Rückblick, offene Fragen</a:t>
            </a:r>
            <a:endParaRPr b="0" lang="en-US" sz="4040" spc="-1" strike="noStrike">
              <a:solidFill>
                <a:srgbClr val="ffffff"/>
              </a:solidFill>
              <a:latin typeface="Arial"/>
            </a:endParaRPr>
          </a:p>
          <a:p>
            <a:r>
              <a:rPr b="0" lang="en-US" sz="4040" spc="-1" strike="noStrike">
                <a:solidFill>
                  <a:srgbClr val="ffffff"/>
                </a:solidFill>
                <a:latin typeface="Noto Sans"/>
              </a:rPr>
              <a:t>und Kursabschluss</a:t>
            </a:r>
            <a:endParaRPr b="0" lang="en-US" sz="4040" spc="-1" strike="noStrike">
              <a:solidFill>
                <a:srgbClr val="ffffff"/>
              </a:solidFill>
              <a:latin typeface="Arial"/>
            </a:endParaRPr>
          </a:p>
        </p:txBody>
      </p:sp>
      <p:sp>
        <p:nvSpPr>
          <p:cNvPr id="93" name=""/>
          <p:cNvSpPr txBox="1"/>
          <p:nvPr/>
        </p:nvSpPr>
        <p:spPr>
          <a:xfrm>
            <a:off x="4762440" y="4678560"/>
            <a:ext cx="6400800" cy="533520"/>
          </a:xfrm>
          <a:prstGeom prst="rect">
            <a:avLst/>
          </a:prstGeom>
          <a:noFill/>
          <a:ln w="0">
            <a:noFill/>
          </a:ln>
        </p:spPr>
        <p:txBody>
          <a:bodyPr lIns="0" rIns="0" tIns="0" bIns="0" anchor="t">
            <a:noAutofit/>
          </a:bodyPr>
          <a:p>
            <a:r>
              <a:rPr b="0" lang="en-US" sz="2630" spc="-1" strike="noStrike">
                <a:solidFill>
                  <a:srgbClr val="ffffff"/>
                </a:solidFill>
                <a:latin typeface="Noto Sans"/>
              </a:rPr>
              <a:t>Unit 15</a:t>
            </a:r>
            <a:endParaRPr b="0" lang="en-US" sz="2630" spc="-1" strike="noStrike">
              <a:solidFill>
                <a:srgbClr val="ffffff"/>
              </a:solidFill>
              <a:latin typeface="Arial"/>
            </a:endParaRPr>
          </a:p>
        </p:txBody>
      </p:sp>
      <p:sp>
        <p:nvSpPr>
          <p:cNvPr id="94" name=""/>
          <p:cNvSpPr txBox="1"/>
          <p:nvPr/>
        </p:nvSpPr>
        <p:spPr>
          <a:xfrm>
            <a:off x="4762440" y="5669280"/>
            <a:ext cx="6400800" cy="762120"/>
          </a:xfrm>
          <a:prstGeom prst="rect">
            <a:avLst/>
          </a:prstGeom>
          <a:noFill/>
          <a:ln w="0">
            <a:noFill/>
          </a:ln>
        </p:spPr>
        <p:txBody>
          <a:bodyPr lIns="0" rIns="0" tIns="0" bIns="0" anchor="t">
            <a:noAutofit/>
          </a:bodyPr>
          <a:p>
            <a:r>
              <a:rPr b="0" lang="en-US" sz="1790" spc="-1" strike="noStrike">
                <a:solidFill>
                  <a:srgbClr val="ffffff"/>
                </a:solidFill>
                <a:latin typeface="Noto Sans"/>
              </a:rPr>
              <a:t>Fachbereich 19 · Geographie</a:t>
            </a:r>
            <a:endParaRPr b="0" lang="en-US" sz="1790" spc="-1" strike="noStrike">
              <a:solidFill>
                <a:srgbClr val="ffffff"/>
              </a:solidFill>
              <a:latin typeface="Arial"/>
            </a:endParaRPr>
          </a:p>
          <a:p>
            <a:r>
              <a:rPr b="0" lang="en-US" sz="1790" spc="-1" strike="noStrike">
                <a:solidFill>
                  <a:srgbClr val="ffffff"/>
                </a:solidFill>
                <a:latin typeface="Noto Sans"/>
              </a:rPr>
              <a:t>Philipps-Universität Marburg</a:t>
            </a:r>
            <a:endParaRPr b="0" lang="en-US" sz="17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JiTT: Rückblick auf Unit 14</a:t>
            </a:r>
            <a:endParaRPr b="0" lang="en-US" sz="3190" spc="-1" strike="noStrike">
              <a:solidFill>
                <a:srgbClr val="000000"/>
              </a:solidFill>
              <a:latin typeface="Arial"/>
            </a:endParaRPr>
          </a:p>
        </p:txBody>
      </p:sp>
      <p:sp>
        <p:nvSpPr>
          <p:cNvPr id="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PLATZHALTER · VOLLSTÄNDIG AUSTAUSCHBAR</a:t>
            </a:r>
            <a:endParaRPr b="0" lang="en-US" sz="1130" spc="-1" strike="noStrike">
              <a:solidFill>
                <a:srgbClr val="000000"/>
              </a:solidFill>
              <a:latin typeface="Arial"/>
            </a:endParaRPr>
          </a:p>
        </p:txBody>
      </p:sp>
      <p:sp>
        <p:nvSpPr>
          <p:cNvPr id="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a:t>
            </a:r>
            <a:endParaRPr b="0" lang="en-US" sz="939" spc="-1" strike="noStrike">
              <a:solidFill>
                <a:srgbClr val="000000"/>
              </a:solidFill>
              <a:latin typeface="Arial"/>
            </a:endParaRPr>
          </a:p>
        </p:txBody>
      </p:sp>
      <p:sp>
        <p:nvSpPr>
          <p:cNvPr id="99" name="JiTT – vollständigen Block ersetzen"/>
          <p:cNvSpPr/>
          <p:nvPr/>
        </p:nvSpPr>
        <p:spPr>
          <a:xfrm>
            <a:off x="762120" y="1806120"/>
            <a:ext cx="10668240" cy="4152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00" name=""/>
          <p:cNvSpPr txBox="1"/>
          <p:nvPr/>
        </p:nvSpPr>
        <p:spPr>
          <a:xfrm>
            <a:off x="1371600" y="2971800"/>
            <a:ext cx="9448920" cy="1409760"/>
          </a:xfrm>
          <a:prstGeom prst="rect">
            <a:avLst/>
          </a:prstGeom>
          <a:noFill/>
          <a:ln w="0">
            <a:noFill/>
          </a:ln>
        </p:spPr>
        <p:txBody>
          <a:bodyPr lIns="0" rIns="0" tIns="0" bIns="0" anchor="t">
            <a:noAutofit/>
          </a:bodyPr>
          <a:p>
            <a:pPr algn="ctr"/>
            <a:r>
              <a:rPr b="0" lang="en-US" sz="3010" spc="-1" strike="noStrike">
                <a:solidFill>
                  <a:srgbClr val="004899"/>
                </a:solidFill>
                <a:latin typeface="Noto Sans"/>
              </a:rPr>
              <a:t>[Hier 2–3 tatsächliche JiTT-Fragen</a:t>
            </a:r>
            <a:endParaRPr b="0" lang="en-US" sz="3010" spc="-1" strike="noStrike">
              <a:solidFill>
                <a:srgbClr val="000000"/>
              </a:solidFill>
              <a:latin typeface="Arial"/>
            </a:endParaRPr>
          </a:p>
          <a:p>
            <a:pPr algn="ctr"/>
            <a:r>
              <a:rPr b="0" lang="en-US" sz="3010" spc="-1" strike="noStrike">
                <a:solidFill>
                  <a:srgbClr val="004899"/>
                </a:solidFill>
                <a:latin typeface="Noto Sans"/>
              </a:rPr>
              <a:t>und aggregierte Antworten zu Unit 14 einfügen]</a:t>
            </a:r>
            <a:endParaRPr b="0" lang="en-US" sz="301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01: Digitale Daten und Computer</a:t>
            </a:r>
            <a:endParaRPr b="0" lang="en-US" sz="3190" spc="-1" strike="noStrike">
              <a:solidFill>
                <a:srgbClr val="000000"/>
              </a:solidFill>
              <a:latin typeface="Arial"/>
            </a:endParaRPr>
          </a:p>
        </p:txBody>
      </p:sp>
      <p:sp>
        <p:nvSpPr>
          <p:cNvPr id="1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1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1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a:t>
            </a:r>
            <a:endParaRPr b="0" lang="en-US" sz="939" spc="-1" strike="noStrike">
              <a:solidFill>
                <a:srgbClr val="000000"/>
              </a:solidFill>
              <a:latin typeface="Arial"/>
            </a:endParaRPr>
          </a:p>
        </p:txBody>
      </p:sp>
      <p:sp>
        <p:nvSpPr>
          <p:cNvPr id="105"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01</a:t>
            </a:r>
            <a:endParaRPr b="0" lang="en-US" sz="7330" spc="-1" strike="noStrike">
              <a:solidFill>
                <a:srgbClr val="000000"/>
              </a:solidFill>
              <a:latin typeface="Arial"/>
            </a:endParaRPr>
          </a:p>
        </p:txBody>
      </p:sp>
      <p:sp>
        <p:nvSpPr>
          <p:cNvPr id="106"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07"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08"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109"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Dateien speichern und wiederfinden</a:t>
            </a:r>
            <a:endParaRPr b="0" lang="en-US" sz="2720" spc="-1" strike="noStrike">
              <a:solidFill>
                <a:srgbClr val="000000"/>
              </a:solidFill>
              <a:latin typeface="Arial"/>
            </a:endParaRPr>
          </a:p>
        </p:txBody>
      </p:sp>
      <p:sp>
        <p:nvSpPr>
          <p:cNvPr id="110"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1"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2"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113"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Kodierung, Format und Speicherort gehören zusammen.</a:t>
            </a:r>
            <a:endParaRPr b="0" lang="en-US" sz="2450" spc="-1" strike="noStrike">
              <a:solidFill>
                <a:srgbClr val="000000"/>
              </a:solidFill>
              <a:latin typeface="Arial"/>
            </a:endParaRPr>
          </a:p>
        </p:txBody>
      </p:sp>
      <p:sp>
        <p:nvSpPr>
          <p:cNvPr id="114"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5"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01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02: Daten in Tabellen erfassen</a:t>
            </a:r>
            <a:endParaRPr b="0" lang="en-US" sz="3190" spc="-1" strike="noStrike">
              <a:solidFill>
                <a:srgbClr val="000000"/>
              </a:solidFill>
              <a:latin typeface="Arial"/>
            </a:endParaRPr>
          </a:p>
        </p:txBody>
      </p:sp>
      <p:sp>
        <p:nvSpPr>
          <p:cNvPr id="11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11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11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4</a:t>
            </a:r>
            <a:endParaRPr b="0" lang="en-US" sz="939" spc="-1" strike="noStrike">
              <a:solidFill>
                <a:srgbClr val="000000"/>
              </a:solidFill>
              <a:latin typeface="Arial"/>
            </a:endParaRPr>
          </a:p>
        </p:txBody>
      </p:sp>
      <p:sp>
        <p:nvSpPr>
          <p:cNvPr id="120"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02</a:t>
            </a:r>
            <a:endParaRPr b="0" lang="en-US" sz="7330" spc="-1" strike="noStrike">
              <a:solidFill>
                <a:srgbClr val="000000"/>
              </a:solidFill>
              <a:latin typeface="Arial"/>
            </a:endParaRPr>
          </a:p>
        </p:txBody>
      </p:sp>
      <p:sp>
        <p:nvSpPr>
          <p:cNvPr id="121"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2"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3"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124"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Eine Beobachtung pro Zeile · ein Merkmal pro Spalte</a:t>
            </a:r>
            <a:endParaRPr b="0" lang="en-US" sz="2720" spc="-1" strike="noStrike">
              <a:solidFill>
                <a:srgbClr val="000000"/>
              </a:solidFill>
              <a:latin typeface="Arial"/>
            </a:endParaRPr>
          </a:p>
        </p:txBody>
      </p:sp>
      <p:sp>
        <p:nvSpPr>
          <p:cNvPr id="125"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6"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7"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128"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Anzeige, Datentyp und Bedeutung gemeinsam prüfen.</a:t>
            </a:r>
            <a:endParaRPr b="0" lang="en-US" sz="2450" spc="-1" strike="noStrike">
              <a:solidFill>
                <a:srgbClr val="000000"/>
              </a:solidFill>
              <a:latin typeface="Arial"/>
            </a:endParaRPr>
          </a:p>
        </p:txBody>
      </p:sp>
      <p:sp>
        <p:nvSpPr>
          <p:cNvPr id="129"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0"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02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03: Daten organisieren und bereinigen</a:t>
            </a:r>
            <a:endParaRPr b="0" lang="en-US" sz="3190" spc="-1" strike="noStrike">
              <a:solidFill>
                <a:srgbClr val="000000"/>
              </a:solidFill>
              <a:latin typeface="Arial"/>
            </a:endParaRPr>
          </a:p>
        </p:txBody>
      </p:sp>
      <p:sp>
        <p:nvSpPr>
          <p:cNvPr id="13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13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13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5</a:t>
            </a:r>
            <a:endParaRPr b="0" lang="en-US" sz="939" spc="-1" strike="noStrike">
              <a:solidFill>
                <a:srgbClr val="000000"/>
              </a:solidFill>
              <a:latin typeface="Arial"/>
            </a:endParaRPr>
          </a:p>
        </p:txBody>
      </p:sp>
      <p:sp>
        <p:nvSpPr>
          <p:cNvPr id="135"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03</a:t>
            </a:r>
            <a:endParaRPr b="0" lang="en-US" sz="7330" spc="-1" strike="noStrike">
              <a:solidFill>
                <a:srgbClr val="000000"/>
              </a:solidFill>
              <a:latin typeface="Arial"/>
            </a:endParaRPr>
          </a:p>
        </p:txBody>
      </p:sp>
      <p:sp>
        <p:nvSpPr>
          <p:cNvPr id="136"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7"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8"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139"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Rohdaten und Bearbeitungsschritte erhalten</a:t>
            </a:r>
            <a:endParaRPr b="0" lang="en-US" sz="2720" spc="-1" strike="noStrike">
              <a:solidFill>
                <a:srgbClr val="000000"/>
              </a:solidFill>
              <a:latin typeface="Arial"/>
            </a:endParaRPr>
          </a:p>
        </p:txBody>
      </p:sp>
      <p:sp>
        <p:nvSpPr>
          <p:cNvPr id="140"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1"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2"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143"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Fehlend, gefiltert und gelöscht sind verschiedene Zustände.</a:t>
            </a:r>
            <a:endParaRPr b="0" lang="en-US" sz="2450" spc="-1" strike="noStrike">
              <a:solidFill>
                <a:srgbClr val="000000"/>
              </a:solidFill>
              <a:latin typeface="Arial"/>
            </a:endParaRPr>
          </a:p>
        </p:txBody>
      </p:sp>
      <p:sp>
        <p:nvSpPr>
          <p:cNvPr id="144"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45"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03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04: Daten mit Kennwerten beschreiben</a:t>
            </a:r>
            <a:endParaRPr b="0" lang="en-US" sz="3190" spc="-1" strike="noStrike">
              <a:solidFill>
                <a:srgbClr val="000000"/>
              </a:solidFill>
              <a:latin typeface="Arial"/>
            </a:endParaRPr>
          </a:p>
        </p:txBody>
      </p:sp>
      <p:sp>
        <p:nvSpPr>
          <p:cNvPr id="14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14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14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6</a:t>
            </a:r>
            <a:endParaRPr b="0" lang="en-US" sz="939" spc="-1" strike="noStrike">
              <a:solidFill>
                <a:srgbClr val="000000"/>
              </a:solidFill>
              <a:latin typeface="Arial"/>
            </a:endParaRPr>
          </a:p>
        </p:txBody>
      </p:sp>
      <p:sp>
        <p:nvSpPr>
          <p:cNvPr id="150"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04</a:t>
            </a:r>
            <a:endParaRPr b="0" lang="en-US" sz="7330" spc="-1" strike="noStrike">
              <a:solidFill>
                <a:srgbClr val="000000"/>
              </a:solidFill>
              <a:latin typeface="Arial"/>
            </a:endParaRPr>
          </a:p>
        </p:txBody>
      </p:sp>
      <p:sp>
        <p:nvSpPr>
          <p:cNvPr id="151"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2"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3"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154"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Lage und Streuung einer Verteilung betrachten</a:t>
            </a:r>
            <a:endParaRPr b="0" lang="en-US" sz="2720" spc="-1" strike="noStrike">
              <a:solidFill>
                <a:srgbClr val="000000"/>
              </a:solidFill>
              <a:latin typeface="Arial"/>
            </a:endParaRPr>
          </a:p>
        </p:txBody>
      </p:sp>
      <p:sp>
        <p:nvSpPr>
          <p:cNvPr id="155"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56"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7"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158"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Ein Mittelwert allein zeigt weder Ausreißer noch Streuung.</a:t>
            </a:r>
            <a:endParaRPr b="0" lang="en-US" sz="2450" spc="-1" strike="noStrike">
              <a:solidFill>
                <a:srgbClr val="000000"/>
              </a:solidFill>
              <a:latin typeface="Arial"/>
            </a:endParaRPr>
          </a:p>
        </p:txBody>
      </p:sp>
      <p:sp>
        <p:nvSpPr>
          <p:cNvPr id="159"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60"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04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05: Zusammenfassen und Zusammenhänge betrachten</a:t>
            </a:r>
            <a:endParaRPr b="0" lang="en-US" sz="3190" spc="-1" strike="noStrike">
              <a:solidFill>
                <a:srgbClr val="000000"/>
              </a:solidFill>
              <a:latin typeface="Arial"/>
            </a:endParaRPr>
          </a:p>
        </p:txBody>
      </p:sp>
      <p:sp>
        <p:nvSpPr>
          <p:cNvPr id="16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16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16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7</a:t>
            </a:r>
            <a:endParaRPr b="0" lang="en-US" sz="939" spc="-1" strike="noStrike">
              <a:solidFill>
                <a:srgbClr val="000000"/>
              </a:solidFill>
              <a:latin typeface="Arial"/>
            </a:endParaRPr>
          </a:p>
        </p:txBody>
      </p:sp>
      <p:sp>
        <p:nvSpPr>
          <p:cNvPr id="165"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05</a:t>
            </a:r>
            <a:endParaRPr b="0" lang="en-US" sz="7330" spc="-1" strike="noStrike">
              <a:solidFill>
                <a:srgbClr val="000000"/>
              </a:solidFill>
              <a:latin typeface="Arial"/>
            </a:endParaRPr>
          </a:p>
        </p:txBody>
      </p:sp>
      <p:sp>
        <p:nvSpPr>
          <p:cNvPr id="166"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67"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8"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169"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Kennzahl und Grafik gemeinsam lesen</a:t>
            </a:r>
            <a:endParaRPr b="0" lang="en-US" sz="2720" spc="-1" strike="noStrike">
              <a:solidFill>
                <a:srgbClr val="000000"/>
              </a:solidFill>
              <a:latin typeface="Arial"/>
            </a:endParaRPr>
          </a:p>
        </p:txBody>
      </p:sp>
      <p:sp>
        <p:nvSpPr>
          <p:cNvPr id="170"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1"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2"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173"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Korrelation beweist keine Ursache.</a:t>
            </a:r>
            <a:endParaRPr b="0" lang="en-US" sz="2450" spc="-1" strike="noStrike">
              <a:solidFill>
                <a:srgbClr val="000000"/>
              </a:solidFill>
              <a:latin typeface="Arial"/>
            </a:endParaRPr>
          </a:p>
        </p:txBody>
      </p:sp>
      <p:sp>
        <p:nvSpPr>
          <p:cNvPr id="174"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5"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05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06: Wiederkehrende Schritte in Excel</a:t>
            </a:r>
            <a:endParaRPr b="0" lang="en-US" sz="3190" spc="-1" strike="noStrike">
              <a:solidFill>
                <a:srgbClr val="000000"/>
              </a:solidFill>
              <a:latin typeface="Arial"/>
            </a:endParaRPr>
          </a:p>
        </p:txBody>
      </p:sp>
      <p:sp>
        <p:nvSpPr>
          <p:cNvPr id="17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17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17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8</a:t>
            </a:r>
            <a:endParaRPr b="0" lang="en-US" sz="939" spc="-1" strike="noStrike">
              <a:solidFill>
                <a:srgbClr val="000000"/>
              </a:solidFill>
              <a:latin typeface="Arial"/>
            </a:endParaRPr>
          </a:p>
        </p:txBody>
      </p:sp>
      <p:sp>
        <p:nvSpPr>
          <p:cNvPr id="180"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06</a:t>
            </a:r>
            <a:endParaRPr b="0" lang="en-US" sz="7330" spc="-1" strike="noStrike">
              <a:solidFill>
                <a:srgbClr val="000000"/>
              </a:solidFill>
              <a:latin typeface="Arial"/>
            </a:endParaRPr>
          </a:p>
        </p:txBody>
      </p:sp>
      <p:sp>
        <p:nvSpPr>
          <p:cNvPr id="181"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2"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83"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184"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Formeln kopieren und Zellbezüge kontrollieren</a:t>
            </a:r>
            <a:endParaRPr b="0" lang="en-US" sz="2720" spc="-1" strike="noStrike">
              <a:solidFill>
                <a:srgbClr val="000000"/>
              </a:solidFill>
              <a:latin typeface="Arial"/>
            </a:endParaRPr>
          </a:p>
        </p:txBody>
      </p:sp>
      <p:sp>
        <p:nvSpPr>
          <p:cNvPr id="185"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86"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87"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188"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Ein kopierter Bezug muss noch auf die gemeinte Zelle zeigen.</a:t>
            </a:r>
            <a:endParaRPr b="0" lang="en-US" sz="2450" spc="-1" strike="noStrike">
              <a:solidFill>
                <a:srgbClr val="000000"/>
              </a:solidFill>
              <a:latin typeface="Arial"/>
            </a:endParaRPr>
          </a:p>
        </p:txBody>
      </p:sp>
      <p:sp>
        <p:nvSpPr>
          <p:cNvPr id="189"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0"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06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07: FAIR, README und Versionierung</a:t>
            </a:r>
            <a:endParaRPr b="0" lang="en-US" sz="3190" spc="-1" strike="noStrike">
              <a:solidFill>
                <a:srgbClr val="000000"/>
              </a:solidFill>
              <a:latin typeface="Arial"/>
            </a:endParaRPr>
          </a:p>
        </p:txBody>
      </p:sp>
      <p:sp>
        <p:nvSpPr>
          <p:cNvPr id="19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19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19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9</a:t>
            </a:r>
            <a:endParaRPr b="0" lang="en-US" sz="939" spc="-1" strike="noStrike">
              <a:solidFill>
                <a:srgbClr val="000000"/>
              </a:solidFill>
              <a:latin typeface="Arial"/>
            </a:endParaRPr>
          </a:p>
        </p:txBody>
      </p:sp>
      <p:sp>
        <p:nvSpPr>
          <p:cNvPr id="195"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07</a:t>
            </a:r>
            <a:endParaRPr b="0" lang="en-US" sz="7330" spc="-1" strike="noStrike">
              <a:solidFill>
                <a:srgbClr val="000000"/>
              </a:solidFill>
              <a:latin typeface="Arial"/>
            </a:endParaRPr>
          </a:p>
        </p:txBody>
      </p:sp>
      <p:sp>
        <p:nvSpPr>
          <p:cNvPr id="196"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7"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8"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199"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Herkunft, Struktur, Bearbeitung und Version beschreiben</a:t>
            </a:r>
            <a:endParaRPr b="0" lang="en-US" sz="2720" spc="-1" strike="noStrike">
              <a:solidFill>
                <a:srgbClr val="000000"/>
              </a:solidFill>
              <a:latin typeface="Arial"/>
            </a:endParaRPr>
          </a:p>
        </p:txBody>
      </p:sp>
      <p:sp>
        <p:nvSpPr>
          <p:cNvPr id="200"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1"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2"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203"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Andere müssen einen Datenstand finden und verstehen können.</a:t>
            </a:r>
            <a:endParaRPr b="0" lang="en-US" sz="2450" spc="-1" strike="noStrike">
              <a:solidFill>
                <a:srgbClr val="000000"/>
              </a:solidFill>
              <a:latin typeface="Arial"/>
            </a:endParaRPr>
          </a:p>
        </p:txBody>
      </p:sp>
      <p:sp>
        <p:nvSpPr>
          <p:cNvPr id="204"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5"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07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08: Wiederkehrende Schritte automatisieren</a:t>
            </a:r>
            <a:endParaRPr b="0" lang="en-US" sz="3190" spc="-1" strike="noStrike">
              <a:solidFill>
                <a:srgbClr val="000000"/>
              </a:solidFill>
              <a:latin typeface="Arial"/>
            </a:endParaRPr>
          </a:p>
        </p:txBody>
      </p:sp>
      <p:sp>
        <p:nvSpPr>
          <p:cNvPr id="20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GRUNDLAGEN IM AUFBAU</a:t>
            </a:r>
            <a:endParaRPr b="0" lang="en-US" sz="1130" spc="-1" strike="noStrike">
              <a:solidFill>
                <a:srgbClr val="000000"/>
              </a:solidFill>
              <a:latin typeface="Arial"/>
            </a:endParaRPr>
          </a:p>
        </p:txBody>
      </p:sp>
      <p:sp>
        <p:nvSpPr>
          <p:cNvPr id="20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0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10</a:t>
            </a:r>
            <a:endParaRPr b="0" lang="en-US" sz="939" spc="-1" strike="noStrike">
              <a:solidFill>
                <a:srgbClr val="000000"/>
              </a:solidFill>
              <a:latin typeface="Arial"/>
            </a:endParaRPr>
          </a:p>
        </p:txBody>
      </p:sp>
      <p:sp>
        <p:nvSpPr>
          <p:cNvPr id="210" name=""/>
          <p:cNvSpPr txBox="1"/>
          <p:nvPr/>
        </p:nvSpPr>
        <p:spPr>
          <a:xfrm>
            <a:off x="914400" y="1813680"/>
            <a:ext cx="1295280" cy="1219320"/>
          </a:xfrm>
          <a:prstGeom prst="rect">
            <a:avLst/>
          </a:prstGeom>
          <a:noFill/>
          <a:ln w="0">
            <a:noFill/>
          </a:ln>
        </p:spPr>
        <p:txBody>
          <a:bodyPr lIns="0" rIns="0" tIns="0" bIns="0" anchor="t">
            <a:noAutofit/>
          </a:bodyPr>
          <a:p>
            <a:r>
              <a:rPr b="1" lang="en-US" sz="7330" spc="-1" strike="noStrike">
                <a:solidFill>
                  <a:srgbClr val="004899"/>
                </a:solidFill>
                <a:latin typeface="Noto Sans"/>
              </a:rPr>
              <a:t>08</a:t>
            </a:r>
            <a:endParaRPr b="0" lang="en-US" sz="7330" spc="-1" strike="noStrike">
              <a:solidFill>
                <a:srgbClr val="000000"/>
              </a:solidFill>
              <a:latin typeface="Arial"/>
            </a:endParaRPr>
          </a:p>
        </p:txBody>
      </p:sp>
      <p:sp>
        <p:nvSpPr>
          <p:cNvPr id="211" name=""/>
          <p:cNvSpPr/>
          <p:nvPr/>
        </p:nvSpPr>
        <p:spPr>
          <a:xfrm>
            <a:off x="2438280" y="1828800"/>
            <a:ext cx="8610840" cy="16002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2" name=""/>
          <p:cNvSpPr/>
          <p:nvPr/>
        </p:nvSpPr>
        <p:spPr>
          <a:xfrm>
            <a:off x="2438280" y="1828800"/>
            <a:ext cx="53280" cy="16002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13" name=""/>
          <p:cNvSpPr txBox="1"/>
          <p:nvPr/>
        </p:nvSpPr>
        <p:spPr>
          <a:xfrm>
            <a:off x="2644200" y="2011680"/>
            <a:ext cx="8199360" cy="647640"/>
          </a:xfrm>
          <a:prstGeom prst="rect">
            <a:avLst/>
          </a:prstGeom>
          <a:noFill/>
          <a:ln w="0">
            <a:noFill/>
          </a:ln>
        </p:spPr>
        <p:txBody>
          <a:bodyPr lIns="0" rIns="0" tIns="0" bIns="0" anchor="t">
            <a:noAutofit/>
          </a:bodyPr>
          <a:p>
            <a:r>
              <a:rPr b="1" lang="en-US" sz="2540" spc="-1" strike="noStrike">
                <a:solidFill>
                  <a:srgbClr val="004899"/>
                </a:solidFill>
                <a:latin typeface="Noto Sans"/>
              </a:rPr>
              <a:t>Bekannter Gedanke</a:t>
            </a:r>
            <a:endParaRPr b="0" lang="en-US" sz="2540" spc="-1" strike="noStrike">
              <a:solidFill>
                <a:srgbClr val="000000"/>
              </a:solidFill>
              <a:latin typeface="Arial"/>
            </a:endParaRPr>
          </a:p>
        </p:txBody>
      </p:sp>
      <p:sp>
        <p:nvSpPr>
          <p:cNvPr id="214" name=""/>
          <p:cNvSpPr txBox="1"/>
          <p:nvPr/>
        </p:nvSpPr>
        <p:spPr>
          <a:xfrm>
            <a:off x="2644200" y="2590920"/>
            <a:ext cx="8199360" cy="700920"/>
          </a:xfrm>
          <a:prstGeom prst="rect">
            <a:avLst/>
          </a:prstGeom>
          <a:noFill/>
          <a:ln w="0">
            <a:noFill/>
          </a:ln>
        </p:spPr>
        <p:txBody>
          <a:bodyPr lIns="0" rIns="0" tIns="0" bIns="0" anchor="t">
            <a:noAutofit/>
          </a:bodyPr>
          <a:p>
            <a:r>
              <a:rPr b="0" lang="en-US" sz="2720" spc="-1" strike="noStrike">
                <a:solidFill>
                  <a:srgbClr val="000000"/>
                </a:solidFill>
                <a:latin typeface="Noto Sans"/>
              </a:rPr>
              <a:t>Eingabe → Regel → Ausgabe → Kontrolle</a:t>
            </a:r>
            <a:endParaRPr b="0" lang="en-US" sz="2720" spc="-1" strike="noStrike">
              <a:solidFill>
                <a:srgbClr val="000000"/>
              </a:solidFill>
              <a:latin typeface="Arial"/>
            </a:endParaRPr>
          </a:p>
        </p:txBody>
      </p:sp>
      <p:sp>
        <p:nvSpPr>
          <p:cNvPr id="215" name=""/>
          <p:cNvSpPr/>
          <p:nvPr/>
        </p:nvSpPr>
        <p:spPr>
          <a:xfrm>
            <a:off x="2438280" y="3695760"/>
            <a:ext cx="8610840" cy="11811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6" name=""/>
          <p:cNvSpPr/>
          <p:nvPr/>
        </p:nvSpPr>
        <p:spPr>
          <a:xfrm>
            <a:off x="2438280" y="3695760"/>
            <a:ext cx="53280" cy="11811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17" name=""/>
          <p:cNvSpPr txBox="1"/>
          <p:nvPr/>
        </p:nvSpPr>
        <p:spPr>
          <a:xfrm>
            <a:off x="2644200" y="3878640"/>
            <a:ext cx="819936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Mitnehmen</a:t>
            </a:r>
            <a:endParaRPr b="0" lang="en-US" sz="2540" spc="-1" strike="noStrike">
              <a:solidFill>
                <a:srgbClr val="000000"/>
              </a:solidFill>
              <a:latin typeface="Arial"/>
            </a:endParaRPr>
          </a:p>
        </p:txBody>
      </p:sp>
      <p:sp>
        <p:nvSpPr>
          <p:cNvPr id="218" name=""/>
          <p:cNvSpPr txBox="1"/>
          <p:nvPr/>
        </p:nvSpPr>
        <p:spPr>
          <a:xfrm>
            <a:off x="2644200" y="4457880"/>
            <a:ext cx="8199360" cy="281880"/>
          </a:xfrm>
          <a:prstGeom prst="rect">
            <a:avLst/>
          </a:prstGeom>
          <a:noFill/>
          <a:ln w="0">
            <a:noFill/>
          </a:ln>
        </p:spPr>
        <p:txBody>
          <a:bodyPr lIns="0" rIns="0" tIns="0" bIns="0" anchor="t">
            <a:noAutofit/>
          </a:bodyPr>
          <a:p>
            <a:r>
              <a:rPr b="0" lang="en-US" sz="2450" spc="-1" strike="noStrike">
                <a:solidFill>
                  <a:srgbClr val="000000"/>
                </a:solidFill>
                <a:latin typeface="Noto Sans"/>
              </a:rPr>
              <a:t>Wiederholung ersetzt die fachliche Ergebniskontrolle nicht.</a:t>
            </a:r>
            <a:endParaRPr b="0" lang="en-US" sz="2450" spc="-1" strike="noStrike">
              <a:solidFill>
                <a:srgbClr val="000000"/>
              </a:solidFill>
              <a:latin typeface="Arial"/>
            </a:endParaRPr>
          </a:p>
        </p:txBody>
      </p:sp>
      <p:sp>
        <p:nvSpPr>
          <p:cNvPr id="219"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0"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[Beispiel aus der tatsächlich behandelten Unit 08 ergänzen]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09: Koordinaten und CRS</a:t>
            </a:r>
            <a:endParaRPr b="0" lang="en-US" sz="3190" spc="-1" strike="noStrike">
              <a:solidFill>
                <a:srgbClr val="000000"/>
              </a:solidFill>
              <a:latin typeface="Arial"/>
            </a:endParaRPr>
          </a:p>
        </p:txBody>
      </p:sp>
      <p:sp>
        <p:nvSpPr>
          <p:cNvPr id="22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GEODATEN</a:t>
            </a:r>
            <a:endParaRPr b="0" lang="en-US" sz="1130" spc="-1" strike="noStrike">
              <a:solidFill>
                <a:srgbClr val="000000"/>
              </a:solidFill>
              <a:latin typeface="Arial"/>
            </a:endParaRPr>
          </a:p>
        </p:txBody>
      </p:sp>
      <p:sp>
        <p:nvSpPr>
          <p:cNvPr id="22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2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11</a:t>
            </a:r>
            <a:endParaRPr b="0" lang="en-US" sz="939" spc="-1" strike="noStrike">
              <a:solidFill>
                <a:srgbClr val="000000"/>
              </a:solidFill>
              <a:latin typeface="Arial"/>
            </a:endParaRPr>
          </a:p>
        </p:txBody>
      </p:sp>
      <p:pic>
        <p:nvPicPr>
          <p:cNvPr id="225" name="" descr="Links enthält eine Tabelle Beobachtungs-ID, Datum und Temperatur. Rechts enthält dieselbe Tabelle zusätzlich Breiten- und Längengrad. Identität, Zeitpunkt und Messwert bleiben beim Ergänzen des Raumbezugs erhalten."/>
          <p:cNvPicPr/>
          <p:nvPr/>
        </p:nvPicPr>
        <p:blipFill>
          <a:blip r:embed="rId1">
            <a:extLst>
              <a:ext uri="{96DAC541-7B7A-43D3-8B79-37D633B846F1}">
                <asvg:svgBlip xmlns:asvg="http://schemas.microsoft.com/office/drawing/2016/SVG/main" r:embed="rId2"/>
              </a:ext>
            </a:extLst>
          </a:blip>
          <a:stretch/>
        </p:blipFill>
        <p:spPr>
          <a:xfrm>
            <a:off x="647640" y="1714680"/>
            <a:ext cx="8001000" cy="3440520"/>
          </a:xfrm>
          <a:prstGeom prst="rect">
            <a:avLst/>
          </a:prstGeom>
          <a:ln w="0">
            <a:noFill/>
          </a:ln>
        </p:spPr>
      </p:pic>
      <p:sp>
        <p:nvSpPr>
          <p:cNvPr id="226" name=""/>
          <p:cNvSpPr/>
          <p:nvPr/>
        </p:nvSpPr>
        <p:spPr>
          <a:xfrm>
            <a:off x="8915400" y="1905120"/>
            <a:ext cx="2629080" cy="3238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7" name=""/>
          <p:cNvSpPr/>
          <p:nvPr/>
        </p:nvSpPr>
        <p:spPr>
          <a:xfrm>
            <a:off x="8915400" y="1905120"/>
            <a:ext cx="53280" cy="32385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8" name=""/>
          <p:cNvSpPr txBox="1"/>
          <p:nvPr/>
        </p:nvSpPr>
        <p:spPr>
          <a:xfrm>
            <a:off x="9121320" y="2088000"/>
            <a:ext cx="2217600" cy="647640"/>
          </a:xfrm>
          <a:prstGeom prst="rect">
            <a:avLst/>
          </a:prstGeom>
          <a:noFill/>
          <a:ln w="0">
            <a:noFill/>
          </a:ln>
        </p:spPr>
        <p:txBody>
          <a:bodyPr lIns="0" rIns="0" tIns="0" bIns="0" anchor="t">
            <a:noAutofit/>
          </a:bodyPr>
          <a:p>
            <a:r>
              <a:rPr b="1" lang="en-US" sz="2540" spc="-1" strike="noStrike">
                <a:solidFill>
                  <a:srgbClr val="a32123"/>
                </a:solidFill>
                <a:latin typeface="Noto Sans"/>
              </a:rPr>
              <a:t>Achsen · Einheit · CRS</a:t>
            </a:r>
            <a:endParaRPr b="0" lang="en-US" sz="2540" spc="-1" strike="noStrike">
              <a:solidFill>
                <a:srgbClr val="000000"/>
              </a:solidFill>
              <a:latin typeface="Arial"/>
            </a:endParaRPr>
          </a:p>
        </p:txBody>
      </p:sp>
      <p:sp>
        <p:nvSpPr>
          <p:cNvPr id="229" name=""/>
          <p:cNvSpPr txBox="1"/>
          <p:nvPr/>
        </p:nvSpPr>
        <p:spPr>
          <a:xfrm>
            <a:off x="9121320" y="2849760"/>
            <a:ext cx="2217600" cy="2156400"/>
          </a:xfrm>
          <a:prstGeom prst="rect">
            <a:avLst/>
          </a:prstGeom>
          <a:noFill/>
          <a:ln w="0">
            <a:noFill/>
          </a:ln>
        </p:spPr>
        <p:txBody>
          <a:bodyPr lIns="0" rIns="0" tIns="0" bIns="0" anchor="t">
            <a:noAutofit/>
          </a:bodyPr>
          <a:p>
            <a:r>
              <a:rPr b="0" lang="en-US" sz="1879" spc="-1" strike="noStrike">
                <a:solidFill>
                  <a:srgbClr val="000000"/>
                </a:solidFill>
                <a:latin typeface="Noto Sans"/>
              </a:rPr>
              <a:t>Koordinaten in Grad oder Metern sind nur mit bekanntem Bezug lesbar.</a:t>
            </a:r>
            <a:endParaRPr b="0" lang="en-US" sz="1879" spc="-1" strike="noStrike">
              <a:solidFill>
                <a:srgbClr val="000000"/>
              </a:solidFill>
              <a:latin typeface="Arial"/>
            </a:endParaRPr>
          </a:p>
        </p:txBody>
      </p:sp>
      <p:sp>
        <p:nvSpPr>
          <p:cNvPr id="230"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1"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Zuweisen benennt ein CRS; Transformieren berechnet neue Koordinaten.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10: Datenmodelle und QGIS-Projekt</a:t>
            </a:r>
            <a:endParaRPr b="0" lang="en-US" sz="3190" spc="-1" strike="noStrike">
              <a:solidFill>
                <a:srgbClr val="000000"/>
              </a:solidFill>
              <a:latin typeface="Arial"/>
            </a:endParaRPr>
          </a:p>
        </p:txBody>
      </p:sp>
      <p:sp>
        <p:nvSpPr>
          <p:cNvPr id="23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GEODATEN</a:t>
            </a:r>
            <a:endParaRPr b="0" lang="en-US" sz="1130" spc="-1" strike="noStrike">
              <a:solidFill>
                <a:srgbClr val="000000"/>
              </a:solidFill>
              <a:latin typeface="Arial"/>
            </a:endParaRPr>
          </a:p>
        </p:txBody>
      </p:sp>
      <p:sp>
        <p:nvSpPr>
          <p:cNvPr id="23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3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12</a:t>
            </a:r>
            <a:endParaRPr b="0" lang="en-US" sz="939" spc="-1" strike="noStrike">
              <a:solidFill>
                <a:srgbClr val="000000"/>
              </a:solidFill>
              <a:latin typeface="Arial"/>
            </a:endParaRPr>
          </a:p>
        </p:txBody>
      </p:sp>
      <p:pic>
        <p:nvPicPr>
          <p:cNvPr id="236" name="" descr="Ein QGIS-Projekt speichert Einstellungen und Verweise auf Layer. Die Layer beziehen ihre eigentlichen Daten aus lokalen Dateien oder Webdiensten."/>
          <p:cNvPicPr/>
          <p:nvPr/>
        </p:nvPicPr>
        <p:blipFill>
          <a:blip r:embed="rId1">
            <a:extLst>
              <a:ext uri="{96DAC541-7B7A-43D3-8B79-37D633B846F1}">
                <asvg:svgBlip xmlns:asvg="http://schemas.microsoft.com/office/drawing/2016/SVG/main" r:embed="rId2"/>
              </a:ext>
            </a:extLst>
          </a:blip>
          <a:stretch/>
        </p:blipFill>
        <p:spPr>
          <a:xfrm>
            <a:off x="647640" y="1714680"/>
            <a:ext cx="8001000" cy="3440520"/>
          </a:xfrm>
          <a:prstGeom prst="rect">
            <a:avLst/>
          </a:prstGeom>
          <a:ln w="0">
            <a:noFill/>
          </a:ln>
        </p:spPr>
      </p:pic>
      <p:sp>
        <p:nvSpPr>
          <p:cNvPr id="237" name=""/>
          <p:cNvSpPr/>
          <p:nvPr/>
        </p:nvSpPr>
        <p:spPr>
          <a:xfrm>
            <a:off x="8915400" y="1905120"/>
            <a:ext cx="2629080" cy="3238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8" name=""/>
          <p:cNvSpPr/>
          <p:nvPr/>
        </p:nvSpPr>
        <p:spPr>
          <a:xfrm>
            <a:off x="8915400" y="1905120"/>
            <a:ext cx="53280" cy="32385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39" name=""/>
          <p:cNvSpPr txBox="1"/>
          <p:nvPr/>
        </p:nvSpPr>
        <p:spPr>
          <a:xfrm>
            <a:off x="9121320" y="2088000"/>
            <a:ext cx="2217600" cy="647640"/>
          </a:xfrm>
          <a:prstGeom prst="rect">
            <a:avLst/>
          </a:prstGeom>
          <a:noFill/>
          <a:ln w="0">
            <a:noFill/>
          </a:ln>
        </p:spPr>
        <p:txBody>
          <a:bodyPr lIns="0" rIns="0" tIns="0" bIns="0" anchor="t">
            <a:noAutofit/>
          </a:bodyPr>
          <a:p>
            <a:r>
              <a:rPr b="1" lang="en-US" sz="2540" spc="-1" strike="noStrike">
                <a:solidFill>
                  <a:srgbClr val="a32123"/>
                </a:solidFill>
                <a:latin typeface="Noto Sans"/>
              </a:rPr>
              <a:t>Projekt · Layer · Datei</a:t>
            </a:r>
            <a:endParaRPr b="0" lang="en-US" sz="2540" spc="-1" strike="noStrike">
              <a:solidFill>
                <a:srgbClr val="000000"/>
              </a:solidFill>
              <a:latin typeface="Arial"/>
            </a:endParaRPr>
          </a:p>
        </p:txBody>
      </p:sp>
      <p:sp>
        <p:nvSpPr>
          <p:cNvPr id="240" name=""/>
          <p:cNvSpPr txBox="1"/>
          <p:nvPr/>
        </p:nvSpPr>
        <p:spPr>
          <a:xfrm>
            <a:off x="9121320" y="2849760"/>
            <a:ext cx="2217600" cy="2156400"/>
          </a:xfrm>
          <a:prstGeom prst="rect">
            <a:avLst/>
          </a:prstGeom>
          <a:noFill/>
          <a:ln w="0">
            <a:noFill/>
          </a:ln>
        </p:spPr>
        <p:txBody>
          <a:bodyPr lIns="0" rIns="0" tIns="0" bIns="0" anchor="t">
            <a:noAutofit/>
          </a:bodyPr>
          <a:p>
            <a:r>
              <a:rPr b="0" lang="en-US" sz="1879" spc="-1" strike="noStrike">
                <a:solidFill>
                  <a:srgbClr val="000000"/>
                </a:solidFill>
                <a:latin typeface="Noto Sans"/>
              </a:rPr>
              <a:t>Die .qgz-Datei organisiert Darstellung und verweist auf Datenquellen.</a:t>
            </a:r>
            <a:endParaRPr b="0" lang="en-US" sz="1879" spc="-1" strike="noStrike">
              <a:solidFill>
                <a:srgbClr val="000000"/>
              </a:solidFill>
              <a:latin typeface="Arial"/>
            </a:endParaRPr>
          </a:p>
        </p:txBody>
      </p:sp>
      <p:sp>
        <p:nvSpPr>
          <p:cNvPr id="241"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2"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Beim erneuten Öffnen müssen die Datenquellen erreichbar bleiben.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11: GBIF-Punkte prüfen</a:t>
            </a:r>
            <a:endParaRPr b="0" lang="en-US" sz="3190" spc="-1" strike="noStrike">
              <a:solidFill>
                <a:srgbClr val="000000"/>
              </a:solidFill>
              <a:latin typeface="Arial"/>
            </a:endParaRPr>
          </a:p>
        </p:txBody>
      </p:sp>
      <p:sp>
        <p:nvSpPr>
          <p:cNvPr id="24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GEODATEN</a:t>
            </a:r>
            <a:endParaRPr b="0" lang="en-US" sz="1130" spc="-1" strike="noStrike">
              <a:solidFill>
                <a:srgbClr val="000000"/>
              </a:solidFill>
              <a:latin typeface="Arial"/>
            </a:endParaRPr>
          </a:p>
        </p:txBody>
      </p:sp>
      <p:sp>
        <p:nvSpPr>
          <p:cNvPr id="24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4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13</a:t>
            </a:r>
            <a:endParaRPr b="0" lang="en-US" sz="939" spc="-1" strike="noStrike">
              <a:solidFill>
                <a:srgbClr val="000000"/>
              </a:solidFill>
              <a:latin typeface="Arial"/>
            </a:endParaRPr>
          </a:p>
        </p:txBody>
      </p:sp>
      <p:pic>
        <p:nvPicPr>
          <p:cNvPr id="247" name="" descr="Fünf Schritte führen vom dokumentierten Kurs-Snapshot über Tabellenprüfung, Punktimport und Qualitätsregel zum dokumentierten Ergebnis. Der API-Snapshot hat keinen eigenen Download-DOI; angegeben wird der DOI des Quelldatensatzes. Ein eigener GBIF Occurrence Download mit eigenem DOI ist eine spätere Option."/>
          <p:cNvPicPr/>
          <p:nvPr/>
        </p:nvPicPr>
        <p:blipFill>
          <a:blip r:embed="rId1">
            <a:extLst>
              <a:ext uri="{96DAC541-7B7A-43D3-8B79-37D633B846F1}">
                <asvg:svgBlip xmlns:asvg="http://schemas.microsoft.com/office/drawing/2016/SVG/main" r:embed="rId2"/>
              </a:ext>
            </a:extLst>
          </a:blip>
          <a:stretch/>
        </p:blipFill>
        <p:spPr>
          <a:xfrm>
            <a:off x="647640" y="1714680"/>
            <a:ext cx="8001000" cy="3760560"/>
          </a:xfrm>
          <a:prstGeom prst="rect">
            <a:avLst/>
          </a:prstGeom>
          <a:ln w="0">
            <a:noFill/>
          </a:ln>
        </p:spPr>
      </p:pic>
      <p:sp>
        <p:nvSpPr>
          <p:cNvPr id="248" name=""/>
          <p:cNvSpPr/>
          <p:nvPr/>
        </p:nvSpPr>
        <p:spPr>
          <a:xfrm>
            <a:off x="8915400" y="1905120"/>
            <a:ext cx="2629080" cy="3238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9" name=""/>
          <p:cNvSpPr/>
          <p:nvPr/>
        </p:nvSpPr>
        <p:spPr>
          <a:xfrm>
            <a:off x="8915400" y="1905120"/>
            <a:ext cx="53280" cy="32385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0" name=""/>
          <p:cNvSpPr txBox="1"/>
          <p:nvPr/>
        </p:nvSpPr>
        <p:spPr>
          <a:xfrm>
            <a:off x="9121320" y="2088000"/>
            <a:ext cx="2217600" cy="647640"/>
          </a:xfrm>
          <a:prstGeom prst="rect">
            <a:avLst/>
          </a:prstGeom>
          <a:noFill/>
          <a:ln w="0">
            <a:noFill/>
          </a:ln>
        </p:spPr>
        <p:txBody>
          <a:bodyPr lIns="0" rIns="0" tIns="0" bIns="0" anchor="t">
            <a:noAutofit/>
          </a:bodyPr>
          <a:p>
            <a:r>
              <a:rPr b="1" lang="en-US" sz="2540" spc="-1" strike="noStrike">
                <a:solidFill>
                  <a:srgbClr val="a32123"/>
                </a:solidFill>
                <a:latin typeface="Noto Sans"/>
              </a:rPr>
              <a:t>79 → 56</a:t>
            </a:r>
            <a:endParaRPr b="0" lang="en-US" sz="2540" spc="-1" strike="noStrike">
              <a:solidFill>
                <a:srgbClr val="000000"/>
              </a:solidFill>
              <a:latin typeface="Arial"/>
            </a:endParaRPr>
          </a:p>
        </p:txBody>
      </p:sp>
      <p:sp>
        <p:nvSpPr>
          <p:cNvPr id="251" name=""/>
          <p:cNvSpPr txBox="1"/>
          <p:nvPr/>
        </p:nvSpPr>
        <p:spPr>
          <a:xfrm>
            <a:off x="9121320" y="2849760"/>
            <a:ext cx="2217600" cy="2156400"/>
          </a:xfrm>
          <a:prstGeom prst="rect">
            <a:avLst/>
          </a:prstGeom>
          <a:noFill/>
          <a:ln w="0">
            <a:noFill/>
          </a:ln>
        </p:spPr>
        <p:txBody>
          <a:bodyPr lIns="0" rIns="0" tIns="0" bIns="0" anchor="t">
            <a:noAutofit/>
          </a:bodyPr>
          <a:p>
            <a:r>
              <a:rPr b="0" lang="en-US" sz="1879" spc="-1" strike="noStrike">
                <a:solidFill>
                  <a:srgbClr val="000000"/>
                </a:solidFill>
                <a:latin typeface="Noto Sans"/>
              </a:rPr>
              <a:t>79 Rohrecords; 56 mit dokumentierter positiver Koordinatenunsicherheit bis 100 m.</a:t>
            </a:r>
            <a:endParaRPr b="0" lang="en-US" sz="1879" spc="-1" strike="noStrike">
              <a:solidFill>
                <a:srgbClr val="000000"/>
              </a:solidFill>
              <a:latin typeface="Arial"/>
            </a:endParaRPr>
          </a:p>
        </p:txBody>
      </p:sp>
      <p:sp>
        <p:nvSpPr>
          <p:cNvPr id="252"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3"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Ein Nachweisrecord zeigt keine vollständige Artenverbreitung.</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12: Räumliche Auswahl</a:t>
            </a:r>
            <a:endParaRPr b="0" lang="en-US" sz="3190" spc="-1" strike="noStrike">
              <a:solidFill>
                <a:srgbClr val="000000"/>
              </a:solidFill>
              <a:latin typeface="Arial"/>
            </a:endParaRPr>
          </a:p>
        </p:txBody>
      </p:sp>
      <p:sp>
        <p:nvSpPr>
          <p:cNvPr id="25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GEODATEN</a:t>
            </a:r>
            <a:endParaRPr b="0" lang="en-US" sz="1130" spc="-1" strike="noStrike">
              <a:solidFill>
                <a:srgbClr val="000000"/>
              </a:solidFill>
              <a:latin typeface="Arial"/>
            </a:endParaRPr>
          </a:p>
        </p:txBody>
      </p:sp>
      <p:sp>
        <p:nvSpPr>
          <p:cNvPr id="25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5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14</a:t>
            </a:r>
            <a:endParaRPr b="0" lang="en-US" sz="939" spc="-1" strike="noStrike">
              <a:solidFill>
                <a:srgbClr val="000000"/>
              </a:solidFill>
              <a:latin typeface="Arial"/>
            </a:endParaRPr>
          </a:p>
        </p:txBody>
      </p:sp>
      <p:pic>
        <p:nvPicPr>
          <p:cNvPr id="258" name="" descr="Beobachtungspunkte und Gewässerlinien werden anhand ihrer räumlichen Beziehung zu Schutzgebietspolygonen ausgewählt."/>
          <p:cNvPicPr/>
          <p:nvPr/>
        </p:nvPicPr>
        <p:blipFill>
          <a:blip r:embed="rId1">
            <a:extLst>
              <a:ext uri="{96DAC541-7B7A-43D3-8B79-37D633B846F1}">
                <asvg:svgBlip xmlns:asvg="http://schemas.microsoft.com/office/drawing/2016/SVG/main" r:embed="rId2"/>
              </a:ext>
            </a:extLst>
          </a:blip>
          <a:stretch/>
        </p:blipFill>
        <p:spPr>
          <a:xfrm>
            <a:off x="647640" y="1714680"/>
            <a:ext cx="8001000" cy="3600360"/>
          </a:xfrm>
          <a:prstGeom prst="rect">
            <a:avLst/>
          </a:prstGeom>
          <a:ln w="0">
            <a:noFill/>
          </a:ln>
        </p:spPr>
      </p:pic>
      <p:sp>
        <p:nvSpPr>
          <p:cNvPr id="259" name=""/>
          <p:cNvSpPr/>
          <p:nvPr/>
        </p:nvSpPr>
        <p:spPr>
          <a:xfrm>
            <a:off x="8915400" y="1905120"/>
            <a:ext cx="2629080" cy="3238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0" name=""/>
          <p:cNvSpPr/>
          <p:nvPr/>
        </p:nvSpPr>
        <p:spPr>
          <a:xfrm>
            <a:off x="8915400" y="1905120"/>
            <a:ext cx="53280" cy="32385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1" name=""/>
          <p:cNvSpPr txBox="1"/>
          <p:nvPr/>
        </p:nvSpPr>
        <p:spPr>
          <a:xfrm>
            <a:off x="9121320" y="2088000"/>
            <a:ext cx="2217600" cy="647640"/>
          </a:xfrm>
          <a:prstGeom prst="rect">
            <a:avLst/>
          </a:prstGeom>
          <a:noFill/>
          <a:ln w="0">
            <a:noFill/>
          </a:ln>
        </p:spPr>
        <p:txBody>
          <a:bodyPr lIns="0" rIns="0" tIns="0" bIns="0" anchor="t">
            <a:noAutofit/>
          </a:bodyPr>
          <a:p>
            <a:r>
              <a:rPr b="1" lang="en-US" sz="2540" spc="-1" strike="noStrike">
                <a:solidFill>
                  <a:srgbClr val="a32123"/>
                </a:solidFill>
                <a:latin typeface="Noto Sans"/>
              </a:rPr>
              <a:t>10 · 4 · 106</a:t>
            </a:r>
            <a:endParaRPr b="0" lang="en-US" sz="2540" spc="-1" strike="noStrike">
              <a:solidFill>
                <a:srgbClr val="000000"/>
              </a:solidFill>
              <a:latin typeface="Arial"/>
            </a:endParaRPr>
          </a:p>
        </p:txBody>
      </p:sp>
      <p:sp>
        <p:nvSpPr>
          <p:cNvPr id="262" name=""/>
          <p:cNvSpPr txBox="1"/>
          <p:nvPr/>
        </p:nvSpPr>
        <p:spPr>
          <a:xfrm>
            <a:off x="9121320" y="2849760"/>
            <a:ext cx="2217600" cy="2156400"/>
          </a:xfrm>
          <a:prstGeom prst="rect">
            <a:avLst/>
          </a:prstGeom>
          <a:noFill/>
          <a:ln w="0">
            <a:noFill/>
          </a:ln>
        </p:spPr>
        <p:txBody>
          <a:bodyPr lIns="0" rIns="0" tIns="0" bIns="0" anchor="t">
            <a:noAutofit/>
          </a:bodyPr>
          <a:p>
            <a:r>
              <a:rPr b="0" lang="en-US" sz="1879" spc="-1" strike="noStrike">
                <a:solidFill>
                  <a:srgbClr val="000000"/>
                </a:solidFill>
                <a:latin typeface="Noto Sans"/>
              </a:rPr>
              <a:t>10 FFH-Flächen; schneidet trifft 4 von 56 Punkten und 106 von 412 Gewässerfeatures.</a:t>
            </a:r>
            <a:endParaRPr b="0" lang="en-US" sz="1879" spc="-1" strike="noStrike">
              <a:solidFill>
                <a:srgbClr val="000000"/>
              </a:solidFill>
              <a:latin typeface="Arial"/>
            </a:endParaRPr>
          </a:p>
        </p:txBody>
      </p:sp>
      <p:sp>
        <p:nvSpPr>
          <p:cNvPr id="263"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4"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Auswahl markiert ganze Features; Zuschneiden verändert Geometrien.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13: Rasterwerte abtasten</a:t>
            </a:r>
            <a:endParaRPr b="0" lang="en-US" sz="3190" spc="-1" strike="noStrike">
              <a:solidFill>
                <a:srgbClr val="000000"/>
              </a:solidFill>
              <a:latin typeface="Arial"/>
            </a:endParaRPr>
          </a:p>
        </p:txBody>
      </p:sp>
      <p:sp>
        <p:nvSpPr>
          <p:cNvPr id="26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GEODATEN</a:t>
            </a:r>
            <a:endParaRPr b="0" lang="en-US" sz="1130" spc="-1" strike="noStrike">
              <a:solidFill>
                <a:srgbClr val="000000"/>
              </a:solidFill>
              <a:latin typeface="Arial"/>
            </a:endParaRPr>
          </a:p>
        </p:txBody>
      </p:sp>
      <p:sp>
        <p:nvSpPr>
          <p:cNvPr id="26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6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15</a:t>
            </a:r>
            <a:endParaRPr b="0" lang="en-US" sz="939" spc="-1" strike="noStrike">
              <a:solidFill>
                <a:srgbClr val="000000"/>
              </a:solidFill>
              <a:latin typeface="Arial"/>
            </a:endParaRPr>
          </a:p>
        </p:txBody>
      </p:sp>
      <p:pic>
        <p:nvPicPr>
          <p:cNvPr id="269" name="" descr="Ein Höhenraster besteht aus Zellen mit Werten. Ein Beobachtungspunkt liegt in der Zelle mit dem sichtbaren Wert 228 und übernimmt diesen Wert als Attribut hoehe_m."/>
          <p:cNvPicPr/>
          <p:nvPr/>
        </p:nvPicPr>
        <p:blipFill>
          <a:blip r:embed="rId1">
            <a:extLst>
              <a:ext uri="{96DAC541-7B7A-43D3-8B79-37D633B846F1}">
                <asvg:svgBlip xmlns:asvg="http://schemas.microsoft.com/office/drawing/2016/SVG/main" r:embed="rId2"/>
              </a:ext>
            </a:extLst>
          </a:blip>
          <a:stretch/>
        </p:blipFill>
        <p:spPr>
          <a:xfrm>
            <a:off x="647640" y="1714680"/>
            <a:ext cx="8001000" cy="3600360"/>
          </a:xfrm>
          <a:prstGeom prst="rect">
            <a:avLst/>
          </a:prstGeom>
          <a:ln w="0">
            <a:noFill/>
          </a:ln>
        </p:spPr>
      </p:pic>
      <p:sp>
        <p:nvSpPr>
          <p:cNvPr id="270" name=""/>
          <p:cNvSpPr/>
          <p:nvPr/>
        </p:nvSpPr>
        <p:spPr>
          <a:xfrm>
            <a:off x="8915400" y="1905120"/>
            <a:ext cx="2629080" cy="3238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1" name=""/>
          <p:cNvSpPr/>
          <p:nvPr/>
        </p:nvSpPr>
        <p:spPr>
          <a:xfrm>
            <a:off x="8915400" y="1905120"/>
            <a:ext cx="53280" cy="32385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2" name=""/>
          <p:cNvSpPr txBox="1"/>
          <p:nvPr/>
        </p:nvSpPr>
        <p:spPr>
          <a:xfrm>
            <a:off x="9121320" y="2088000"/>
            <a:ext cx="2217600" cy="647640"/>
          </a:xfrm>
          <a:prstGeom prst="rect">
            <a:avLst/>
          </a:prstGeom>
          <a:noFill/>
          <a:ln w="0">
            <a:noFill/>
          </a:ln>
        </p:spPr>
        <p:txBody>
          <a:bodyPr lIns="0" rIns="0" tIns="0" bIns="0" anchor="t">
            <a:noAutofit/>
          </a:bodyPr>
          <a:p>
            <a:r>
              <a:rPr b="1" lang="en-US" sz="2540" spc="-1" strike="noStrike">
                <a:solidFill>
                  <a:srgbClr val="a32123"/>
                </a:solidFill>
                <a:latin typeface="Noto Sans"/>
              </a:rPr>
              <a:t>56 = 35 + 21</a:t>
            </a:r>
            <a:endParaRPr b="0" lang="en-US" sz="2540" spc="-1" strike="noStrike">
              <a:solidFill>
                <a:srgbClr val="000000"/>
              </a:solidFill>
              <a:latin typeface="Arial"/>
            </a:endParaRPr>
          </a:p>
        </p:txBody>
      </p:sp>
      <p:sp>
        <p:nvSpPr>
          <p:cNvPr id="273" name=""/>
          <p:cNvSpPr txBox="1"/>
          <p:nvPr/>
        </p:nvSpPr>
        <p:spPr>
          <a:xfrm>
            <a:off x="9121320" y="2849760"/>
            <a:ext cx="2217600" cy="2156400"/>
          </a:xfrm>
          <a:prstGeom prst="rect">
            <a:avLst/>
          </a:prstGeom>
          <a:noFill/>
          <a:ln w="0">
            <a:noFill/>
          </a:ln>
        </p:spPr>
        <p:txBody>
          <a:bodyPr lIns="0" rIns="0" tIns="0" bIns="0" anchor="t">
            <a:noAutofit/>
          </a:bodyPr>
          <a:p>
            <a:r>
              <a:rPr b="0" lang="en-US" sz="1879" spc="-1" strike="noStrike">
                <a:solidFill>
                  <a:srgbClr val="000000"/>
                </a:solidFill>
                <a:latin typeface="Noto Sans"/>
              </a:rPr>
              <a:t>Feld hoehe_m: 35 gültige DGM-Höhen und 21 NULL-Werte.</a:t>
            </a:r>
            <a:endParaRPr b="0" lang="en-US" sz="1879" spc="-1" strike="noStrike">
              <a:solidFill>
                <a:srgbClr val="000000"/>
              </a:solidFill>
              <a:latin typeface="Arial"/>
            </a:endParaRPr>
          </a:p>
        </p:txBody>
      </p:sp>
      <p:sp>
        <p:nvSpPr>
          <p:cNvPr id="274"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5" name=""/>
          <p:cNvSpPr txBox="1"/>
          <p:nvPr/>
        </p:nvSpPr>
        <p:spPr>
          <a:xfrm>
            <a:off x="838080" y="570744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NoData ist nicht 0; der Wert gehört zur getroffenen Rasterzelle.</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Unit 14: Abschlusskarte gestalten</a:t>
            </a:r>
            <a:endParaRPr b="0" lang="en-US" sz="3190" spc="-1" strike="noStrike">
              <a:solidFill>
                <a:srgbClr val="000000"/>
              </a:solidFill>
              <a:latin typeface="Arial"/>
            </a:endParaRPr>
          </a:p>
        </p:txBody>
      </p:sp>
      <p:sp>
        <p:nvSpPr>
          <p:cNvPr id="27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KURSRÜCKBLICK · GEODATEN</a:t>
            </a:r>
            <a:endParaRPr b="0" lang="en-US" sz="1130" spc="-1" strike="noStrike">
              <a:solidFill>
                <a:srgbClr val="000000"/>
              </a:solidFill>
              <a:latin typeface="Arial"/>
            </a:endParaRPr>
          </a:p>
        </p:txBody>
      </p:sp>
      <p:sp>
        <p:nvSpPr>
          <p:cNvPr id="27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7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16</a:t>
            </a:r>
            <a:endParaRPr b="0" lang="en-US" sz="939" spc="-1" strike="noStrike">
              <a:solidFill>
                <a:srgbClr val="000000"/>
              </a:solidFill>
              <a:latin typeface="Arial"/>
            </a:endParaRPr>
          </a:p>
        </p:txBody>
      </p:sp>
      <p:pic>
        <p:nvPicPr>
          <p:cNvPr id="280" name="" descr=""/>
          <p:cNvPicPr/>
          <p:nvPr/>
        </p:nvPicPr>
        <p:blipFill>
          <a:blip r:embed="rId1"/>
          <a:stretch/>
        </p:blipFill>
        <p:spPr>
          <a:xfrm>
            <a:off x="762120" y="1691640"/>
            <a:ext cx="5791320" cy="4096440"/>
          </a:xfrm>
          <a:prstGeom prst="rect">
            <a:avLst/>
          </a:prstGeom>
          <a:ln w="0">
            <a:noFill/>
          </a:ln>
        </p:spPr>
      </p:pic>
      <p:sp>
        <p:nvSpPr>
          <p:cNvPr id="281" name=""/>
          <p:cNvSpPr/>
          <p:nvPr/>
        </p:nvSpPr>
        <p:spPr>
          <a:xfrm>
            <a:off x="7086600" y="1905120"/>
            <a:ext cx="4191120" cy="3238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2" name=""/>
          <p:cNvSpPr/>
          <p:nvPr/>
        </p:nvSpPr>
        <p:spPr>
          <a:xfrm>
            <a:off x="7086600" y="1905120"/>
            <a:ext cx="53280" cy="32385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83" name=""/>
          <p:cNvSpPr txBox="1"/>
          <p:nvPr/>
        </p:nvSpPr>
        <p:spPr>
          <a:xfrm>
            <a:off x="7292520" y="2088000"/>
            <a:ext cx="3779640" cy="647640"/>
          </a:xfrm>
          <a:prstGeom prst="rect">
            <a:avLst/>
          </a:prstGeom>
          <a:noFill/>
          <a:ln w="0">
            <a:noFill/>
          </a:ln>
        </p:spPr>
        <p:txBody>
          <a:bodyPr lIns="0" rIns="0" tIns="0" bIns="0" anchor="t">
            <a:noAutofit/>
          </a:bodyPr>
          <a:p>
            <a:r>
              <a:rPr b="1" lang="en-US" sz="2540" spc="-1" strike="noStrike">
                <a:solidFill>
                  <a:srgbClr val="a32123"/>
                </a:solidFill>
                <a:latin typeface="Noto Sans"/>
              </a:rPr>
              <a:t>35 Höhenpunkte</a:t>
            </a:r>
            <a:endParaRPr b="0" lang="en-US" sz="2540" spc="-1" strike="noStrike">
              <a:solidFill>
                <a:srgbClr val="000000"/>
              </a:solidFill>
              <a:latin typeface="Arial"/>
            </a:endParaRPr>
          </a:p>
        </p:txBody>
      </p:sp>
      <p:sp>
        <p:nvSpPr>
          <p:cNvPr id="284" name=""/>
          <p:cNvSpPr txBox="1"/>
          <p:nvPr/>
        </p:nvSpPr>
        <p:spPr>
          <a:xfrm>
            <a:off x="7292520" y="2849760"/>
            <a:ext cx="3779640" cy="2156400"/>
          </a:xfrm>
          <a:prstGeom prst="rect">
            <a:avLst/>
          </a:prstGeom>
          <a:noFill/>
          <a:ln w="0">
            <a:noFill/>
          </a:ln>
        </p:spPr>
        <p:txBody>
          <a:bodyPr lIns="0" rIns="0" tIns="0" bIns="0" anchor="t">
            <a:noAutofit/>
          </a:bodyPr>
          <a:p>
            <a:r>
              <a:rPr b="0" lang="en-US" sz="2160" spc="-1" strike="noStrike">
                <a:solidFill>
                  <a:srgbClr val="000000"/>
                </a:solidFill>
                <a:latin typeface="Noto Sans"/>
              </a:rPr>
              <a:t>Fünf Klassen, Titel, Legende und Quellen machen die Aussage lesbar.</a:t>
            </a:r>
            <a:endParaRPr b="0" lang="en-US" sz="2160" spc="-1" strike="noStrike">
              <a:solidFill>
                <a:srgbClr val="000000"/>
              </a:solidFill>
              <a:latin typeface="Arial"/>
            </a:endParaRPr>
          </a:p>
          <a:p>
            <a:endParaRPr b="0" lang="en-US" sz="2160" spc="-1" strike="noStrike">
              <a:solidFill>
                <a:srgbClr val="000000"/>
              </a:solidFill>
              <a:latin typeface="Arial"/>
            </a:endParaRPr>
          </a:p>
          <a:p>
            <a:r>
              <a:rPr b="0" lang="en-US" sz="2160" spc="-1" strike="noStrike">
                <a:solidFill>
                  <a:srgbClr val="000000"/>
                </a:solidFill>
                <a:latin typeface="Noto Sans"/>
              </a:rPr>
              <a:t>21 weitere Punkte ohne DGM-Höhe.</a:t>
            </a:r>
            <a:endParaRPr b="0" lang="en-US" sz="2160" spc="-1" strike="noStrike">
              <a:solidFill>
                <a:srgbClr val="000000"/>
              </a:solidFill>
              <a:latin typeface="Arial"/>
            </a:endParaRPr>
          </a:p>
        </p:txBody>
      </p:sp>
      <p:sp>
        <p:nvSpPr>
          <p:cNvPr id="285" name=""/>
          <p:cNvSpPr/>
          <p:nvPr/>
        </p:nvSpPr>
        <p:spPr>
          <a:xfrm>
            <a:off x="647640" y="575316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6" name=""/>
          <p:cNvSpPr txBox="1"/>
          <p:nvPr/>
        </p:nvSpPr>
        <p:spPr>
          <a:xfrm>
            <a:off x="838080" y="585972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Dokumentierte Nachweise – keine vollständige Verbreitungskarte.</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Was verbindet die Units?</a:t>
            </a:r>
            <a:endParaRPr b="0" lang="en-US" sz="3190" spc="-1" strike="noStrike">
              <a:solidFill>
                <a:srgbClr val="000000"/>
              </a:solidFill>
              <a:latin typeface="Arial"/>
            </a:endParaRPr>
          </a:p>
        </p:txBody>
      </p:sp>
      <p:sp>
        <p:nvSpPr>
          <p:cNvPr id="28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RÜCKBLICK · VERBINDUNG</a:t>
            </a:r>
            <a:endParaRPr b="0" lang="en-US" sz="1130" spc="-1" strike="noStrike">
              <a:solidFill>
                <a:srgbClr val="000000"/>
              </a:solidFill>
              <a:latin typeface="Arial"/>
            </a:endParaRPr>
          </a:p>
        </p:txBody>
      </p:sp>
      <p:sp>
        <p:nvSpPr>
          <p:cNvPr id="28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29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17</a:t>
            </a:r>
            <a:endParaRPr b="0" lang="en-US" sz="939" spc="-1" strike="noStrike">
              <a:solidFill>
                <a:srgbClr val="000000"/>
              </a:solidFill>
              <a:latin typeface="Arial"/>
            </a:endParaRPr>
          </a:p>
        </p:txBody>
      </p:sp>
      <p:sp>
        <p:nvSpPr>
          <p:cNvPr id="291" name=""/>
          <p:cNvSpPr/>
          <p:nvPr/>
        </p:nvSpPr>
        <p:spPr>
          <a:xfrm>
            <a:off x="647640" y="2286000"/>
            <a:ext cx="1981080" cy="13334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2" name=""/>
          <p:cNvSpPr txBox="1"/>
          <p:nvPr/>
        </p:nvSpPr>
        <p:spPr>
          <a:xfrm>
            <a:off x="708840" y="2781360"/>
            <a:ext cx="1859400" cy="495360"/>
          </a:xfrm>
          <a:prstGeom prst="rect">
            <a:avLst/>
          </a:prstGeom>
          <a:noFill/>
          <a:ln w="0">
            <a:noFill/>
          </a:ln>
        </p:spPr>
        <p:txBody>
          <a:bodyPr lIns="0" rIns="0" tIns="0" bIns="0" anchor="t">
            <a:noAutofit/>
          </a:bodyPr>
          <a:p>
            <a:pPr algn="ctr"/>
            <a:r>
              <a:rPr b="1" lang="en-US" sz="1979" spc="-1" strike="noStrike">
                <a:solidFill>
                  <a:srgbClr val="004899"/>
                </a:solidFill>
                <a:latin typeface="Noto Sans"/>
              </a:rPr>
              <a:t>Verstehen</a:t>
            </a:r>
            <a:endParaRPr b="0" lang="en-US" sz="1979" spc="-1" strike="noStrike">
              <a:solidFill>
                <a:srgbClr val="000000"/>
              </a:solidFill>
              <a:latin typeface="Arial"/>
            </a:endParaRPr>
          </a:p>
        </p:txBody>
      </p:sp>
      <p:sp>
        <p:nvSpPr>
          <p:cNvPr id="293" name=""/>
          <p:cNvSpPr/>
          <p:nvPr/>
        </p:nvSpPr>
        <p:spPr>
          <a:xfrm>
            <a:off x="2895480" y="2286000"/>
            <a:ext cx="1981080" cy="13334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4" name=""/>
          <p:cNvSpPr txBox="1"/>
          <p:nvPr/>
        </p:nvSpPr>
        <p:spPr>
          <a:xfrm>
            <a:off x="2956680" y="2781360"/>
            <a:ext cx="1859400" cy="495360"/>
          </a:xfrm>
          <a:prstGeom prst="rect">
            <a:avLst/>
          </a:prstGeom>
          <a:noFill/>
          <a:ln w="0">
            <a:noFill/>
          </a:ln>
        </p:spPr>
        <p:txBody>
          <a:bodyPr lIns="0" rIns="0" tIns="0" bIns="0" anchor="t">
            <a:noAutofit/>
          </a:bodyPr>
          <a:p>
            <a:pPr algn="ctr"/>
            <a:r>
              <a:rPr b="1" lang="en-US" sz="1979" spc="-1" strike="noStrike">
                <a:solidFill>
                  <a:srgbClr val="004899"/>
                </a:solidFill>
                <a:latin typeface="Noto Sans"/>
              </a:rPr>
              <a:t>Prüfen</a:t>
            </a:r>
            <a:endParaRPr b="0" lang="en-US" sz="1979" spc="-1" strike="noStrike">
              <a:solidFill>
                <a:srgbClr val="000000"/>
              </a:solidFill>
              <a:latin typeface="Arial"/>
            </a:endParaRPr>
          </a:p>
        </p:txBody>
      </p:sp>
      <p:sp>
        <p:nvSpPr>
          <p:cNvPr id="295" name=""/>
          <p:cNvSpPr/>
          <p:nvPr/>
        </p:nvSpPr>
        <p:spPr>
          <a:xfrm>
            <a:off x="5143680" y="2286000"/>
            <a:ext cx="1981080" cy="13334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6" name=""/>
          <p:cNvSpPr txBox="1"/>
          <p:nvPr/>
        </p:nvSpPr>
        <p:spPr>
          <a:xfrm>
            <a:off x="5204520" y="2781360"/>
            <a:ext cx="1859400" cy="495360"/>
          </a:xfrm>
          <a:prstGeom prst="rect">
            <a:avLst/>
          </a:prstGeom>
          <a:noFill/>
          <a:ln w="0">
            <a:noFill/>
          </a:ln>
        </p:spPr>
        <p:txBody>
          <a:bodyPr lIns="0" rIns="0" tIns="0" bIns="0" anchor="t">
            <a:noAutofit/>
          </a:bodyPr>
          <a:p>
            <a:pPr algn="ctr"/>
            <a:r>
              <a:rPr b="1" lang="en-US" sz="1979" spc="-1" strike="noStrike">
                <a:solidFill>
                  <a:srgbClr val="004899"/>
                </a:solidFill>
                <a:latin typeface="Noto Sans"/>
              </a:rPr>
              <a:t>Auswerten</a:t>
            </a:r>
            <a:endParaRPr b="0" lang="en-US" sz="1979" spc="-1" strike="noStrike">
              <a:solidFill>
                <a:srgbClr val="000000"/>
              </a:solidFill>
              <a:latin typeface="Arial"/>
            </a:endParaRPr>
          </a:p>
        </p:txBody>
      </p:sp>
      <p:sp>
        <p:nvSpPr>
          <p:cNvPr id="297" name=""/>
          <p:cNvSpPr/>
          <p:nvPr/>
        </p:nvSpPr>
        <p:spPr>
          <a:xfrm>
            <a:off x="7391520" y="2286000"/>
            <a:ext cx="1981080" cy="13334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8" name=""/>
          <p:cNvSpPr txBox="1"/>
          <p:nvPr/>
        </p:nvSpPr>
        <p:spPr>
          <a:xfrm>
            <a:off x="7452360" y="2781360"/>
            <a:ext cx="1859400" cy="495360"/>
          </a:xfrm>
          <a:prstGeom prst="rect">
            <a:avLst/>
          </a:prstGeom>
          <a:noFill/>
          <a:ln w="0">
            <a:noFill/>
          </a:ln>
        </p:spPr>
        <p:txBody>
          <a:bodyPr lIns="0" rIns="0" tIns="0" bIns="0" anchor="t">
            <a:noAutofit/>
          </a:bodyPr>
          <a:p>
            <a:pPr algn="ctr"/>
            <a:r>
              <a:rPr b="1" lang="en-US" sz="1979" spc="-1" strike="noStrike">
                <a:solidFill>
                  <a:srgbClr val="004899"/>
                </a:solidFill>
                <a:latin typeface="Noto Sans"/>
              </a:rPr>
              <a:t>Einordnen</a:t>
            </a:r>
            <a:endParaRPr b="0" lang="en-US" sz="1979" spc="-1" strike="noStrike">
              <a:solidFill>
                <a:srgbClr val="000000"/>
              </a:solidFill>
              <a:latin typeface="Arial"/>
            </a:endParaRPr>
          </a:p>
        </p:txBody>
      </p:sp>
      <p:sp>
        <p:nvSpPr>
          <p:cNvPr id="299" name=""/>
          <p:cNvSpPr/>
          <p:nvPr/>
        </p:nvSpPr>
        <p:spPr>
          <a:xfrm>
            <a:off x="9639360" y="2286000"/>
            <a:ext cx="1981080" cy="13334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0" name=""/>
          <p:cNvSpPr txBox="1"/>
          <p:nvPr/>
        </p:nvSpPr>
        <p:spPr>
          <a:xfrm>
            <a:off x="9700200" y="2781360"/>
            <a:ext cx="1859400" cy="495360"/>
          </a:xfrm>
          <a:prstGeom prst="rect">
            <a:avLst/>
          </a:prstGeom>
          <a:noFill/>
          <a:ln w="0">
            <a:noFill/>
          </a:ln>
        </p:spPr>
        <p:txBody>
          <a:bodyPr lIns="0" rIns="0" tIns="0" bIns="0" anchor="t">
            <a:noAutofit/>
          </a:bodyPr>
          <a:p>
            <a:pPr algn="ctr"/>
            <a:r>
              <a:rPr b="1" lang="en-US" sz="1979" spc="-1" strike="noStrike">
                <a:solidFill>
                  <a:srgbClr val="004899"/>
                </a:solidFill>
                <a:latin typeface="Noto Sans"/>
              </a:rPr>
              <a:t>Darstellen</a:t>
            </a:r>
            <a:endParaRPr b="0" lang="en-US" sz="1979" spc="-1" strike="noStrike">
              <a:solidFill>
                <a:srgbClr val="000000"/>
              </a:solidFill>
              <a:latin typeface="Arial"/>
            </a:endParaRPr>
          </a:p>
        </p:txBody>
      </p:sp>
      <p:sp>
        <p:nvSpPr>
          <p:cNvPr id="301" name=""/>
          <p:cNvSpPr txBox="1"/>
          <p:nvPr/>
        </p:nvSpPr>
        <p:spPr>
          <a:xfrm>
            <a:off x="1104840" y="4076640"/>
            <a:ext cx="10058400" cy="800280"/>
          </a:xfrm>
          <a:prstGeom prst="rect">
            <a:avLst/>
          </a:prstGeom>
          <a:noFill/>
          <a:ln w="0">
            <a:noFill/>
          </a:ln>
        </p:spPr>
        <p:txBody>
          <a:bodyPr lIns="0" rIns="0" tIns="0" bIns="0" anchor="t">
            <a:noAutofit/>
          </a:bodyPr>
          <a:p>
            <a:pPr algn="ctr"/>
            <a:r>
              <a:rPr b="1" lang="en-US" sz="2540" spc="-1" strike="noStrike">
                <a:solidFill>
                  <a:srgbClr val="004899"/>
                </a:solidFill>
                <a:latin typeface="Noto Sans"/>
              </a:rPr>
              <a:t>Dokumentieren und Ergebnisse kontrollieren – bei jedem Schritt</a:t>
            </a:r>
            <a:endParaRPr b="0" lang="en-US" sz="2540" spc="-1" strike="noStrike">
              <a:solidFill>
                <a:srgbClr val="000000"/>
              </a:solidFill>
              <a:latin typeface="Arial"/>
            </a:endParaRPr>
          </a:p>
        </p:txBody>
      </p:sp>
      <p:sp>
        <p:nvSpPr>
          <p:cNvPr id="302" name=""/>
          <p:cNvSpPr/>
          <p:nvPr/>
        </p:nvSpPr>
        <p:spPr>
          <a:xfrm>
            <a:off x="647640" y="56008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3" name=""/>
          <p:cNvSpPr txBox="1"/>
          <p:nvPr/>
        </p:nvSpPr>
        <p:spPr>
          <a:xfrm>
            <a:off x="838080" y="570744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Von der Tabelle bis zur Karte: Was tragen die Daten wirklich?</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Für sich nachdenken</a:t>
            </a:r>
            <a:endParaRPr b="0" lang="en-US" sz="3190" spc="-1" strike="noStrike">
              <a:solidFill>
                <a:srgbClr val="000000"/>
              </a:solidFill>
              <a:latin typeface="Arial"/>
            </a:endParaRPr>
          </a:p>
        </p:txBody>
      </p:sp>
      <p:sp>
        <p:nvSpPr>
          <p:cNvPr id="30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PERSÖNLICHE RÜCKSCHAU</a:t>
            </a:r>
            <a:endParaRPr b="0" lang="en-US" sz="1130" spc="-1" strike="noStrike">
              <a:solidFill>
                <a:srgbClr val="000000"/>
              </a:solidFill>
              <a:latin typeface="Arial"/>
            </a:endParaRPr>
          </a:p>
        </p:txBody>
      </p:sp>
      <p:sp>
        <p:nvSpPr>
          <p:cNvPr id="30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0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18</a:t>
            </a:r>
            <a:endParaRPr b="0" lang="en-US" sz="939" spc="-1" strike="noStrike">
              <a:solidFill>
                <a:srgbClr val="000000"/>
              </a:solidFill>
              <a:latin typeface="Arial"/>
            </a:endParaRPr>
          </a:p>
        </p:txBody>
      </p:sp>
      <p:sp>
        <p:nvSpPr>
          <p:cNvPr id="308" name=""/>
          <p:cNvSpPr/>
          <p:nvPr/>
        </p:nvSpPr>
        <p:spPr>
          <a:xfrm>
            <a:off x="952560" y="2209680"/>
            <a:ext cx="47242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9" name=""/>
          <p:cNvSpPr/>
          <p:nvPr/>
        </p:nvSpPr>
        <p:spPr>
          <a:xfrm>
            <a:off x="952560" y="2209680"/>
            <a:ext cx="53280" cy="23623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0" name=""/>
          <p:cNvSpPr txBox="1"/>
          <p:nvPr/>
        </p:nvSpPr>
        <p:spPr>
          <a:xfrm>
            <a:off x="1158120" y="2392560"/>
            <a:ext cx="4312800" cy="647640"/>
          </a:xfrm>
          <a:prstGeom prst="rect">
            <a:avLst/>
          </a:prstGeom>
          <a:noFill/>
          <a:ln w="0">
            <a:noFill/>
          </a:ln>
        </p:spPr>
        <p:txBody>
          <a:bodyPr lIns="0" rIns="0" tIns="0" bIns="0" anchor="t">
            <a:noAutofit/>
          </a:bodyPr>
          <a:p>
            <a:r>
              <a:rPr b="1" lang="en-US" sz="2540" spc="-1" strike="noStrike">
                <a:solidFill>
                  <a:srgbClr val="004899"/>
                </a:solidFill>
                <a:latin typeface="Noto Sans"/>
              </a:rPr>
              <a:t>Das kann ich erklären</a:t>
            </a:r>
            <a:endParaRPr b="0" lang="en-US" sz="2540" spc="-1" strike="noStrike">
              <a:solidFill>
                <a:srgbClr val="000000"/>
              </a:solidFill>
              <a:latin typeface="Arial"/>
            </a:endParaRPr>
          </a:p>
        </p:txBody>
      </p:sp>
      <p:sp>
        <p:nvSpPr>
          <p:cNvPr id="311" name=""/>
          <p:cNvSpPr txBox="1"/>
          <p:nvPr/>
        </p:nvSpPr>
        <p:spPr>
          <a:xfrm>
            <a:off x="1158120" y="3154680"/>
            <a:ext cx="4312800" cy="1280160"/>
          </a:xfrm>
          <a:prstGeom prst="rect">
            <a:avLst/>
          </a:prstGeom>
          <a:noFill/>
          <a:ln w="0">
            <a:noFill/>
          </a:ln>
        </p:spPr>
        <p:txBody>
          <a:bodyPr lIns="0" rIns="0" tIns="0" bIns="0" anchor="t">
            <a:noAutofit/>
          </a:bodyPr>
          <a:p>
            <a:r>
              <a:rPr b="0" lang="en-US" sz="2720" spc="-1" strike="noStrike">
                <a:solidFill>
                  <a:srgbClr val="000000"/>
                </a:solidFill>
                <a:latin typeface="Noto Sans"/>
              </a:rPr>
              <a:t>Ein Arbeitsschritt aus dem Kurs</a:t>
            </a:r>
            <a:endParaRPr b="0" lang="en-US" sz="2720" spc="-1" strike="noStrike">
              <a:solidFill>
                <a:srgbClr val="000000"/>
              </a:solidFill>
              <a:latin typeface="Arial"/>
            </a:endParaRPr>
          </a:p>
        </p:txBody>
      </p:sp>
      <p:sp>
        <p:nvSpPr>
          <p:cNvPr id="312" name=""/>
          <p:cNvSpPr/>
          <p:nvPr/>
        </p:nvSpPr>
        <p:spPr>
          <a:xfrm>
            <a:off x="6515280" y="2209680"/>
            <a:ext cx="4724280" cy="23623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3" name=""/>
          <p:cNvSpPr/>
          <p:nvPr/>
        </p:nvSpPr>
        <p:spPr>
          <a:xfrm>
            <a:off x="6515280" y="2209680"/>
            <a:ext cx="53280" cy="23623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14" name=""/>
          <p:cNvSpPr txBox="1"/>
          <p:nvPr/>
        </p:nvSpPr>
        <p:spPr>
          <a:xfrm>
            <a:off x="6720840" y="2392560"/>
            <a:ext cx="4312800" cy="647640"/>
          </a:xfrm>
          <a:prstGeom prst="rect">
            <a:avLst/>
          </a:prstGeom>
          <a:noFill/>
          <a:ln w="0">
            <a:noFill/>
          </a:ln>
        </p:spPr>
        <p:txBody>
          <a:bodyPr lIns="0" rIns="0" tIns="0" bIns="0" anchor="t">
            <a:noAutofit/>
          </a:bodyPr>
          <a:p>
            <a:r>
              <a:rPr b="1" lang="en-US" sz="2540" spc="-1" strike="noStrike">
                <a:solidFill>
                  <a:srgbClr val="a32123"/>
                </a:solidFill>
                <a:latin typeface="Noto Sans"/>
              </a:rPr>
              <a:t>Das ist noch offen</a:t>
            </a:r>
            <a:endParaRPr b="0" lang="en-US" sz="2540" spc="-1" strike="noStrike">
              <a:solidFill>
                <a:srgbClr val="000000"/>
              </a:solidFill>
              <a:latin typeface="Arial"/>
            </a:endParaRPr>
          </a:p>
        </p:txBody>
      </p:sp>
      <p:sp>
        <p:nvSpPr>
          <p:cNvPr id="315" name=""/>
          <p:cNvSpPr txBox="1"/>
          <p:nvPr/>
        </p:nvSpPr>
        <p:spPr>
          <a:xfrm>
            <a:off x="6720840" y="3154680"/>
            <a:ext cx="4312800" cy="1280160"/>
          </a:xfrm>
          <a:prstGeom prst="rect">
            <a:avLst/>
          </a:prstGeom>
          <a:noFill/>
          <a:ln w="0">
            <a:noFill/>
          </a:ln>
        </p:spPr>
        <p:txBody>
          <a:bodyPr lIns="0" rIns="0" tIns="0" bIns="0" anchor="t">
            <a:noAutofit/>
          </a:bodyPr>
          <a:p>
            <a:r>
              <a:rPr b="0" lang="en-US" sz="2630" spc="-1" strike="noStrike">
                <a:solidFill>
                  <a:srgbClr val="000000"/>
                </a:solidFill>
                <a:latin typeface="Noto Sans"/>
              </a:rPr>
              <a:t>Eine möglichst konkrete Unsicherheit</a:t>
            </a:r>
            <a:endParaRPr b="0" lang="en-US" sz="2630" spc="-1" strike="noStrike">
              <a:solidFill>
                <a:srgbClr val="000000"/>
              </a:solidFill>
              <a:latin typeface="Arial"/>
            </a:endParaRPr>
          </a:p>
        </p:txBody>
      </p:sp>
      <p:sp>
        <p:nvSpPr>
          <p:cNvPr id="31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7"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Ihre Notizen bleiben bei Ihnen.</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Zu zweit eine Frage formulieren</a:t>
            </a:r>
            <a:endParaRPr b="0" lang="en-US" sz="3190" spc="-1" strike="noStrike">
              <a:solidFill>
                <a:srgbClr val="000000"/>
              </a:solidFill>
              <a:latin typeface="Arial"/>
            </a:endParaRPr>
          </a:p>
        </p:txBody>
      </p:sp>
      <p:sp>
        <p:nvSpPr>
          <p:cNvPr id="31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PERSÖNLICHE RÜCKSCHAU</a:t>
            </a:r>
            <a:endParaRPr b="0" lang="en-US" sz="1130" spc="-1" strike="noStrike">
              <a:solidFill>
                <a:srgbClr val="000000"/>
              </a:solidFill>
              <a:latin typeface="Arial"/>
            </a:endParaRPr>
          </a:p>
        </p:txBody>
      </p:sp>
      <p:sp>
        <p:nvSpPr>
          <p:cNvPr id="32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2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19</a:t>
            </a:r>
            <a:endParaRPr b="0" lang="en-US" sz="939" spc="-1" strike="noStrike">
              <a:solidFill>
                <a:srgbClr val="000000"/>
              </a:solidFill>
              <a:latin typeface="Arial"/>
            </a:endParaRPr>
          </a:p>
        </p:txBody>
      </p:sp>
      <p:sp>
        <p:nvSpPr>
          <p:cNvPr id="322" name=""/>
          <p:cNvSpPr/>
          <p:nvPr/>
        </p:nvSpPr>
        <p:spPr>
          <a:xfrm>
            <a:off x="1523880" y="2019240"/>
            <a:ext cx="9144000" cy="26290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3" name=""/>
          <p:cNvSpPr/>
          <p:nvPr/>
        </p:nvSpPr>
        <p:spPr>
          <a:xfrm>
            <a:off x="1523880" y="2019240"/>
            <a:ext cx="53280" cy="26290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24" name=""/>
          <p:cNvSpPr txBox="1"/>
          <p:nvPr/>
        </p:nvSpPr>
        <p:spPr>
          <a:xfrm>
            <a:off x="1729800" y="2202120"/>
            <a:ext cx="8732520" cy="647640"/>
          </a:xfrm>
          <a:prstGeom prst="rect">
            <a:avLst/>
          </a:prstGeom>
          <a:noFill/>
          <a:ln w="0">
            <a:noFill/>
          </a:ln>
        </p:spPr>
        <p:txBody>
          <a:bodyPr lIns="0" rIns="0" tIns="0" bIns="0" anchor="t">
            <a:noAutofit/>
          </a:bodyPr>
          <a:p>
            <a:r>
              <a:rPr b="1" lang="en-US" sz="2540" spc="-1" strike="noStrike">
                <a:solidFill>
                  <a:srgbClr val="004899"/>
                </a:solidFill>
                <a:latin typeface="Noto Sans"/>
              </a:rPr>
              <a:t>Eine Frage pro Paar</a:t>
            </a:r>
            <a:endParaRPr b="0" lang="en-US" sz="2540" spc="-1" strike="noStrike">
              <a:solidFill>
                <a:srgbClr val="000000"/>
              </a:solidFill>
              <a:latin typeface="Arial"/>
            </a:endParaRPr>
          </a:p>
        </p:txBody>
      </p:sp>
      <p:sp>
        <p:nvSpPr>
          <p:cNvPr id="325" name=""/>
          <p:cNvSpPr txBox="1"/>
          <p:nvPr/>
        </p:nvSpPr>
        <p:spPr>
          <a:xfrm>
            <a:off x="1729800" y="2964240"/>
            <a:ext cx="8732520" cy="1546920"/>
          </a:xfrm>
          <a:prstGeom prst="rect">
            <a:avLst/>
          </a:prstGeom>
          <a:noFill/>
          <a:ln w="0">
            <a:noFill/>
          </a:ln>
        </p:spPr>
        <p:txBody>
          <a:bodyPr lIns="0" rIns="0" tIns="0" bIns="0" anchor="t">
            <a:noAutofit/>
          </a:bodyPr>
          <a:p>
            <a:r>
              <a:rPr b="0" lang="en-US" sz="3190" spc="-1" strike="noStrike">
                <a:solidFill>
                  <a:srgbClr val="000000"/>
                </a:solidFill>
                <a:latin typeface="Noto Sans"/>
              </a:rPr>
              <a:t>„</a:t>
            </a:r>
            <a:r>
              <a:rPr b="0" lang="en-US" sz="3190" spc="-1" strike="noStrike">
                <a:solidFill>
                  <a:srgbClr val="000000"/>
                </a:solidFill>
                <a:latin typeface="Noto Sans"/>
              </a:rPr>
              <a:t>Bei Unit ___ / dem Beispiel ___ verstehen wir noch nicht, warum …?“</a:t>
            </a:r>
            <a:endParaRPr b="0" lang="en-US" sz="3190" spc="-1" strike="noStrike">
              <a:solidFill>
                <a:srgbClr val="000000"/>
              </a:solidFill>
              <a:latin typeface="Arial"/>
            </a:endParaRPr>
          </a:p>
        </p:txBody>
      </p:sp>
      <p:sp>
        <p:nvSpPr>
          <p:cNvPr id="32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7"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Fragen zur Karte, zu den Daten oder zum Arbeitsweg sind willkommen.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Häufige Fragen gemeinsam klären</a:t>
            </a:r>
            <a:endParaRPr b="0" lang="en-US" sz="3190" spc="-1" strike="noStrike">
              <a:solidFill>
                <a:srgbClr val="000000"/>
              </a:solidFill>
              <a:latin typeface="Arial"/>
            </a:endParaRPr>
          </a:p>
        </p:txBody>
      </p:sp>
      <p:sp>
        <p:nvSpPr>
          <p:cNvPr id="32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OFFENE FRAGEN</a:t>
            </a:r>
            <a:endParaRPr b="0" lang="en-US" sz="1130" spc="-1" strike="noStrike">
              <a:solidFill>
                <a:srgbClr val="000000"/>
              </a:solidFill>
              <a:latin typeface="Arial"/>
            </a:endParaRPr>
          </a:p>
        </p:txBody>
      </p:sp>
      <p:sp>
        <p:nvSpPr>
          <p:cNvPr id="33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3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20</a:t>
            </a:r>
            <a:endParaRPr b="0" lang="en-US" sz="939" spc="-1" strike="noStrike">
              <a:solidFill>
                <a:srgbClr val="000000"/>
              </a:solidFill>
              <a:latin typeface="Arial"/>
            </a:endParaRPr>
          </a:p>
        </p:txBody>
      </p:sp>
      <p:sp>
        <p:nvSpPr>
          <p:cNvPr id="332" name=""/>
          <p:cNvSpPr/>
          <p:nvPr/>
        </p:nvSpPr>
        <p:spPr>
          <a:xfrm>
            <a:off x="914400" y="1943280"/>
            <a:ext cx="4686480" cy="2781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3" name=""/>
          <p:cNvSpPr/>
          <p:nvPr/>
        </p:nvSpPr>
        <p:spPr>
          <a:xfrm>
            <a:off x="914400" y="1943280"/>
            <a:ext cx="53280" cy="27813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4" name=""/>
          <p:cNvSpPr txBox="1"/>
          <p:nvPr/>
        </p:nvSpPr>
        <p:spPr>
          <a:xfrm>
            <a:off x="1120320" y="2126160"/>
            <a:ext cx="4275000" cy="647640"/>
          </a:xfrm>
          <a:prstGeom prst="rect">
            <a:avLst/>
          </a:prstGeom>
          <a:noFill/>
          <a:ln w="0">
            <a:noFill/>
          </a:ln>
        </p:spPr>
        <p:txBody>
          <a:bodyPr lIns="0" rIns="0" tIns="0" bIns="0" anchor="t">
            <a:noAutofit/>
          </a:bodyPr>
          <a:p>
            <a:r>
              <a:rPr b="1" lang="en-US" sz="2540" spc="-1" strike="noStrike">
                <a:solidFill>
                  <a:srgbClr val="004899"/>
                </a:solidFill>
                <a:latin typeface="Noto Sans"/>
              </a:rPr>
              <a:t>Im Plenum</a:t>
            </a:r>
            <a:endParaRPr b="0" lang="en-US" sz="2540" spc="-1" strike="noStrike">
              <a:solidFill>
                <a:srgbClr val="000000"/>
              </a:solidFill>
              <a:latin typeface="Arial"/>
            </a:endParaRPr>
          </a:p>
        </p:txBody>
      </p:sp>
      <p:sp>
        <p:nvSpPr>
          <p:cNvPr id="335" name=""/>
          <p:cNvSpPr txBox="1"/>
          <p:nvPr/>
        </p:nvSpPr>
        <p:spPr>
          <a:xfrm>
            <a:off x="1120320" y="2887920"/>
            <a:ext cx="4275000" cy="1699200"/>
          </a:xfrm>
          <a:prstGeom prst="rect">
            <a:avLst/>
          </a:prstGeom>
          <a:noFill/>
          <a:ln w="0">
            <a:noFill/>
          </a:ln>
        </p:spPr>
        <p:txBody>
          <a:bodyPr lIns="0" rIns="0" tIns="0" bIns="0" anchor="t">
            <a:noAutofit/>
          </a:bodyPr>
          <a:p>
            <a:r>
              <a:rPr b="0" lang="en-US" sz="2540" spc="-1" strike="noStrike">
                <a:solidFill>
                  <a:srgbClr val="000000"/>
                </a:solidFill>
                <a:latin typeface="Noto Sans"/>
              </a:rPr>
              <a:t>Fragen bündeln</a:t>
            </a:r>
            <a:endParaRPr b="0" lang="en-US" sz="2540" spc="-1" strike="noStrike">
              <a:solidFill>
                <a:srgbClr val="000000"/>
              </a:solidFill>
              <a:latin typeface="Arial"/>
            </a:endParaRPr>
          </a:p>
          <a:p>
            <a:r>
              <a:rPr b="0" lang="en-US" sz="2540" spc="-1" strike="noStrike">
                <a:solidFill>
                  <a:srgbClr val="000000"/>
                </a:solidFill>
                <a:latin typeface="Noto Sans"/>
              </a:rPr>
              <a:t>Bekannte Beispiele heranziehen</a:t>
            </a:r>
            <a:endParaRPr b="0" lang="en-US" sz="2540" spc="-1" strike="noStrike">
              <a:solidFill>
                <a:srgbClr val="000000"/>
              </a:solidFill>
              <a:latin typeface="Arial"/>
            </a:endParaRPr>
          </a:p>
          <a:p>
            <a:r>
              <a:rPr b="0" lang="en-US" sz="2540" spc="-1" strike="noStrike">
                <a:solidFill>
                  <a:srgbClr val="000000"/>
                </a:solidFill>
                <a:latin typeface="Noto Sans"/>
              </a:rPr>
              <a:t>Materialhinweis notieren</a:t>
            </a:r>
            <a:endParaRPr b="0" lang="en-US" sz="2540" spc="-1" strike="noStrike">
              <a:solidFill>
                <a:srgbClr val="000000"/>
              </a:solidFill>
              <a:latin typeface="Arial"/>
            </a:endParaRPr>
          </a:p>
        </p:txBody>
      </p:sp>
      <p:sp>
        <p:nvSpPr>
          <p:cNvPr id="336" name=""/>
          <p:cNvSpPr/>
          <p:nvPr/>
        </p:nvSpPr>
        <p:spPr>
          <a:xfrm>
            <a:off x="6591240" y="1943280"/>
            <a:ext cx="4686480" cy="2781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7" name=""/>
          <p:cNvSpPr/>
          <p:nvPr/>
        </p:nvSpPr>
        <p:spPr>
          <a:xfrm>
            <a:off x="6591240" y="1943280"/>
            <a:ext cx="53280" cy="27813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38" name=""/>
          <p:cNvSpPr txBox="1"/>
          <p:nvPr/>
        </p:nvSpPr>
        <p:spPr>
          <a:xfrm>
            <a:off x="6797160" y="2126160"/>
            <a:ext cx="4275000" cy="647640"/>
          </a:xfrm>
          <a:prstGeom prst="rect">
            <a:avLst/>
          </a:prstGeom>
          <a:noFill/>
          <a:ln w="0">
            <a:noFill/>
          </a:ln>
        </p:spPr>
        <p:txBody>
          <a:bodyPr lIns="0" rIns="0" tIns="0" bIns="0" anchor="t">
            <a:noAutofit/>
          </a:bodyPr>
          <a:p>
            <a:r>
              <a:rPr b="1" lang="en-US" sz="2540" spc="-1" strike="noStrike">
                <a:solidFill>
                  <a:srgbClr val="a32123"/>
                </a:solidFill>
                <a:latin typeface="Noto Sans"/>
              </a:rPr>
              <a:t>Zum Nachschlagen</a:t>
            </a:r>
            <a:endParaRPr b="0" lang="en-US" sz="2540" spc="-1" strike="noStrike">
              <a:solidFill>
                <a:srgbClr val="000000"/>
              </a:solidFill>
              <a:latin typeface="Arial"/>
            </a:endParaRPr>
          </a:p>
        </p:txBody>
      </p:sp>
      <p:sp>
        <p:nvSpPr>
          <p:cNvPr id="339" name=""/>
          <p:cNvSpPr txBox="1"/>
          <p:nvPr/>
        </p:nvSpPr>
        <p:spPr>
          <a:xfrm>
            <a:off x="6797160" y="2887920"/>
            <a:ext cx="4275000" cy="1699200"/>
          </a:xfrm>
          <a:prstGeom prst="rect">
            <a:avLst/>
          </a:prstGeom>
          <a:noFill/>
          <a:ln w="0">
            <a:noFill/>
          </a:ln>
        </p:spPr>
        <p:txBody>
          <a:bodyPr lIns="0" rIns="0" tIns="0" bIns="0" anchor="t">
            <a:noAutofit/>
          </a:bodyPr>
          <a:p>
            <a:r>
              <a:rPr b="0" lang="en-US" sz="2540" spc="-1" strike="noStrike">
                <a:solidFill>
                  <a:srgbClr val="000000"/>
                </a:solidFill>
                <a:latin typeface="Noto Sans"/>
              </a:rPr>
              <a:t>Unit-15-Rückblick</a:t>
            </a:r>
            <a:endParaRPr b="0" lang="en-US" sz="2540" spc="-1" strike="noStrike">
              <a:solidFill>
                <a:srgbClr val="000000"/>
              </a:solidFill>
              <a:latin typeface="Arial"/>
            </a:endParaRPr>
          </a:p>
          <a:p>
            <a:r>
              <a:rPr b="0" lang="en-US" sz="2540" spc="-1" strike="noStrike">
                <a:solidFill>
                  <a:srgbClr val="000000"/>
                </a:solidFill>
                <a:latin typeface="Noto Sans"/>
              </a:rPr>
              <a:t>Unit-Seiten 09–14</a:t>
            </a:r>
            <a:endParaRPr b="0" lang="en-US" sz="2540" spc="-1" strike="noStrike">
              <a:solidFill>
                <a:srgbClr val="000000"/>
              </a:solidFill>
              <a:latin typeface="Arial"/>
            </a:endParaRPr>
          </a:p>
          <a:p>
            <a:r>
              <a:rPr b="0" lang="en-US" sz="2540" spc="-1" strike="noStrike">
                <a:solidFill>
                  <a:srgbClr val="000000"/>
                </a:solidFill>
                <a:latin typeface="Noto Sans"/>
              </a:rPr>
              <a:t>Eigene Projektnotizen</a:t>
            </a:r>
            <a:endParaRPr b="0" lang="en-US" sz="2540" spc="-1" strike="noStrike">
              <a:solidFill>
                <a:srgbClr val="000000"/>
              </a:solidFill>
              <a:latin typeface="Arial"/>
            </a:endParaRPr>
          </a:p>
        </p:txBody>
      </p:sp>
      <p:sp>
        <p:nvSpPr>
          <p:cNvPr id="340"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1" name=""/>
          <p:cNvSpPr txBox="1"/>
          <p:nvPr/>
        </p:nvSpPr>
        <p:spPr>
          <a:xfrm>
            <a:off x="838080" y="5623560"/>
            <a:ext cx="10515600" cy="442080"/>
          </a:xfrm>
          <a:prstGeom prst="rect">
            <a:avLst/>
          </a:prstGeom>
          <a:noFill/>
          <a:ln w="0">
            <a:noFill/>
          </a:ln>
        </p:spPr>
        <p:txBody>
          <a:bodyPr lIns="0" rIns="0" tIns="0" bIns="0" anchor="t">
            <a:noAutofit/>
          </a:bodyPr>
          <a:p>
            <a:r>
              <a:rPr b="1" lang="en-US" sz="1790" spc="-1" strike="noStrike">
                <a:solidFill>
                  <a:srgbClr val="004899"/>
                </a:solidFill>
                <a:latin typeface="Noto Sans"/>
              </a:rPr>
              <a:t>Eine unbeantwortete Frage bleibt mit einem passenden Materialhinweis sichtbar.</a:t>
            </a:r>
            <a:endParaRPr b="0" lang="en-US" sz="179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Anonymen Papierfragebogen ausfüllen</a:t>
            </a:r>
            <a:endParaRPr b="0" lang="en-US" sz="3190" spc="-1" strike="noStrike">
              <a:solidFill>
                <a:srgbClr val="000000"/>
              </a:solidFill>
              <a:latin typeface="Arial"/>
            </a:endParaRPr>
          </a:p>
        </p:txBody>
      </p:sp>
      <p:sp>
        <p:nvSpPr>
          <p:cNvPr id="343"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FREIWILLIGES KURSFEEDBACK</a:t>
            </a:r>
            <a:endParaRPr b="0" lang="en-US" sz="1130" spc="-1" strike="noStrike">
              <a:solidFill>
                <a:srgbClr val="000000"/>
              </a:solidFill>
              <a:latin typeface="Arial"/>
            </a:endParaRPr>
          </a:p>
        </p:txBody>
      </p:sp>
      <p:sp>
        <p:nvSpPr>
          <p:cNvPr id="344"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45"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21</a:t>
            </a:r>
            <a:endParaRPr b="0" lang="en-US" sz="939" spc="-1" strike="noStrike">
              <a:solidFill>
                <a:srgbClr val="000000"/>
              </a:solidFill>
              <a:latin typeface="Arial"/>
            </a:endParaRPr>
          </a:p>
        </p:txBody>
      </p:sp>
      <p:sp>
        <p:nvSpPr>
          <p:cNvPr id="346" name=""/>
          <p:cNvSpPr/>
          <p:nvPr/>
        </p:nvSpPr>
        <p:spPr>
          <a:xfrm>
            <a:off x="990720" y="1981080"/>
            <a:ext cx="4648320" cy="2781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7" name=""/>
          <p:cNvSpPr/>
          <p:nvPr/>
        </p:nvSpPr>
        <p:spPr>
          <a:xfrm>
            <a:off x="990720" y="1981080"/>
            <a:ext cx="53280" cy="27813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8" name=""/>
          <p:cNvSpPr txBox="1"/>
          <p:nvPr/>
        </p:nvSpPr>
        <p:spPr>
          <a:xfrm>
            <a:off x="1196280" y="2163960"/>
            <a:ext cx="4236840" cy="647640"/>
          </a:xfrm>
          <a:prstGeom prst="rect">
            <a:avLst/>
          </a:prstGeom>
          <a:noFill/>
          <a:ln w="0">
            <a:noFill/>
          </a:ln>
        </p:spPr>
        <p:txBody>
          <a:bodyPr lIns="0" rIns="0" tIns="0" bIns="0" anchor="t">
            <a:noAutofit/>
          </a:bodyPr>
          <a:p>
            <a:r>
              <a:rPr b="1" lang="en-US" sz="2540" spc="-1" strike="noStrike">
                <a:solidFill>
                  <a:srgbClr val="004899"/>
                </a:solidFill>
                <a:latin typeface="Noto Sans"/>
              </a:rPr>
              <a:t>7 Einschätzungen</a:t>
            </a:r>
            <a:endParaRPr b="0" lang="en-US" sz="2540" spc="-1" strike="noStrike">
              <a:solidFill>
                <a:srgbClr val="000000"/>
              </a:solidFill>
              <a:latin typeface="Arial"/>
            </a:endParaRPr>
          </a:p>
        </p:txBody>
      </p:sp>
      <p:sp>
        <p:nvSpPr>
          <p:cNvPr id="349" name=""/>
          <p:cNvSpPr txBox="1"/>
          <p:nvPr/>
        </p:nvSpPr>
        <p:spPr>
          <a:xfrm>
            <a:off x="1196280" y="2926080"/>
            <a:ext cx="4236840" cy="1699200"/>
          </a:xfrm>
          <a:prstGeom prst="rect">
            <a:avLst/>
          </a:prstGeom>
          <a:noFill/>
          <a:ln w="0">
            <a:noFill/>
          </a:ln>
        </p:spPr>
        <p:txBody>
          <a:bodyPr lIns="0" rIns="0" tIns="0" bIns="0" anchor="t">
            <a:noAutofit/>
          </a:bodyPr>
          <a:p>
            <a:r>
              <a:rPr b="0" lang="en-US" sz="2540" spc="-1" strike="noStrike">
                <a:solidFill>
                  <a:srgbClr val="000000"/>
                </a:solidFill>
                <a:latin typeface="Noto Sans"/>
              </a:rPr>
              <a:t>Was hat Ihnen beim Lernen geholfen?</a:t>
            </a:r>
            <a:endParaRPr b="0" lang="en-US" sz="2540" spc="-1" strike="noStrike">
              <a:solidFill>
                <a:srgbClr val="000000"/>
              </a:solidFill>
              <a:latin typeface="Arial"/>
            </a:endParaRPr>
          </a:p>
        </p:txBody>
      </p:sp>
      <p:sp>
        <p:nvSpPr>
          <p:cNvPr id="350" name=""/>
          <p:cNvSpPr/>
          <p:nvPr/>
        </p:nvSpPr>
        <p:spPr>
          <a:xfrm>
            <a:off x="6553440" y="1981080"/>
            <a:ext cx="4648320" cy="27813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1" name=""/>
          <p:cNvSpPr/>
          <p:nvPr/>
        </p:nvSpPr>
        <p:spPr>
          <a:xfrm>
            <a:off x="6553440" y="1981080"/>
            <a:ext cx="53280" cy="278136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52" name=""/>
          <p:cNvSpPr txBox="1"/>
          <p:nvPr/>
        </p:nvSpPr>
        <p:spPr>
          <a:xfrm>
            <a:off x="6759000" y="2163960"/>
            <a:ext cx="4236840" cy="647640"/>
          </a:xfrm>
          <a:prstGeom prst="rect">
            <a:avLst/>
          </a:prstGeom>
          <a:noFill/>
          <a:ln w="0">
            <a:noFill/>
          </a:ln>
        </p:spPr>
        <p:txBody>
          <a:bodyPr lIns="0" rIns="0" tIns="0" bIns="0" anchor="t">
            <a:noAutofit/>
          </a:bodyPr>
          <a:p>
            <a:r>
              <a:rPr b="1" lang="en-US" sz="2540" spc="-1" strike="noStrike">
                <a:solidFill>
                  <a:srgbClr val="a32123"/>
                </a:solidFill>
                <a:latin typeface="Noto Sans"/>
              </a:rPr>
              <a:t>2 offene Antworten</a:t>
            </a:r>
            <a:endParaRPr b="0" lang="en-US" sz="2540" spc="-1" strike="noStrike">
              <a:solidFill>
                <a:srgbClr val="000000"/>
              </a:solidFill>
              <a:latin typeface="Arial"/>
            </a:endParaRPr>
          </a:p>
        </p:txBody>
      </p:sp>
      <p:sp>
        <p:nvSpPr>
          <p:cNvPr id="353" name=""/>
          <p:cNvSpPr txBox="1"/>
          <p:nvPr/>
        </p:nvSpPr>
        <p:spPr>
          <a:xfrm>
            <a:off x="6759000" y="2926080"/>
            <a:ext cx="4236840" cy="1699200"/>
          </a:xfrm>
          <a:prstGeom prst="rect">
            <a:avLst/>
          </a:prstGeom>
          <a:noFill/>
          <a:ln w="0">
            <a:noFill/>
          </a:ln>
        </p:spPr>
        <p:txBody>
          <a:bodyPr lIns="0" rIns="0" tIns="0" bIns="0" anchor="t">
            <a:noAutofit/>
          </a:bodyPr>
          <a:p>
            <a:r>
              <a:rPr b="0" lang="en-US" sz="2540" spc="-1" strike="noStrike">
                <a:solidFill>
                  <a:srgbClr val="000000"/>
                </a:solidFill>
                <a:latin typeface="Noto Sans"/>
              </a:rPr>
              <a:t>Was beibehalten?</a:t>
            </a:r>
            <a:endParaRPr b="0" lang="en-US" sz="2540" spc="-1" strike="noStrike">
              <a:solidFill>
                <a:srgbClr val="000000"/>
              </a:solidFill>
              <a:latin typeface="Arial"/>
            </a:endParaRPr>
          </a:p>
          <a:p>
            <a:r>
              <a:rPr b="0" lang="en-US" sz="2540" spc="-1" strike="noStrike">
                <a:solidFill>
                  <a:srgbClr val="000000"/>
                </a:solidFill>
                <a:latin typeface="Noto Sans"/>
              </a:rPr>
              <a:t>Was verändern?</a:t>
            </a:r>
            <a:endParaRPr b="0" lang="en-US" sz="2540" spc="-1" strike="noStrike">
              <a:solidFill>
                <a:srgbClr val="000000"/>
              </a:solidFill>
              <a:latin typeface="Arial"/>
            </a:endParaRPr>
          </a:p>
        </p:txBody>
      </p:sp>
      <p:sp>
        <p:nvSpPr>
          <p:cNvPr id="35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55"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Freiwillig · ohne Namen · gefaltet in die Sammelbox</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Freiwillige Ergänzungen im Plenum</a:t>
            </a:r>
            <a:endParaRPr b="0" lang="en-US" sz="3190" spc="-1" strike="noStrike">
              <a:solidFill>
                <a:srgbClr val="000000"/>
              </a:solidFill>
              <a:latin typeface="Arial"/>
            </a:endParaRPr>
          </a:p>
        </p:txBody>
      </p:sp>
      <p:sp>
        <p:nvSpPr>
          <p:cNvPr id="35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FREIWILLIGES KURSFEEDBACK</a:t>
            </a:r>
            <a:endParaRPr b="0" lang="en-US" sz="1130" spc="-1" strike="noStrike">
              <a:solidFill>
                <a:srgbClr val="000000"/>
              </a:solidFill>
              <a:latin typeface="Arial"/>
            </a:endParaRPr>
          </a:p>
        </p:txBody>
      </p:sp>
      <p:sp>
        <p:nvSpPr>
          <p:cNvPr id="35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5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22</a:t>
            </a:r>
            <a:endParaRPr b="0" lang="en-US" sz="939" spc="-1" strike="noStrike">
              <a:solidFill>
                <a:srgbClr val="000000"/>
              </a:solidFill>
              <a:latin typeface="Arial"/>
            </a:endParaRPr>
          </a:p>
        </p:txBody>
      </p:sp>
      <p:sp>
        <p:nvSpPr>
          <p:cNvPr id="360" name=""/>
          <p:cNvSpPr/>
          <p:nvPr/>
        </p:nvSpPr>
        <p:spPr>
          <a:xfrm>
            <a:off x="990720" y="2133720"/>
            <a:ext cx="4648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1" name=""/>
          <p:cNvSpPr/>
          <p:nvPr/>
        </p:nvSpPr>
        <p:spPr>
          <a:xfrm>
            <a:off x="990720" y="213372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62" name=""/>
          <p:cNvSpPr txBox="1"/>
          <p:nvPr/>
        </p:nvSpPr>
        <p:spPr>
          <a:xfrm>
            <a:off x="1196280" y="2316600"/>
            <a:ext cx="4236840" cy="647640"/>
          </a:xfrm>
          <a:prstGeom prst="rect">
            <a:avLst/>
          </a:prstGeom>
          <a:noFill/>
          <a:ln w="0">
            <a:noFill/>
          </a:ln>
        </p:spPr>
        <p:txBody>
          <a:bodyPr lIns="0" rIns="0" tIns="0" bIns="0" anchor="t">
            <a:noAutofit/>
          </a:bodyPr>
          <a:p>
            <a:r>
              <a:rPr b="1" lang="en-US" sz="2540" spc="-1" strike="noStrike">
                <a:solidFill>
                  <a:srgbClr val="004899"/>
                </a:solidFill>
                <a:latin typeface="Noto Sans"/>
              </a:rPr>
              <a:t>Beibehalten</a:t>
            </a:r>
            <a:endParaRPr b="0" lang="en-US" sz="2540" spc="-1" strike="noStrike">
              <a:solidFill>
                <a:srgbClr val="000000"/>
              </a:solidFill>
              <a:latin typeface="Arial"/>
            </a:endParaRPr>
          </a:p>
        </p:txBody>
      </p:sp>
      <p:sp>
        <p:nvSpPr>
          <p:cNvPr id="363" name=""/>
          <p:cNvSpPr txBox="1"/>
          <p:nvPr/>
        </p:nvSpPr>
        <p:spPr>
          <a:xfrm>
            <a:off x="1196280" y="3078360"/>
            <a:ext cx="4236840" cy="1203840"/>
          </a:xfrm>
          <a:prstGeom prst="rect">
            <a:avLst/>
          </a:prstGeom>
          <a:noFill/>
          <a:ln w="0">
            <a:noFill/>
          </a:ln>
        </p:spPr>
        <p:txBody>
          <a:bodyPr lIns="0" rIns="0" tIns="0" bIns="0" anchor="t">
            <a:noAutofit/>
          </a:bodyPr>
          <a:p>
            <a:r>
              <a:rPr b="0" lang="en-US" sz="2540" spc="-1" strike="noStrike">
                <a:solidFill>
                  <a:srgbClr val="000000"/>
                </a:solidFill>
                <a:latin typeface="Noto Sans"/>
              </a:rPr>
              <a:t>Welcher Teil half beim Lernen?</a:t>
            </a:r>
            <a:endParaRPr b="0" lang="en-US" sz="2540" spc="-1" strike="noStrike">
              <a:solidFill>
                <a:srgbClr val="000000"/>
              </a:solidFill>
              <a:latin typeface="Arial"/>
            </a:endParaRPr>
          </a:p>
        </p:txBody>
      </p:sp>
      <p:sp>
        <p:nvSpPr>
          <p:cNvPr id="364" name=""/>
          <p:cNvSpPr/>
          <p:nvPr/>
        </p:nvSpPr>
        <p:spPr>
          <a:xfrm>
            <a:off x="6553440" y="2133720"/>
            <a:ext cx="464832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5" name=""/>
          <p:cNvSpPr/>
          <p:nvPr/>
        </p:nvSpPr>
        <p:spPr>
          <a:xfrm>
            <a:off x="6553440" y="213372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66" name=""/>
          <p:cNvSpPr txBox="1"/>
          <p:nvPr/>
        </p:nvSpPr>
        <p:spPr>
          <a:xfrm>
            <a:off x="6759000" y="2316600"/>
            <a:ext cx="4236840" cy="647640"/>
          </a:xfrm>
          <a:prstGeom prst="rect">
            <a:avLst/>
          </a:prstGeom>
          <a:noFill/>
          <a:ln w="0">
            <a:noFill/>
          </a:ln>
        </p:spPr>
        <p:txBody>
          <a:bodyPr lIns="0" rIns="0" tIns="0" bIns="0" anchor="t">
            <a:noAutofit/>
          </a:bodyPr>
          <a:p>
            <a:r>
              <a:rPr b="1" lang="en-US" sz="2540" spc="-1" strike="noStrike">
                <a:solidFill>
                  <a:srgbClr val="a32123"/>
                </a:solidFill>
                <a:latin typeface="Noto Sans"/>
              </a:rPr>
              <a:t>Verändern</a:t>
            </a:r>
            <a:endParaRPr b="0" lang="en-US" sz="2540" spc="-1" strike="noStrike">
              <a:solidFill>
                <a:srgbClr val="000000"/>
              </a:solidFill>
              <a:latin typeface="Arial"/>
            </a:endParaRPr>
          </a:p>
        </p:txBody>
      </p:sp>
      <p:sp>
        <p:nvSpPr>
          <p:cNvPr id="367" name=""/>
          <p:cNvSpPr txBox="1"/>
          <p:nvPr/>
        </p:nvSpPr>
        <p:spPr>
          <a:xfrm>
            <a:off x="6759000" y="3078360"/>
            <a:ext cx="4236840" cy="1203840"/>
          </a:xfrm>
          <a:prstGeom prst="rect">
            <a:avLst/>
          </a:prstGeom>
          <a:noFill/>
          <a:ln w="0">
            <a:noFill/>
          </a:ln>
        </p:spPr>
        <p:txBody>
          <a:bodyPr lIns="0" rIns="0" tIns="0" bIns="0" anchor="t">
            <a:noAutofit/>
          </a:bodyPr>
          <a:p>
            <a:r>
              <a:rPr b="0" lang="en-US" sz="2540" spc="-1" strike="noStrike">
                <a:solidFill>
                  <a:srgbClr val="000000"/>
                </a:solidFill>
                <a:latin typeface="Noto Sans"/>
              </a:rPr>
              <a:t>Was würde das Lernen erleichtern?</a:t>
            </a:r>
            <a:endParaRPr b="0" lang="en-US" sz="2540" spc="-1" strike="noStrike">
              <a:solidFill>
                <a:srgbClr val="000000"/>
              </a:solidFill>
              <a:latin typeface="Arial"/>
            </a:endParaRPr>
          </a:p>
        </p:txBody>
      </p:sp>
      <p:sp>
        <p:nvSpPr>
          <p:cNvPr id="36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9"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Mündliche Beiträge im Plenum sind nicht anonym.</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Gute Ergebnisse beginnen mit verstandenen Daten</a:t>
            </a:r>
            <a:endParaRPr b="0" lang="en-US" sz="3190" spc="-1" strike="noStrike">
              <a:solidFill>
                <a:srgbClr val="000000"/>
              </a:solidFill>
              <a:latin typeface="Arial"/>
            </a:endParaRPr>
          </a:p>
        </p:txBody>
      </p:sp>
      <p:sp>
        <p:nvSpPr>
          <p:cNvPr id="37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DREI KERNBOTSCHAFTEN · 1</a:t>
            </a:r>
            <a:endParaRPr b="0" lang="en-US" sz="1130" spc="-1" strike="noStrike">
              <a:solidFill>
                <a:srgbClr val="000000"/>
              </a:solidFill>
              <a:latin typeface="Arial"/>
            </a:endParaRPr>
          </a:p>
        </p:txBody>
      </p:sp>
      <p:sp>
        <p:nvSpPr>
          <p:cNvPr id="37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7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23</a:t>
            </a:r>
            <a:endParaRPr b="0" lang="en-US" sz="939" spc="-1" strike="noStrike">
              <a:solidFill>
                <a:srgbClr val="000000"/>
              </a:solidFill>
              <a:latin typeface="Arial"/>
            </a:endParaRPr>
          </a:p>
        </p:txBody>
      </p:sp>
      <p:sp>
        <p:nvSpPr>
          <p:cNvPr id="374" name=""/>
          <p:cNvSpPr/>
          <p:nvPr/>
        </p:nvSpPr>
        <p:spPr>
          <a:xfrm>
            <a:off x="1143000" y="2209680"/>
            <a:ext cx="9906120" cy="2247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5" name=""/>
          <p:cNvSpPr/>
          <p:nvPr/>
        </p:nvSpPr>
        <p:spPr>
          <a:xfrm>
            <a:off x="1143000" y="2209680"/>
            <a:ext cx="53280" cy="22478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6" name=""/>
          <p:cNvSpPr txBox="1"/>
          <p:nvPr/>
        </p:nvSpPr>
        <p:spPr>
          <a:xfrm>
            <a:off x="1348920" y="2392560"/>
            <a:ext cx="9494640" cy="647640"/>
          </a:xfrm>
          <a:prstGeom prst="rect">
            <a:avLst/>
          </a:prstGeom>
          <a:noFill/>
          <a:ln w="0">
            <a:noFill/>
          </a:ln>
        </p:spPr>
        <p:txBody>
          <a:bodyPr lIns="0" rIns="0" tIns="0" bIns="0" anchor="t">
            <a:noAutofit/>
          </a:bodyPr>
          <a:p>
            <a:r>
              <a:rPr b="1" lang="en-US" sz="2540" spc="-1" strike="noStrike">
                <a:solidFill>
                  <a:srgbClr val="004899"/>
                </a:solidFill>
                <a:latin typeface="Noto Sans"/>
              </a:rPr>
              <a:t>Erst die Daten verstehen</a:t>
            </a:r>
            <a:endParaRPr b="0" lang="en-US" sz="2540" spc="-1" strike="noStrike">
              <a:solidFill>
                <a:srgbClr val="000000"/>
              </a:solidFill>
              <a:latin typeface="Arial"/>
            </a:endParaRPr>
          </a:p>
        </p:txBody>
      </p:sp>
      <p:sp>
        <p:nvSpPr>
          <p:cNvPr id="377" name=""/>
          <p:cNvSpPr txBox="1"/>
          <p:nvPr/>
        </p:nvSpPr>
        <p:spPr>
          <a:xfrm>
            <a:off x="1348920" y="3154680"/>
            <a:ext cx="9494640" cy="1166040"/>
          </a:xfrm>
          <a:prstGeom prst="rect">
            <a:avLst/>
          </a:prstGeom>
          <a:noFill/>
          <a:ln w="0">
            <a:noFill/>
          </a:ln>
        </p:spPr>
        <p:txBody>
          <a:bodyPr lIns="0" rIns="0" tIns="0" bIns="0" anchor="t">
            <a:noAutofit/>
          </a:bodyPr>
          <a:p>
            <a:r>
              <a:rPr b="0" lang="en-US" sz="3190" spc="-1" strike="noStrike">
                <a:solidFill>
                  <a:srgbClr val="000000"/>
                </a:solidFill>
                <a:latin typeface="Noto Sans"/>
              </a:rPr>
              <a:t>Datentyp · Einheit · Herkunft · Koordinatenreferenzsystem</a:t>
            </a:r>
            <a:endParaRPr b="0" lang="en-US" sz="3190" spc="-1" strike="noStrike">
              <a:solidFill>
                <a:srgbClr val="000000"/>
              </a:solidFill>
              <a:latin typeface="Arial"/>
            </a:endParaRPr>
          </a:p>
        </p:txBody>
      </p:sp>
      <p:sp>
        <p:nvSpPr>
          <p:cNvPr id="37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9"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Ein falsches CRS kann eine plausible Karte in die Irre führen.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Der nachvollziehbare Arbeitsweg gehört zum Ergebnis</a:t>
            </a:r>
            <a:endParaRPr b="0" lang="en-US" sz="3190" spc="-1" strike="noStrike">
              <a:solidFill>
                <a:srgbClr val="000000"/>
              </a:solidFill>
              <a:latin typeface="Arial"/>
            </a:endParaRPr>
          </a:p>
        </p:txBody>
      </p:sp>
      <p:sp>
        <p:nvSpPr>
          <p:cNvPr id="38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DREI KERNBOTSCHAFTEN · 2</a:t>
            </a:r>
            <a:endParaRPr b="0" lang="en-US" sz="1130" spc="-1" strike="noStrike">
              <a:solidFill>
                <a:srgbClr val="000000"/>
              </a:solidFill>
              <a:latin typeface="Arial"/>
            </a:endParaRPr>
          </a:p>
        </p:txBody>
      </p:sp>
      <p:sp>
        <p:nvSpPr>
          <p:cNvPr id="38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8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24</a:t>
            </a:r>
            <a:endParaRPr b="0" lang="en-US" sz="939" spc="-1" strike="noStrike">
              <a:solidFill>
                <a:srgbClr val="000000"/>
              </a:solidFill>
              <a:latin typeface="Arial"/>
            </a:endParaRPr>
          </a:p>
        </p:txBody>
      </p:sp>
      <p:sp>
        <p:nvSpPr>
          <p:cNvPr id="384" name=""/>
          <p:cNvSpPr/>
          <p:nvPr/>
        </p:nvSpPr>
        <p:spPr>
          <a:xfrm>
            <a:off x="1066680" y="2095560"/>
            <a:ext cx="1005840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85" name=""/>
          <p:cNvSpPr/>
          <p:nvPr/>
        </p:nvSpPr>
        <p:spPr>
          <a:xfrm>
            <a:off x="1066680" y="209556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6" name=""/>
          <p:cNvSpPr txBox="1"/>
          <p:nvPr/>
        </p:nvSpPr>
        <p:spPr>
          <a:xfrm>
            <a:off x="1272600" y="2278440"/>
            <a:ext cx="9646920" cy="647640"/>
          </a:xfrm>
          <a:prstGeom prst="rect">
            <a:avLst/>
          </a:prstGeom>
          <a:noFill/>
          <a:ln w="0">
            <a:noFill/>
          </a:ln>
        </p:spPr>
        <p:txBody>
          <a:bodyPr lIns="0" rIns="0" tIns="0" bIns="0" anchor="t">
            <a:noAutofit/>
          </a:bodyPr>
          <a:p>
            <a:r>
              <a:rPr b="1" lang="en-US" sz="2540" spc="-1" strike="noStrike">
                <a:solidFill>
                  <a:srgbClr val="004899"/>
                </a:solidFill>
                <a:latin typeface="Noto Sans"/>
              </a:rPr>
              <a:t>Von der Quelle zum Ergebnis</a:t>
            </a:r>
            <a:endParaRPr b="0" lang="en-US" sz="2540" spc="-1" strike="noStrike">
              <a:solidFill>
                <a:srgbClr val="000000"/>
              </a:solidFill>
              <a:latin typeface="Arial"/>
            </a:endParaRPr>
          </a:p>
        </p:txBody>
      </p:sp>
      <p:sp>
        <p:nvSpPr>
          <p:cNvPr id="387" name=""/>
          <p:cNvSpPr txBox="1"/>
          <p:nvPr/>
        </p:nvSpPr>
        <p:spPr>
          <a:xfrm>
            <a:off x="1272600" y="3040560"/>
            <a:ext cx="9646920" cy="1432440"/>
          </a:xfrm>
          <a:prstGeom prst="rect">
            <a:avLst/>
          </a:prstGeom>
          <a:noFill/>
          <a:ln w="0">
            <a:noFill/>
          </a:ln>
        </p:spPr>
        <p:txBody>
          <a:bodyPr lIns="0" rIns="0" tIns="0" bIns="0" anchor="t">
            <a:noAutofit/>
          </a:bodyPr>
          <a:p>
            <a:r>
              <a:rPr b="0" lang="en-US" sz="2910" spc="-1" strike="noStrike">
                <a:solidFill>
                  <a:srgbClr val="000000"/>
                </a:solidFill>
                <a:latin typeface="Noto Sans"/>
              </a:rPr>
              <a:t>79 Rohrecords → 56 geprüfte Punkte → 35 Höhenpunkte → begründete Karte</a:t>
            </a:r>
            <a:endParaRPr b="0" lang="en-US" sz="2910" spc="-1" strike="noStrike">
              <a:solidFill>
                <a:srgbClr val="000000"/>
              </a:solidFill>
              <a:latin typeface="Arial"/>
            </a:endParaRPr>
          </a:p>
        </p:txBody>
      </p:sp>
      <p:sp>
        <p:nvSpPr>
          <p:cNvPr id="38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89"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Prüfregel und Dokumentation sind Teil des Ergebnisses.</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Aussagen aus Tabellen, Diagrammen und Karten begründen</a:t>
            </a:r>
            <a:endParaRPr b="0" lang="en-US" sz="3190" spc="-1" strike="noStrike">
              <a:solidFill>
                <a:srgbClr val="000000"/>
              </a:solidFill>
              <a:latin typeface="Arial"/>
            </a:endParaRPr>
          </a:p>
        </p:txBody>
      </p:sp>
      <p:sp>
        <p:nvSpPr>
          <p:cNvPr id="39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DREI KERNBOTSCHAFTEN · 3</a:t>
            </a:r>
            <a:endParaRPr b="0" lang="en-US" sz="1130" spc="-1" strike="noStrike">
              <a:solidFill>
                <a:srgbClr val="000000"/>
              </a:solidFill>
              <a:latin typeface="Arial"/>
            </a:endParaRPr>
          </a:p>
        </p:txBody>
      </p:sp>
      <p:sp>
        <p:nvSpPr>
          <p:cNvPr id="39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39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25</a:t>
            </a:r>
            <a:endParaRPr b="0" lang="en-US" sz="939" spc="-1" strike="noStrike">
              <a:solidFill>
                <a:srgbClr val="000000"/>
              </a:solidFill>
              <a:latin typeface="Arial"/>
            </a:endParaRPr>
          </a:p>
        </p:txBody>
      </p:sp>
      <p:sp>
        <p:nvSpPr>
          <p:cNvPr id="394" name=""/>
          <p:cNvSpPr/>
          <p:nvPr/>
        </p:nvSpPr>
        <p:spPr>
          <a:xfrm>
            <a:off x="1143000" y="2095560"/>
            <a:ext cx="9906120" cy="25146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5" name=""/>
          <p:cNvSpPr/>
          <p:nvPr/>
        </p:nvSpPr>
        <p:spPr>
          <a:xfrm>
            <a:off x="1143000" y="2095560"/>
            <a:ext cx="53280" cy="25146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6" name=""/>
          <p:cNvSpPr txBox="1"/>
          <p:nvPr/>
        </p:nvSpPr>
        <p:spPr>
          <a:xfrm>
            <a:off x="1348920" y="2278440"/>
            <a:ext cx="9494640" cy="647640"/>
          </a:xfrm>
          <a:prstGeom prst="rect">
            <a:avLst/>
          </a:prstGeom>
          <a:noFill/>
          <a:ln w="0">
            <a:noFill/>
          </a:ln>
        </p:spPr>
        <p:txBody>
          <a:bodyPr lIns="0" rIns="0" tIns="0" bIns="0" anchor="t">
            <a:noAutofit/>
          </a:bodyPr>
          <a:p>
            <a:r>
              <a:rPr b="1" lang="en-US" sz="2540" spc="-1" strike="noStrike">
                <a:solidFill>
                  <a:srgbClr val="004899"/>
                </a:solidFill>
                <a:latin typeface="Noto Sans"/>
              </a:rPr>
              <a:t>Aussage + Grenze</a:t>
            </a:r>
            <a:endParaRPr b="0" lang="en-US" sz="2540" spc="-1" strike="noStrike">
              <a:solidFill>
                <a:srgbClr val="000000"/>
              </a:solidFill>
              <a:latin typeface="Arial"/>
            </a:endParaRPr>
          </a:p>
        </p:txBody>
      </p:sp>
      <p:sp>
        <p:nvSpPr>
          <p:cNvPr id="397" name=""/>
          <p:cNvSpPr txBox="1"/>
          <p:nvPr/>
        </p:nvSpPr>
        <p:spPr>
          <a:xfrm>
            <a:off x="1348920" y="3040560"/>
            <a:ext cx="9494640" cy="1432440"/>
          </a:xfrm>
          <a:prstGeom prst="rect">
            <a:avLst/>
          </a:prstGeom>
          <a:noFill/>
          <a:ln w="0">
            <a:noFill/>
          </a:ln>
        </p:spPr>
        <p:txBody>
          <a:bodyPr lIns="0" rIns="0" tIns="0" bIns="0" anchor="t">
            <a:noAutofit/>
          </a:bodyPr>
          <a:p>
            <a:r>
              <a:rPr b="0" lang="en-US" sz="3190" spc="-1" strike="noStrike">
                <a:solidFill>
                  <a:srgbClr val="000000"/>
                </a:solidFill>
                <a:latin typeface="Noto Sans"/>
              </a:rPr>
              <a:t>Was zeigen diese Daten?</a:t>
            </a:r>
            <a:endParaRPr b="0" lang="en-US" sz="3190" spc="-1" strike="noStrike">
              <a:solidFill>
                <a:srgbClr val="000000"/>
              </a:solidFill>
              <a:latin typeface="Arial"/>
            </a:endParaRPr>
          </a:p>
          <a:p>
            <a:r>
              <a:rPr b="0" lang="en-US" sz="3190" spc="-1" strike="noStrike">
                <a:solidFill>
                  <a:srgbClr val="000000"/>
                </a:solidFill>
                <a:latin typeface="Noto Sans"/>
              </a:rPr>
              <a:t>Was können sie nicht zeigen?</a:t>
            </a:r>
            <a:endParaRPr b="0" lang="en-US" sz="3190" spc="-1" strike="noStrike">
              <a:solidFill>
                <a:srgbClr val="000000"/>
              </a:solidFill>
              <a:latin typeface="Arial"/>
            </a:endParaRPr>
          </a:p>
        </p:txBody>
      </p:sp>
      <p:sp>
        <p:nvSpPr>
          <p:cNvPr id="39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9"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Die Unit-Seiten bleiben zum Nachschlagen verfügbar.</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Materialien zum Nachschlagen</a:t>
            </a:r>
            <a:endParaRPr b="0" lang="en-US" sz="3190" spc="-1" strike="noStrike">
              <a:solidFill>
                <a:srgbClr val="000000"/>
              </a:solidFill>
              <a:latin typeface="Arial"/>
            </a:endParaRPr>
          </a:p>
        </p:txBody>
      </p:sp>
      <p:sp>
        <p:nvSpPr>
          <p:cNvPr id="40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AUSSERHALB DES ZEITPLANS</a:t>
            </a:r>
            <a:endParaRPr b="0" lang="en-US" sz="1130" spc="-1" strike="noStrike">
              <a:solidFill>
                <a:srgbClr val="000000"/>
              </a:solidFill>
              <a:latin typeface="Arial"/>
            </a:endParaRPr>
          </a:p>
        </p:txBody>
      </p:sp>
      <p:sp>
        <p:nvSpPr>
          <p:cNvPr id="40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15</a:t>
            </a:r>
            <a:endParaRPr b="0" lang="en-US" sz="939" spc="-1" strike="noStrike">
              <a:solidFill>
                <a:srgbClr val="000000"/>
              </a:solidFill>
              <a:latin typeface="Arial"/>
            </a:endParaRPr>
          </a:p>
        </p:txBody>
      </p:sp>
      <p:sp>
        <p:nvSpPr>
          <p:cNvPr id="40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26</a:t>
            </a:r>
            <a:endParaRPr b="0" lang="en-US" sz="939" spc="-1" strike="noStrike">
              <a:solidFill>
                <a:srgbClr val="000000"/>
              </a:solidFill>
              <a:latin typeface="Arial"/>
            </a:endParaRPr>
          </a:p>
        </p:txBody>
      </p:sp>
      <p:sp>
        <p:nvSpPr>
          <p:cNvPr id="404" name=""/>
          <p:cNvSpPr txBox="1"/>
          <p:nvPr/>
        </p:nvSpPr>
        <p:spPr>
          <a:xfrm>
            <a:off x="1219320" y="1790640"/>
            <a:ext cx="9525240" cy="419040"/>
          </a:xfrm>
          <a:prstGeom prst="rect">
            <a:avLst/>
          </a:prstGeom>
          <a:noFill/>
          <a:ln w="0">
            <a:noFill/>
          </a:ln>
        </p:spPr>
        <p:txBody>
          <a:bodyPr lIns="0" rIns="0" tIns="0" bIns="0" anchor="t">
            <a:noAutofit/>
          </a:bodyPr>
          <a:p>
            <a:r>
              <a:rPr b="1" lang="en-US" sz="2350" spc="-1" strike="noStrike">
                <a:solidFill>
                  <a:srgbClr val="004899"/>
                </a:solidFill>
                <a:latin typeface="Noto Sans"/>
                <a:hlinkClick r:id="rId1"/>
              </a:rPr>
              <a:t>Unit 15 · Rückblick und Ablauf</a:t>
            </a:r>
            <a:endParaRPr b="0" lang="en-US" sz="2350" spc="-1" strike="noStrike">
              <a:solidFill>
                <a:srgbClr val="000000"/>
              </a:solidFill>
              <a:latin typeface="Arial"/>
            </a:endParaRPr>
          </a:p>
        </p:txBody>
      </p:sp>
      <p:sp>
        <p:nvSpPr>
          <p:cNvPr id="405" name=""/>
          <p:cNvSpPr txBox="1"/>
          <p:nvPr/>
        </p:nvSpPr>
        <p:spPr>
          <a:xfrm>
            <a:off x="1219320" y="2339280"/>
            <a:ext cx="9525240" cy="419040"/>
          </a:xfrm>
          <a:prstGeom prst="rect">
            <a:avLst/>
          </a:prstGeom>
          <a:noFill/>
          <a:ln w="0">
            <a:noFill/>
          </a:ln>
        </p:spPr>
        <p:txBody>
          <a:bodyPr lIns="0" rIns="0" tIns="0" bIns="0" anchor="t">
            <a:noAutofit/>
          </a:bodyPr>
          <a:p>
            <a:r>
              <a:rPr b="1" lang="en-US" sz="2350" spc="-1" strike="noStrike">
                <a:solidFill>
                  <a:srgbClr val="004899"/>
                </a:solidFill>
                <a:latin typeface="Noto Sans"/>
                <a:hlinkClick r:id="rId2"/>
              </a:rPr>
              <a:t>Unit 09 · Kursübersicht</a:t>
            </a:r>
            <a:endParaRPr b="0" lang="en-US" sz="2350" spc="-1" strike="noStrike">
              <a:solidFill>
                <a:srgbClr val="000000"/>
              </a:solidFill>
              <a:latin typeface="Arial"/>
            </a:endParaRPr>
          </a:p>
        </p:txBody>
      </p:sp>
      <p:sp>
        <p:nvSpPr>
          <p:cNvPr id="406" name=""/>
          <p:cNvSpPr txBox="1"/>
          <p:nvPr/>
        </p:nvSpPr>
        <p:spPr>
          <a:xfrm>
            <a:off x="1219320" y="2887920"/>
            <a:ext cx="9525240" cy="419040"/>
          </a:xfrm>
          <a:prstGeom prst="rect">
            <a:avLst/>
          </a:prstGeom>
          <a:noFill/>
          <a:ln w="0">
            <a:noFill/>
          </a:ln>
        </p:spPr>
        <p:txBody>
          <a:bodyPr lIns="0" rIns="0" tIns="0" bIns="0" anchor="t">
            <a:noAutofit/>
          </a:bodyPr>
          <a:p>
            <a:r>
              <a:rPr b="1" lang="en-US" sz="2350" spc="-1" strike="noStrike">
                <a:solidFill>
                  <a:srgbClr val="004899"/>
                </a:solidFill>
                <a:latin typeface="Noto Sans"/>
                <a:hlinkClick r:id="rId3"/>
              </a:rPr>
              <a:t>Unit 10 · Kursübersicht</a:t>
            </a:r>
            <a:endParaRPr b="0" lang="en-US" sz="2350" spc="-1" strike="noStrike">
              <a:solidFill>
                <a:srgbClr val="000000"/>
              </a:solidFill>
              <a:latin typeface="Arial"/>
            </a:endParaRPr>
          </a:p>
        </p:txBody>
      </p:sp>
      <p:sp>
        <p:nvSpPr>
          <p:cNvPr id="407" name=""/>
          <p:cNvSpPr txBox="1"/>
          <p:nvPr/>
        </p:nvSpPr>
        <p:spPr>
          <a:xfrm>
            <a:off x="1219320" y="3436560"/>
            <a:ext cx="9525240" cy="419040"/>
          </a:xfrm>
          <a:prstGeom prst="rect">
            <a:avLst/>
          </a:prstGeom>
          <a:noFill/>
          <a:ln w="0">
            <a:noFill/>
          </a:ln>
        </p:spPr>
        <p:txBody>
          <a:bodyPr lIns="0" rIns="0" tIns="0" bIns="0" anchor="t">
            <a:noAutofit/>
          </a:bodyPr>
          <a:p>
            <a:r>
              <a:rPr b="1" lang="en-US" sz="2350" spc="-1" strike="noStrike">
                <a:solidFill>
                  <a:srgbClr val="004899"/>
                </a:solidFill>
                <a:latin typeface="Noto Sans"/>
                <a:hlinkClick r:id="rId4"/>
              </a:rPr>
              <a:t>Unit 11 · Kursübersicht</a:t>
            </a:r>
            <a:endParaRPr b="0" lang="en-US" sz="2350" spc="-1" strike="noStrike">
              <a:solidFill>
                <a:srgbClr val="000000"/>
              </a:solidFill>
              <a:latin typeface="Arial"/>
            </a:endParaRPr>
          </a:p>
        </p:txBody>
      </p:sp>
      <p:sp>
        <p:nvSpPr>
          <p:cNvPr id="408" name=""/>
          <p:cNvSpPr txBox="1"/>
          <p:nvPr/>
        </p:nvSpPr>
        <p:spPr>
          <a:xfrm>
            <a:off x="1219320" y="3985200"/>
            <a:ext cx="9525240" cy="419040"/>
          </a:xfrm>
          <a:prstGeom prst="rect">
            <a:avLst/>
          </a:prstGeom>
          <a:noFill/>
          <a:ln w="0">
            <a:noFill/>
          </a:ln>
        </p:spPr>
        <p:txBody>
          <a:bodyPr lIns="0" rIns="0" tIns="0" bIns="0" anchor="t">
            <a:noAutofit/>
          </a:bodyPr>
          <a:p>
            <a:r>
              <a:rPr b="1" lang="en-US" sz="2350" spc="-1" strike="noStrike">
                <a:solidFill>
                  <a:srgbClr val="004899"/>
                </a:solidFill>
                <a:latin typeface="Noto Sans"/>
                <a:hlinkClick r:id="rId5"/>
              </a:rPr>
              <a:t>Unit 12 · Kursübersicht</a:t>
            </a:r>
            <a:endParaRPr b="0" lang="en-US" sz="2350" spc="-1" strike="noStrike">
              <a:solidFill>
                <a:srgbClr val="000000"/>
              </a:solidFill>
              <a:latin typeface="Arial"/>
            </a:endParaRPr>
          </a:p>
        </p:txBody>
      </p:sp>
      <p:sp>
        <p:nvSpPr>
          <p:cNvPr id="409" name=""/>
          <p:cNvSpPr txBox="1"/>
          <p:nvPr/>
        </p:nvSpPr>
        <p:spPr>
          <a:xfrm>
            <a:off x="1219320" y="4533840"/>
            <a:ext cx="9525240" cy="419040"/>
          </a:xfrm>
          <a:prstGeom prst="rect">
            <a:avLst/>
          </a:prstGeom>
          <a:noFill/>
          <a:ln w="0">
            <a:noFill/>
          </a:ln>
        </p:spPr>
        <p:txBody>
          <a:bodyPr lIns="0" rIns="0" tIns="0" bIns="0" anchor="t">
            <a:noAutofit/>
          </a:bodyPr>
          <a:p>
            <a:r>
              <a:rPr b="1" lang="en-US" sz="2350" spc="-1" strike="noStrike">
                <a:solidFill>
                  <a:srgbClr val="004899"/>
                </a:solidFill>
                <a:latin typeface="Noto Sans"/>
                <a:hlinkClick r:id="rId6"/>
              </a:rPr>
              <a:t>Unit 13 · Kursübersicht</a:t>
            </a:r>
            <a:endParaRPr b="0" lang="en-US" sz="2350" spc="-1" strike="noStrike">
              <a:solidFill>
                <a:srgbClr val="000000"/>
              </a:solidFill>
              <a:latin typeface="Arial"/>
            </a:endParaRPr>
          </a:p>
        </p:txBody>
      </p:sp>
      <p:sp>
        <p:nvSpPr>
          <p:cNvPr id="410" name=""/>
          <p:cNvSpPr txBox="1"/>
          <p:nvPr/>
        </p:nvSpPr>
        <p:spPr>
          <a:xfrm>
            <a:off x="1219320" y="5082480"/>
            <a:ext cx="9525240" cy="419040"/>
          </a:xfrm>
          <a:prstGeom prst="rect">
            <a:avLst/>
          </a:prstGeom>
          <a:noFill/>
          <a:ln w="0">
            <a:noFill/>
          </a:ln>
        </p:spPr>
        <p:txBody>
          <a:bodyPr lIns="0" rIns="0" tIns="0" bIns="0" anchor="t">
            <a:noAutofit/>
          </a:bodyPr>
          <a:p>
            <a:r>
              <a:rPr b="1" lang="en-US" sz="2350" spc="-1" strike="noStrike">
                <a:solidFill>
                  <a:srgbClr val="004899"/>
                </a:solidFill>
                <a:latin typeface="Noto Sans"/>
                <a:hlinkClick r:id="rId7"/>
              </a:rPr>
              <a:t>Unit 14 · Kursübersicht</a:t>
            </a:r>
            <a:endParaRPr b="0" lang="en-US" sz="2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
          <p:cNvSpPr/>
          <p:nvPr/>
        </p:nvSpPr>
        <p:spPr>
          <a:xfrm>
            <a:off x="335160" y="335160"/>
            <a:ext cx="6164640" cy="6149520"/>
          </a:xfrm>
          <a:prstGeom prst="rect">
            <a:avLst/>
          </a:prstGeom>
          <a:solidFill>
            <a:srgbClr val="f7deed"/>
          </a:solidFill>
          <a:ln w="0">
            <a:noFill/>
          </a:ln>
        </p:spPr>
        <p:txBody>
          <a:bodyPr lIns="90000" rIns="90000" tIns="45000" bIns="45000" anchor="ctr" anchorCtr="1">
            <a:noAutofit/>
          </a:bodyPr>
          <a:p>
            <a:endParaRPr b="0" lang="en-US" sz="1800" spc="-1" strike="noStrike">
              <a:solidFill>
                <a:srgbClr val="000000"/>
              </a:solidFill>
              <a:latin typeface="Arial"/>
            </a:endParaRPr>
          </a:p>
        </p:txBody>
      </p:sp>
      <p:pic>
        <p:nvPicPr>
          <p:cNvPr id="412" name="" descr=""/>
          <p:cNvPicPr/>
          <p:nvPr/>
        </p:nvPicPr>
        <p:blipFill>
          <a:blip r:embed="rId1"/>
          <a:stretch/>
        </p:blipFill>
        <p:spPr>
          <a:xfrm>
            <a:off x="6972480" y="2666880"/>
            <a:ext cx="4876920" cy="1671120"/>
          </a:xfrm>
          <a:prstGeom prst="rect">
            <a:avLst/>
          </a:prstGeom>
          <a:ln w="0">
            <a:noFill/>
          </a:ln>
        </p:spPr>
      </p:pic>
      <p:sp>
        <p:nvSpPr>
          <p:cNvPr id="413" name=""/>
          <p:cNvSpPr txBox="1"/>
          <p:nvPr/>
        </p:nvSpPr>
        <p:spPr>
          <a:xfrm>
            <a:off x="762120" y="2895480"/>
            <a:ext cx="5334120" cy="1905120"/>
          </a:xfrm>
          <a:prstGeom prst="rect">
            <a:avLst/>
          </a:prstGeom>
          <a:noFill/>
          <a:ln w="0">
            <a:noFill/>
          </a:ln>
        </p:spPr>
        <p:txBody>
          <a:bodyPr lIns="0" rIns="0" tIns="0" bIns="0" anchor="t">
            <a:noAutofit/>
          </a:bodyPr>
          <a:p>
            <a:r>
              <a:rPr b="0" lang="en-US" sz="3859" spc="-1" strike="noStrike">
                <a:solidFill>
                  <a:srgbClr val="000000"/>
                </a:solidFill>
                <a:latin typeface="Noto Sans"/>
              </a:rPr>
              <a:t>Vielen Dank für Ihre Aufmerksamkeit</a:t>
            </a:r>
            <a:endParaRPr b="0" lang="en-US" sz="3859" spc="-1" strike="noStrike">
              <a:solidFill>
                <a:srgbClr val="ffffff"/>
              </a:solidFill>
              <a:latin typeface="Arial"/>
            </a:endParaRPr>
          </a:p>
        </p:txBody>
      </p:sp>
      <p:sp>
        <p:nvSpPr>
          <p:cNvPr id="414" name=""/>
          <p:cNvSpPr txBox="1"/>
          <p:nvPr/>
        </p:nvSpPr>
        <p:spPr>
          <a:xfrm>
            <a:off x="1257480" y="5410080"/>
            <a:ext cx="4724280" cy="838080"/>
          </a:xfrm>
          <a:prstGeom prst="rect">
            <a:avLst/>
          </a:prstGeom>
          <a:noFill/>
          <a:ln w="0">
            <a:noFill/>
          </a:ln>
        </p:spPr>
        <p:txBody>
          <a:bodyPr lIns="0" rIns="0" tIns="0" bIns="0" anchor="t">
            <a:noAutofit/>
          </a:bodyPr>
          <a:p>
            <a:r>
              <a:rPr b="0" lang="en-US" sz="1690" spc="-1" strike="noStrike">
                <a:solidFill>
                  <a:srgbClr val="000000"/>
                </a:solidFill>
                <a:latin typeface="Noto Sans"/>
              </a:rPr>
              <a:t>Geodaten · Unit 15</a:t>
            </a:r>
            <a:endParaRPr b="0" lang="en-US" sz="1690" spc="-1" strike="noStrike">
              <a:solidFill>
                <a:srgbClr val="ffffff"/>
              </a:solidFill>
              <a:latin typeface="Arial"/>
            </a:endParaRPr>
          </a:p>
          <a:p>
            <a:r>
              <a:rPr b="0" lang="en-US" sz="1690" spc="-1" strike="noStrike">
                <a:solidFill>
                  <a:srgbClr val="000000"/>
                </a:solidFill>
                <a:latin typeface="Noto Sans"/>
              </a:rPr>
              <a:t>Fachbereich 19 · Geographie</a:t>
            </a:r>
            <a:endParaRPr b="0" lang="en-US" sz="16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1825</Words>
  <Paragraphs>216</Paragraphs>
  <Company>Universität Marburg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2025-02-27T00:25:01Z</dcterms:created>
  <dc:creator>GeoMOER</dc:creator>
  <dc:description/>
  <dc:language>en-US</dc:language>
  <cp:lastModifiedBy/>
  <dcterms:modified xsi:type="dcterms:W3CDTF">2026-09-14T16:01:36Z</dcterms:modified>
  <cp:revision>35</cp:revision>
  <dc:subject>Geodaten · Unit 15 · Präsenzlehre</dc:subject>
  <dc:title>Unit 15 – Rückblick, offene Fragen und Kursabschluss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