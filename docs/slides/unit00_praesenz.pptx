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slideLayouts/slideLayout13.xml" ContentType="application/vnd.openxmlformats-officedocument.presentationml.slideLayout+xml"/>
  <Override PartName="/ppt/theme/theme1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14.xml" ContentType="application/vnd.openxmlformats-officedocument.theme+xml"/>
  <Override PartName="/ppt/slideLayouts/slideLayout16.xml" ContentType="application/vnd.openxmlformats-officedocument.presentationml.slideLayout+xml"/>
  <Override PartName="/ppt/theme/theme15.xml" ContentType="application/vnd.openxmlformats-officedocument.theme+xml"/>
  <Override PartName="/ppt/slideLayouts/slideLayout17.xml" ContentType="application/vnd.openxmlformats-officedocument.presentationml.slideLayout+xml"/>
  <Override PartName="/ppt/theme/theme16.xml" ContentType="application/vnd.openxmlformats-officedocument.theme+xml"/>
  <Override PartName="/ppt/theme/theme1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media/image15.svg" ContentType="image/svg"/>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media/image17.svg" ContentType="image/svg"/>
  <Override PartName="/ppt/notesSlides/notesSlide19.xml" ContentType="application/vnd.openxmlformats-officedocument.presentationml.notesSlide+xml"/>
  <Override PartName="/ppt/notesSlides/notesSlide20.xml" ContentType="application/vnd.openxmlformats-officedocument.presentationml.notesSlide+xml"/>
  <Override PartName="/ppt/media/image19.svg" ContentType="image/svg"/>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media/image21.svg" ContentType="image/svg"/>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media/image23.svg" ContentType="image/svg"/>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media/image25.svg" ContentType="image/svg"/>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2"/>
    <p:sldMasterId id="2147483654" r:id="rId3"/>
    <p:sldMasterId id="2147483656" r:id="rId4"/>
    <p:sldMasterId id="2147483658" r:id="rId5"/>
    <p:sldMasterId id="2147483660" r:id="rId6"/>
    <p:sldMasterId id="2147483662" r:id="rId7"/>
    <p:sldMasterId id="2147483664" r:id="rId8"/>
    <p:sldMasterId id="2147483666" r:id="rId9"/>
    <p:sldMasterId id="2147483668" r:id="rId10"/>
    <p:sldMasterId id="2147483670" r:id="rId11"/>
    <p:sldMasterId id="2147483672" r:id="rId12"/>
    <p:sldMasterId id="2147483674" r:id="rId13"/>
    <p:sldMasterId id="2147483676" r:id="rId14"/>
    <p:sldMasterId id="2147483679" r:id="rId15"/>
    <p:sldMasterId id="2147483681" r:id="rId16"/>
  </p:sldMasterIdLst>
  <p:notesMasterIdLst>
    <p:notesMasterId r:id="rId58"/>
  </p:notesMasterIdLst>
  <p:sldIdLst>
    <p:sldId id="256" r:id="rId17"/>
    <p:sldId id="287" r:id="rId18"/>
    <p:sldId id="259" r:id="rId19"/>
    <p:sldId id="288" r:id="rId20"/>
    <p:sldId id="289" r:id="rId21"/>
    <p:sldId id="290" r:id="rId22"/>
    <p:sldId id="294" r:id="rId23"/>
    <p:sldId id="291" r:id="rId24"/>
    <p:sldId id="292" r:id="rId25"/>
    <p:sldId id="296" r:id="rId26"/>
    <p:sldId id="293" r:id="rId27"/>
    <p:sldId id="295" r:id="rId28"/>
    <p:sldId id="258" r:id="rId29"/>
    <p:sldId id="257" r:id="rId30"/>
    <p:sldId id="260" r:id="rId31"/>
    <p:sldId id="261" r:id="rId32"/>
    <p:sldId id="262" r:id="rId33"/>
    <p:sldId id="263" r:id="rId34"/>
    <p:sldId id="264" r:id="rId35"/>
    <p:sldId id="265" r:id="rId36"/>
    <p:sldId id="266" r:id="rId37"/>
    <p:sldId id="267" r:id="rId38"/>
    <p:sldId id="268" r:id="rId39"/>
    <p:sldId id="269" r:id="rId40"/>
    <p:sldId id="270" r:id="rId41"/>
    <p:sldId id="271"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 id="284" r:id="rId55"/>
    <p:sldId id="285" r:id="rId56"/>
    <p:sldId id="286" r:id="rId57"/>
  </p:sldIdLst>
  <p:sldSz cx="12192000" cy="6858000"/>
  <p:notesSz cx="7559675" cy="10691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5"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1F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16" d="100"/>
          <a:sy n="116" d="100"/>
        </p:scale>
        <p:origin x="276" y="84"/>
      </p:cViewPr>
      <p:guideLst>
        <p:guide orient="horz" pos="2205"/>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Master" Target="slideMasters/slideMaster13.xml"/><Relationship Id="rId18" Type="http://schemas.openxmlformats.org/officeDocument/2006/relationships/slide" Target="slides/slide2.xml"/><Relationship Id="rId26" Type="http://schemas.openxmlformats.org/officeDocument/2006/relationships/slide" Target="slides/slide10.xml"/><Relationship Id="rId39" Type="http://schemas.openxmlformats.org/officeDocument/2006/relationships/slide" Target="slides/slide23.xml"/><Relationship Id="rId21" Type="http://schemas.openxmlformats.org/officeDocument/2006/relationships/slide" Target="slides/slide5.xml"/><Relationship Id="rId34" Type="http://schemas.openxmlformats.org/officeDocument/2006/relationships/slide" Target="slides/slide18.xml"/><Relationship Id="rId42" Type="http://schemas.openxmlformats.org/officeDocument/2006/relationships/slide" Target="slides/slide26.xml"/><Relationship Id="rId47" Type="http://schemas.openxmlformats.org/officeDocument/2006/relationships/slide" Target="slides/slide31.xml"/><Relationship Id="rId50" Type="http://schemas.openxmlformats.org/officeDocument/2006/relationships/slide" Target="slides/slide34.xml"/><Relationship Id="rId55" Type="http://schemas.openxmlformats.org/officeDocument/2006/relationships/slide" Target="slides/slide39.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Master" Target="slideMasters/slideMaster16.xml"/><Relationship Id="rId29" Type="http://schemas.openxmlformats.org/officeDocument/2006/relationships/slide" Target="slides/slide13.xml"/><Relationship Id="rId11" Type="http://schemas.openxmlformats.org/officeDocument/2006/relationships/slideMaster" Target="slideMasters/slideMaster11.xml"/><Relationship Id="rId24" Type="http://schemas.openxmlformats.org/officeDocument/2006/relationships/slide" Target="slides/slide8.xml"/><Relationship Id="rId32" Type="http://schemas.openxmlformats.org/officeDocument/2006/relationships/slide" Target="slides/slide16.xml"/><Relationship Id="rId37" Type="http://schemas.openxmlformats.org/officeDocument/2006/relationships/slide" Target="slides/slide21.xml"/><Relationship Id="rId40" Type="http://schemas.openxmlformats.org/officeDocument/2006/relationships/slide" Target="slides/slide24.xml"/><Relationship Id="rId45" Type="http://schemas.openxmlformats.org/officeDocument/2006/relationships/slide" Target="slides/slide29.xml"/><Relationship Id="rId53" Type="http://schemas.openxmlformats.org/officeDocument/2006/relationships/slide" Target="slides/slide37.xml"/><Relationship Id="rId58" Type="http://schemas.openxmlformats.org/officeDocument/2006/relationships/notesMaster" Target="notesMasters/notesMaster1.xml"/><Relationship Id="rId5" Type="http://schemas.openxmlformats.org/officeDocument/2006/relationships/slideMaster" Target="slideMasters/slideMaster5.xml"/><Relationship Id="rId61" Type="http://schemas.openxmlformats.org/officeDocument/2006/relationships/theme" Target="theme/theme1.xml"/><Relationship Id="rId19" Type="http://schemas.openxmlformats.org/officeDocument/2006/relationships/slide" Target="slides/slide3.xml"/><Relationship Id="rId14" Type="http://schemas.openxmlformats.org/officeDocument/2006/relationships/slideMaster" Target="slideMasters/slideMaster14.xml"/><Relationship Id="rId22" Type="http://schemas.openxmlformats.org/officeDocument/2006/relationships/slide" Target="slides/slide6.xml"/><Relationship Id="rId27" Type="http://schemas.openxmlformats.org/officeDocument/2006/relationships/slide" Target="slides/slide11.xml"/><Relationship Id="rId30" Type="http://schemas.openxmlformats.org/officeDocument/2006/relationships/slide" Target="slides/slide14.xml"/><Relationship Id="rId35" Type="http://schemas.openxmlformats.org/officeDocument/2006/relationships/slide" Target="slides/slide19.xml"/><Relationship Id="rId43" Type="http://schemas.openxmlformats.org/officeDocument/2006/relationships/slide" Target="slides/slide27.xml"/><Relationship Id="rId48" Type="http://schemas.openxmlformats.org/officeDocument/2006/relationships/slide" Target="slides/slide32.xml"/><Relationship Id="rId56" Type="http://schemas.openxmlformats.org/officeDocument/2006/relationships/slide" Target="slides/slide40.xml"/><Relationship Id="rId8" Type="http://schemas.openxmlformats.org/officeDocument/2006/relationships/slideMaster" Target="slideMasters/slideMaster8.xml"/><Relationship Id="rId51" Type="http://schemas.openxmlformats.org/officeDocument/2006/relationships/slide" Target="slides/slide35.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 Target="slides/slide1.xml"/><Relationship Id="rId25" Type="http://schemas.openxmlformats.org/officeDocument/2006/relationships/slide" Target="slides/slide9.xml"/><Relationship Id="rId33" Type="http://schemas.openxmlformats.org/officeDocument/2006/relationships/slide" Target="slides/slide17.xml"/><Relationship Id="rId38" Type="http://schemas.openxmlformats.org/officeDocument/2006/relationships/slide" Target="slides/slide22.xml"/><Relationship Id="rId46" Type="http://schemas.openxmlformats.org/officeDocument/2006/relationships/slide" Target="slides/slide30.xml"/><Relationship Id="rId59" Type="http://schemas.openxmlformats.org/officeDocument/2006/relationships/presProps" Target="presProps.xml"/><Relationship Id="rId20" Type="http://schemas.openxmlformats.org/officeDocument/2006/relationships/slide" Target="slides/slide4.xml"/><Relationship Id="rId41" Type="http://schemas.openxmlformats.org/officeDocument/2006/relationships/slide" Target="slides/slide25.xml"/><Relationship Id="rId54" Type="http://schemas.openxmlformats.org/officeDocument/2006/relationships/slide" Target="slides/slide38.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Master" Target="slideMasters/slideMaster15.xml"/><Relationship Id="rId23" Type="http://schemas.openxmlformats.org/officeDocument/2006/relationships/slide" Target="slides/slide7.xml"/><Relationship Id="rId28" Type="http://schemas.openxmlformats.org/officeDocument/2006/relationships/slide" Target="slides/slide12.xml"/><Relationship Id="rId36" Type="http://schemas.openxmlformats.org/officeDocument/2006/relationships/slide" Target="slides/slide20.xml"/><Relationship Id="rId49" Type="http://schemas.openxmlformats.org/officeDocument/2006/relationships/slide" Target="slides/slide33.xml"/><Relationship Id="rId57" Type="http://schemas.openxmlformats.org/officeDocument/2006/relationships/slide" Target="slides/slide41.xml"/><Relationship Id="rId10" Type="http://schemas.openxmlformats.org/officeDocument/2006/relationships/slideMaster" Target="slideMasters/slideMaster10.xml"/><Relationship Id="rId31" Type="http://schemas.openxmlformats.org/officeDocument/2006/relationships/slide" Target="slides/slide15.xml"/><Relationship Id="rId44" Type="http://schemas.openxmlformats.org/officeDocument/2006/relationships/slide" Target="slides/slide28.xml"/><Relationship Id="rId52" Type="http://schemas.openxmlformats.org/officeDocument/2006/relationships/slide" Target="slides/slide36.xml"/><Relationship Id="rId60"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Master" Target="slideMasters/slideMaster9.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9814332-CEC5-49DB-9134-120A5D37E03B}" type="doc">
      <dgm:prSet loTypeId="urn:microsoft.com/office/officeart/2005/8/layout/cycle2" loCatId="cycle" qsTypeId="urn:microsoft.com/office/officeart/2005/8/quickstyle/simple1" qsCatId="simple" csTypeId="urn:microsoft.com/office/officeart/2005/8/colors/colorful2" csCatId="colorful" phldr="1"/>
      <dgm:spPr/>
      <dgm:t>
        <a:bodyPr/>
        <a:lstStyle/>
        <a:p>
          <a:endParaRPr lang="de-DE"/>
        </a:p>
      </dgm:t>
    </dgm:pt>
    <dgm:pt modelId="{604957A9-CD24-4E73-ACA3-0D8E78C232B1}">
      <dgm:prSet phldrT="[Text]"/>
      <dgm:spPr/>
      <dgm:t>
        <a:bodyPr/>
        <a:lstStyle/>
        <a:p>
          <a:r>
            <a:rPr lang="de-DE" dirty="0"/>
            <a:t>Input (</a:t>
          </a:r>
          <a:r>
            <a:rPr lang="de-DE" dirty="0" err="1"/>
            <a:t>präsenz</a:t>
          </a:r>
          <a:r>
            <a:rPr lang="de-DE" dirty="0"/>
            <a:t>)</a:t>
          </a:r>
        </a:p>
      </dgm:t>
    </dgm:pt>
    <dgm:pt modelId="{22A0582E-E5DE-43BD-906C-3CEDCF6C5F41}" type="parTrans" cxnId="{511D149B-BB5C-44A4-B458-250ECD3E0E78}">
      <dgm:prSet/>
      <dgm:spPr/>
      <dgm:t>
        <a:bodyPr/>
        <a:lstStyle/>
        <a:p>
          <a:endParaRPr lang="de-DE"/>
        </a:p>
      </dgm:t>
    </dgm:pt>
    <dgm:pt modelId="{D00AA456-3696-47E9-A672-0C6C6D498E90}" type="sibTrans" cxnId="{511D149B-BB5C-44A4-B458-250ECD3E0E78}">
      <dgm:prSet/>
      <dgm:spPr/>
      <dgm:t>
        <a:bodyPr/>
        <a:lstStyle/>
        <a:p>
          <a:endParaRPr lang="de-DE"/>
        </a:p>
      </dgm:t>
    </dgm:pt>
    <dgm:pt modelId="{C6223265-378C-4731-814C-0EB775C24993}">
      <dgm:prSet phldrT="[Text]"/>
      <dgm:spPr/>
      <dgm:t>
        <a:bodyPr/>
        <a:lstStyle/>
        <a:p>
          <a:r>
            <a:rPr lang="de-DE" dirty="0"/>
            <a:t>Übungen (</a:t>
          </a:r>
          <a:r>
            <a:rPr lang="de-DE" dirty="0" err="1"/>
            <a:t>präsenz</a:t>
          </a:r>
          <a:r>
            <a:rPr lang="de-DE" dirty="0"/>
            <a:t>)</a:t>
          </a:r>
        </a:p>
      </dgm:t>
    </dgm:pt>
    <dgm:pt modelId="{3CEE8319-DE17-494C-8FE5-2EAC66C011A9}" type="parTrans" cxnId="{FDC534B1-34CD-4307-9632-6FE49204D175}">
      <dgm:prSet/>
      <dgm:spPr/>
      <dgm:t>
        <a:bodyPr/>
        <a:lstStyle/>
        <a:p>
          <a:endParaRPr lang="de-DE"/>
        </a:p>
      </dgm:t>
    </dgm:pt>
    <dgm:pt modelId="{739E7D39-F59E-4294-9CCD-7B775DE0AC1F}" type="sibTrans" cxnId="{FDC534B1-34CD-4307-9632-6FE49204D175}">
      <dgm:prSet/>
      <dgm:spPr/>
      <dgm:t>
        <a:bodyPr/>
        <a:lstStyle/>
        <a:p>
          <a:endParaRPr lang="de-DE"/>
        </a:p>
      </dgm:t>
    </dgm:pt>
    <dgm:pt modelId="{585A3C1E-225D-4066-85EC-7F1852D579F6}">
      <dgm:prSet phldrT="[Text]"/>
      <dgm:spPr/>
      <dgm:t>
        <a:bodyPr/>
        <a:lstStyle/>
        <a:p>
          <a:r>
            <a:rPr lang="de-DE" dirty="0"/>
            <a:t>Aufarbeitung</a:t>
          </a:r>
        </a:p>
        <a:p>
          <a:r>
            <a:rPr lang="de-DE" dirty="0"/>
            <a:t>(mit Hilfe des Handbuchs, daheim)</a:t>
          </a:r>
        </a:p>
        <a:p>
          <a:endParaRPr lang="de-DE" dirty="0"/>
        </a:p>
        <a:p>
          <a:r>
            <a:rPr lang="de-DE" dirty="0"/>
            <a:t>(+ Tutorium)</a:t>
          </a:r>
        </a:p>
      </dgm:t>
    </dgm:pt>
    <dgm:pt modelId="{57C2A4E4-4FAF-4DA8-8D2F-537877317869}" type="parTrans" cxnId="{27DDB4F5-D358-491B-92D4-4284313BDD54}">
      <dgm:prSet/>
      <dgm:spPr/>
      <dgm:t>
        <a:bodyPr/>
        <a:lstStyle/>
        <a:p>
          <a:endParaRPr lang="de-DE"/>
        </a:p>
      </dgm:t>
    </dgm:pt>
    <dgm:pt modelId="{45D47E20-4049-423F-AB48-8FA221BA4A42}" type="sibTrans" cxnId="{27DDB4F5-D358-491B-92D4-4284313BDD54}">
      <dgm:prSet/>
      <dgm:spPr/>
      <dgm:t>
        <a:bodyPr/>
        <a:lstStyle/>
        <a:p>
          <a:endParaRPr lang="de-DE"/>
        </a:p>
      </dgm:t>
    </dgm:pt>
    <dgm:pt modelId="{C6542652-C390-4742-9CAA-46F564994D89}">
      <dgm:prSet phldrT="[Text]"/>
      <dgm:spPr/>
      <dgm:t>
        <a:bodyPr/>
        <a:lstStyle/>
        <a:p>
          <a:r>
            <a:rPr lang="de-DE" dirty="0"/>
            <a:t>Übungsaufgaben </a:t>
          </a:r>
        </a:p>
        <a:p>
          <a:r>
            <a:rPr lang="de-DE" dirty="0"/>
            <a:t>(Ilias, daheim)</a:t>
          </a:r>
        </a:p>
      </dgm:t>
    </dgm:pt>
    <dgm:pt modelId="{5EAD6858-BC65-49A5-9A53-F04CF4585E6A}" type="parTrans" cxnId="{A8319C69-760B-4C90-9E13-711B546BF90B}">
      <dgm:prSet/>
      <dgm:spPr/>
      <dgm:t>
        <a:bodyPr/>
        <a:lstStyle/>
        <a:p>
          <a:endParaRPr lang="de-DE"/>
        </a:p>
      </dgm:t>
    </dgm:pt>
    <dgm:pt modelId="{4E20DDA9-71E4-40B1-97D5-06E27A1124D4}" type="sibTrans" cxnId="{A8319C69-760B-4C90-9E13-711B546BF90B}">
      <dgm:prSet/>
      <dgm:spPr/>
      <dgm:t>
        <a:bodyPr/>
        <a:lstStyle/>
        <a:p>
          <a:endParaRPr lang="de-DE"/>
        </a:p>
      </dgm:t>
    </dgm:pt>
    <dgm:pt modelId="{013D49E1-79E5-4CF2-9CC4-927F6FE769B5}">
      <dgm:prSet phldrT="[Text]"/>
      <dgm:spPr/>
      <dgm:t>
        <a:bodyPr/>
        <a:lstStyle/>
        <a:p>
          <a:r>
            <a:rPr lang="de-DE" dirty="0"/>
            <a:t>Identifizierung Verständnisprobleme</a:t>
          </a:r>
        </a:p>
      </dgm:t>
    </dgm:pt>
    <dgm:pt modelId="{E7989CC7-AB96-4021-9088-2775C04AFD8E}" type="parTrans" cxnId="{7D090F02-C4F8-4802-86FE-4882C82376C0}">
      <dgm:prSet/>
      <dgm:spPr/>
      <dgm:t>
        <a:bodyPr/>
        <a:lstStyle/>
        <a:p>
          <a:endParaRPr lang="de-DE"/>
        </a:p>
      </dgm:t>
    </dgm:pt>
    <dgm:pt modelId="{43A89535-3B4F-400E-8385-3EF76E4B4677}" type="sibTrans" cxnId="{7D090F02-C4F8-4802-86FE-4882C82376C0}">
      <dgm:prSet/>
      <dgm:spPr/>
      <dgm:t>
        <a:bodyPr/>
        <a:lstStyle/>
        <a:p>
          <a:endParaRPr lang="de-DE"/>
        </a:p>
      </dgm:t>
    </dgm:pt>
    <dgm:pt modelId="{02E30ED9-FD5F-4BE2-9623-4265061D32EF}" type="pres">
      <dgm:prSet presAssocID="{99814332-CEC5-49DB-9134-120A5D37E03B}" presName="cycle" presStyleCnt="0">
        <dgm:presLayoutVars>
          <dgm:dir/>
          <dgm:resizeHandles val="exact"/>
        </dgm:presLayoutVars>
      </dgm:prSet>
      <dgm:spPr/>
    </dgm:pt>
    <dgm:pt modelId="{630C4014-D5BE-46CA-80B1-A35ED4A9BEA6}" type="pres">
      <dgm:prSet presAssocID="{604957A9-CD24-4E73-ACA3-0D8E78C232B1}" presName="node" presStyleLbl="node1" presStyleIdx="0" presStyleCnt="5">
        <dgm:presLayoutVars>
          <dgm:bulletEnabled val="1"/>
        </dgm:presLayoutVars>
      </dgm:prSet>
      <dgm:spPr/>
    </dgm:pt>
    <dgm:pt modelId="{14831253-97B1-405D-8D75-6CEF856D7193}" type="pres">
      <dgm:prSet presAssocID="{D00AA456-3696-47E9-A672-0C6C6D498E90}" presName="sibTrans" presStyleLbl="sibTrans2D1" presStyleIdx="0" presStyleCnt="5"/>
      <dgm:spPr/>
    </dgm:pt>
    <dgm:pt modelId="{F67F7345-9BA6-4C01-AAC3-0D1A4D848A04}" type="pres">
      <dgm:prSet presAssocID="{D00AA456-3696-47E9-A672-0C6C6D498E90}" presName="connectorText" presStyleLbl="sibTrans2D1" presStyleIdx="0" presStyleCnt="5"/>
      <dgm:spPr/>
    </dgm:pt>
    <dgm:pt modelId="{B0C5F771-25C2-4C98-AA9D-85447266BB92}" type="pres">
      <dgm:prSet presAssocID="{C6223265-378C-4731-814C-0EB775C24993}" presName="node" presStyleLbl="node1" presStyleIdx="1" presStyleCnt="5">
        <dgm:presLayoutVars>
          <dgm:bulletEnabled val="1"/>
        </dgm:presLayoutVars>
      </dgm:prSet>
      <dgm:spPr/>
    </dgm:pt>
    <dgm:pt modelId="{8035C6EC-3DDA-4661-BEDC-7800E72694DB}" type="pres">
      <dgm:prSet presAssocID="{739E7D39-F59E-4294-9CCD-7B775DE0AC1F}" presName="sibTrans" presStyleLbl="sibTrans2D1" presStyleIdx="1" presStyleCnt="5"/>
      <dgm:spPr/>
    </dgm:pt>
    <dgm:pt modelId="{DA7DDBDC-92C3-4AAC-AA07-D5622AE06746}" type="pres">
      <dgm:prSet presAssocID="{739E7D39-F59E-4294-9CCD-7B775DE0AC1F}" presName="connectorText" presStyleLbl="sibTrans2D1" presStyleIdx="1" presStyleCnt="5"/>
      <dgm:spPr/>
    </dgm:pt>
    <dgm:pt modelId="{F76FB9ED-6D7F-45BB-BEEA-2084ABACC667}" type="pres">
      <dgm:prSet presAssocID="{585A3C1E-225D-4066-85EC-7F1852D579F6}" presName="node" presStyleLbl="node1" presStyleIdx="2" presStyleCnt="5">
        <dgm:presLayoutVars>
          <dgm:bulletEnabled val="1"/>
        </dgm:presLayoutVars>
      </dgm:prSet>
      <dgm:spPr/>
    </dgm:pt>
    <dgm:pt modelId="{CC94E680-62E7-4298-8661-5EC34B38D924}" type="pres">
      <dgm:prSet presAssocID="{45D47E20-4049-423F-AB48-8FA221BA4A42}" presName="sibTrans" presStyleLbl="sibTrans2D1" presStyleIdx="2" presStyleCnt="5"/>
      <dgm:spPr/>
    </dgm:pt>
    <dgm:pt modelId="{0FB0E980-4D1E-43AC-A4AB-7867CAF9DC15}" type="pres">
      <dgm:prSet presAssocID="{45D47E20-4049-423F-AB48-8FA221BA4A42}" presName="connectorText" presStyleLbl="sibTrans2D1" presStyleIdx="2" presStyleCnt="5"/>
      <dgm:spPr/>
    </dgm:pt>
    <dgm:pt modelId="{63742F3E-1D9F-4A68-8AAE-6BBB84826A28}" type="pres">
      <dgm:prSet presAssocID="{C6542652-C390-4742-9CAA-46F564994D89}" presName="node" presStyleLbl="node1" presStyleIdx="3" presStyleCnt="5">
        <dgm:presLayoutVars>
          <dgm:bulletEnabled val="1"/>
        </dgm:presLayoutVars>
      </dgm:prSet>
      <dgm:spPr/>
    </dgm:pt>
    <dgm:pt modelId="{878408CD-1692-4150-9AA2-E7979C077550}" type="pres">
      <dgm:prSet presAssocID="{4E20DDA9-71E4-40B1-97D5-06E27A1124D4}" presName="sibTrans" presStyleLbl="sibTrans2D1" presStyleIdx="3" presStyleCnt="5"/>
      <dgm:spPr/>
    </dgm:pt>
    <dgm:pt modelId="{B305957D-8EF5-49F8-98EF-478AA3C58073}" type="pres">
      <dgm:prSet presAssocID="{4E20DDA9-71E4-40B1-97D5-06E27A1124D4}" presName="connectorText" presStyleLbl="sibTrans2D1" presStyleIdx="3" presStyleCnt="5"/>
      <dgm:spPr/>
    </dgm:pt>
    <dgm:pt modelId="{F0B14614-B232-421D-8EF1-11400996315B}" type="pres">
      <dgm:prSet presAssocID="{013D49E1-79E5-4CF2-9CC4-927F6FE769B5}" presName="node" presStyleLbl="node1" presStyleIdx="4" presStyleCnt="5">
        <dgm:presLayoutVars>
          <dgm:bulletEnabled val="1"/>
        </dgm:presLayoutVars>
      </dgm:prSet>
      <dgm:spPr/>
    </dgm:pt>
    <dgm:pt modelId="{B0216426-C84F-468F-AB39-89BDCF5B26F6}" type="pres">
      <dgm:prSet presAssocID="{43A89535-3B4F-400E-8385-3EF76E4B4677}" presName="sibTrans" presStyleLbl="sibTrans2D1" presStyleIdx="4" presStyleCnt="5"/>
      <dgm:spPr/>
    </dgm:pt>
    <dgm:pt modelId="{C9D47E41-19D4-4F3E-92A6-FFA192BCF096}" type="pres">
      <dgm:prSet presAssocID="{43A89535-3B4F-400E-8385-3EF76E4B4677}" presName="connectorText" presStyleLbl="sibTrans2D1" presStyleIdx="4" presStyleCnt="5"/>
      <dgm:spPr/>
    </dgm:pt>
  </dgm:ptLst>
  <dgm:cxnLst>
    <dgm:cxn modelId="{7D090F02-C4F8-4802-86FE-4882C82376C0}" srcId="{99814332-CEC5-49DB-9134-120A5D37E03B}" destId="{013D49E1-79E5-4CF2-9CC4-927F6FE769B5}" srcOrd="4" destOrd="0" parTransId="{E7989CC7-AB96-4021-9088-2775C04AFD8E}" sibTransId="{43A89535-3B4F-400E-8385-3EF76E4B4677}"/>
    <dgm:cxn modelId="{E8C0D105-8984-4E7F-A62C-62556C388579}" type="presOf" srcId="{43A89535-3B4F-400E-8385-3EF76E4B4677}" destId="{B0216426-C84F-468F-AB39-89BDCF5B26F6}" srcOrd="0" destOrd="0" presId="urn:microsoft.com/office/officeart/2005/8/layout/cycle2"/>
    <dgm:cxn modelId="{AD968F14-26F6-453B-9734-814E5BB290CA}" type="presOf" srcId="{604957A9-CD24-4E73-ACA3-0D8E78C232B1}" destId="{630C4014-D5BE-46CA-80B1-A35ED4A9BEA6}" srcOrd="0" destOrd="0" presId="urn:microsoft.com/office/officeart/2005/8/layout/cycle2"/>
    <dgm:cxn modelId="{0F650D1E-6AB2-4C35-AE05-D3F9182F821C}" type="presOf" srcId="{739E7D39-F59E-4294-9CCD-7B775DE0AC1F}" destId="{8035C6EC-3DDA-4661-BEDC-7800E72694DB}" srcOrd="0" destOrd="0" presId="urn:microsoft.com/office/officeart/2005/8/layout/cycle2"/>
    <dgm:cxn modelId="{C4789224-90DC-4A0D-B2DB-54B57A2D2EED}" type="presOf" srcId="{45D47E20-4049-423F-AB48-8FA221BA4A42}" destId="{0FB0E980-4D1E-43AC-A4AB-7867CAF9DC15}" srcOrd="1" destOrd="0" presId="urn:microsoft.com/office/officeart/2005/8/layout/cycle2"/>
    <dgm:cxn modelId="{9C0CA938-0469-4298-BADC-2B0565B556E3}" type="presOf" srcId="{45D47E20-4049-423F-AB48-8FA221BA4A42}" destId="{CC94E680-62E7-4298-8661-5EC34B38D924}" srcOrd="0" destOrd="0" presId="urn:microsoft.com/office/officeart/2005/8/layout/cycle2"/>
    <dgm:cxn modelId="{BBB06B3E-B133-4D3A-BA44-89448821D370}" type="presOf" srcId="{4E20DDA9-71E4-40B1-97D5-06E27A1124D4}" destId="{B305957D-8EF5-49F8-98EF-478AA3C58073}" srcOrd="1" destOrd="0" presId="urn:microsoft.com/office/officeart/2005/8/layout/cycle2"/>
    <dgm:cxn modelId="{7A19053F-5E69-4233-9D33-3C3F6FB05644}" type="presOf" srcId="{4E20DDA9-71E4-40B1-97D5-06E27A1124D4}" destId="{878408CD-1692-4150-9AA2-E7979C077550}" srcOrd="0" destOrd="0" presId="urn:microsoft.com/office/officeart/2005/8/layout/cycle2"/>
    <dgm:cxn modelId="{D412FE5B-9303-44F7-ACCE-0A0FAE1D8BAC}" type="presOf" srcId="{739E7D39-F59E-4294-9CCD-7B775DE0AC1F}" destId="{DA7DDBDC-92C3-4AAC-AA07-D5622AE06746}" srcOrd="1" destOrd="0" presId="urn:microsoft.com/office/officeart/2005/8/layout/cycle2"/>
    <dgm:cxn modelId="{A8319C69-760B-4C90-9E13-711B546BF90B}" srcId="{99814332-CEC5-49DB-9134-120A5D37E03B}" destId="{C6542652-C390-4742-9CAA-46F564994D89}" srcOrd="3" destOrd="0" parTransId="{5EAD6858-BC65-49A5-9A53-F04CF4585E6A}" sibTransId="{4E20DDA9-71E4-40B1-97D5-06E27A1124D4}"/>
    <dgm:cxn modelId="{CCE2CF56-A36D-447F-9885-0F7F4D168089}" type="presOf" srcId="{C6542652-C390-4742-9CAA-46F564994D89}" destId="{63742F3E-1D9F-4A68-8AAE-6BBB84826A28}" srcOrd="0" destOrd="0" presId="urn:microsoft.com/office/officeart/2005/8/layout/cycle2"/>
    <dgm:cxn modelId="{3EDFB07A-C67C-4001-85E8-1AF6A8C8EEE0}" type="presOf" srcId="{C6223265-378C-4731-814C-0EB775C24993}" destId="{B0C5F771-25C2-4C98-AA9D-85447266BB92}" srcOrd="0" destOrd="0" presId="urn:microsoft.com/office/officeart/2005/8/layout/cycle2"/>
    <dgm:cxn modelId="{7312A091-581E-4993-879C-F132C96F8D5E}" type="presOf" srcId="{D00AA456-3696-47E9-A672-0C6C6D498E90}" destId="{F67F7345-9BA6-4C01-AAC3-0D1A4D848A04}" srcOrd="1" destOrd="0" presId="urn:microsoft.com/office/officeart/2005/8/layout/cycle2"/>
    <dgm:cxn modelId="{1CECD298-B45A-42BB-8707-12CC8D23B85F}" type="presOf" srcId="{585A3C1E-225D-4066-85EC-7F1852D579F6}" destId="{F76FB9ED-6D7F-45BB-BEEA-2084ABACC667}" srcOrd="0" destOrd="0" presId="urn:microsoft.com/office/officeart/2005/8/layout/cycle2"/>
    <dgm:cxn modelId="{511D149B-BB5C-44A4-B458-250ECD3E0E78}" srcId="{99814332-CEC5-49DB-9134-120A5D37E03B}" destId="{604957A9-CD24-4E73-ACA3-0D8E78C232B1}" srcOrd="0" destOrd="0" parTransId="{22A0582E-E5DE-43BD-906C-3CEDCF6C5F41}" sibTransId="{D00AA456-3696-47E9-A672-0C6C6D498E90}"/>
    <dgm:cxn modelId="{5F98B7AA-B61E-4121-8845-526CD4766351}" type="presOf" srcId="{99814332-CEC5-49DB-9134-120A5D37E03B}" destId="{02E30ED9-FD5F-4BE2-9623-4265061D32EF}" srcOrd="0" destOrd="0" presId="urn:microsoft.com/office/officeart/2005/8/layout/cycle2"/>
    <dgm:cxn modelId="{F89FE7AC-51FF-489E-BDE1-BA275383D9C0}" type="presOf" srcId="{013D49E1-79E5-4CF2-9CC4-927F6FE769B5}" destId="{F0B14614-B232-421D-8EF1-11400996315B}" srcOrd="0" destOrd="0" presId="urn:microsoft.com/office/officeart/2005/8/layout/cycle2"/>
    <dgm:cxn modelId="{FDC534B1-34CD-4307-9632-6FE49204D175}" srcId="{99814332-CEC5-49DB-9134-120A5D37E03B}" destId="{C6223265-378C-4731-814C-0EB775C24993}" srcOrd="1" destOrd="0" parTransId="{3CEE8319-DE17-494C-8FE5-2EAC66C011A9}" sibTransId="{739E7D39-F59E-4294-9CCD-7B775DE0AC1F}"/>
    <dgm:cxn modelId="{E62991B8-A5B0-4B70-BAA2-1A0D47B12BEB}" type="presOf" srcId="{43A89535-3B4F-400E-8385-3EF76E4B4677}" destId="{C9D47E41-19D4-4F3E-92A6-FFA192BCF096}" srcOrd="1" destOrd="0" presId="urn:microsoft.com/office/officeart/2005/8/layout/cycle2"/>
    <dgm:cxn modelId="{1215FFC9-7563-47EE-A901-FF3ED6B20463}" type="presOf" srcId="{D00AA456-3696-47E9-A672-0C6C6D498E90}" destId="{14831253-97B1-405D-8D75-6CEF856D7193}" srcOrd="0" destOrd="0" presId="urn:microsoft.com/office/officeart/2005/8/layout/cycle2"/>
    <dgm:cxn modelId="{27DDB4F5-D358-491B-92D4-4284313BDD54}" srcId="{99814332-CEC5-49DB-9134-120A5D37E03B}" destId="{585A3C1E-225D-4066-85EC-7F1852D579F6}" srcOrd="2" destOrd="0" parTransId="{57C2A4E4-4FAF-4DA8-8D2F-537877317869}" sibTransId="{45D47E20-4049-423F-AB48-8FA221BA4A42}"/>
    <dgm:cxn modelId="{D3AECBB1-96B8-4F42-8FB8-1E3836B30435}" type="presParOf" srcId="{02E30ED9-FD5F-4BE2-9623-4265061D32EF}" destId="{630C4014-D5BE-46CA-80B1-A35ED4A9BEA6}" srcOrd="0" destOrd="0" presId="urn:microsoft.com/office/officeart/2005/8/layout/cycle2"/>
    <dgm:cxn modelId="{A3991CDC-1295-4798-9468-B0E829A7631F}" type="presParOf" srcId="{02E30ED9-FD5F-4BE2-9623-4265061D32EF}" destId="{14831253-97B1-405D-8D75-6CEF856D7193}" srcOrd="1" destOrd="0" presId="urn:microsoft.com/office/officeart/2005/8/layout/cycle2"/>
    <dgm:cxn modelId="{EB99E60E-2136-4B5D-9967-3B8C05B9AA2E}" type="presParOf" srcId="{14831253-97B1-405D-8D75-6CEF856D7193}" destId="{F67F7345-9BA6-4C01-AAC3-0D1A4D848A04}" srcOrd="0" destOrd="0" presId="urn:microsoft.com/office/officeart/2005/8/layout/cycle2"/>
    <dgm:cxn modelId="{59953956-A0B4-4830-BC36-B8F0D2BCC2C7}" type="presParOf" srcId="{02E30ED9-FD5F-4BE2-9623-4265061D32EF}" destId="{B0C5F771-25C2-4C98-AA9D-85447266BB92}" srcOrd="2" destOrd="0" presId="urn:microsoft.com/office/officeart/2005/8/layout/cycle2"/>
    <dgm:cxn modelId="{546821A6-C335-43F3-8C8B-8D5EFAAB74A3}" type="presParOf" srcId="{02E30ED9-FD5F-4BE2-9623-4265061D32EF}" destId="{8035C6EC-3DDA-4661-BEDC-7800E72694DB}" srcOrd="3" destOrd="0" presId="urn:microsoft.com/office/officeart/2005/8/layout/cycle2"/>
    <dgm:cxn modelId="{0BAB61DD-2FC3-4C56-9A2B-DF183638D96A}" type="presParOf" srcId="{8035C6EC-3DDA-4661-BEDC-7800E72694DB}" destId="{DA7DDBDC-92C3-4AAC-AA07-D5622AE06746}" srcOrd="0" destOrd="0" presId="urn:microsoft.com/office/officeart/2005/8/layout/cycle2"/>
    <dgm:cxn modelId="{C4F8520F-D3F4-43F5-A67E-3E0D0DAF2E84}" type="presParOf" srcId="{02E30ED9-FD5F-4BE2-9623-4265061D32EF}" destId="{F76FB9ED-6D7F-45BB-BEEA-2084ABACC667}" srcOrd="4" destOrd="0" presId="urn:microsoft.com/office/officeart/2005/8/layout/cycle2"/>
    <dgm:cxn modelId="{C99C2CBE-EF7E-45E6-9FCC-73DF96C25F4F}" type="presParOf" srcId="{02E30ED9-FD5F-4BE2-9623-4265061D32EF}" destId="{CC94E680-62E7-4298-8661-5EC34B38D924}" srcOrd="5" destOrd="0" presId="urn:microsoft.com/office/officeart/2005/8/layout/cycle2"/>
    <dgm:cxn modelId="{D53403CC-41C5-4194-BBE9-F9C8B904F8D4}" type="presParOf" srcId="{CC94E680-62E7-4298-8661-5EC34B38D924}" destId="{0FB0E980-4D1E-43AC-A4AB-7867CAF9DC15}" srcOrd="0" destOrd="0" presId="urn:microsoft.com/office/officeart/2005/8/layout/cycle2"/>
    <dgm:cxn modelId="{94516CEA-54B8-43E2-9CAF-9730F0502F49}" type="presParOf" srcId="{02E30ED9-FD5F-4BE2-9623-4265061D32EF}" destId="{63742F3E-1D9F-4A68-8AAE-6BBB84826A28}" srcOrd="6" destOrd="0" presId="urn:microsoft.com/office/officeart/2005/8/layout/cycle2"/>
    <dgm:cxn modelId="{861DFE52-A54B-4221-AE9E-5E925083FD4C}" type="presParOf" srcId="{02E30ED9-FD5F-4BE2-9623-4265061D32EF}" destId="{878408CD-1692-4150-9AA2-E7979C077550}" srcOrd="7" destOrd="0" presId="urn:microsoft.com/office/officeart/2005/8/layout/cycle2"/>
    <dgm:cxn modelId="{CA4FC5D6-3EDB-4E52-83FC-8F728FD599D9}" type="presParOf" srcId="{878408CD-1692-4150-9AA2-E7979C077550}" destId="{B305957D-8EF5-49F8-98EF-478AA3C58073}" srcOrd="0" destOrd="0" presId="urn:microsoft.com/office/officeart/2005/8/layout/cycle2"/>
    <dgm:cxn modelId="{5B2A13C9-16EF-4A9C-BEF9-84EE9BA8CBC7}" type="presParOf" srcId="{02E30ED9-FD5F-4BE2-9623-4265061D32EF}" destId="{F0B14614-B232-421D-8EF1-11400996315B}" srcOrd="8" destOrd="0" presId="urn:microsoft.com/office/officeart/2005/8/layout/cycle2"/>
    <dgm:cxn modelId="{182382BF-1D31-48C4-9229-0A3318402E2F}" type="presParOf" srcId="{02E30ED9-FD5F-4BE2-9623-4265061D32EF}" destId="{B0216426-C84F-468F-AB39-89BDCF5B26F6}" srcOrd="9" destOrd="0" presId="urn:microsoft.com/office/officeart/2005/8/layout/cycle2"/>
    <dgm:cxn modelId="{70944BBC-32F9-4E4A-B09E-38A00309E8F2}" type="presParOf" srcId="{B0216426-C84F-468F-AB39-89BDCF5B26F6}" destId="{C9D47E41-19D4-4F3E-92A6-FFA192BCF096}"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30C4014-D5BE-46CA-80B1-A35ED4A9BEA6}">
      <dsp:nvSpPr>
        <dsp:cNvPr id="0" name=""/>
        <dsp:cNvSpPr/>
      </dsp:nvSpPr>
      <dsp:spPr>
        <a:xfrm>
          <a:off x="3246437" y="534"/>
          <a:ext cx="1635124" cy="1635124"/>
        </a:xfrm>
        <a:prstGeom prst="ellipse">
          <a:avLst/>
        </a:prstGeom>
        <a:solidFill>
          <a:schemeClr val="accent2">
            <a:hueOff val="0"/>
            <a:satOff val="0"/>
            <a:lumOff val="0"/>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Input (</a:t>
          </a:r>
          <a:r>
            <a:rPr lang="de-DE" sz="800" kern="1200" dirty="0" err="1"/>
            <a:t>präsenz</a:t>
          </a:r>
          <a:r>
            <a:rPr lang="de-DE" sz="800" kern="1200" dirty="0"/>
            <a:t>)</a:t>
          </a:r>
        </a:p>
      </dsp:txBody>
      <dsp:txXfrm>
        <a:off x="3485895" y="239992"/>
        <a:ext cx="1156208" cy="1156208"/>
      </dsp:txXfrm>
    </dsp:sp>
    <dsp:sp modelId="{14831253-97B1-405D-8D75-6CEF856D7193}">
      <dsp:nvSpPr>
        <dsp:cNvPr id="0" name=""/>
        <dsp:cNvSpPr/>
      </dsp:nvSpPr>
      <dsp:spPr>
        <a:xfrm rot="2160000">
          <a:off x="4830234" y="1257302"/>
          <a:ext cx="436123" cy="551854"/>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a:off x="4842728" y="1329221"/>
        <a:ext cx="305286" cy="331112"/>
      </dsp:txXfrm>
    </dsp:sp>
    <dsp:sp modelId="{B0C5F771-25C2-4C98-AA9D-85447266BB92}">
      <dsp:nvSpPr>
        <dsp:cNvPr id="0" name=""/>
        <dsp:cNvSpPr/>
      </dsp:nvSpPr>
      <dsp:spPr>
        <a:xfrm>
          <a:off x="5235001" y="1445310"/>
          <a:ext cx="1635124" cy="1635124"/>
        </a:xfrm>
        <a:prstGeom prst="ellipse">
          <a:avLst/>
        </a:prstGeom>
        <a:solidFill>
          <a:schemeClr val="accent2">
            <a:hueOff val="1827507"/>
            <a:satOff val="-4221"/>
            <a:lumOff val="-4608"/>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Übungen (</a:t>
          </a:r>
          <a:r>
            <a:rPr lang="de-DE" sz="800" kern="1200" dirty="0" err="1"/>
            <a:t>präsenz</a:t>
          </a:r>
          <a:r>
            <a:rPr lang="de-DE" sz="800" kern="1200" dirty="0"/>
            <a:t>)</a:t>
          </a:r>
        </a:p>
      </dsp:txBody>
      <dsp:txXfrm>
        <a:off x="5474459" y="1684768"/>
        <a:ext cx="1156208" cy="1156208"/>
      </dsp:txXfrm>
    </dsp:sp>
    <dsp:sp modelId="{8035C6EC-3DDA-4661-BEDC-7800E72694DB}">
      <dsp:nvSpPr>
        <dsp:cNvPr id="0" name=""/>
        <dsp:cNvSpPr/>
      </dsp:nvSpPr>
      <dsp:spPr>
        <a:xfrm rot="6480000">
          <a:off x="5458534" y="3144055"/>
          <a:ext cx="436123" cy="551854"/>
        </a:xfrm>
        <a:prstGeom prst="rightArrow">
          <a:avLst>
            <a:gd name="adj1" fmla="val 60000"/>
            <a:gd name="adj2" fmla="val 50000"/>
          </a:avLst>
        </a:prstGeom>
        <a:solidFill>
          <a:schemeClr val="accent2">
            <a:hueOff val="1827507"/>
            <a:satOff val="-4221"/>
            <a:lumOff val="-4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rot="10800000">
        <a:off x="5544168" y="3192209"/>
        <a:ext cx="305286" cy="331112"/>
      </dsp:txXfrm>
    </dsp:sp>
    <dsp:sp modelId="{F76FB9ED-6D7F-45BB-BEEA-2084ABACC667}">
      <dsp:nvSpPr>
        <dsp:cNvPr id="0" name=""/>
        <dsp:cNvSpPr/>
      </dsp:nvSpPr>
      <dsp:spPr>
        <a:xfrm>
          <a:off x="4475437" y="3783007"/>
          <a:ext cx="1635124" cy="1635124"/>
        </a:xfrm>
        <a:prstGeom prst="ellipse">
          <a:avLst/>
        </a:prstGeom>
        <a:solidFill>
          <a:schemeClr val="accent2">
            <a:hueOff val="3655014"/>
            <a:satOff val="-8442"/>
            <a:lumOff val="-9216"/>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Aufarbeitung</a:t>
          </a:r>
        </a:p>
        <a:p>
          <a:pPr marL="0" lvl="0" indent="0" algn="ctr" defTabSz="355600">
            <a:lnSpc>
              <a:spcPct val="90000"/>
            </a:lnSpc>
            <a:spcBef>
              <a:spcPct val="0"/>
            </a:spcBef>
            <a:spcAft>
              <a:spcPct val="35000"/>
            </a:spcAft>
            <a:buNone/>
          </a:pPr>
          <a:r>
            <a:rPr lang="de-DE" sz="800" kern="1200" dirty="0"/>
            <a:t>(mit Hilfe des Handbuchs, daheim)</a:t>
          </a:r>
        </a:p>
        <a:p>
          <a:pPr marL="0" lvl="0" indent="0" algn="ctr" defTabSz="355600">
            <a:lnSpc>
              <a:spcPct val="90000"/>
            </a:lnSpc>
            <a:spcBef>
              <a:spcPct val="0"/>
            </a:spcBef>
            <a:spcAft>
              <a:spcPct val="35000"/>
            </a:spcAft>
            <a:buNone/>
          </a:pPr>
          <a:endParaRPr lang="de-DE" sz="800" kern="1200" dirty="0"/>
        </a:p>
        <a:p>
          <a:pPr marL="0" lvl="0" indent="0" algn="ctr" defTabSz="355600">
            <a:lnSpc>
              <a:spcPct val="90000"/>
            </a:lnSpc>
            <a:spcBef>
              <a:spcPct val="0"/>
            </a:spcBef>
            <a:spcAft>
              <a:spcPct val="35000"/>
            </a:spcAft>
            <a:buNone/>
          </a:pPr>
          <a:r>
            <a:rPr lang="de-DE" sz="800" kern="1200" dirty="0"/>
            <a:t>(+ Tutorium)</a:t>
          </a:r>
        </a:p>
      </dsp:txBody>
      <dsp:txXfrm>
        <a:off x="4714895" y="4022465"/>
        <a:ext cx="1156208" cy="1156208"/>
      </dsp:txXfrm>
    </dsp:sp>
    <dsp:sp modelId="{CC94E680-62E7-4298-8661-5EC34B38D924}">
      <dsp:nvSpPr>
        <dsp:cNvPr id="0" name=""/>
        <dsp:cNvSpPr/>
      </dsp:nvSpPr>
      <dsp:spPr>
        <a:xfrm rot="10800000">
          <a:off x="3858281" y="4324642"/>
          <a:ext cx="436123" cy="551854"/>
        </a:xfrm>
        <a:prstGeom prst="rightArrow">
          <a:avLst>
            <a:gd name="adj1" fmla="val 60000"/>
            <a:gd name="adj2" fmla="val 50000"/>
          </a:avLst>
        </a:prstGeom>
        <a:solidFill>
          <a:schemeClr val="accent2">
            <a:hueOff val="3655014"/>
            <a:satOff val="-8442"/>
            <a:lumOff val="-9216"/>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rot="10800000">
        <a:off x="3989118" y="4435013"/>
        <a:ext cx="305286" cy="331112"/>
      </dsp:txXfrm>
    </dsp:sp>
    <dsp:sp modelId="{63742F3E-1D9F-4A68-8AAE-6BBB84826A28}">
      <dsp:nvSpPr>
        <dsp:cNvPr id="0" name=""/>
        <dsp:cNvSpPr/>
      </dsp:nvSpPr>
      <dsp:spPr>
        <a:xfrm>
          <a:off x="2017437" y="3783007"/>
          <a:ext cx="1635124" cy="1635124"/>
        </a:xfrm>
        <a:prstGeom prst="ellipse">
          <a:avLst/>
        </a:prstGeom>
        <a:solidFill>
          <a:schemeClr val="accent2">
            <a:hueOff val="5482520"/>
            <a:satOff val="-12663"/>
            <a:lumOff val="-13824"/>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Übungsaufgaben </a:t>
          </a:r>
        </a:p>
        <a:p>
          <a:pPr marL="0" lvl="0" indent="0" algn="ctr" defTabSz="355600">
            <a:lnSpc>
              <a:spcPct val="90000"/>
            </a:lnSpc>
            <a:spcBef>
              <a:spcPct val="0"/>
            </a:spcBef>
            <a:spcAft>
              <a:spcPct val="35000"/>
            </a:spcAft>
            <a:buNone/>
          </a:pPr>
          <a:r>
            <a:rPr lang="de-DE" sz="800" kern="1200" dirty="0"/>
            <a:t>(Ilias, daheim)</a:t>
          </a:r>
        </a:p>
      </dsp:txBody>
      <dsp:txXfrm>
        <a:off x="2256895" y="4022465"/>
        <a:ext cx="1156208" cy="1156208"/>
      </dsp:txXfrm>
    </dsp:sp>
    <dsp:sp modelId="{878408CD-1692-4150-9AA2-E7979C077550}">
      <dsp:nvSpPr>
        <dsp:cNvPr id="0" name=""/>
        <dsp:cNvSpPr/>
      </dsp:nvSpPr>
      <dsp:spPr>
        <a:xfrm rot="15120000">
          <a:off x="2240970" y="3167533"/>
          <a:ext cx="436123" cy="551854"/>
        </a:xfrm>
        <a:prstGeom prst="rightArrow">
          <a:avLst>
            <a:gd name="adj1" fmla="val 60000"/>
            <a:gd name="adj2" fmla="val 50000"/>
          </a:avLst>
        </a:prstGeom>
        <a:solidFill>
          <a:schemeClr val="accent2">
            <a:hueOff val="5482520"/>
            <a:satOff val="-12663"/>
            <a:lumOff val="-13824"/>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rot="10800000">
        <a:off x="2326604" y="3340121"/>
        <a:ext cx="305286" cy="331112"/>
      </dsp:txXfrm>
    </dsp:sp>
    <dsp:sp modelId="{F0B14614-B232-421D-8EF1-11400996315B}">
      <dsp:nvSpPr>
        <dsp:cNvPr id="0" name=""/>
        <dsp:cNvSpPr/>
      </dsp:nvSpPr>
      <dsp:spPr>
        <a:xfrm>
          <a:off x="1257873" y="1445310"/>
          <a:ext cx="1635124" cy="1635124"/>
        </a:xfrm>
        <a:prstGeom prst="ellipse">
          <a:avLst/>
        </a:prstGeom>
        <a:solidFill>
          <a:schemeClr val="accent2">
            <a:hueOff val="7310027"/>
            <a:satOff val="-16884"/>
            <a:lumOff val="-18432"/>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Identifizierung Verständnisprobleme</a:t>
          </a:r>
        </a:p>
      </dsp:txBody>
      <dsp:txXfrm>
        <a:off x="1497331" y="1684768"/>
        <a:ext cx="1156208" cy="1156208"/>
      </dsp:txXfrm>
    </dsp:sp>
    <dsp:sp modelId="{B0216426-C84F-468F-AB39-89BDCF5B26F6}">
      <dsp:nvSpPr>
        <dsp:cNvPr id="0" name=""/>
        <dsp:cNvSpPr/>
      </dsp:nvSpPr>
      <dsp:spPr>
        <a:xfrm rot="19440000">
          <a:off x="2841670" y="1271812"/>
          <a:ext cx="436123" cy="551854"/>
        </a:xfrm>
        <a:prstGeom prst="rightArrow">
          <a:avLst>
            <a:gd name="adj1" fmla="val 60000"/>
            <a:gd name="adj2" fmla="val 50000"/>
          </a:avLst>
        </a:prstGeom>
        <a:solidFill>
          <a:schemeClr val="accent2">
            <a:hueOff val="7310027"/>
            <a:satOff val="-16884"/>
            <a:lumOff val="-1843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a:off x="2854164" y="1420635"/>
        <a:ext cx="305286" cy="331112"/>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1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5"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de-DE" sz="1800" b="0" strike="noStrike" spc="-1">
                <a:solidFill>
                  <a:schemeClr val="dk1"/>
                </a:solidFill>
                <a:latin typeface="Noto Sans"/>
              </a:rPr>
              <a:t>Click to move the slide</a:t>
            </a:r>
          </a:p>
        </p:txBody>
      </p:sp>
      <p:sp>
        <p:nvSpPr>
          <p:cNvPr id="8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8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88" name="PlaceHolder 4"/>
          <p:cNvSpPr>
            <a:spLocks noGrp="1"/>
          </p:cNvSpPr>
          <p:nvPr>
            <p:ph type="dt" idx="25"/>
          </p:nvPr>
        </p:nvSpPr>
        <p:spPr>
          <a:xfrm>
            <a:off x="4278960" y="0"/>
            <a:ext cx="3280680" cy="53424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89" name="PlaceHolder 5"/>
          <p:cNvSpPr>
            <a:spLocks noGrp="1"/>
          </p:cNvSpPr>
          <p:nvPr>
            <p:ph type="ftr" idx="26"/>
          </p:nvPr>
        </p:nvSpPr>
        <p:spPr>
          <a:xfrm>
            <a:off x="0" y="10157400"/>
            <a:ext cx="3280680" cy="53424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90" name="PlaceHolder 6"/>
          <p:cNvSpPr>
            <a:spLocks noGrp="1"/>
          </p:cNvSpPr>
          <p:nvPr>
            <p:ph type="sldNum" idx="27"/>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9CB9F827-EAC1-4712-B289-C8F78D29347E}" type="slidenum">
              <a:rPr lang="en-US" sz="1400" b="0" strike="noStrike" spc="-1">
                <a:solidFill>
                  <a:srgbClr val="000000"/>
                </a:solidFill>
                <a:latin typeface="Times New Roman"/>
              </a:rPr>
              <a:t>‹Nr.›</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4" name="PlaceHolder 1"/>
          <p:cNvSpPr>
            <a:spLocks noGrp="1" noRot="1" noChangeAspect="1"/>
          </p:cNvSpPr>
          <p:nvPr>
            <p:ph type="sldImg"/>
          </p:nvPr>
        </p:nvSpPr>
        <p:spPr>
          <a:xfrm>
            <a:off x="217488" y="812800"/>
            <a:ext cx="7124700" cy="4008438"/>
          </a:xfrm>
          <a:prstGeom prst="rect">
            <a:avLst/>
          </a:prstGeom>
          <a:ln w="0">
            <a:noFill/>
          </a:ln>
        </p:spPr>
      </p:sp>
      <p:sp>
        <p:nvSpPr>
          <p:cNvPr id="5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Titelfolie vor dem Einstieg zeigen.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Titelfolie beim Ankommen zeigen. Danach beginnt die Sitzung mit dem JiTT-Block zur vorherigen Sitzung. Die Gestaltung stammt aus der bereitgestellten universitären PowerPoint-Vorlage. Das Foto-/Kartenmotiv links wurde unverändert aus der Titelseite der FB19-Vorlage übernommen. Namen oder Termine werden nicht erfunden.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/home/dirk/GeoMOER/moer-bsc-geodaten/docs/slides/Vorlagen/präs_ms02_powerpoint_de.pptx</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11–14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1999982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11–14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4" name="PlaceHolder 1"/>
          <p:cNvSpPr>
            <a:spLocks noGrp="1" noRot="1" noChangeAspect="1"/>
          </p:cNvSpPr>
          <p:nvPr>
            <p:ph type="sldImg"/>
          </p:nvPr>
        </p:nvSpPr>
        <p:spPr>
          <a:xfrm>
            <a:off x="217488" y="812800"/>
            <a:ext cx="7124700" cy="4008438"/>
          </a:xfrm>
          <a:prstGeom prst="rect">
            <a:avLst/>
          </a:prstGeom>
          <a:ln w="0">
            <a:noFill/>
          </a:ln>
        </p:spPr>
      </p:sp>
      <p:sp>
        <p:nvSpPr>
          <p:cNvPr id="5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Titelfolie vor dem Einstieg zeigen.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Titelfolie beim Ankommen zeigen. Danach beginnt die Sitzung mit dem JiTT-Block zur vorherigen Sitzung. Die Gestaltung stammt aus der bereitgestellten universitären PowerPoint-Vorlage. Das Foto-/Kartenmotiv links wurde unverändert aus der Titelseite der FB19-Vorlage übernommen. Namen oder Termine werden nicht erfunden.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/home/dirk/GeoMOER/moer-bsc-geodaten/docs/slides/Vorlagen/präs_ms02_powerpoint_de.pptx</a:t>
            </a:r>
          </a:p>
        </p:txBody>
      </p:sp>
    </p:spTree>
    <p:extLst>
      <p:ext uri="{BB962C8B-B14F-4D97-AF65-F5344CB8AC3E}">
        <p14:creationId xmlns:p14="http://schemas.microsoft.com/office/powerpoint/2010/main" val="12729764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11–14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36308785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11–14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12847640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11–14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26073884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11–14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24153863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8" name="PlaceHolder 1"/>
          <p:cNvSpPr>
            <a:spLocks noGrp="1" noRot="1" noChangeAspect="1"/>
          </p:cNvSpPr>
          <p:nvPr>
            <p:ph type="sldImg"/>
          </p:nvPr>
        </p:nvSpPr>
        <p:spPr>
          <a:xfrm>
            <a:off x="217488" y="812800"/>
            <a:ext cx="7124700" cy="4008438"/>
          </a:xfrm>
          <a:prstGeom prst="rect">
            <a:avLst/>
          </a:prstGeom>
          <a:ln w="0">
            <a:noFill/>
          </a:ln>
        </p:spPr>
      </p:sp>
      <p:sp>
        <p:nvSpPr>
          <p:cNvPr id="61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56–58 (2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30 Sekunden Entscheidung, 60 Sekunden Austausch mit Nachbarperson, anschließend A/B/C per Handzeichen abfragen. Optionen nacheinander abfragen; es wird keine Abstimmungssoftware benötigt. Eine Begründung für B und bei Bedarf für C hören. Bei längerer JiTT-Phase den Austausch verkürzen. Die Auflösung folgt auf der nächsten Folie.</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extLst>
      <p:ext uri="{BB962C8B-B14F-4D97-AF65-F5344CB8AC3E}">
        <p14:creationId xmlns:p14="http://schemas.microsoft.com/office/powerpoint/2010/main" val="30118872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11–14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32809284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11–14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Zunächst nur das Zahlenpaar zeigen. 30 Sekunden still überlegen lassen, dann zwei Vermutungen sammeln. Nachfragen: Sind das Breite und Länge, x und y, Grad oder Meter? Ist eine Reihenfolge vereinbart? Auflösung mündlich: Als 50,81° N / 8,77° E ist ungefähr Marburg gemeint. Aus dem unbeschrifteten Zahlenpaar allein folgt das nicht eindeutig. Das CRS muss zusätzlich bekannt sein. Die Leitfrage am Ende der Sitzung erneut aufgreifen.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37790327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 name="PlaceHolder 1"/>
          <p:cNvSpPr>
            <a:spLocks noGrp="1" noRot="1" noChangeAspect="1"/>
          </p:cNvSpPr>
          <p:nvPr>
            <p:ph type="sldImg"/>
          </p:nvPr>
        </p:nvSpPr>
        <p:spPr>
          <a:xfrm>
            <a:off x="217488" y="812800"/>
            <a:ext cx="7124700" cy="4008438"/>
          </a:xfrm>
          <a:prstGeom prst="rect">
            <a:avLst/>
          </a:prstGeom>
          <a:ln w="0">
            <a:noFill/>
          </a:ln>
        </p:spPr>
      </p:sp>
      <p:sp>
        <p:nvSpPr>
          <p:cNvPr id="58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10–11 (1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Die drei Ziele ankündigen: Raumbezug erkennen, Koordinaten prüfen und CRS passend zum Zweck auswählen. Die Sitzung funktioniert ohne vorheriges Lesen. Alle arbeiten zunächst an denselben Grundlagen. Bei Partnerphasen kurz mit der Sitznachbarin oder dem Sitznachbarn sprechen; keine Gruppenumbildung im Hörsaal. Ein GIS wird heute noch nicht benötigt.</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https://geomoer.github.io/moer-bsc-geodaten/unit09/unit09-00_overview.html</a:t>
            </a:r>
          </a:p>
          <a:p>
            <a:pPr marL="216000" indent="-216000">
              <a:buNone/>
            </a:pPr>
            <a:r>
              <a:rPr lang="en-US" sz="2000" b="0" strike="noStrike" spc="-1">
                <a:solidFill>
                  <a:srgbClr val="000000"/>
                </a:solidFill>
                <a:latin typeface="Arial"/>
              </a:rPr>
              <a:t>Bild: assets/images/unit09/hero-unit09.jpg, vorhandene KI-generierte Kursillustration.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 name="PlaceHolder 1"/>
          <p:cNvSpPr>
            <a:spLocks noGrp="1" noRot="1" noChangeAspect="1"/>
          </p:cNvSpPr>
          <p:nvPr>
            <p:ph type="sldImg"/>
          </p:nvPr>
        </p:nvSpPr>
        <p:spPr>
          <a:xfrm>
            <a:off x="217488" y="812800"/>
            <a:ext cx="7124700" cy="4008438"/>
          </a:xfrm>
          <a:prstGeom prst="rect">
            <a:avLst/>
          </a:prstGeom>
          <a:ln w="0">
            <a:noFill/>
          </a:ln>
        </p:spPr>
      </p:sp>
      <p:sp>
        <p:nvSpPr>
          <p:cNvPr id="587"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0–10 (10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VOR DEM TERMIN: Diese gesamte Platzhalterfläche durch die aktuelle JiTT-Auswertung zur vorherigen Sitzung ersetzen. Bei Bedarf die Folie duplizieren und den gesamten Block mit den tatsächlichen Fragen, Antwortverteilungen, Abbildungen und gemeinsamer Klärung befüllen. Es sind bewusst keine Fragen, Ergebnisse, Aufgaben oder feste Untergliederung vorgegeben. Der komplette Block hat im Ablauf etwa zehn Minuten. Nur tatsächliche und zusammengefasste/anonymisierte Rückmeldungen einsetzen. Bei längerer Auswertung die anschließenden kurzen Austauschphasen entsprechend kürzen. Die Zeitplanung steht ausschließlich in den Notizen.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2" name="PlaceHolder 1"/>
          <p:cNvSpPr>
            <a:spLocks noGrp="1" noRot="1" noChangeAspect="1"/>
          </p:cNvSpPr>
          <p:nvPr>
            <p:ph type="sldImg"/>
          </p:nvPr>
        </p:nvSpPr>
        <p:spPr>
          <a:xfrm>
            <a:off x="216000" y="812520"/>
            <a:ext cx="7127280" cy="4008960"/>
          </a:xfrm>
          <a:prstGeom prst="rect">
            <a:avLst/>
          </a:prstGeom>
          <a:ln w="0">
            <a:noFill/>
          </a:ln>
        </p:spPr>
      </p:sp>
      <p:sp>
        <p:nvSpPr>
          <p:cNvPr id="59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14–16 (2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Die beiden Tabellen aus der aktuellen Kursseite vergleichen. ID, Datum und Messwert bleiben gleich; erst Koordinaten und CRS ergänzen einen direkt nutzbaren Raumbezug. Messort und Messwert unterscheiden: Raumbezug plus Sachdaten. Auch eine Adresse oder ein eindeutig identifizierbares Gebiet kann einen Raumbezug liefern; Koordinaten sind keine Voraussetzung. Die Werte sind erfundene, didaktische Beispieldaten.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https://geomoer.github.io/moer-bsc-geodaten/unit09/unit09-01_geodaten.html</a:t>
            </a:r>
          </a:p>
          <a:p>
            <a:pPr marL="216000" indent="-216000">
              <a:buNone/>
            </a:pPr>
            <a:r>
              <a:rPr lang="en-US" sz="2000" b="0" strike="noStrike" spc="-1">
                <a:solidFill>
                  <a:srgbClr val="000000"/>
                </a:solidFill>
                <a:latin typeface="Arial"/>
              </a:rPr>
              <a:t>Bild: assets/images/unit09/raumbezug.svg</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4" name="PlaceHolder 1"/>
          <p:cNvSpPr>
            <a:spLocks noGrp="1" noRot="1" noChangeAspect="1"/>
          </p:cNvSpPr>
          <p:nvPr>
            <p:ph type="sldImg"/>
          </p:nvPr>
        </p:nvSpPr>
        <p:spPr>
          <a:xfrm>
            <a:off x="216000" y="812520"/>
            <a:ext cx="7127280" cy="4008960"/>
          </a:xfrm>
          <a:prstGeom prst="rect">
            <a:avLst/>
          </a:prstGeom>
          <a:ln w="0">
            <a:noFill/>
          </a:ln>
        </p:spPr>
      </p:sp>
      <p:sp>
        <p:nvSpPr>
          <p:cNvPr id="59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16–18 (2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Punkt, Linie und Fläche als Modelle vorstellen. Dieselbe Stadt kann auf einer Deutschlandkarte ein Punkt und auf einer regionalen Karte eine Fläche sein. Maßstab und Fragestellung bestimmen die Darstellung. Raster nur kurz ergänzen: Auch räumlich verortete Bild- oder Rasterzellen sind Geodaten. Hier noch keine vollständige Vektor-/Raster-Systematik vorwegnehmen.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https://geomoer.github.io/moer-bsc-geodaten/unit09/unit09-01_geodaten.html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noRot="1" noChangeAspect="1"/>
          </p:cNvSpPr>
          <p:nvPr>
            <p:ph type="sldImg"/>
          </p:nvPr>
        </p:nvSpPr>
        <p:spPr>
          <a:xfrm>
            <a:off x="216000" y="812520"/>
            <a:ext cx="7127280" cy="4008960"/>
          </a:xfrm>
          <a:prstGeom prst="rect">
            <a:avLst/>
          </a:prstGeom>
          <a:ln w="0">
            <a:noFill/>
          </a:ln>
        </p:spPr>
      </p:sp>
      <p:sp>
        <p:nvSpPr>
          <p:cNvPr id="597"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18–19 (1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20 Sekunden einzeln prüfen, 30 Sekunden zu zweit austauschen, anschließend per Handzeichen A bis C abfragen. Nicht nur Ja/Nein sammeln: Ein Paar begründet die Genauigkeit der Lageangabe. Bei Zeitdruck Austausch verkürzen. Die Lösung kommt erst auf der nächsten Folie.</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https://geomoer.github.io/moer-bsc-geodaten/unit09/unit09-01_geodaten.html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noRot="1" noChangeAspect="1"/>
          </p:cNvSpPr>
          <p:nvPr>
            <p:ph type="sldImg"/>
          </p:nvPr>
        </p:nvSpPr>
        <p:spPr>
          <a:xfrm>
            <a:off x="216000" y="812520"/>
            <a:ext cx="7127280" cy="4008960"/>
          </a:xfrm>
          <a:prstGeom prst="rect">
            <a:avLst/>
          </a:prstGeom>
          <a:ln w="0">
            <a:noFill/>
          </a:ln>
        </p:spPr>
      </p:sp>
      <p:sp>
        <p:nvSpPr>
          <p:cNvPr id="59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19–20 (1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A: Raumbezug vorhanden, sofern die Gemeinde eindeutig identifiziert ist. Für die Kartendarstellung muss mit einer passenden Geometrie verknüpft werden. B: Aus diesen Angaben allein ist kein nutzbarer Raumbezug gegeben. C: Raumbezug vorhanden, aber ungenau. Damit die Fehlvorstellung korrigieren, dass nur Daten mit Koordinaten Geodaten seien.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https://geomoer.github.io/moer-bsc-geodaten/unit09/unit09-01_geodaten.html</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0" name="PlaceHolder 1"/>
          <p:cNvSpPr>
            <a:spLocks noGrp="1" noRot="1" noChangeAspect="1"/>
          </p:cNvSpPr>
          <p:nvPr>
            <p:ph type="sldImg"/>
          </p:nvPr>
        </p:nvSpPr>
        <p:spPr>
          <a:xfrm>
            <a:off x="216000" y="812520"/>
            <a:ext cx="7127280" cy="4008960"/>
          </a:xfrm>
          <a:prstGeom prst="rect">
            <a:avLst/>
          </a:prstGeom>
          <a:ln w="0">
            <a:noFill/>
          </a:ln>
        </p:spPr>
      </p:sp>
      <p:sp>
        <p:nvSpPr>
          <p:cNvPr id="601"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20–25 (5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Die Abbildung aus der aktuellen Kursseite gemeinsam lesen. Breitenkreise verlaufen parallel zum Äquator; Meridiane verbinden die Pole. Latitude beschreibt den Winkel nördlich/südlich des Äquators, Longitude östlich/westlich des Nullmeridians. Am Ellipsoid bezieht sich die geodätische Breite auf die Ellipsoidnormale; diese Vertiefung ist heute nicht nötig. N und E positiv, S und W negativ. Wertebereiche gemeinsam lesen. Die zentralen Referenzlinien sind zusätzlich beschriftet, nicht nur farbig markiert.</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noRot="1" noChangeAspect="1"/>
          </p:cNvSpPr>
          <p:nvPr>
            <p:ph type="sldImg"/>
          </p:nvPr>
        </p:nvSpPr>
        <p:spPr>
          <a:xfrm>
            <a:off x="216000" y="812520"/>
            <a:ext cx="7127280" cy="4008960"/>
          </a:xfrm>
          <a:prstGeom prst="rect">
            <a:avLst/>
          </a:prstGeom>
          <a:ln w="0">
            <a:noFill/>
          </a:ln>
        </p:spPr>
      </p:sp>
      <p:sp>
        <p:nvSpPr>
          <p:cNvPr id="603"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25–30 (5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Die Position ist ungefähr und dient als Ortsbeispiel. Beide Zeilen sind bei eindeutiger Beschriftung korrekt. Kurskonvention für Tabellen und spätere GIS-Importe: longitude, latitude beziehungsweise x, y. Nicht als universelle EPSG-Achsenreihenfolge darstellen: Die EPSG-Definition von 4326 nennt Breite vor Länge; Schnittstellen können andere Erwartungen haben. Deshalb Spaltennamen UND Metadaten UND erwartete Reihenfolge prüfen. EPSG-Codes werden später erklärt.</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a:p>
            <a:pPr marL="216000" indent="-216000">
              <a:buNone/>
            </a:pPr>
            <a:r>
              <a:rPr lang="en-US" sz="2000" b="0" strike="noStrike" spc="-1">
                <a:solidFill>
                  <a:srgbClr val="000000"/>
                </a:solidFill>
                <a:latin typeface="Arial"/>
              </a:rPr>
              <a:t>https://proj.org/en/stable/faq.html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noRot="1" noChangeAspect="1"/>
          </p:cNvSpPr>
          <p:nvPr>
            <p:ph type="sldImg"/>
          </p:nvPr>
        </p:nvSpPr>
        <p:spPr>
          <a:xfrm>
            <a:off x="216000" y="812520"/>
            <a:ext cx="7127280" cy="4008960"/>
          </a:xfrm>
          <a:prstGeom prst="rect">
            <a:avLst/>
          </a:prstGeom>
          <a:ln w="0">
            <a:noFill/>
          </a:ln>
        </p:spPr>
      </p:sp>
      <p:sp>
        <p:nvSpPr>
          <p:cNvPr id="605"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30–35 (5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Die aktuelle Kursabbildung zeigt beide Paare im selben WGS-84-Gradgitter. A liegt bei Marburg, B weit entfernt. Beide Wertepaare liegen innerhalb der global erlaubten Bereiche. Deshalb reicht eine reine Wertebereichsprüfung nicht: Spaltennamen, Achsenreihenfolge, erwartete Region und Metadaten gemeinsam prüfen. Die Kurskonvention lautet longitude, latitude beziehungsweise x, y. Sie ist keine universelle Achsenregel für alle Standards und Schnittstellen.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a:p>
            <a:pPr marL="216000" indent="-216000">
              <a:buNone/>
            </a:pPr>
            <a:r>
              <a:rPr lang="en-US" sz="2000" b="0" strike="noStrike" spc="-1">
                <a:solidFill>
                  <a:srgbClr val="000000"/>
                </a:solidFill>
                <a:latin typeface="Arial"/>
              </a:rPr>
              <a:t>Bild: assets/images/unit09/achsenreihenfolge.svg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6000" y="812520"/>
            <a:ext cx="7127280" cy="4008960"/>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8" name="PlaceHolder 1"/>
          <p:cNvSpPr>
            <a:spLocks noGrp="1" noRot="1" noChangeAspect="1"/>
          </p:cNvSpPr>
          <p:nvPr>
            <p:ph type="sldImg"/>
          </p:nvPr>
        </p:nvSpPr>
        <p:spPr>
          <a:xfrm>
            <a:off x="216000" y="812520"/>
            <a:ext cx="7127280" cy="4008960"/>
          </a:xfrm>
          <a:prstGeom prst="rect">
            <a:avLst/>
          </a:prstGeom>
          <a:ln w="0">
            <a:noFill/>
          </a:ln>
        </p:spPr>
      </p:sp>
      <p:sp>
        <p:nvSpPr>
          <p:cNvPr id="609" name="PlaceHolder 2"/>
          <p:cNvSpPr>
            <a:spLocks noGrp="1"/>
          </p:cNvSpPr>
          <p:nvPr>
            <p:ph type="body"/>
          </p:nvPr>
        </p:nvSpPr>
        <p:spPr>
          <a:xfrm>
            <a:off x="756000" y="5078520"/>
            <a:ext cx="6047640" cy="510012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41–45 (4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1: Für Deutschland plausibel, aber keine Bestätigung der konkreten Position. 2: Beide Werte global zulässig, unter der Kursreihenfolge aber nicht in Deutschland; möglicherweise vertauscht. Korrektur nur nach Quellenprüfung. 3: longitude 188.40 liegt außerhalb des erlaubten Bereichs. 4: latitude −50.81 liegt auf der Südhalbkugel. 5: (0, 0) ist eine gültige Position im Golf von Guinea, aber unplausibel für Deutschland und möglicherweise ein fehlender Wert. Nicht ungeprüft löschen. Jede Änderung mit Befund, Quelle und Entscheidung dokumentieren.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 name="PlaceHolder 1"/>
          <p:cNvSpPr>
            <a:spLocks noGrp="1" noRot="1" noChangeAspect="1"/>
          </p:cNvSpPr>
          <p:nvPr>
            <p:ph type="sldImg"/>
          </p:nvPr>
        </p:nvSpPr>
        <p:spPr>
          <a:xfrm>
            <a:off x="216000" y="812520"/>
            <a:ext cx="7127280" cy="4008960"/>
          </a:xfrm>
          <a:prstGeom prst="rect">
            <a:avLst/>
          </a:prstGeom>
          <a:ln w="0">
            <a:noFill/>
          </a:ln>
        </p:spPr>
      </p:sp>
      <p:sp>
        <p:nvSpPr>
          <p:cNvPr id="611" name="PlaceHolder 2"/>
          <p:cNvSpPr>
            <a:spLocks noGrp="1"/>
          </p:cNvSpPr>
          <p:nvPr>
            <p:ph type="body"/>
          </p:nvPr>
        </p:nvSpPr>
        <p:spPr>
          <a:xfrm>
            <a:off x="756000" y="5078520"/>
            <a:ext cx="6047640" cy="6800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45–48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CRS steht für Coordinate Reference System beziehungsweise Koordinatenreferenzsystem. Es verknüpft Zahlen mit Positionen auf der Erde. Das CRS umfasst ein Erdmodell und Bezug dazu, Achsen und Einheiten sowie bei projizierten Systemen eine Kartenprojektion. Erst Metadaten erlauben die richtige Interpretation. Die UTM-Werte wurden mit PROJ für 50.81 N, 8.77 E nach EPSG:25832 berechnet und hier auf 100 m gerundet. Es handelt sich um einen ungefähr gewählten Beispielpunkt, nicht um die Vermessung eines bestimmten Gebäudes. Die beiden Angaben repräsentieren innerhalb ihrer Rundung denselben Ort.</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a:p>
            <a:pPr marL="216000" indent="-216000">
              <a:buNone/>
            </a:pPr>
            <a:r>
              <a:rPr lang="en-US" sz="2000" b="0" strike="noStrike" spc="-1">
                <a:solidFill>
                  <a:srgbClr val="000000"/>
                </a:solidFill>
                <a:latin typeface="Arial"/>
              </a:rPr>
              <a:t>https://proj.org/en/stable/usage/quickstart.html</a:t>
            </a:r>
          </a:p>
          <a:p>
            <a:pPr marL="216000" indent="-216000">
              <a:buNone/>
            </a:pPr>
            <a:r>
              <a:rPr lang="en-US" sz="2000" b="0" strike="noStrike" spc="-1">
                <a:solidFill>
                  <a:srgbClr val="000000"/>
                </a:solidFill>
                <a:latin typeface="Arial"/>
              </a:rPr>
              <a:t>Bild: assets/images/unit09/crs-vergleich.svg</a:t>
            </a:r>
          </a:p>
          <a:p>
            <a:pPr marL="216000" indent="-216000">
              <a:buNone/>
            </a:pPr>
            <a:r>
              <a:rPr lang="en-US" sz="2000" b="0" strike="noStrike" spc="-1">
                <a:solidFill>
                  <a:srgbClr val="000000"/>
                </a:solidFill>
                <a:latin typeface="Arial"/>
              </a:rPr>
              <a:t>Lokale Prüfung: cs2cs EPSG:4326 EPSG:25832 → 483795, 5628722 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2" name="PlaceHolder 1"/>
          <p:cNvSpPr>
            <a:spLocks noGrp="1" noRot="1" noChangeAspect="1"/>
          </p:cNvSpPr>
          <p:nvPr>
            <p:ph type="sldImg"/>
          </p:nvPr>
        </p:nvSpPr>
        <p:spPr>
          <a:xfrm>
            <a:off x="216000" y="812520"/>
            <a:ext cx="7127280" cy="4008960"/>
          </a:xfrm>
          <a:prstGeom prst="rect">
            <a:avLst/>
          </a:prstGeom>
          <a:ln w="0">
            <a:noFill/>
          </a:ln>
        </p:spPr>
      </p:sp>
      <p:sp>
        <p:nvSpPr>
          <p:cNvPr id="61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48–50 (2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Geographische Koordinaten sind Winkel. Ein Grad Länge entspricht je nach Breite einer anderen Entfernung. Projizierte Koordinaten liegen in einer Ebene, häufig mit der Einheit Meter. Sie sind nicht allein wegen der Einheit für jede Messung geeignet. Das Gebiet und der Messzweck bleiben entscheidend. Präzise geodätische Berechnungen sind auch aus geographischen Koordinaten möglich; heute geht es um die grundlegende Unterscheidung.</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 name="PlaceHolder 1"/>
          <p:cNvSpPr>
            <a:spLocks noGrp="1" noRot="1" noChangeAspect="1"/>
          </p:cNvSpPr>
          <p:nvPr>
            <p:ph type="sldImg"/>
          </p:nvPr>
        </p:nvSpPr>
        <p:spPr>
          <a:xfrm>
            <a:off x="216000" y="812520"/>
            <a:ext cx="7127280" cy="4008960"/>
          </a:xfrm>
          <a:prstGeom prst="rect">
            <a:avLst/>
          </a:prstGeom>
          <a:ln w="0">
            <a:noFill/>
          </a:ln>
        </p:spPr>
      </p:sp>
      <p:sp>
        <p:nvSpPr>
          <p:cNvPr id="61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50–53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Frage: Wie lässt sich eine Orangenschale flach auslegen? Antworten wie einschneiden, dehnen oder stauchen aufnehmen. Die Analogie erklärt, dass die Abbildung einer gekrümmten Oberfläche auf eine Ebene Kompromisse verlangt. Nicht suggerieren, jede Kartenprojektion sei eine perspektivische Lichtprojektion. Eine Projektion ist hier eine mathematische Abbildung. Fläche, lokale Winkel/Form, Entfernung und Richtung können nicht gleichzeitig überall unverzerrt bleiben.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6" name="PlaceHolder 1"/>
          <p:cNvSpPr>
            <a:spLocks noGrp="1" noRot="1" noChangeAspect="1"/>
          </p:cNvSpPr>
          <p:nvPr>
            <p:ph type="sldImg"/>
          </p:nvPr>
        </p:nvSpPr>
        <p:spPr>
          <a:xfrm>
            <a:off x="216000" y="812520"/>
            <a:ext cx="7127280" cy="4008960"/>
          </a:xfrm>
          <a:prstGeom prst="rect">
            <a:avLst/>
          </a:prstGeom>
          <a:ln w="0">
            <a:noFill/>
          </a:ln>
        </p:spPr>
      </p:sp>
      <p:sp>
        <p:nvSpPr>
          <p:cNvPr id="617" name="PlaceHolder 2"/>
          <p:cNvSpPr>
            <a:spLocks noGrp="1"/>
          </p:cNvSpPr>
          <p:nvPr>
            <p:ph type="body"/>
          </p:nvPr>
        </p:nvSpPr>
        <p:spPr>
          <a:xfrm>
            <a:off x="756000" y="5078520"/>
            <a:ext cx="6047640" cy="595008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53–56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Die aktuelle Kursabbildung zeigt dieselben geodätischen Referenzflächen mit 1000 Kilometern Radius am Äquator und bei 70° Nord. Links World Mercator (EPSG:3395), rechts Equal Earth (EPSG:8857). World Mercator vergrößert die polnahe Fläche stark; Equal Earth erhält die Flächenverhältnisse und verändert die Formen. Zuerst beobachten lassen: Was passiert mit Fläche und Form? Keine Längen aus der Abbildung ablesen und keine Projektionsformeln einführen. Die Umrisse wurden auf WGS 84 berechnet und anschließend in beide CRS transformiert.</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a:p>
            <a:pPr marL="216000" indent="-216000">
              <a:buNone/>
            </a:pPr>
            <a:r>
              <a:rPr lang="en-US" sz="2000" b="0" strike="noStrike" spc="-1">
                <a:solidFill>
                  <a:srgbClr val="000000"/>
                </a:solidFill>
                <a:latin typeface="Arial"/>
              </a:rPr>
              <a:t>https://proj.org/en/stable/operations/projections/merc.html</a:t>
            </a:r>
          </a:p>
          <a:p>
            <a:pPr marL="216000" indent="-216000">
              <a:buNone/>
            </a:pPr>
            <a:r>
              <a:rPr lang="en-US" sz="2000" b="0" strike="noStrike" spc="-1">
                <a:solidFill>
                  <a:srgbClr val="000000"/>
                </a:solidFill>
                <a:latin typeface="Arial"/>
              </a:rPr>
              <a:t>Bild: assets/images/unit09/projektionsvergleich.svg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8" name="PlaceHolder 1"/>
          <p:cNvSpPr>
            <a:spLocks noGrp="1" noRot="1" noChangeAspect="1"/>
          </p:cNvSpPr>
          <p:nvPr>
            <p:ph type="sldImg"/>
          </p:nvPr>
        </p:nvSpPr>
        <p:spPr>
          <a:xfrm>
            <a:off x="216000" y="812520"/>
            <a:ext cx="7127280" cy="4008960"/>
          </a:xfrm>
          <a:prstGeom prst="rect">
            <a:avLst/>
          </a:prstGeom>
          <a:ln w="0">
            <a:noFill/>
          </a:ln>
        </p:spPr>
      </p:sp>
      <p:sp>
        <p:nvSpPr>
          <p:cNvPr id="61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56–58 (2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30 Sekunden Entscheidung, 60 Sekunden Austausch mit Nachbarperson, anschließend A/B/C per Handzeichen abfragen. Optionen nacheinander abfragen; es wird keine Abstimmungssoftware benötigt. Eine Begründung für B und bei Bedarf für C hören. Bei längerer JiTT-Phase den Austausch verkürzen. Die Auflösung folgt auf der nächsten Folie.</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0" name="PlaceHolder 1"/>
          <p:cNvSpPr>
            <a:spLocks noGrp="1" noRot="1" noChangeAspect="1"/>
          </p:cNvSpPr>
          <p:nvPr>
            <p:ph type="sldImg"/>
          </p:nvPr>
        </p:nvSpPr>
        <p:spPr>
          <a:xfrm>
            <a:off x="216000" y="812520"/>
            <a:ext cx="7127280" cy="4008960"/>
          </a:xfrm>
          <a:prstGeom prst="rect">
            <a:avLst/>
          </a:prstGeom>
          <a:ln w="0">
            <a:noFill/>
          </a:ln>
        </p:spPr>
      </p:sp>
      <p:sp>
        <p:nvSpPr>
          <p:cNvPr id="621"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58–60 (2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B ist für diesen Zweck richtig. Flächentreue erhält die Flächenverhältnisse; das bedeutet nicht, dass Entfernungen und Formen ebenfalls erhalten bleiben. Auf den Diagrammvergleich zurückverweisen. Bei Bedarf einen Schritt zurückgehen. Die Idee auf andere Fragen übertragen: Lokale Winkel können wichtig sein; für regionale Entfernungsmessungen muss die Projektion zum Gebiet passen. Die vier Eigenschaften nicht als gleichzeitig erfüllbare Wunschliste darstellen.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2" name="PlaceHolder 1"/>
          <p:cNvSpPr>
            <a:spLocks noGrp="1" noRot="1" noChangeAspect="1"/>
          </p:cNvSpPr>
          <p:nvPr>
            <p:ph type="sldImg"/>
          </p:nvPr>
        </p:nvSpPr>
        <p:spPr>
          <a:xfrm>
            <a:off x="216000" y="812520"/>
            <a:ext cx="7127280" cy="4008960"/>
          </a:xfrm>
          <a:prstGeom prst="rect">
            <a:avLst/>
          </a:prstGeom>
          <a:ln w="0">
            <a:noFill/>
          </a:ln>
        </p:spPr>
      </p:sp>
      <p:sp>
        <p:nvSpPr>
          <p:cNvPr id="623" name="PlaceHolder 2"/>
          <p:cNvSpPr>
            <a:spLocks noGrp="1"/>
          </p:cNvSpPr>
          <p:nvPr>
            <p:ph type="body"/>
          </p:nvPr>
        </p:nvSpPr>
        <p:spPr>
          <a:xfrm>
            <a:off x="756000" y="5078520"/>
            <a:ext cx="6047640" cy="6800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60–65 (5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EPSG-Codes als eindeutige Kennungen erklären, nicht auswendig abfragen. In den drei vereinfachten Szenarien unterscheiden wir Speicherung weltweiter Winkelkoordinaten, regionale Analyse und Webkartendarstellung. 4326 ist geographisch, 25832 und 3857 sind projiziert. Auch bei 3857 steht Meter als Einheit, dennoch ist es nicht für präzise regionale Flächen-/Streckenmessung auszuwählen. Die sichtbare Webkarte kann in 3857 vorliegen, während Positionsangaben in WGS 84 ausgegeben werden. EPSG-Code und Achsenreihenfolge deshalb getrennt prüfen.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a:p>
            <a:pPr marL="216000" indent="-216000">
              <a:buNone/>
            </a:pPr>
            <a:r>
              <a:rPr lang="en-US" sz="2000" b="0" strike="noStrike" spc="-1">
                <a:solidFill>
                  <a:srgbClr val="000000"/>
                </a:solidFill>
                <a:latin typeface="Arial"/>
              </a:rPr>
              <a:t>https://proj.org/en/stable/usage/quickstart.html</a:t>
            </a:r>
          </a:p>
          <a:p>
            <a:pPr marL="216000" indent="-216000">
              <a:buNone/>
            </a:pPr>
            <a:r>
              <a:rPr lang="en-US" sz="2000" b="0" strike="noStrike" spc="-1">
                <a:solidFill>
                  <a:srgbClr val="000000"/>
                </a:solidFill>
                <a:latin typeface="Arial"/>
              </a:rPr>
              <a:t>https://proj.org/en/stable/operations/projections/webmerc.html</a:t>
            </a:r>
          </a:p>
          <a:p>
            <a:pPr marL="216000" indent="-216000">
              <a:buNone/>
            </a:pPr>
            <a:r>
              <a:rPr lang="en-US" sz="2000" b="0" strike="noStrike" spc="-1">
                <a:solidFill>
                  <a:srgbClr val="000000"/>
                </a:solidFill>
                <a:latin typeface="Arial"/>
              </a:rPr>
              <a:t>Lokale Definitionen geprüft mit projinfo EPSG:4326, EPSG:25832 und EPSG:3857.</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PlaceHolder 1"/>
          <p:cNvSpPr>
            <a:spLocks noGrp="1" noRot="1" noChangeAspect="1"/>
          </p:cNvSpPr>
          <p:nvPr>
            <p:ph type="sldImg"/>
          </p:nvPr>
        </p:nvSpPr>
        <p:spPr>
          <a:xfrm>
            <a:off x="216000" y="812520"/>
            <a:ext cx="7127280" cy="4008960"/>
          </a:xfrm>
          <a:prstGeom prst="rect">
            <a:avLst/>
          </a:prstGeom>
          <a:ln w="0">
            <a:noFill/>
          </a:ln>
        </p:spPr>
      </p:sp>
      <p:sp>
        <p:nvSpPr>
          <p:cNvPr id="625" name="PlaceHolder 2"/>
          <p:cNvSpPr>
            <a:spLocks noGrp="1"/>
          </p:cNvSpPr>
          <p:nvPr>
            <p:ph type="body"/>
          </p:nvPr>
        </p:nvSpPr>
        <p:spPr>
          <a:xfrm>
            <a:off x="756000" y="5078520"/>
            <a:ext cx="6047640" cy="566676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65–68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UTM nutzt im Regelfall 6° breite Zonen; für Marburg gilt Zone 32 auf der Nordhalbkugel. Die schematische Grafik zeigt nur Längengradintervalle, keine Landkarte. Zone 32 reicht hier von 6° bis 12° Ost, mit Mittelmeridian 9°. Marburg liegt bei ungefähr 8,77° Ost. Das N in 32N meint in dieser CRS-Bezeichnung Nordhalbkugel, nicht das MGRS-Breitenband. UTM allein reicht nicht aus: Zone, Halbkugel und geodätisches Referenzsystem gehören dazu. Im Kurs nutzen wir dafür ETRS89 / UTM Zone 32N. Auch UTM ist nicht überall exakt; für regionale Kursanalysen ist die Verzerrung im passenden Gebiet gering.</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a:p>
            <a:pPr marL="216000" indent="-216000">
              <a:buNone/>
            </a:pPr>
            <a:r>
              <a:rPr lang="en-US" sz="2000" b="0" strike="noStrike" spc="-1">
                <a:solidFill>
                  <a:srgbClr val="000000"/>
                </a:solidFill>
                <a:latin typeface="Arial"/>
              </a:rPr>
              <a:t>Lokale CRS-Definition: projinfo EPSG:25832.</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noRot="1" noChangeAspect="1"/>
          </p:cNvSpPr>
          <p:nvPr>
            <p:ph type="sldImg"/>
          </p:nvPr>
        </p:nvSpPr>
        <p:spPr>
          <a:xfrm>
            <a:off x="216000" y="812520"/>
            <a:ext cx="7127280" cy="4008960"/>
          </a:xfrm>
          <a:prstGeom prst="rect">
            <a:avLst/>
          </a:prstGeom>
          <a:ln w="0">
            <a:noFill/>
          </a:ln>
        </p:spPr>
      </p:sp>
      <p:sp>
        <p:nvSpPr>
          <p:cNvPr id="627"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68–72 (4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Die drei Codes der vorherigen Folien dürfen nachgeschlagen werden. 45 Sekunden allein, 90 Sekunden zu zweit, anschließend drei kurze Begründungen sammeln. Auf Einheit, Gebiet und Zweck achten. Keine detailgenauen Vermessungsfragen oder Sonderfälle voraussetzen. Erwartete Antworten auf nächster Folie: 4326, 25832, 3857. Die Aufgaben festigen die CRS-Auswahl in der Sitzung.</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noRot="1" noChangeAspect="1"/>
          </p:cNvSpPr>
          <p:nvPr>
            <p:ph type="sldImg"/>
          </p:nvPr>
        </p:nvSpPr>
        <p:spPr>
          <a:xfrm>
            <a:off x="216000" y="812520"/>
            <a:ext cx="7127280" cy="4008960"/>
          </a:xfrm>
          <a:prstGeom prst="rect">
            <a:avLst/>
          </a:prstGeom>
          <a:ln w="0">
            <a:noFill/>
          </a:ln>
        </p:spPr>
      </p:sp>
      <p:sp>
        <p:nvSpPr>
          <p:cNvPr id="629"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72–75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Jede Auswahl begründen lassen, nicht nur den Code nennen. A: weltweite Winkelkoordinaten, 4326. B: regionale Analyse bei Marburg in Metern, 25832. C: gemeinsame Darstellung mit den in der Aufgabe gemeinten Webkartenkacheln, 3857. Das CRS der ursprünglichen Fachdaten muss dafür nicht ebenfalls 3857 sein; die Darstellung kann sie transformieren. Bei realen Datensätzen das Ausgangs-CRS aus verlässlichen Metadaten übernehmen. Nicht anhand der Wunschaufgabe ein Ausgangs-CRS erfinden.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0" name="PlaceHolder 1"/>
          <p:cNvSpPr>
            <a:spLocks noGrp="1" noRot="1" noChangeAspect="1"/>
          </p:cNvSpPr>
          <p:nvPr>
            <p:ph type="sldImg"/>
          </p:nvPr>
        </p:nvSpPr>
        <p:spPr>
          <a:xfrm>
            <a:off x="216000" y="812520"/>
            <a:ext cx="7127280" cy="4008960"/>
          </a:xfrm>
          <a:prstGeom prst="rect">
            <a:avLst/>
          </a:prstGeom>
          <a:ln w="0">
            <a:noFill/>
          </a:ln>
        </p:spPr>
      </p:sp>
      <p:sp>
        <p:nvSpPr>
          <p:cNvPr id="631" name="PlaceHolder 2"/>
          <p:cNvSpPr>
            <a:spLocks noGrp="1"/>
          </p:cNvSpPr>
          <p:nvPr>
            <p:ph type="body"/>
          </p:nvPr>
        </p:nvSpPr>
        <p:spPr>
          <a:xfrm>
            <a:off x="756000" y="5078520"/>
            <a:ext cx="6047640" cy="6800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75–79 (4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Zuweisen teilt der Software mit, wie die bereits vorhandenen Zahlen interpretiert werden sollen. Das ist zum Ergänzen oder Korrigieren einer bekannten CRS-Angabe da. Die Zahlen bleiben gleich, die Interpretation ändert sich. Transformieren rechnet zwischen bekanntem Ausgangs- und Ziel-CRS um. Der reale Ort bleibt innerhalb der Transformationsgenauigkeit derselbe. Die Position muss nicht neu vermessen werden. Fehlerhaft zugewiesene Ausgangssysteme führen auch bei anschließender Transformation zu falschen Ergebnissen. Die Beispiele mündlich auf Grad versus Meter beziehen, ohne einen QGIS-Dialog einzuführen. Die Abbildung aus der Kursseite zeigt zusätzlich den Fehler, Gradwerte nur als Meter zu etikettieren.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a:p>
            <a:pPr marL="216000" indent="-216000">
              <a:buNone/>
            </a:pPr>
            <a:r>
              <a:rPr lang="en-US" sz="2000" b="0" strike="noStrike" spc="-1">
                <a:solidFill>
                  <a:srgbClr val="000000"/>
                </a:solidFill>
                <a:latin typeface="Arial"/>
              </a:rPr>
              <a:t>Bild: assets/images/unit09/zuweisen-transformieren.svg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PlaceHolder 1"/>
          <p:cNvSpPr>
            <a:spLocks noGrp="1" noRot="1" noChangeAspect="1"/>
          </p:cNvSpPr>
          <p:nvPr>
            <p:ph type="sldImg"/>
          </p:nvPr>
        </p:nvSpPr>
        <p:spPr>
          <a:xfrm>
            <a:off x="216000" y="812520"/>
            <a:ext cx="7127280" cy="4008960"/>
          </a:xfrm>
          <a:prstGeom prst="rect">
            <a:avLst/>
          </a:prstGeom>
          <a:ln w="0">
            <a:noFill/>
          </a:ln>
        </p:spPr>
      </p:sp>
      <p:sp>
        <p:nvSpPr>
          <p:cNvPr id="63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79–82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Das Beispiel vollständig vorlesen. 30 Sekunden einzeln entscheiden, danach A/B/C per Handzeichen. Wenn die Gruppe uneinig ist: 45 Sekunden Nachbarschaftsgespräch und erneut abstimmen. Eine Begründung hören, dann auflösen. Hier sind die Quellmetadaten ausdrücklich bekannt; es geht nicht um Raten.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 name="PlaceHolder 1"/>
          <p:cNvSpPr>
            <a:spLocks noGrp="1" noRot="1" noChangeAspect="1"/>
          </p:cNvSpPr>
          <p:nvPr>
            <p:ph type="sldImg"/>
          </p:nvPr>
        </p:nvSpPr>
        <p:spPr>
          <a:xfrm>
            <a:off x="216000" y="812520"/>
            <a:ext cx="7127280" cy="4008960"/>
          </a:xfrm>
          <a:prstGeom prst="rect">
            <a:avLst/>
          </a:prstGeom>
          <a:ln w="0">
            <a:noFill/>
          </a:ln>
        </p:spPr>
      </p:sp>
      <p:sp>
        <p:nvSpPr>
          <p:cNvPr id="63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82–85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B ist richtig. Das Ausgangs-CRS ist durch die Quelle bekannt. 4326 zuweisen ändert die Werte nicht; danach können die Daten nach 25832 transformiert werden. Direktes Zuweisen von 25832 würde die Gradwerte als Meter interpretieren. Das ist keine Umrechnung. Ohne verlässliche Quelle wäre der nächste Schritt Recherche nach dem Ausgangs-CRS, nicht eine Vermutung als Tatsache einzutragen.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https://geomoer.github.io/moer-bsc-geodaten/unit09/unit09-03_projektionen.html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6" name="PlaceHolder 1"/>
          <p:cNvSpPr>
            <a:spLocks noGrp="1" noRot="1" noChangeAspect="1"/>
          </p:cNvSpPr>
          <p:nvPr>
            <p:ph type="sldImg"/>
          </p:nvPr>
        </p:nvSpPr>
        <p:spPr>
          <a:xfrm>
            <a:off x="216000" y="812520"/>
            <a:ext cx="7127280" cy="4008960"/>
          </a:xfrm>
          <a:prstGeom prst="rect">
            <a:avLst/>
          </a:prstGeom>
          <a:ln w="0">
            <a:noFill/>
          </a:ln>
        </p:spPr>
      </p:sp>
      <p:sp>
        <p:nvSpPr>
          <p:cNvPr id="637" name="PlaceHolder 2"/>
          <p:cNvSpPr>
            <a:spLocks noGrp="1"/>
          </p:cNvSpPr>
          <p:nvPr>
            <p:ph type="body"/>
          </p:nvPr>
        </p:nvSpPr>
        <p:spPr>
          <a:xfrm>
            <a:off x="756000" y="5078520"/>
            <a:ext cx="6047640" cy="53834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85–88 (3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Eine der drei Fragen passend zum Sitzungsverlauf auswählen. Eine Minute zu zweit formulieren lassen und anschließend eine gemeinsame Antwort sichern; nicht alle drei Fragen als zusätzliche Pflichtaufgabe behandeln. Erwartet je nach Auswahl: 1. Achsen/Reihenfolge, Einheit und CRS. 2. Beispielsweise EPSG:25832, passende regionale Zone und Meter; keine exakte Verzerrungsfreiheit behaupten. 3. Die Koordinatenwerte werden umgerechnet, der reale Ort bleibt derselbe. Bei einer größeren Unsicherheit diese als Frage für die nächste Sitzung notieren. Keine Abgabeplattform voraussetzen.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https://geomoer.github.io/moer-bsc-geodaten/unit09/unit09-00_overview.html</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noRot="1" noChangeAspect="1"/>
          </p:cNvSpPr>
          <p:nvPr>
            <p:ph type="sldImg"/>
          </p:nvPr>
        </p:nvSpPr>
        <p:spPr>
          <a:xfrm>
            <a:off x="216000" y="812520"/>
            <a:ext cx="7127280" cy="4008960"/>
          </a:xfrm>
          <a:prstGeom prst="rect">
            <a:avLst/>
          </a:prstGeom>
          <a:ln w="0">
            <a:noFill/>
          </a:ln>
        </p:spPr>
      </p:sp>
      <p:sp>
        <p:nvSpPr>
          <p:cNvPr id="639" name="PlaceHolder 2"/>
          <p:cNvSpPr>
            <a:spLocks noGrp="1"/>
          </p:cNvSpPr>
          <p:nvPr>
            <p:ph type="body"/>
          </p:nvPr>
        </p:nvSpPr>
        <p:spPr>
          <a:xfrm>
            <a:off x="756000" y="5078520"/>
            <a:ext cx="6047640" cy="53834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88–90 (2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Als einzige Übungsaufgabe die JiTT-Fragen zu Unit 09 im ILIAS-Kurs beantworten lassen. Die Fragen und die Bearbeitungsfrist stehen in ILIAS; der konkrete Link ist auf der Kursseite noch zu ergänzen. Die Antworten dienen der Nachbereitung und zeigen Verständnisfragen für den Einstieg in die nächste Sitzung. Studierende können das Onlinematerial zur Vorbereitung auf den nächsten Termin nutzen; dies ist nach Absprache keine Voraussetzung für die Teilnahme. Unit 10 führt in QGIS ein. Danach zur letzten Folie mit dem Dank wechseln. Die beiden dazwischenliegenden Folien sind Reserve und Quellen.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https://geomoer.github.io/moer-bsc-geodaten/unit09/unit09-04_assignment.html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0" name="PlaceHolder 1"/>
          <p:cNvSpPr>
            <a:spLocks noGrp="1" noRot="1" noChangeAspect="1"/>
          </p:cNvSpPr>
          <p:nvPr>
            <p:ph type="sldImg"/>
          </p:nvPr>
        </p:nvSpPr>
        <p:spPr>
          <a:xfrm>
            <a:off x="216000" y="812520"/>
            <a:ext cx="7127280" cy="4008960"/>
          </a:xfrm>
          <a:prstGeom prst="rect">
            <a:avLst/>
          </a:prstGeom>
          <a:ln w="0">
            <a:noFill/>
          </a:ln>
        </p:spPr>
      </p:sp>
      <p:sp>
        <p:nvSpPr>
          <p:cNvPr id="64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Reserve; nicht zusätzlich in die 90 Minuten einplanen.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Nur bei Bedarf anstelle einer anderen kurzen Übung einsetzen oder als Nachschlagefolie anbieten. Für positive Gradangaben: Grad + Minuten/60 + Sekunden/3600. Für Süd oder West den gesamten Betrag negativ setzen. Beispielaufgabe: 8° 46′ 12″ E = 8 + 46/60 + 12/3600 = 8,77° E. Für 8° 46′ 12″ W wäre das Ergebnis −8,77°. Keine Rechenpflicht als zusätzliche Übungsaufgabe einführen.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2" name="PlaceHolder 1"/>
          <p:cNvSpPr>
            <a:spLocks noGrp="1" noRot="1" noChangeAspect="1"/>
          </p:cNvSpPr>
          <p:nvPr>
            <p:ph type="sldImg"/>
          </p:nvPr>
        </p:nvSpPr>
        <p:spPr>
          <a:xfrm>
            <a:off x="216000" y="812520"/>
            <a:ext cx="7127280" cy="4008960"/>
          </a:xfrm>
          <a:prstGeom prst="rect">
            <a:avLst/>
          </a:prstGeom>
          <a:ln w="0">
            <a:noFill/>
          </a:ln>
        </p:spPr>
      </p:sp>
      <p:sp>
        <p:nvSpPr>
          <p:cNvPr id="643" name="PlaceHolder 2"/>
          <p:cNvSpPr>
            <a:spLocks noGrp="1"/>
          </p:cNvSpPr>
          <p:nvPr>
            <p:ph type="body"/>
          </p:nvPr>
        </p:nvSpPr>
        <p:spPr>
          <a:xfrm>
            <a:off x="756000" y="5078520"/>
            <a:ext cx="6047640" cy="934992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Reserve; nicht zusätzlich in die 90 Minuten einplanen.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Fachliche Grundlage sind die fünf aktuellen Markdown-Seiten von Unit 09. Diagramme wurden als bearbeitbare Vektorformen eigens für diese Präsentation erstellt. Der Projektionsvergleich verwendet mathematisch projizierte gleich große Kugelkalotten, keine realen Länderflächen. Die Kursillustration auf der Orientierungsfolie stammt aus dem vorhandenen KI-generierten Kursasset. Layout und Master: präs_ms02_powerpoint_de.pptx; Foto-/Kartenmotiv auf Titel und Abschluss: fb19-praesentationsvorlage_16-9-format.pot. Externe PROJ-Dokumentation zur Prüfung von Achsenreihenfolge und Projektionen abgerufen am 07.09.2026. CRS-Definitionen zusätzlich mit lokalem projinfo geprüft. Die Folien enthalten weder externe Live-Demos noch verpflichtende Softwareinstallationen.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https://geomoer.github.io/moer-bsc-geodaten/unit09/unit09-00_overview.html</a:t>
            </a:r>
          </a:p>
          <a:p>
            <a:pPr marL="216000" indent="-216000">
              <a:buNone/>
            </a:pPr>
            <a:r>
              <a:rPr lang="en-US" sz="2000" b="0" strike="noStrike" spc="-1">
                <a:solidFill>
                  <a:srgbClr val="000000"/>
                </a:solidFill>
                <a:latin typeface="Arial"/>
              </a:rPr>
              <a:t>https://proj.org/en/stable/faq.html</a:t>
            </a:r>
          </a:p>
          <a:p>
            <a:pPr marL="216000" indent="-216000">
              <a:buNone/>
            </a:pPr>
            <a:r>
              <a:rPr lang="en-US" sz="2000" b="0" strike="noStrike" spc="-1">
                <a:solidFill>
                  <a:srgbClr val="000000"/>
                </a:solidFill>
                <a:latin typeface="Arial"/>
              </a:rPr>
              <a:t>https://proj.org/en/stable/usage/quickstart.html</a:t>
            </a:r>
          </a:p>
          <a:p>
            <a:pPr marL="216000" indent="-216000">
              <a:buNone/>
            </a:pPr>
            <a:r>
              <a:rPr lang="en-US" sz="2000" b="0" strike="noStrike" spc="-1">
                <a:solidFill>
                  <a:srgbClr val="000000"/>
                </a:solidFill>
                <a:latin typeface="Arial"/>
              </a:rPr>
              <a:t>https://proj.org/en/stable/operations/projections/merc.html</a:t>
            </a:r>
          </a:p>
          <a:p>
            <a:pPr marL="216000" indent="-216000">
              <a:buNone/>
            </a:pPr>
            <a:r>
              <a:rPr lang="en-US" sz="2000" b="0" strike="noStrike" spc="-1">
                <a:solidFill>
                  <a:srgbClr val="000000"/>
                </a:solidFill>
                <a:latin typeface="Arial"/>
              </a:rPr>
              <a:t>https://proj.org/en/stable/operations/projections/cea.html</a:t>
            </a:r>
          </a:p>
          <a:p>
            <a:pPr marL="216000" indent="-216000">
              <a:buNone/>
            </a:pPr>
            <a:r>
              <a:rPr lang="en-US" sz="2000" b="0" strike="noStrike" spc="-1">
                <a:solidFill>
                  <a:srgbClr val="000000"/>
                </a:solidFill>
                <a:latin typeface="Arial"/>
              </a:rPr>
              <a:t>https://proj.org/en/stable/operations/projections/webmerc.html</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4" name="PlaceHolder 1"/>
          <p:cNvSpPr>
            <a:spLocks noGrp="1" noRot="1" noChangeAspect="1"/>
          </p:cNvSpPr>
          <p:nvPr>
            <p:ph type="sldImg"/>
          </p:nvPr>
        </p:nvSpPr>
        <p:spPr>
          <a:xfrm>
            <a:off x="216000" y="812520"/>
            <a:ext cx="7127280" cy="4008960"/>
          </a:xfrm>
          <a:prstGeom prst="rect">
            <a:avLst/>
          </a:prstGeom>
          <a:ln w="0">
            <a:noFill/>
          </a:ln>
        </p:spPr>
      </p:sp>
      <p:sp>
        <p:nvSpPr>
          <p:cNvPr id="64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Abschluss nach der Nachbereitung; kein zusätzlicher Zeitblock.</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Die Sitzung mit dieser Folie beenden. Der Wortlaut entspricht der gewünschten Abschlussformulierung. Die Abschlussgestaltung nutzt den Kontakt-Master der universitären Vorlage sowie das originale Foto-/Kartenmotiv aus der FB19-Titelseite.</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/home/dirk/GeoMOER/moer-bsc-geodaten/docs/slides/Vorlagen/präs_ms02_powerpoint_de.pptx</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elfoli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Zwei Titel und zwei Inhalte">
    <p:spTree>
      <p:nvGrpSpPr>
        <p:cNvPr id="1" name=""/>
        <p:cNvGrpSpPr/>
        <p:nvPr/>
      </p:nvGrpSpPr>
      <p:grpSpPr>
        <a:xfrm>
          <a:off x="0" y="0"/>
          <a:ext cx="0" cy="0"/>
          <a:chOff x="0" y="0"/>
          <a:chExt cx="0" cy="0"/>
        </a:xfrm>
      </p:grpSpPr>
      <p:sp>
        <p:nvSpPr>
          <p:cNvPr id="2" name="PlaceHolder 1"/>
          <p:cNvSpPr>
            <a:spLocks noGrp="1"/>
          </p:cNvSpPr>
          <p:nvPr>
            <p:ph type="ftr" idx="3"/>
          </p:nvPr>
        </p:nvSpPr>
        <p:spPr/>
        <p:txBody>
          <a:bodyPr/>
          <a:lstStyle/>
          <a:p>
            <a:r>
              <a:t>Footer</a:t>
            </a:r>
          </a:p>
        </p:txBody>
      </p:sp>
      <p:sp>
        <p:nvSpPr>
          <p:cNvPr id="3" name="PlaceHolder 2"/>
          <p:cNvSpPr>
            <a:spLocks noGrp="1"/>
          </p:cNvSpPr>
          <p:nvPr>
            <p:ph type="sldNum" idx="4"/>
          </p:nvPr>
        </p:nvSpPr>
        <p:spPr/>
        <p:txBody>
          <a:bodyPr/>
          <a:lstStyle/>
          <a:p>
            <a:fld id="{4BE1D2CE-93E4-4C6F-8633-6FE4E9ED2E04}"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Editorial">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lstStyle/>
          <a:p>
            <a:r>
              <a:t>Footer</a:t>
            </a:r>
          </a:p>
        </p:txBody>
      </p:sp>
      <p:sp>
        <p:nvSpPr>
          <p:cNvPr id="3" name="PlaceHolder 2"/>
          <p:cNvSpPr>
            <a:spLocks noGrp="1"/>
          </p:cNvSpPr>
          <p:nvPr>
            <p:ph type="sldNum" idx="6"/>
          </p:nvPr>
        </p:nvSpPr>
        <p:spPr/>
        <p:txBody>
          <a:bodyPr/>
          <a:lstStyle/>
          <a:p>
            <a:fld id="{56A78C55-5675-4757-B7FD-9E23D4BECE75}"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5"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3" name="PlaceHolder 2"/>
          <p:cNvSpPr>
            <a:spLocks noGrp="1"/>
          </p:cNvSpPr>
          <p:nvPr>
            <p:ph type="ftr" idx="7"/>
          </p:nvPr>
        </p:nvSpPr>
        <p:spPr/>
        <p:txBody>
          <a:bodyPr/>
          <a:lstStyle/>
          <a:p>
            <a:r>
              <a:t>Footer</a:t>
            </a:r>
          </a:p>
        </p:txBody>
      </p:sp>
      <p:sp>
        <p:nvSpPr>
          <p:cNvPr id="4" name="PlaceHolder 3"/>
          <p:cNvSpPr>
            <a:spLocks noGrp="1"/>
          </p:cNvSpPr>
          <p:nvPr>
            <p:ph type="sldNum" idx="8"/>
          </p:nvPr>
        </p:nvSpPr>
        <p:spPr/>
        <p:txBody>
          <a:bodyPr/>
          <a:lstStyle/>
          <a:p>
            <a:fld id="{E702088A-99FB-4A2D-80DA-337E71A76030}"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Vollbild">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lstStyle/>
          <a:p>
            <a:r>
              <a:t>Footer</a:t>
            </a:r>
          </a:p>
        </p:txBody>
      </p:sp>
      <p:sp>
        <p:nvSpPr>
          <p:cNvPr id="3" name="PlaceHolder 2"/>
          <p:cNvSpPr>
            <a:spLocks noGrp="1"/>
          </p:cNvSpPr>
          <p:nvPr>
            <p:ph type="sldNum" idx="10"/>
          </p:nvPr>
        </p:nvSpPr>
        <p:spPr/>
        <p:txBody>
          <a:bodyPr/>
          <a:lstStyle/>
          <a:p>
            <a:fld id="{80F5F712-2796-46CE-A2D5-2C447CC8D6B8}"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lstStyle/>
          <a:p>
            <a:r>
              <a:t>Footer</a:t>
            </a:r>
          </a:p>
        </p:txBody>
      </p:sp>
      <p:sp>
        <p:nvSpPr>
          <p:cNvPr id="3" name="PlaceHolder 2"/>
          <p:cNvSpPr>
            <a:spLocks noGrp="1"/>
          </p:cNvSpPr>
          <p:nvPr>
            <p:ph type="sldNum" idx="12"/>
          </p:nvPr>
        </p:nvSpPr>
        <p:spPr/>
        <p:txBody>
          <a:bodyPr/>
          <a:lstStyle/>
          <a:p>
            <a:fld id="{15B2C93D-33C5-42C9-AA41-C0F748C641B8}"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Kontak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Kontakt mit Bild">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Titelfolie mit Bild A">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Titelfolie mit Bild B">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54"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55"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pPr indent="0">
              <a:lnSpc>
                <a:spcPct val="120000"/>
              </a:lnSpc>
              <a:spcBef>
                <a:spcPts val="1417"/>
              </a:spcBef>
              <a:buNone/>
            </a:pPr>
            <a:endParaRPr lang="de-DE" sz="1400" b="0" strike="noStrike" spc="-1">
              <a:solidFill>
                <a:schemeClr val="dk1"/>
              </a:solidFill>
              <a:latin typeface="Noto Sans"/>
            </a:endParaRPr>
          </a:p>
        </p:txBody>
      </p:sp>
      <p:sp>
        <p:nvSpPr>
          <p:cNvPr id="4" name="PlaceHolder 3"/>
          <p:cNvSpPr>
            <a:spLocks noGrp="1"/>
          </p:cNvSpPr>
          <p:nvPr>
            <p:ph type="ftr" idx="13"/>
          </p:nvPr>
        </p:nvSpPr>
        <p:spPr/>
        <p:txBody>
          <a:bodyPr/>
          <a:lstStyle/>
          <a:p>
            <a:r>
              <a:t>Footer</a:t>
            </a:r>
          </a:p>
        </p:txBody>
      </p:sp>
      <p:sp>
        <p:nvSpPr>
          <p:cNvPr id="5" name="PlaceHolder 4"/>
          <p:cNvSpPr>
            <a:spLocks noGrp="1"/>
          </p:cNvSpPr>
          <p:nvPr>
            <p:ph type="sldNum" idx="14"/>
          </p:nvPr>
        </p:nvSpPr>
        <p:spPr/>
        <p:txBody>
          <a:bodyPr/>
          <a:lstStyle/>
          <a:p>
            <a:fld id="{11A835B4-9086-4E0A-A771-576EB1101CDA}" type="slidenum">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Kapiteltrenner">
    <p:spTree>
      <p:nvGrpSpPr>
        <p:cNvPr id="1" name=""/>
        <p:cNvGrpSpPr/>
        <p:nvPr/>
      </p:nvGrpSpPr>
      <p:grpSpPr>
        <a:xfrm>
          <a:off x="0" y="0"/>
          <a:ext cx="0" cy="0"/>
          <a:chOff x="0" y="0"/>
          <a:chExt cx="0" cy="0"/>
        </a:xfrm>
      </p:grpSpPr>
      <p:sp>
        <p:nvSpPr>
          <p:cNvPr id="60"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3" name="PlaceHolder 2"/>
          <p:cNvSpPr>
            <a:spLocks noGrp="1"/>
          </p:cNvSpPr>
          <p:nvPr>
            <p:ph type="ftr" idx="15"/>
          </p:nvPr>
        </p:nvSpPr>
        <p:spPr/>
        <p:txBody>
          <a:bodyPr/>
          <a:lstStyle/>
          <a:p>
            <a:r>
              <a:t>Footer</a:t>
            </a:r>
          </a:p>
        </p:txBody>
      </p:sp>
      <p:sp>
        <p:nvSpPr>
          <p:cNvPr id="4" name="PlaceHolder 3"/>
          <p:cNvSpPr>
            <a:spLocks noGrp="1"/>
          </p:cNvSpPr>
          <p:nvPr>
            <p:ph type="sldNum" idx="16"/>
          </p:nvPr>
        </p:nvSpPr>
        <p:spPr/>
        <p:txBody>
          <a:bodyPr/>
          <a:lstStyle/>
          <a:p>
            <a:fld id="{EE681C42-A4DF-45F4-8844-1153D8129692}" type="slidenum">
              <a:t>‹Nr.›</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Kapiteltrenner mit Bild">
    <p:spTree>
      <p:nvGrpSpPr>
        <p:cNvPr id="1" name=""/>
        <p:cNvGrpSpPr/>
        <p:nvPr/>
      </p:nvGrpSpPr>
      <p:grpSpPr>
        <a:xfrm>
          <a:off x="0" y="0"/>
          <a:ext cx="0" cy="0"/>
          <a:chOff x="0" y="0"/>
          <a:chExt cx="0" cy="0"/>
        </a:xfrm>
      </p:grpSpPr>
      <p:sp>
        <p:nvSpPr>
          <p:cNvPr id="2" name="PlaceHolder 1"/>
          <p:cNvSpPr>
            <a:spLocks noGrp="1"/>
          </p:cNvSpPr>
          <p:nvPr>
            <p:ph type="ftr" idx="17"/>
          </p:nvPr>
        </p:nvSpPr>
        <p:spPr/>
        <p:txBody>
          <a:bodyPr/>
          <a:lstStyle/>
          <a:p>
            <a:r>
              <a:t>Footer</a:t>
            </a:r>
          </a:p>
        </p:txBody>
      </p:sp>
      <p:sp>
        <p:nvSpPr>
          <p:cNvPr id="3" name="PlaceHolder 2"/>
          <p:cNvSpPr>
            <a:spLocks noGrp="1"/>
          </p:cNvSpPr>
          <p:nvPr>
            <p:ph type="sldNum" idx="18"/>
          </p:nvPr>
        </p:nvSpPr>
        <p:spPr/>
        <p:txBody>
          <a:bodyPr/>
          <a:lstStyle/>
          <a:p>
            <a:fld id="{4128DAD0-D2AE-49A1-BA52-44A6AC737473}" type="slidenum">
              <a:t>‹Nr.›</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70"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71"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pPr indent="0">
              <a:lnSpc>
                <a:spcPct val="120000"/>
              </a:lnSpc>
              <a:spcBef>
                <a:spcPts val="1417"/>
              </a:spcBef>
              <a:buNone/>
            </a:pPr>
            <a:endParaRPr lang="de-DE" sz="1400" b="0" strike="noStrike" spc="-1">
              <a:solidFill>
                <a:schemeClr val="dk1"/>
              </a:solidFill>
              <a:latin typeface="Noto Sans"/>
            </a:endParaRPr>
          </a:p>
        </p:txBody>
      </p:sp>
      <p:sp>
        <p:nvSpPr>
          <p:cNvPr id="4" name="PlaceHolder 3"/>
          <p:cNvSpPr>
            <a:spLocks noGrp="1"/>
          </p:cNvSpPr>
          <p:nvPr>
            <p:ph type="ftr" idx="19"/>
          </p:nvPr>
        </p:nvSpPr>
        <p:spPr/>
        <p:txBody>
          <a:bodyPr/>
          <a:lstStyle/>
          <a:p>
            <a:r>
              <a:t>Footer</a:t>
            </a:r>
          </a:p>
        </p:txBody>
      </p:sp>
      <p:sp>
        <p:nvSpPr>
          <p:cNvPr id="5" name="PlaceHolder 4"/>
          <p:cNvSpPr>
            <a:spLocks noGrp="1"/>
          </p:cNvSpPr>
          <p:nvPr>
            <p:ph type="sldNum" idx="20"/>
          </p:nvPr>
        </p:nvSpPr>
        <p:spPr/>
        <p:txBody>
          <a:bodyPr/>
          <a:lstStyle/>
          <a:p>
            <a:fld id="{F82C3DE3-5B75-45A9-AAE8-EE284CF01593}" type="slidenum">
              <a:t>‹Nr.›</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Titel und Inhalt">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EBAA0305-0AD6-48E7-AC0A-A918EAB2C6A3}" type="slidenum">
              <a:t>‹Nr.›</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el und zwei Inhalte">
    <p:spTree>
      <p:nvGrpSpPr>
        <p:cNvPr id="1" name=""/>
        <p:cNvGrpSpPr/>
        <p:nvPr/>
      </p:nvGrpSpPr>
      <p:grpSpPr>
        <a:xfrm>
          <a:off x="0" y="0"/>
          <a:ext cx="0" cy="0"/>
          <a:chOff x="0" y="0"/>
          <a:chExt cx="0" cy="0"/>
        </a:xfrm>
      </p:grpSpPr>
      <p:sp>
        <p:nvSpPr>
          <p:cNvPr id="77"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78"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pPr indent="0">
              <a:lnSpc>
                <a:spcPct val="120000"/>
              </a:lnSpc>
              <a:spcBef>
                <a:spcPts val="1417"/>
              </a:spcBef>
              <a:buNone/>
            </a:pPr>
            <a:endParaRPr lang="de-DE" sz="1400" b="0" strike="noStrike" spc="-1">
              <a:solidFill>
                <a:schemeClr val="dk1"/>
              </a:solidFill>
              <a:latin typeface="Noto Sans"/>
            </a:endParaRPr>
          </a:p>
        </p:txBody>
      </p:sp>
      <p:sp>
        <p:nvSpPr>
          <p:cNvPr id="4" name="PlaceHolder 3"/>
          <p:cNvSpPr>
            <a:spLocks noGrp="1"/>
          </p:cNvSpPr>
          <p:nvPr>
            <p:ph type="ftr" idx="21"/>
          </p:nvPr>
        </p:nvSpPr>
        <p:spPr/>
        <p:txBody>
          <a:bodyPr/>
          <a:lstStyle/>
          <a:p>
            <a:r>
              <a:t>Footer</a:t>
            </a:r>
          </a:p>
        </p:txBody>
      </p:sp>
      <p:sp>
        <p:nvSpPr>
          <p:cNvPr id="5" name="PlaceHolder 4"/>
          <p:cNvSpPr>
            <a:spLocks noGrp="1"/>
          </p:cNvSpPr>
          <p:nvPr>
            <p:ph type="sldNum" idx="22"/>
          </p:nvPr>
        </p:nvSpPr>
        <p:spPr/>
        <p:txBody>
          <a:bodyPr/>
          <a:lstStyle/>
          <a:p>
            <a:fld id="{BB76A889-8F4A-4A57-BCF1-CECB94D4DFF4}" type="slidenum">
              <a:t>‹Nr.›</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Titel, Inhalt und Bild">
    <p:spTree>
      <p:nvGrpSpPr>
        <p:cNvPr id="1" name=""/>
        <p:cNvGrpSpPr/>
        <p:nvPr/>
      </p:nvGrpSpPr>
      <p:grpSpPr>
        <a:xfrm>
          <a:off x="0" y="0"/>
          <a:ext cx="0" cy="0"/>
          <a:chOff x="0" y="0"/>
          <a:chExt cx="0" cy="0"/>
        </a:xfrm>
      </p:grpSpPr>
      <p:sp>
        <p:nvSpPr>
          <p:cNvPr id="2" name="PlaceHolder 1"/>
          <p:cNvSpPr>
            <a:spLocks noGrp="1"/>
          </p:cNvSpPr>
          <p:nvPr>
            <p:ph type="ftr" idx="23"/>
          </p:nvPr>
        </p:nvSpPr>
        <p:spPr/>
        <p:txBody>
          <a:bodyPr/>
          <a:lstStyle/>
          <a:p>
            <a:r>
              <a:t>Footer</a:t>
            </a:r>
          </a:p>
        </p:txBody>
      </p:sp>
      <p:sp>
        <p:nvSpPr>
          <p:cNvPr id="3" name="PlaceHolder 2"/>
          <p:cNvSpPr>
            <a:spLocks noGrp="1"/>
          </p:cNvSpPr>
          <p:nvPr>
            <p:ph type="sldNum" idx="24"/>
          </p:nvPr>
        </p:nvSpPr>
        <p:spPr/>
        <p:txBody>
          <a:bodyPr/>
          <a:lstStyle/>
          <a:p>
            <a:fld id="{3048D068-E1E4-403D-9CAB-8AB34B2D25E0}" type="slidenum">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_rels/slideMaster13.xml.rels><?xml version="1.0" encoding="UTF-8" standalone="yes"?>
<Relationships xmlns="http://schemas.openxmlformats.org/package/2006/relationships"><Relationship Id="rId2" Type="http://schemas.openxmlformats.org/officeDocument/2006/relationships/theme" Target="../theme/theme13.xml"/><Relationship Id="rId1" Type="http://schemas.openxmlformats.org/officeDocument/2006/relationships/slideLayout" Target="../slideLayouts/slideLayout13.xml"/></Relationships>
</file>

<file path=ppt/slideMasters/_rels/slideMaster14.xml.rels><?xml version="1.0" encoding="UTF-8" standalone="yes"?>
<Relationships xmlns="http://schemas.openxmlformats.org/package/2006/relationships"><Relationship Id="rId3" Type="http://schemas.openxmlformats.org/officeDocument/2006/relationships/theme" Target="../theme/theme14.xml"/><Relationship Id="rId2" Type="http://schemas.openxmlformats.org/officeDocument/2006/relationships/slideLayout" Target="../slideLayouts/slideLayout15.xml"/><Relationship Id="rId1" Type="http://schemas.openxmlformats.org/officeDocument/2006/relationships/slideLayout" Target="../slideLayouts/slideLayout14.xml"/></Relationships>
</file>

<file path=ppt/slideMasters/_rels/slideMaster15.xml.rels><?xml version="1.0" encoding="UTF-8" standalone="yes"?>
<Relationships xmlns="http://schemas.openxmlformats.org/package/2006/relationships"><Relationship Id="rId2" Type="http://schemas.openxmlformats.org/officeDocument/2006/relationships/theme" Target="../theme/theme15.xml"/><Relationship Id="rId1" Type="http://schemas.openxmlformats.org/officeDocument/2006/relationships/slideLayout" Target="../slideLayouts/slideLayout16.xml"/></Relationships>
</file>

<file path=ppt/slideMasters/_rels/slideMaster16.xml.rels><?xml version="1.0" encoding="UTF-8" standalone="yes"?>
<Relationships xmlns="http://schemas.openxmlformats.org/package/2006/relationships"><Relationship Id="rId2" Type="http://schemas.openxmlformats.org/officeDocument/2006/relationships/theme" Target="../theme/theme16.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4762440" y="2187000"/>
            <a:ext cx="6662520" cy="2003760"/>
          </a:xfrm>
          <a:prstGeom prst="rect">
            <a:avLst/>
          </a:prstGeom>
          <a:noFill/>
          <a:ln w="0">
            <a:noFill/>
          </a:ln>
        </p:spPr>
        <p:txBody>
          <a:bodyPr lIns="0" tIns="0" rIns="0" bIns="0" anchor="t">
            <a:noAutofit/>
          </a:bodyPr>
          <a:lstStyle/>
          <a:p>
            <a:pPr indent="0" defTabSz="914400">
              <a:lnSpc>
                <a:spcPct val="100000"/>
              </a:lnSpc>
              <a:buNone/>
            </a:pPr>
            <a:r>
              <a:rPr lang="de-DE" sz="4200" b="0" strike="noStrike" spc="-1">
                <a:solidFill>
                  <a:schemeClr val="lt1"/>
                </a:solidFill>
                <a:latin typeface="Noto Sans"/>
              </a:rPr>
              <a:t>Mastertitelformat bearbeiten</a:t>
            </a:r>
            <a:endParaRPr lang="de-DE" sz="4200" b="0" strike="noStrike" spc="-1">
              <a:solidFill>
                <a:schemeClr val="dk1"/>
              </a:solidFill>
              <a:latin typeface="Noto Sans"/>
            </a:endParaRPr>
          </a:p>
        </p:txBody>
      </p:sp>
      <p:sp>
        <p:nvSpPr>
          <p:cNvPr id="4" name="PlaceHolder 2"/>
          <p:cNvSpPr>
            <a:spLocks noGrp="1"/>
          </p:cNvSpPr>
          <p:nvPr>
            <p:ph type="body"/>
          </p:nvPr>
        </p:nvSpPr>
        <p:spPr>
          <a:xfrm>
            <a:off x="4762440" y="5524560"/>
            <a:ext cx="6662520" cy="815040"/>
          </a:xfrm>
          <a:prstGeom prst="rect">
            <a:avLst/>
          </a:prstGeom>
          <a:noFill/>
          <a:ln w="0">
            <a:noFill/>
          </a:ln>
        </p:spPr>
        <p:txBody>
          <a:bodyPr lIns="0" tIns="0" rIns="0" bIns="0" anchor="b">
            <a:noAutofit/>
          </a:bodyPr>
          <a:lstStyle/>
          <a:p>
            <a:pPr indent="0" defTabSz="914400">
              <a:lnSpc>
                <a:spcPct val="120000"/>
              </a:lnSpc>
              <a:spcBef>
                <a:spcPts val="400"/>
              </a:spcBef>
              <a:buNone/>
              <a:tabLst>
                <a:tab pos="0" algn="l"/>
              </a:tabLst>
            </a:pPr>
            <a:r>
              <a:rPr lang="de-DE" sz="1200" b="0" strike="noStrike" spc="-1">
                <a:solidFill>
                  <a:schemeClr val="lt1"/>
                </a:solidFill>
                <a:latin typeface="Noto Sans"/>
              </a:rPr>
              <a:t>Mastertextformat bearbeiten</a:t>
            </a:r>
            <a:endParaRPr lang="de-DE" sz="1200" b="0" strike="noStrike" spc="-1">
              <a:solidFill>
                <a:schemeClr val="dk1"/>
              </a:solidFill>
              <a:latin typeface="Noto Sans"/>
            </a:endParaRPr>
          </a:p>
        </p:txBody>
      </p:sp>
      <p:sp>
        <p:nvSpPr>
          <p:cNvPr id="2" name="Freihandform: Form 11"/>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cxn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de-DE" sz="18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766800" y="333360"/>
            <a:ext cx="34617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11" name="PlaceHolder 2"/>
          <p:cNvSpPr>
            <a:spLocks noGrp="1"/>
          </p:cNvSpPr>
          <p:nvPr>
            <p:ph type="body"/>
          </p:nvPr>
        </p:nvSpPr>
        <p:spPr>
          <a:xfrm>
            <a:off x="766800" y="1665360"/>
            <a:ext cx="346176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12" name="PlaceHolder 3"/>
          <p:cNvSpPr>
            <a:spLocks noGrp="1"/>
          </p:cNvSpPr>
          <p:nvPr>
            <p:ph type="body"/>
          </p:nvPr>
        </p:nvSpPr>
        <p:spPr>
          <a:xfrm>
            <a:off x="4660560" y="333360"/>
            <a:ext cx="6764400" cy="899640"/>
          </a:xfrm>
          <a:prstGeom prst="rect">
            <a:avLst/>
          </a:prstGeom>
          <a:noFill/>
          <a:ln w="0">
            <a:noFill/>
          </a:ln>
        </p:spPr>
        <p:txBody>
          <a:bodyPr lIns="0" tIns="0" rIns="0" bIns="0" anchor="t">
            <a:noAutofit/>
          </a:bodyPr>
          <a:lstStyle/>
          <a:p>
            <a:pPr indent="0" defTabSz="914400">
              <a:lnSpc>
                <a:spcPct val="110000"/>
              </a:lnSpc>
              <a:buNone/>
              <a:tabLst>
                <a:tab pos="0" algn="l"/>
              </a:tabLst>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13" name="PlaceHolder 4"/>
          <p:cNvSpPr>
            <a:spLocks noGrp="1"/>
          </p:cNvSpPr>
          <p:nvPr>
            <p:ph type="body"/>
          </p:nvPr>
        </p:nvSpPr>
        <p:spPr>
          <a:xfrm>
            <a:off x="4660560" y="1665360"/>
            <a:ext cx="676440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14" name="PlaceHolder 5"/>
          <p:cNvSpPr>
            <a:spLocks noGrp="1"/>
          </p:cNvSpPr>
          <p:nvPr>
            <p:ph type="ftr" idx="3"/>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15" name="PlaceHolder 6">
            <a:extLst>
              <a:ext uri="{C183D7F6-B498-43B3-948B-1728B52AA6E4}">
                <adec:decorative xmlns:adec="http://schemas.microsoft.com/office/drawing/2017/decorative" val="1"/>
              </a:ext>
            </a:extLst>
          </p:cNvPr>
          <p:cNvSpPr>
            <a:spLocks noGrp="1"/>
          </p:cNvSpPr>
          <p:nvPr>
            <p:ph type="sldNum" idx="4"/>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3BFF4638-DB9E-4796-BEC1-ED3F2F7BBCF2}"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766800" y="1665360"/>
            <a:ext cx="3461760" cy="123012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17" name="PlaceHolder 2"/>
          <p:cNvSpPr>
            <a:spLocks noGrp="1"/>
          </p:cNvSpPr>
          <p:nvPr>
            <p:ph type="body"/>
          </p:nvPr>
        </p:nvSpPr>
        <p:spPr>
          <a:xfrm>
            <a:off x="766800" y="2968560"/>
            <a:ext cx="3461760" cy="319680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1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1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1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1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100" b="0" strike="noStrike" spc="-1">
                <a:solidFill>
                  <a:schemeClr val="dk1"/>
                </a:solidFill>
                <a:latin typeface="Noto Sans"/>
              </a:rPr>
              <a:t>Fünfte Ebene</a:t>
            </a:r>
          </a:p>
        </p:txBody>
      </p:sp>
      <p:sp>
        <p:nvSpPr>
          <p:cNvPr id="18" name="PlaceHolder 3"/>
          <p:cNvSpPr>
            <a:spLocks noGrp="1"/>
          </p:cNvSpPr>
          <p:nvPr>
            <p:ph type="body"/>
          </p:nvPr>
        </p:nvSpPr>
        <p:spPr>
          <a:xfrm>
            <a:off x="4660560" y="1665360"/>
            <a:ext cx="676440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19" name="PlaceHolder 4"/>
          <p:cNvSpPr>
            <a:spLocks noGrp="1"/>
          </p:cNvSpPr>
          <p:nvPr>
            <p:ph type="ftr" idx="5"/>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20" name="PlaceHolder 5">
            <a:extLst>
              <a:ext uri="{C183D7F6-B498-43B3-948B-1728B52AA6E4}">
                <adec:decorative xmlns:adec="http://schemas.microsoft.com/office/drawing/2017/decorative" val="1"/>
              </a:ext>
            </a:extLst>
          </p:cNvPr>
          <p:cNvSpPr>
            <a:spLocks noGrp="1"/>
          </p:cNvSpPr>
          <p:nvPr>
            <p:ph type="sldNum" idx="6"/>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90F358D8-4D7B-43BD-B64D-20E8CA9C42A8}"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66800" y="333360"/>
            <a:ext cx="106581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22" name="PlaceHolder 2"/>
          <p:cNvSpPr>
            <a:spLocks noGrp="1"/>
          </p:cNvSpPr>
          <p:nvPr>
            <p:ph type="ftr" idx="7"/>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23" name="PlaceHolder 3">
            <a:extLst>
              <a:ext uri="{C183D7F6-B498-43B3-948B-1728B52AA6E4}">
                <adec:decorative xmlns:adec="http://schemas.microsoft.com/office/drawing/2017/decorative" val="1"/>
              </a:ext>
            </a:extLst>
          </p:cNvPr>
          <p:cNvSpPr>
            <a:spLocks noGrp="1"/>
          </p:cNvSpPr>
          <p:nvPr>
            <p:ph type="sldNum" idx="8"/>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E07C2FA6-416A-4DFE-A2F6-DD3D0C43EEA2}"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
        <p:nvSpPr>
          <p:cNvPr id="24" name="PlaceHolder 4"/>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120000"/>
              </a:lnSpc>
              <a:spcBef>
                <a:spcPts val="1417"/>
              </a:spcBef>
              <a:buClr>
                <a:srgbClr val="000000"/>
              </a:buClr>
              <a:buSzPct val="45000"/>
              <a:buFont typeface="Wingdings" charset="2"/>
              <a:buChar char=""/>
            </a:pPr>
            <a:r>
              <a:rPr lang="de-DE" sz="14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4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4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4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20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20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2000" b="0" strike="noStrike" spc="-1">
                <a:solidFill>
                  <a:schemeClr val="dk1"/>
                </a:solidFill>
                <a:latin typeface="Noto Sans"/>
              </a:rPr>
              <a:t>Seventh Outline Level</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27" name="PlaceHolder 2"/>
          <p:cNvSpPr>
            <a:spLocks noGrp="1"/>
          </p:cNvSpPr>
          <p:nvPr>
            <p:ph type="ftr" idx="9"/>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28" name="PlaceHolder 3">
            <a:extLst>
              <a:ext uri="{C183D7F6-B498-43B3-948B-1728B52AA6E4}">
                <adec:decorative xmlns:adec="http://schemas.microsoft.com/office/drawing/2017/decorative" val="1"/>
              </a:ext>
            </a:extLst>
          </p:cNvPr>
          <p:cNvSpPr>
            <a:spLocks noGrp="1"/>
          </p:cNvSpPr>
          <p:nvPr>
            <p:ph type="sldNum" idx="10"/>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5F05AE50-B94A-4D5D-BF7C-5B04D80BE7EF}"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
        <p:nvSpPr>
          <p:cNvPr id="29" name="PlaceHolder 4"/>
          <p:cNvSpPr>
            <a:spLocks noGrp="1"/>
          </p:cNvSpPr>
          <p:nvPr>
            <p:ph type="body"/>
          </p:nvPr>
        </p:nvSpPr>
        <p:spPr>
          <a:xfrm rot="16200000">
            <a:off x="9109440" y="3083760"/>
            <a:ext cx="58294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
        <p:nvSpPr>
          <p:cNvPr id="30" name="PlaceHolder 5"/>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de-DE" sz="1800" b="0" strike="noStrike" spc="-1">
                <a:solidFill>
                  <a:schemeClr val="dk1"/>
                </a:solidFill>
                <a:latin typeface="Noto Sans"/>
              </a:rPr>
              <a:t>Click to edit the title text format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1"/>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32" name="PlaceHolder 2">
            <a:extLst>
              <a:ext uri="{C183D7F6-B498-43B3-948B-1728B52AA6E4}">
                <adec:decorative xmlns:adec="http://schemas.microsoft.com/office/drawing/2017/decorative" val="1"/>
              </a:ext>
            </a:extLst>
          </p:cNvPr>
          <p:cNvSpPr>
            <a:spLocks noGrp="1"/>
          </p:cNvSpPr>
          <p:nvPr>
            <p:ph type="sldNum" idx="12"/>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638E2BCD-D2D5-4F1B-837C-3C74BBEE25CB}"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334800" y="339120"/>
            <a:ext cx="6164640" cy="6150240"/>
          </a:xfrm>
          <a:prstGeom prst="rect">
            <a:avLst/>
          </a:prstGeom>
          <a:solidFill>
            <a:schemeClr val="accent4"/>
          </a:solidFill>
          <a:ln w="0">
            <a:noFill/>
          </a:ln>
        </p:spPr>
        <p:txBody>
          <a:bodyPr lIns="432000" tIns="2772000" rIns="432000" bIns="0" anchor="t">
            <a:noAutofit/>
          </a:bodyPr>
          <a:lstStyle/>
          <a:p>
            <a:pPr indent="0" defTabSz="914400">
              <a:lnSpc>
                <a:spcPct val="100000"/>
              </a:lnSpc>
              <a:buNone/>
            </a:pPr>
            <a:r>
              <a:rPr lang="de-DE" sz="3000" b="0" strike="noStrike" spc="-1">
                <a:solidFill>
                  <a:schemeClr val="dk1"/>
                </a:solidFill>
                <a:latin typeface="Noto Sans"/>
              </a:rPr>
              <a:t>Mastertitelformat bearbeiten</a:t>
            </a:r>
          </a:p>
        </p:txBody>
      </p:sp>
      <p:sp>
        <p:nvSpPr>
          <p:cNvPr id="34" name="Freihandform: Form 3"/>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cxn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de-DE" sz="1800" b="0" strike="noStrike" spc="-1">
              <a:solidFill>
                <a:schemeClr val="dk1"/>
              </a:solidFill>
              <a:latin typeface="Noto Sans"/>
            </a:endParaRPr>
          </a:p>
        </p:txBody>
      </p:sp>
      <p:sp>
        <p:nvSpPr>
          <p:cNvPr id="3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120000"/>
              </a:lnSpc>
              <a:spcBef>
                <a:spcPts val="1417"/>
              </a:spcBef>
              <a:buClr>
                <a:srgbClr val="FFFFFF"/>
              </a:buClr>
              <a:buSzPct val="45000"/>
              <a:buFont typeface="Wingdings" charset="2"/>
              <a:buChar char=""/>
            </a:pPr>
            <a:r>
              <a:rPr lang="de-DE" sz="1400" b="0" strike="noStrike" spc="-1">
                <a:solidFill>
                  <a:schemeClr val="dk1"/>
                </a:solidFill>
                <a:latin typeface="Noto Sans"/>
              </a:rPr>
              <a:t>Click to edit the outline text format</a:t>
            </a:r>
          </a:p>
          <a:p>
            <a:pPr marL="864000" lvl="1" indent="-324000">
              <a:lnSpc>
                <a:spcPct val="120000"/>
              </a:lnSpc>
              <a:spcBef>
                <a:spcPts val="1134"/>
              </a:spcBef>
              <a:buClr>
                <a:srgbClr val="FFFFFF"/>
              </a:buClr>
              <a:buSzPct val="75000"/>
              <a:buFont typeface="Symbol" charset="2"/>
              <a:buChar char=""/>
            </a:pPr>
            <a:r>
              <a:rPr lang="de-DE" sz="1400" b="0" strike="noStrike" spc="-1">
                <a:solidFill>
                  <a:schemeClr val="dk1"/>
                </a:solidFill>
                <a:latin typeface="Noto Sans"/>
              </a:rPr>
              <a:t>Second Outline Level</a:t>
            </a:r>
          </a:p>
          <a:p>
            <a:pPr marL="1296000" lvl="2" indent="-288000">
              <a:lnSpc>
                <a:spcPct val="120000"/>
              </a:lnSpc>
              <a:spcBef>
                <a:spcPts val="850"/>
              </a:spcBef>
              <a:buClr>
                <a:srgbClr val="FFFFFF"/>
              </a:buClr>
              <a:buSzPct val="45000"/>
              <a:buFont typeface="Wingdings" charset="2"/>
              <a:buChar char=""/>
            </a:pPr>
            <a:r>
              <a:rPr lang="de-DE" sz="1400" b="0" strike="noStrike" spc="-1">
                <a:solidFill>
                  <a:schemeClr val="dk1"/>
                </a:solidFill>
                <a:latin typeface="Noto Sans"/>
              </a:rPr>
              <a:t>Third Outline Level</a:t>
            </a:r>
          </a:p>
          <a:p>
            <a:pPr marL="1728000" lvl="3" indent="-216000">
              <a:lnSpc>
                <a:spcPct val="120000"/>
              </a:lnSpc>
              <a:spcBef>
                <a:spcPts val="567"/>
              </a:spcBef>
              <a:buClr>
                <a:srgbClr val="FFFFFF"/>
              </a:buClr>
              <a:buSzPct val="75000"/>
              <a:buFont typeface="Symbol" charset="2"/>
              <a:buChar char=""/>
            </a:pPr>
            <a:r>
              <a:rPr lang="de-DE" sz="1400" b="0" strike="noStrike" spc="-1">
                <a:solidFill>
                  <a:schemeClr val="dk1"/>
                </a:solidFill>
                <a:latin typeface="Noto Sans"/>
              </a:rPr>
              <a:t>Fourth Outline Level</a:t>
            </a:r>
          </a:p>
          <a:p>
            <a:pPr marL="2160000" lvl="4"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Fifth Outline Level</a:t>
            </a:r>
          </a:p>
          <a:p>
            <a:pPr marL="2592000" lvl="5"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Sixth Outline Level</a:t>
            </a:r>
          </a:p>
          <a:p>
            <a:pPr marL="3024000" lvl="6"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Seventh Outline Level</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37" name="PlaceHolder 2"/>
          <p:cNvSpPr>
            <a:spLocks noGrp="1"/>
          </p:cNvSpPr>
          <p:nvPr>
            <p:ph type="title"/>
          </p:nvPr>
        </p:nvSpPr>
        <p:spPr>
          <a:xfrm>
            <a:off x="334800" y="339120"/>
            <a:ext cx="6164640" cy="6150240"/>
          </a:xfrm>
          <a:prstGeom prst="rect">
            <a:avLst/>
          </a:prstGeom>
          <a:solidFill>
            <a:schemeClr val="accent2"/>
          </a:solidFill>
          <a:ln w="0">
            <a:noFill/>
          </a:ln>
        </p:spPr>
        <p:txBody>
          <a:bodyPr lIns="432000" tIns="2772000" rIns="432000" bIns="0" anchor="t">
            <a:noAutofit/>
          </a:bodyPr>
          <a:lstStyle/>
          <a:p>
            <a:pPr indent="0" defTabSz="914400">
              <a:lnSpc>
                <a:spcPct val="100000"/>
              </a:lnSpc>
              <a:buNone/>
            </a:pPr>
            <a:r>
              <a:rPr lang="de-DE" sz="3000" b="0" strike="noStrike" spc="-1">
                <a:solidFill>
                  <a:schemeClr val="dk1"/>
                </a:solidFill>
                <a:latin typeface="Noto Sans"/>
              </a:rPr>
              <a:t>Mastertitelformat bearbeiten</a:t>
            </a:r>
          </a:p>
        </p:txBody>
      </p:sp>
      <p:sp>
        <p:nvSpPr>
          <p:cNvPr id="38" name="PlaceHolder 3"/>
          <p:cNvSpPr>
            <a:spLocks noGrp="1"/>
          </p:cNvSpPr>
          <p:nvPr>
            <p:ph type="body"/>
          </p:nvPr>
        </p:nvSpPr>
        <p:spPr>
          <a:xfrm rot="16200000">
            <a:off x="9109440" y="3083760"/>
            <a:ext cx="58294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
        <p:nvSpPr>
          <p:cNvPr id="39" name="PlaceHolder 4"/>
          <p:cNvSpPr>
            <a:spLocks noGrp="1"/>
          </p:cNvSpPr>
          <p:nvPr>
            <p:ph type="body"/>
          </p:nvPr>
        </p:nvSpPr>
        <p:spPr>
          <a:xfrm>
            <a:off x="10878120" y="335880"/>
            <a:ext cx="982800" cy="1382040"/>
          </a:xfrm>
          <a:prstGeom prst="rect">
            <a:avLst/>
          </a:prstGeom>
          <a:solidFill>
            <a:schemeClr val="lt1"/>
          </a:solidFill>
          <a:ln w="0">
            <a:noFill/>
          </a:ln>
        </p:spPr>
        <p:txBody>
          <a:bodyPr lIns="0" tIns="0" rIns="0" bIns="0" anchor="t">
            <a:noAutofit/>
          </a:bodyPr>
          <a:lstStyle/>
          <a:p>
            <a:pPr indent="0" defTabSz="914400">
              <a:lnSpc>
                <a:spcPct val="120000"/>
              </a:lnSpc>
              <a:buNone/>
              <a:tabLst>
                <a:tab pos="0" algn="l"/>
              </a:tabLst>
            </a:pPr>
            <a:r>
              <a:rPr lang="de-DE" sz="600" b="0" strike="noStrike" spc="-1">
                <a:solidFill>
                  <a:schemeClr val="lt1"/>
                </a:solidFill>
                <a:latin typeface="Noto Sans"/>
              </a:rPr>
              <a:t> </a:t>
            </a:r>
            <a:endParaRPr lang="de-DE" sz="6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7056000" y="2187000"/>
            <a:ext cx="4368600" cy="2598120"/>
          </a:xfrm>
          <a:prstGeom prst="rect">
            <a:avLst/>
          </a:prstGeom>
          <a:noFill/>
          <a:ln w="0">
            <a:noFill/>
          </a:ln>
        </p:spPr>
        <p:txBody>
          <a:bodyPr lIns="0" tIns="0" rIns="0" bIns="0" anchor="t">
            <a:noAutofit/>
          </a:bodyPr>
          <a:lstStyle/>
          <a:p>
            <a:pPr indent="0" defTabSz="914400">
              <a:lnSpc>
                <a:spcPct val="100000"/>
              </a:lnSpc>
              <a:buNone/>
            </a:pPr>
            <a:r>
              <a:rPr lang="de-DE" sz="4200" b="0" strike="noStrike" spc="-1">
                <a:solidFill>
                  <a:schemeClr val="lt1"/>
                </a:solidFill>
                <a:latin typeface="Noto Sans"/>
              </a:rPr>
              <a:t>Mastertitelformat bearbeiten</a:t>
            </a:r>
            <a:endParaRPr lang="de-DE" sz="4200" b="0" strike="noStrike" spc="-1">
              <a:solidFill>
                <a:schemeClr val="dk1"/>
              </a:solidFill>
              <a:latin typeface="Noto Sans"/>
            </a:endParaRPr>
          </a:p>
        </p:txBody>
      </p:sp>
      <p:sp>
        <p:nvSpPr>
          <p:cNvPr id="41" name="PlaceHolder 2"/>
          <p:cNvSpPr>
            <a:spLocks noGrp="1"/>
          </p:cNvSpPr>
          <p:nvPr>
            <p:ph type="body"/>
          </p:nvPr>
        </p:nvSpPr>
        <p:spPr>
          <a:xfrm>
            <a:off x="7056000" y="5524560"/>
            <a:ext cx="4368600" cy="815040"/>
          </a:xfrm>
          <a:prstGeom prst="rect">
            <a:avLst/>
          </a:prstGeom>
          <a:noFill/>
          <a:ln w="0">
            <a:noFill/>
          </a:ln>
        </p:spPr>
        <p:txBody>
          <a:bodyPr lIns="0" tIns="0" rIns="0" bIns="0" anchor="b">
            <a:noAutofit/>
          </a:bodyPr>
          <a:lstStyle/>
          <a:p>
            <a:pPr indent="0" defTabSz="914400">
              <a:lnSpc>
                <a:spcPct val="120000"/>
              </a:lnSpc>
              <a:spcBef>
                <a:spcPts val="400"/>
              </a:spcBef>
              <a:buNone/>
              <a:tabLst>
                <a:tab pos="0" algn="l"/>
              </a:tabLst>
            </a:pPr>
            <a:r>
              <a:rPr lang="de-DE" sz="1200" b="0" strike="noStrike" spc="-1">
                <a:solidFill>
                  <a:schemeClr val="lt1"/>
                </a:solidFill>
                <a:latin typeface="Noto Sans"/>
              </a:rPr>
              <a:t>Mastertextformat bearbeiten</a:t>
            </a:r>
            <a:endParaRPr lang="de-DE" sz="1200" b="0" strike="noStrike" spc="-1">
              <a:solidFill>
                <a:schemeClr val="dk1"/>
              </a:solidFill>
              <a:latin typeface="Noto Sans"/>
            </a:endParaRPr>
          </a:p>
        </p:txBody>
      </p:sp>
      <p:sp>
        <p:nvSpPr>
          <p:cNvPr id="42" name="PlaceHolder 3"/>
          <p:cNvSpPr>
            <a:spLocks noGrp="1"/>
          </p:cNvSpPr>
          <p:nvPr>
            <p:ph type="body"/>
          </p:nvPr>
        </p:nvSpPr>
        <p:spPr>
          <a:xfrm>
            <a:off x="334800" y="339120"/>
            <a:ext cx="6164640" cy="61502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FFFFFF"/>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FFFFFF"/>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FFFFFF"/>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FFFFFF"/>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FFFFFF"/>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FFFFFF"/>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FFFFFF"/>
              </a:buClr>
              <a:buSzPct val="45000"/>
              <a:buFont typeface="Wingdings" charset="2"/>
              <a:buChar char=""/>
            </a:pPr>
            <a:r>
              <a:rPr lang="de-DE" sz="1800" b="0" strike="noStrike" spc="-1">
                <a:solidFill>
                  <a:schemeClr val="dk1"/>
                </a:solidFill>
                <a:latin typeface="Noto Sans"/>
              </a:rPr>
              <a:t>Seventh Outline Level</a:t>
            </a:r>
          </a:p>
        </p:txBody>
      </p:sp>
      <p:sp>
        <p:nvSpPr>
          <p:cNvPr id="43" name="PlaceHolder 4"/>
          <p:cNvSpPr>
            <a:spLocks noGrp="1"/>
          </p:cNvSpPr>
          <p:nvPr>
            <p:ph type="body"/>
          </p:nvPr>
        </p:nvSpPr>
        <p:spPr>
          <a:xfrm>
            <a:off x="334800" y="6489720"/>
            <a:ext cx="11521800" cy="367920"/>
          </a:xfrm>
          <a:prstGeom prst="rect">
            <a:avLst/>
          </a:prstGeom>
          <a:noFill/>
          <a:ln w="0">
            <a:noFill/>
          </a:ln>
        </p:spPr>
        <p:txBody>
          <a:bodyPr lIns="0" tIns="36000" rIns="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
        <p:nvSpPr>
          <p:cNvPr id="44" name="Freihandform: Form 5"/>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cxn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de-DE" sz="18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46" name="PlaceHolder 2"/>
          <p:cNvSpPr>
            <a:spLocks noGrp="1"/>
          </p:cNvSpPr>
          <p:nvPr>
            <p:ph type="title"/>
          </p:nvPr>
        </p:nvSpPr>
        <p:spPr>
          <a:xfrm>
            <a:off x="334800" y="339120"/>
            <a:ext cx="6164640" cy="6150240"/>
          </a:xfrm>
          <a:prstGeom prst="rect">
            <a:avLst/>
          </a:prstGeom>
          <a:solidFill>
            <a:schemeClr val="lt1"/>
          </a:solidFill>
          <a:ln w="0">
            <a:noFill/>
          </a:ln>
        </p:spPr>
        <p:txBody>
          <a:bodyPr lIns="288000" tIns="1944000" rIns="0" bIns="0" anchor="t">
            <a:noAutofit/>
          </a:bodyPr>
          <a:lstStyle/>
          <a:p>
            <a:pPr indent="0" defTabSz="914400">
              <a:lnSpc>
                <a:spcPct val="100000"/>
              </a:lnSpc>
              <a:buNone/>
            </a:pPr>
            <a:r>
              <a:rPr lang="de-DE" sz="3600" b="0" strike="noStrike" spc="-1">
                <a:solidFill>
                  <a:schemeClr val="dk1"/>
                </a:solidFill>
                <a:latin typeface="Noto Sans"/>
              </a:rPr>
              <a:t>Mastertitelformat bearbeiten</a:t>
            </a:r>
          </a:p>
        </p:txBody>
      </p:sp>
      <p:sp>
        <p:nvSpPr>
          <p:cNvPr id="47" name="PlaceHolder 3"/>
          <p:cNvSpPr>
            <a:spLocks noGrp="1"/>
          </p:cNvSpPr>
          <p:nvPr>
            <p:ph type="body"/>
          </p:nvPr>
        </p:nvSpPr>
        <p:spPr>
          <a:xfrm>
            <a:off x="642600" y="5391000"/>
            <a:ext cx="5452920" cy="815040"/>
          </a:xfrm>
          <a:prstGeom prst="rect">
            <a:avLst/>
          </a:prstGeom>
          <a:noFill/>
          <a:ln w="0">
            <a:noFill/>
          </a:ln>
        </p:spPr>
        <p:txBody>
          <a:bodyPr lIns="0" tIns="0" rIns="0" bIns="0" anchor="b">
            <a:noAutofit/>
          </a:bodyPr>
          <a:lstStyle/>
          <a:p>
            <a:pPr indent="0" defTabSz="914400">
              <a:lnSpc>
                <a:spcPct val="120000"/>
              </a:lnSpc>
              <a:spcBef>
                <a:spcPts val="400"/>
              </a:spcBef>
              <a:buNone/>
              <a:tabLst>
                <a:tab pos="0" algn="l"/>
              </a:tabLst>
            </a:pPr>
            <a:r>
              <a:rPr lang="de-DE" sz="1200" b="0" strike="noStrike" spc="-1">
                <a:solidFill>
                  <a:schemeClr val="accent1"/>
                </a:solidFill>
                <a:latin typeface="Noto Sans"/>
              </a:rPr>
              <a:t>Mastertextformat bearbeiten</a:t>
            </a:r>
            <a:endParaRPr lang="de-DE" sz="1200" b="0" strike="noStrike" spc="-1">
              <a:solidFill>
                <a:schemeClr val="dk1"/>
              </a:solidFill>
              <a:latin typeface="Noto Sans"/>
            </a:endParaRPr>
          </a:p>
        </p:txBody>
      </p:sp>
      <p:sp>
        <p:nvSpPr>
          <p:cNvPr id="48" name="PlaceHolder 4"/>
          <p:cNvSpPr>
            <a:spLocks noGrp="1"/>
          </p:cNvSpPr>
          <p:nvPr>
            <p:ph type="body"/>
          </p:nvPr>
        </p:nvSpPr>
        <p:spPr>
          <a:xfrm rot="16200000">
            <a:off x="9109440" y="3083760"/>
            <a:ext cx="58294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
        <p:nvSpPr>
          <p:cNvPr id="49" name="PlaceHolder 5"/>
          <p:cNvSpPr>
            <a:spLocks noGrp="1"/>
          </p:cNvSpPr>
          <p:nvPr>
            <p:ph type="body"/>
          </p:nvPr>
        </p:nvSpPr>
        <p:spPr>
          <a:xfrm>
            <a:off x="10878120" y="335880"/>
            <a:ext cx="982800" cy="1382040"/>
          </a:xfrm>
          <a:prstGeom prst="rect">
            <a:avLst/>
          </a:prstGeom>
          <a:solidFill>
            <a:schemeClr val="lt1"/>
          </a:solidFill>
          <a:ln w="0">
            <a:noFill/>
          </a:ln>
        </p:spPr>
        <p:txBody>
          <a:bodyPr lIns="0" tIns="0" rIns="0" bIns="0" anchor="t">
            <a:noAutofit/>
          </a:bodyPr>
          <a:lstStyle/>
          <a:p>
            <a:pPr indent="0" defTabSz="914400">
              <a:lnSpc>
                <a:spcPct val="120000"/>
              </a:lnSpc>
              <a:buNone/>
              <a:tabLst>
                <a:tab pos="0" algn="l"/>
              </a:tabLst>
            </a:pPr>
            <a:r>
              <a:rPr lang="de-DE" sz="600" b="0" strike="noStrike" spc="-1">
                <a:solidFill>
                  <a:schemeClr val="lt1"/>
                </a:solidFill>
                <a:latin typeface="Noto Sans"/>
              </a:rPr>
              <a:t> </a:t>
            </a:r>
            <a:endParaRPr lang="de-DE" sz="6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766800" y="333360"/>
            <a:ext cx="106581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51" name="PlaceHolder 2"/>
          <p:cNvSpPr>
            <a:spLocks noGrp="1"/>
          </p:cNvSpPr>
          <p:nvPr>
            <p:ph type="body"/>
          </p:nvPr>
        </p:nvSpPr>
        <p:spPr>
          <a:xfrm>
            <a:off x="766800" y="1665360"/>
            <a:ext cx="10658160" cy="4500360"/>
          </a:xfrm>
          <a:prstGeom prst="rect">
            <a:avLst/>
          </a:prstGeom>
          <a:noFill/>
          <a:ln w="0">
            <a:noFill/>
          </a:ln>
        </p:spPr>
        <p:txBody>
          <a:bodyPr lIns="0" tIns="0" rIns="0" bIns="0" anchor="t">
            <a:noAutofit/>
          </a:bodyPr>
          <a:lstStyle/>
          <a:p>
            <a:pPr marL="358920" indent="-358920" defTabSz="914400">
              <a:lnSpc>
                <a:spcPct val="120000"/>
              </a:lnSpc>
              <a:buClr>
                <a:srgbClr val="000000"/>
              </a:buClr>
              <a:buFont typeface="Noto Sans"/>
              <a:buAutoNum type="arabicPeriod"/>
            </a:pPr>
            <a:r>
              <a:rPr lang="de-DE" sz="2000" b="0" strike="noStrike" spc="-1">
                <a:solidFill>
                  <a:schemeClr val="dk1"/>
                </a:solidFill>
                <a:latin typeface="Noto Sans"/>
              </a:rPr>
              <a:t>Mastertextformat bearbeiten</a:t>
            </a:r>
          </a:p>
          <a:p>
            <a:pPr marL="541440" lvl="1" indent="-182520" defTabSz="914400">
              <a:lnSpc>
                <a:spcPct val="120000"/>
              </a:lnSpc>
              <a:buClr>
                <a:srgbClr val="000000"/>
              </a:buClr>
              <a:buFont typeface="Noto Sans"/>
              <a:buChar char="‒"/>
            </a:pPr>
            <a:r>
              <a:rPr lang="de-DE" sz="2000" b="0" strike="noStrike" spc="-1">
                <a:solidFill>
                  <a:schemeClr val="dk1"/>
                </a:solidFill>
                <a:latin typeface="Noto Sans"/>
              </a:rPr>
              <a:t>Zweite Ebene</a:t>
            </a:r>
          </a:p>
          <a:p>
            <a:pPr marL="716040" lvl="2" indent="-174600" defTabSz="914400">
              <a:lnSpc>
                <a:spcPct val="120000"/>
              </a:lnSpc>
              <a:buClr>
                <a:srgbClr val="000000"/>
              </a:buClr>
              <a:buFont typeface="Noto Sans"/>
              <a:buChar char="‒"/>
            </a:pPr>
            <a:r>
              <a:rPr lang="de-DE" sz="2000" b="0" strike="noStrike" spc="-1">
                <a:solidFill>
                  <a:schemeClr val="dk1"/>
                </a:solidFill>
                <a:latin typeface="Noto Sans"/>
              </a:rPr>
              <a:t>Dritte Ebene</a:t>
            </a:r>
          </a:p>
          <a:p>
            <a:pPr marL="898560" lvl="3" indent="-181080" defTabSz="914400">
              <a:lnSpc>
                <a:spcPct val="120000"/>
              </a:lnSpc>
              <a:buClr>
                <a:srgbClr val="000000"/>
              </a:buClr>
              <a:buFont typeface="Noto Sans"/>
              <a:buChar char="‒"/>
            </a:pPr>
            <a:r>
              <a:rPr lang="de-DE" sz="2000" b="0" strike="noStrike" spc="-1">
                <a:solidFill>
                  <a:schemeClr val="dk1"/>
                </a:solidFill>
                <a:latin typeface="Noto Sans"/>
              </a:rPr>
              <a:t>Vierte Ebene</a:t>
            </a:r>
          </a:p>
          <a:p>
            <a:pPr marL="1074600" lvl="4" indent="-176040" defTabSz="914400">
              <a:lnSpc>
                <a:spcPct val="120000"/>
              </a:lnSpc>
              <a:buClr>
                <a:srgbClr val="000000"/>
              </a:buClr>
              <a:buFont typeface="Noto Sans"/>
              <a:buChar char="‒"/>
            </a:pPr>
            <a:r>
              <a:rPr lang="de-DE" sz="2000" b="0" strike="noStrike" spc="-1">
                <a:solidFill>
                  <a:schemeClr val="dk1"/>
                </a:solidFill>
                <a:latin typeface="Noto Sans"/>
              </a:rPr>
              <a:t>Fünfte Ebene</a:t>
            </a:r>
          </a:p>
        </p:txBody>
      </p:sp>
      <p:sp>
        <p:nvSpPr>
          <p:cNvPr id="52" name="PlaceHolder 3"/>
          <p:cNvSpPr>
            <a:spLocks noGrp="1"/>
          </p:cNvSpPr>
          <p:nvPr>
            <p:ph type="ftr" idx="13"/>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53" name="PlaceHolder 4">
            <a:extLst>
              <a:ext uri="{C183D7F6-B498-43B3-948B-1728B52AA6E4}">
                <adec:decorative xmlns:adec="http://schemas.microsoft.com/office/drawing/2017/decorative" val="1"/>
              </a:ext>
            </a:extLst>
          </p:cNvPr>
          <p:cNvSpPr>
            <a:spLocks noGrp="1"/>
          </p:cNvSpPr>
          <p:nvPr>
            <p:ph type="sldNum" idx="14"/>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B068272C-92FB-4737-BEB0-45482F397C4E}"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766800" y="798120"/>
            <a:ext cx="10658160" cy="2159640"/>
          </a:xfrm>
          <a:prstGeom prst="rect">
            <a:avLst/>
          </a:prstGeom>
          <a:noFill/>
          <a:ln w="0">
            <a:noFill/>
          </a:ln>
        </p:spPr>
        <p:txBody>
          <a:bodyPr lIns="0" tIns="0" rIns="0" bIns="0" anchor="t">
            <a:noAutofit/>
          </a:bodyPr>
          <a:lstStyle/>
          <a:p>
            <a:pPr indent="0" defTabSz="914400">
              <a:lnSpc>
                <a:spcPct val="105000"/>
              </a:lnSpc>
              <a:buNone/>
            </a:pPr>
            <a:r>
              <a:rPr lang="de-DE" sz="3600" b="0" strike="noStrike" spc="-1">
                <a:solidFill>
                  <a:schemeClr val="lt1"/>
                </a:solidFill>
                <a:latin typeface="Noto Sans"/>
              </a:rPr>
              <a:t>Mastertitelformat bearbeiten</a:t>
            </a:r>
            <a:endParaRPr lang="de-DE" sz="3600" b="0" strike="noStrike" spc="-1">
              <a:solidFill>
                <a:schemeClr val="dk1"/>
              </a:solidFill>
              <a:latin typeface="Noto Sans"/>
            </a:endParaRPr>
          </a:p>
        </p:txBody>
      </p:sp>
      <p:sp>
        <p:nvSpPr>
          <p:cNvPr id="57" name="PlaceHolder 2"/>
          <p:cNvSpPr>
            <a:spLocks noGrp="1"/>
          </p:cNvSpPr>
          <p:nvPr>
            <p:ph type="ftr" idx="15"/>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lt1"/>
                </a:solidFill>
                <a:latin typeface="Noto Sans"/>
              </a:defRPr>
            </a:lvl1pPr>
          </a:lstStyle>
          <a:p>
            <a:pPr indent="0" defTabSz="914400">
              <a:lnSpc>
                <a:spcPct val="100000"/>
              </a:lnSpc>
              <a:buNone/>
            </a:pPr>
            <a:r>
              <a:rPr lang="de-DE" sz="800" b="0" strike="noStrike" spc="-1">
                <a:solidFill>
                  <a:schemeClr val="lt1"/>
                </a:solidFill>
                <a:latin typeface="Noto Sans"/>
              </a:rPr>
              <a:t>&lt;footer&gt;</a:t>
            </a:r>
            <a:endParaRPr lang="en-US" sz="800" b="0" strike="noStrike" spc="-1">
              <a:solidFill>
                <a:srgbClr val="FFFFFF"/>
              </a:solidFill>
              <a:latin typeface="Times New Roman"/>
            </a:endParaRPr>
          </a:p>
        </p:txBody>
      </p:sp>
      <p:sp>
        <p:nvSpPr>
          <p:cNvPr id="58" name="PlaceHolder 3">
            <a:extLst>
              <a:ext uri="{C183D7F6-B498-43B3-948B-1728B52AA6E4}">
                <adec:decorative xmlns:adec="http://schemas.microsoft.com/office/drawing/2017/decorative" val="1"/>
              </a:ext>
            </a:extLst>
          </p:cNvPr>
          <p:cNvSpPr>
            <a:spLocks noGrp="1"/>
          </p:cNvSpPr>
          <p:nvPr>
            <p:ph type="sldNum" idx="16"/>
          </p:nvPr>
        </p:nvSpPr>
        <p:spPr>
          <a:xfrm>
            <a:off x="11522880" y="6489720"/>
            <a:ext cx="333720" cy="177480"/>
          </a:xfrm>
          <a:prstGeom prst="rect">
            <a:avLst/>
          </a:prstGeom>
          <a:noFill/>
          <a:ln w="6480">
            <a:solidFill>
              <a:schemeClr val="lt1"/>
            </a:solidFill>
            <a:round/>
          </a:ln>
        </p:spPr>
        <p:txBody>
          <a:bodyPr lIns="0" tIns="0" rIns="0" bIns="0" anchor="ctr">
            <a:noAutofit/>
          </a:bodyPr>
          <a:lstStyle>
            <a:lvl1pPr indent="0" algn="ctr" defTabSz="914400">
              <a:lnSpc>
                <a:spcPct val="100000"/>
              </a:lnSpc>
              <a:buNone/>
              <a:defRPr lang="de-DE" sz="800" b="0" strike="noStrike" spc="-1">
                <a:solidFill>
                  <a:schemeClr val="lt1"/>
                </a:solidFill>
                <a:latin typeface="Noto Sans"/>
              </a:defRPr>
            </a:lvl1pPr>
          </a:lstStyle>
          <a:p>
            <a:pPr indent="0" algn="ctr" defTabSz="914400">
              <a:lnSpc>
                <a:spcPct val="100000"/>
              </a:lnSpc>
              <a:buNone/>
            </a:pPr>
            <a:fld id="{C3958A9C-0ED0-4EF5-8373-600324907169}" type="slidenum">
              <a:rPr lang="de-DE" sz="800" b="0" strike="noStrike" spc="-1">
                <a:solidFill>
                  <a:schemeClr val="lt1"/>
                </a:solidFill>
                <a:latin typeface="Noto Sans"/>
              </a:rPr>
              <a:t>‹Nr.›</a:t>
            </a:fld>
            <a:endParaRPr lang="en-US" sz="800" b="0" strike="noStrike" spc="-1">
              <a:solidFill>
                <a:srgbClr val="FFFFFF"/>
              </a:solidFill>
              <a:latin typeface="Times New Roman"/>
            </a:endParaRPr>
          </a:p>
        </p:txBody>
      </p:sp>
      <p:sp>
        <p:nvSpPr>
          <p:cNvPr id="59" name="PlaceHolder 4"/>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120000"/>
              </a:lnSpc>
              <a:spcBef>
                <a:spcPts val="1417"/>
              </a:spcBef>
              <a:buClr>
                <a:srgbClr val="FFFFFF"/>
              </a:buClr>
              <a:buSzPct val="45000"/>
              <a:buFont typeface="Wingdings" charset="2"/>
              <a:buChar char=""/>
            </a:pPr>
            <a:r>
              <a:rPr lang="de-DE" sz="1400" b="0" strike="noStrike" spc="-1">
                <a:solidFill>
                  <a:schemeClr val="dk1"/>
                </a:solidFill>
                <a:latin typeface="Noto Sans"/>
              </a:rPr>
              <a:t>Click to edit the outline text format</a:t>
            </a:r>
          </a:p>
          <a:p>
            <a:pPr marL="864000" lvl="1" indent="-324000">
              <a:lnSpc>
                <a:spcPct val="120000"/>
              </a:lnSpc>
              <a:spcBef>
                <a:spcPts val="1134"/>
              </a:spcBef>
              <a:buClr>
                <a:srgbClr val="FFFFFF"/>
              </a:buClr>
              <a:buSzPct val="75000"/>
              <a:buFont typeface="Symbol" charset="2"/>
              <a:buChar char=""/>
            </a:pPr>
            <a:r>
              <a:rPr lang="de-DE" sz="1400" b="0" strike="noStrike" spc="-1">
                <a:solidFill>
                  <a:schemeClr val="dk1"/>
                </a:solidFill>
                <a:latin typeface="Noto Sans"/>
              </a:rPr>
              <a:t>Second Outline Level</a:t>
            </a:r>
          </a:p>
          <a:p>
            <a:pPr marL="1296000" lvl="2" indent="-288000">
              <a:lnSpc>
                <a:spcPct val="120000"/>
              </a:lnSpc>
              <a:spcBef>
                <a:spcPts val="850"/>
              </a:spcBef>
              <a:buClr>
                <a:srgbClr val="FFFFFF"/>
              </a:buClr>
              <a:buSzPct val="45000"/>
              <a:buFont typeface="Wingdings" charset="2"/>
              <a:buChar char=""/>
            </a:pPr>
            <a:r>
              <a:rPr lang="de-DE" sz="1400" b="0" strike="noStrike" spc="-1">
                <a:solidFill>
                  <a:schemeClr val="dk1"/>
                </a:solidFill>
                <a:latin typeface="Noto Sans"/>
              </a:rPr>
              <a:t>Third Outline Level</a:t>
            </a:r>
          </a:p>
          <a:p>
            <a:pPr marL="1728000" lvl="3" indent="-216000">
              <a:lnSpc>
                <a:spcPct val="120000"/>
              </a:lnSpc>
              <a:spcBef>
                <a:spcPts val="567"/>
              </a:spcBef>
              <a:buClr>
                <a:srgbClr val="FFFFFF"/>
              </a:buClr>
              <a:buSzPct val="75000"/>
              <a:buFont typeface="Symbol" charset="2"/>
              <a:buChar char=""/>
            </a:pPr>
            <a:r>
              <a:rPr lang="de-DE" sz="1400" b="0" strike="noStrike" spc="-1">
                <a:solidFill>
                  <a:schemeClr val="dk1"/>
                </a:solidFill>
                <a:latin typeface="Noto Sans"/>
              </a:rPr>
              <a:t>Fourth Outline Level</a:t>
            </a:r>
          </a:p>
          <a:p>
            <a:pPr marL="2160000" lvl="4"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Fifth Outline Level</a:t>
            </a:r>
          </a:p>
          <a:p>
            <a:pPr marL="2592000" lvl="5"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Sixth Outline Level</a:t>
            </a:r>
          </a:p>
          <a:p>
            <a:pPr marL="3024000" lvl="6"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Seventh Outline Level</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 name="PlaceHolder 1"/>
          <p:cNvSpPr>
            <a:spLocks noGrp="1"/>
          </p:cNvSpPr>
          <p:nvPr>
            <p:ph type="body"/>
          </p:nvPr>
        </p:nvSpPr>
        <p:spPr>
          <a:xfrm>
            <a:off x="5616000" y="0"/>
            <a:ext cx="6575760" cy="68576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62" name="PlaceHolder 2"/>
          <p:cNvSpPr>
            <a:spLocks noGrp="1"/>
          </p:cNvSpPr>
          <p:nvPr>
            <p:ph type="title"/>
          </p:nvPr>
        </p:nvSpPr>
        <p:spPr>
          <a:xfrm>
            <a:off x="766800" y="798120"/>
            <a:ext cx="4513680" cy="2159640"/>
          </a:xfrm>
          <a:prstGeom prst="rect">
            <a:avLst/>
          </a:prstGeom>
          <a:noFill/>
          <a:ln w="0">
            <a:noFill/>
          </a:ln>
        </p:spPr>
        <p:txBody>
          <a:bodyPr lIns="0" tIns="0" rIns="0" bIns="0" anchor="t">
            <a:noAutofit/>
          </a:bodyPr>
          <a:lstStyle/>
          <a:p>
            <a:pPr indent="0" defTabSz="914400">
              <a:lnSpc>
                <a:spcPct val="105000"/>
              </a:lnSpc>
              <a:buNone/>
            </a:pPr>
            <a:r>
              <a:rPr lang="de-DE" sz="3600" b="0" strike="noStrike" spc="-1">
                <a:solidFill>
                  <a:schemeClr val="dk1"/>
                </a:solidFill>
                <a:latin typeface="Noto Sans"/>
              </a:rPr>
              <a:t>Mastertitelformat bearbeiten</a:t>
            </a:r>
          </a:p>
        </p:txBody>
      </p:sp>
      <p:sp>
        <p:nvSpPr>
          <p:cNvPr id="63" name="PlaceHolder 3"/>
          <p:cNvSpPr>
            <a:spLocks noGrp="1"/>
          </p:cNvSpPr>
          <p:nvPr>
            <p:ph type="ftr" idx="17"/>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64" name="PlaceHolder 4">
            <a:extLst>
              <a:ext uri="{C183D7F6-B498-43B3-948B-1728B52AA6E4}">
                <adec:decorative xmlns:adec="http://schemas.microsoft.com/office/drawing/2017/decorative" val="1"/>
              </a:ext>
            </a:extLst>
          </p:cNvPr>
          <p:cNvSpPr>
            <a:spLocks noGrp="1"/>
          </p:cNvSpPr>
          <p:nvPr>
            <p:ph type="sldNum" idx="18"/>
          </p:nvPr>
        </p:nvSpPr>
        <p:spPr>
          <a:xfrm>
            <a:off x="11522880" y="6489720"/>
            <a:ext cx="333720" cy="177480"/>
          </a:xfrm>
          <a:prstGeom prst="rect">
            <a:avLst/>
          </a:prstGeom>
          <a:noFill/>
          <a:ln w="6480">
            <a:solidFill>
              <a:schemeClr val="lt1"/>
            </a:solidFill>
            <a:round/>
          </a:ln>
        </p:spPr>
        <p:txBody>
          <a:bodyPr lIns="0" tIns="0" rIns="0" bIns="0" anchor="ctr">
            <a:noAutofit/>
          </a:bodyPr>
          <a:lstStyle>
            <a:lvl1pPr indent="0" algn="ctr" defTabSz="914400">
              <a:lnSpc>
                <a:spcPct val="100000"/>
              </a:lnSpc>
              <a:buNone/>
              <a:defRPr lang="de-DE" sz="800" b="0" strike="noStrike" spc="-1">
                <a:solidFill>
                  <a:schemeClr val="lt1"/>
                </a:solidFill>
                <a:latin typeface="Noto Sans"/>
              </a:defRPr>
            </a:lvl1pPr>
          </a:lstStyle>
          <a:p>
            <a:pPr indent="0" algn="ctr" defTabSz="914400">
              <a:lnSpc>
                <a:spcPct val="100000"/>
              </a:lnSpc>
              <a:buNone/>
            </a:pPr>
            <a:fld id="{B3C5C7C1-3E10-4DAC-B9A3-65D4831B01CF}" type="slidenum">
              <a:rPr lang="de-DE" sz="800" b="0" strike="noStrike" spc="-1">
                <a:solidFill>
                  <a:schemeClr val="lt1"/>
                </a:solidFill>
                <a:latin typeface="Noto Sans"/>
              </a:rPr>
              <a:t>‹Nr.›</a:t>
            </a:fld>
            <a:endParaRPr lang="en-US" sz="800" b="0" strike="noStrike" spc="-1">
              <a:solidFill>
                <a:srgbClr val="000000"/>
              </a:solidFill>
              <a:latin typeface="Times New Roman"/>
            </a:endParaRPr>
          </a:p>
        </p:txBody>
      </p:sp>
      <p:sp>
        <p:nvSpPr>
          <p:cNvPr id="65" name="PlaceHolder 5"/>
          <p:cNvSpPr>
            <a:spLocks noGrp="1"/>
          </p:cNvSpPr>
          <p:nvPr>
            <p:ph type="body"/>
          </p:nvPr>
        </p:nvSpPr>
        <p:spPr>
          <a:xfrm rot="16200000">
            <a:off x="9109440" y="3083760"/>
            <a:ext cx="58294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766800" y="333360"/>
            <a:ext cx="106581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67" name="PlaceHolder 2"/>
          <p:cNvSpPr>
            <a:spLocks noGrp="1"/>
          </p:cNvSpPr>
          <p:nvPr>
            <p:ph type="body"/>
          </p:nvPr>
        </p:nvSpPr>
        <p:spPr>
          <a:xfrm>
            <a:off x="766800" y="1665360"/>
            <a:ext cx="1065816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68" name="PlaceHolder 3"/>
          <p:cNvSpPr>
            <a:spLocks noGrp="1"/>
          </p:cNvSpPr>
          <p:nvPr>
            <p:ph type="ftr" idx="19"/>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69" name="PlaceHolder 4">
            <a:extLst>
              <a:ext uri="{C183D7F6-B498-43B3-948B-1728B52AA6E4}">
                <adec:decorative xmlns:adec="http://schemas.microsoft.com/office/drawing/2017/decorative" val="1"/>
              </a:ext>
            </a:extLst>
          </p:cNvPr>
          <p:cNvSpPr>
            <a:spLocks noGrp="1"/>
          </p:cNvSpPr>
          <p:nvPr>
            <p:ph type="sldNum" idx="20"/>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671E915D-BB54-459F-837B-30B1AC420EB8}"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7" r:id="rId1"/>
    <p:sldLayoutId id="2147483678"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766800" y="333360"/>
            <a:ext cx="106581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73" name="PlaceHolder 2"/>
          <p:cNvSpPr>
            <a:spLocks noGrp="1"/>
          </p:cNvSpPr>
          <p:nvPr>
            <p:ph type="body"/>
          </p:nvPr>
        </p:nvSpPr>
        <p:spPr>
          <a:xfrm>
            <a:off x="766800" y="1665360"/>
            <a:ext cx="511308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74" name="PlaceHolder 3"/>
          <p:cNvSpPr>
            <a:spLocks noGrp="1"/>
          </p:cNvSpPr>
          <p:nvPr>
            <p:ph type="body"/>
          </p:nvPr>
        </p:nvSpPr>
        <p:spPr>
          <a:xfrm>
            <a:off x="6311880" y="1665360"/>
            <a:ext cx="511308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75" name="PlaceHolder 4"/>
          <p:cNvSpPr>
            <a:spLocks noGrp="1"/>
          </p:cNvSpPr>
          <p:nvPr>
            <p:ph type="ftr" idx="21"/>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76" name="PlaceHolder 5">
            <a:extLst>
              <a:ext uri="{C183D7F6-B498-43B3-948B-1728B52AA6E4}">
                <adec:decorative xmlns:adec="http://schemas.microsoft.com/office/drawing/2017/decorative" val="1"/>
              </a:ext>
            </a:extLst>
          </p:cNvPr>
          <p:cNvSpPr>
            <a:spLocks noGrp="1"/>
          </p:cNvSpPr>
          <p:nvPr>
            <p:ph type="sldNum" idx="22"/>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4F6036CA-BC4F-43CB-AB26-C5616769B6DD}"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766800" y="333360"/>
            <a:ext cx="511308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80" name="PlaceHolder 2"/>
          <p:cNvSpPr>
            <a:spLocks noGrp="1"/>
          </p:cNvSpPr>
          <p:nvPr>
            <p:ph type="body"/>
          </p:nvPr>
        </p:nvSpPr>
        <p:spPr>
          <a:xfrm>
            <a:off x="766800" y="1665360"/>
            <a:ext cx="511308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81" name="PlaceHolder 3"/>
          <p:cNvSpPr>
            <a:spLocks noGrp="1"/>
          </p:cNvSpPr>
          <p:nvPr>
            <p:ph type="body"/>
          </p:nvPr>
        </p:nvSpPr>
        <p:spPr>
          <a:xfrm>
            <a:off x="6537960" y="333360"/>
            <a:ext cx="5318640" cy="529740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82" name="PlaceHolder 4"/>
          <p:cNvSpPr>
            <a:spLocks noGrp="1"/>
          </p:cNvSpPr>
          <p:nvPr>
            <p:ph type="ftr" idx="23"/>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83" name="PlaceHolder 5">
            <a:extLst>
              <a:ext uri="{C183D7F6-B498-43B3-948B-1728B52AA6E4}">
                <adec:decorative xmlns:adec="http://schemas.microsoft.com/office/drawing/2017/decorative" val="1"/>
              </a:ext>
            </a:extLst>
          </p:cNvPr>
          <p:cNvSpPr>
            <a:spLocks noGrp="1"/>
          </p:cNvSpPr>
          <p:nvPr>
            <p:ph type="sldNum" idx="24"/>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8F5FE087-2C2F-4E98-A2D4-33F2DCE8DA55}"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
        <p:nvSpPr>
          <p:cNvPr id="84" name="PlaceHolder 6"/>
          <p:cNvSpPr>
            <a:spLocks noGrp="1"/>
          </p:cNvSpPr>
          <p:nvPr>
            <p:ph type="body"/>
          </p:nvPr>
        </p:nvSpPr>
        <p:spPr>
          <a:xfrm rot="16200000">
            <a:off x="9041760" y="2816280"/>
            <a:ext cx="52948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8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1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audio" Target="../media/media1.mp3"/><Relationship Id="rId1" Type="http://schemas.microsoft.com/office/2007/relationships/media" Target="../media/media1.mp3"/><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5.xml"/><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5.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image" Target="../media/image15.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5.xml"/><Relationship Id="rId4" Type="http://schemas.openxmlformats.org/officeDocument/2006/relationships/image" Target="../media/image17.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5.xml"/><Relationship Id="rId4" Type="http://schemas.openxmlformats.org/officeDocument/2006/relationships/image" Target="../media/image19.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15.xml"/><Relationship Id="rId4" Type="http://schemas.openxmlformats.org/officeDocument/2006/relationships/image" Target="../media/image21.sv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15.xml"/><Relationship Id="rId4" Type="http://schemas.openxmlformats.org/officeDocument/2006/relationships/image" Target="../media/image23.sv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3.xml"/><Relationship Id="rId1" Type="http://schemas.openxmlformats.org/officeDocument/2006/relationships/slideLayout" Target="../slideLayouts/slideLayout15.xml"/><Relationship Id="rId4" Type="http://schemas.openxmlformats.org/officeDocument/2006/relationships/image" Target="../media/image25.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3" Type="http://schemas.openxmlformats.org/officeDocument/2006/relationships/hyperlink" Target="https://geomoer.github.io/moer-bsc-geodaten/unit09/unit09-04_assignment.html" TargetMode="External"/><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8" Type="http://schemas.openxmlformats.org/officeDocument/2006/relationships/hyperlink" Target="https://proj.org/en/stable/operations/projections/webmerc.html" TargetMode="External"/><Relationship Id="rId3" Type="http://schemas.openxmlformats.org/officeDocument/2006/relationships/hyperlink" Target="https://geomoer.github.io/moer-bsc-geodaten/unit09/unit09-00_overview.html" TargetMode="External"/><Relationship Id="rId7" Type="http://schemas.openxmlformats.org/officeDocument/2006/relationships/hyperlink" Target="https://proj.org/en/stable/operations/projections/cea.html" TargetMode="External"/><Relationship Id="rId2" Type="http://schemas.openxmlformats.org/officeDocument/2006/relationships/notesSlide" Target="../notesSlides/notesSlide39.xml"/><Relationship Id="rId1" Type="http://schemas.openxmlformats.org/officeDocument/2006/relationships/slideLayout" Target="../slideLayouts/slideLayout15.xml"/><Relationship Id="rId6" Type="http://schemas.openxmlformats.org/officeDocument/2006/relationships/hyperlink" Target="https://proj.org/en/stable/operations/projections/merc.html" TargetMode="External"/><Relationship Id="rId5" Type="http://schemas.openxmlformats.org/officeDocument/2006/relationships/hyperlink" Target="https://proj.org/en/stable/usage/quickstart.html" TargetMode="External"/><Relationship Id="rId4" Type="http://schemas.openxmlformats.org/officeDocument/2006/relationships/hyperlink" Target="https://proj.org/en/stable/faq.html"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1" name="Grafik 90"/>
          <p:cNvPicPr/>
          <p:nvPr/>
        </p:nvPicPr>
        <p:blipFill>
          <a:blip r:embed="rId3"/>
          <a:stretch/>
        </p:blipFill>
        <p:spPr>
          <a:xfrm>
            <a:off x="335160" y="2666880"/>
            <a:ext cx="4107240" cy="1407240"/>
          </a:xfrm>
          <a:prstGeom prst="rect">
            <a:avLst/>
          </a:prstGeom>
          <a:ln w="0">
            <a:noFill/>
          </a:ln>
        </p:spPr>
      </p:pic>
      <p:sp>
        <p:nvSpPr>
          <p:cNvPr id="92" name="Textfeld 91"/>
          <p:cNvSpPr txBox="1"/>
          <p:nvPr/>
        </p:nvSpPr>
        <p:spPr>
          <a:xfrm>
            <a:off x="4762440" y="2171880"/>
            <a:ext cx="6477120" cy="2286000"/>
          </a:xfrm>
          <a:prstGeom prst="rect">
            <a:avLst/>
          </a:prstGeom>
          <a:noFill/>
          <a:ln w="0">
            <a:noFill/>
          </a:ln>
        </p:spPr>
        <p:txBody>
          <a:bodyPr lIns="0" tIns="0" rIns="0" bIns="0" anchor="t">
            <a:noAutofit/>
          </a:bodyPr>
          <a:lstStyle/>
          <a:p>
            <a:r>
              <a:rPr lang="en-US" sz="4140" b="0" strike="noStrike" spc="-1" dirty="0" err="1">
                <a:solidFill>
                  <a:srgbClr val="FFFFFF"/>
                </a:solidFill>
                <a:latin typeface="Noto Sans"/>
              </a:rPr>
              <a:t>Arbeiten</a:t>
            </a:r>
            <a:r>
              <a:rPr lang="en-US" sz="4140" b="0" strike="noStrike" spc="-1" dirty="0">
                <a:solidFill>
                  <a:srgbClr val="FFFFFF"/>
                </a:solidFill>
                <a:latin typeface="Noto Sans"/>
              </a:rPr>
              <a:t> </a:t>
            </a:r>
            <a:r>
              <a:rPr lang="en-US" sz="4140" b="0" strike="noStrike" spc="-1" dirty="0" err="1">
                <a:solidFill>
                  <a:srgbClr val="FFFFFF"/>
                </a:solidFill>
                <a:latin typeface="Noto Sans"/>
              </a:rPr>
              <a:t>mit</a:t>
            </a:r>
            <a:r>
              <a:rPr lang="en-US" sz="4140" b="0" strike="noStrike" spc="-1" dirty="0">
                <a:solidFill>
                  <a:srgbClr val="FFFFFF"/>
                </a:solidFill>
                <a:latin typeface="Noto Sans"/>
              </a:rPr>
              <a:t> </a:t>
            </a:r>
            <a:r>
              <a:rPr lang="en-US" sz="4140" b="0" strike="noStrike" spc="-1" dirty="0" err="1">
                <a:solidFill>
                  <a:srgbClr val="FFFFFF"/>
                </a:solidFill>
                <a:latin typeface="Noto Sans"/>
              </a:rPr>
              <a:t>Geodaten</a:t>
            </a:r>
            <a:endParaRPr lang="en-US" sz="4140" b="0" strike="noStrike" spc="-1" dirty="0">
              <a:solidFill>
                <a:srgbClr val="FFFFFF"/>
              </a:solidFill>
              <a:latin typeface="Noto Sans"/>
            </a:endParaRPr>
          </a:p>
          <a:p>
            <a:r>
              <a:rPr lang="en-US" sz="4140" spc="-1" dirty="0">
                <a:solidFill>
                  <a:srgbClr val="FFFFFF"/>
                </a:solidFill>
                <a:latin typeface="Noto Sans"/>
              </a:rPr>
              <a:t>- Eine </a:t>
            </a:r>
            <a:r>
              <a:rPr lang="en-US" sz="4140" spc="-1" dirty="0" err="1">
                <a:solidFill>
                  <a:srgbClr val="FFFFFF"/>
                </a:solidFill>
                <a:latin typeface="Noto Sans"/>
              </a:rPr>
              <a:t>Einführung</a:t>
            </a:r>
            <a:endParaRPr lang="en-US" sz="4140" b="0" strike="noStrike" spc="-1" dirty="0">
              <a:solidFill>
                <a:srgbClr val="FFFFFF"/>
              </a:solidFill>
              <a:latin typeface="Arial"/>
            </a:endParaRPr>
          </a:p>
        </p:txBody>
      </p:sp>
      <p:sp>
        <p:nvSpPr>
          <p:cNvPr id="93" name="Textfeld 92"/>
          <p:cNvSpPr txBox="1"/>
          <p:nvPr/>
        </p:nvSpPr>
        <p:spPr>
          <a:xfrm>
            <a:off x="4762440" y="4678560"/>
            <a:ext cx="6400800" cy="533520"/>
          </a:xfrm>
          <a:prstGeom prst="rect">
            <a:avLst/>
          </a:prstGeom>
          <a:noFill/>
          <a:ln w="0">
            <a:noFill/>
          </a:ln>
        </p:spPr>
        <p:txBody>
          <a:bodyPr lIns="0" tIns="0" rIns="0" bIns="0" anchor="t">
            <a:noAutofit/>
          </a:bodyPr>
          <a:lstStyle/>
          <a:p>
            <a:r>
              <a:rPr lang="en-US" sz="2630" b="0" strike="noStrike" spc="-1" dirty="0">
                <a:solidFill>
                  <a:srgbClr val="FFFFFF"/>
                </a:solidFill>
                <a:latin typeface="Noto Sans"/>
              </a:rPr>
              <a:t>Unit 00</a:t>
            </a:r>
            <a:endParaRPr lang="en-US" sz="2630" b="0" strike="noStrike" spc="-1" dirty="0">
              <a:solidFill>
                <a:srgbClr val="FFFFFF"/>
              </a:solidFill>
              <a:latin typeface="Arial"/>
            </a:endParaRPr>
          </a:p>
        </p:txBody>
      </p:sp>
      <p:sp>
        <p:nvSpPr>
          <p:cNvPr id="94" name="Textfeld 93"/>
          <p:cNvSpPr txBox="1"/>
          <p:nvPr/>
        </p:nvSpPr>
        <p:spPr>
          <a:xfrm>
            <a:off x="4762440" y="5669280"/>
            <a:ext cx="6400800" cy="762120"/>
          </a:xfrm>
          <a:prstGeom prst="rect">
            <a:avLst/>
          </a:prstGeom>
          <a:noFill/>
          <a:ln w="0">
            <a:noFill/>
          </a:ln>
        </p:spPr>
        <p:txBody>
          <a:bodyPr lIns="0" tIns="0" rIns="0" bIns="0" anchor="t">
            <a:noAutofit/>
          </a:bodyPr>
          <a:lstStyle/>
          <a:p>
            <a:r>
              <a:rPr lang="en-US" sz="1790" b="0" strike="noStrike" spc="-1">
                <a:solidFill>
                  <a:srgbClr val="FFFFFF"/>
                </a:solidFill>
                <a:latin typeface="Noto Sans"/>
              </a:rPr>
              <a:t>Fachbereich 19 · Geographie</a:t>
            </a:r>
            <a:endParaRPr lang="en-US" sz="1790" b="0" strike="noStrike" spc="-1">
              <a:solidFill>
                <a:srgbClr val="FFFFFF"/>
              </a:solidFill>
              <a:latin typeface="Arial"/>
            </a:endParaRPr>
          </a:p>
          <a:p>
            <a:r>
              <a:rPr lang="en-US" sz="1790" b="0" strike="noStrike" spc="-1">
                <a:solidFill>
                  <a:srgbClr val="FFFFFF"/>
                </a:solidFill>
                <a:latin typeface="Noto Sans"/>
              </a:rPr>
              <a:t>Philipps-Universität Marburg</a:t>
            </a:r>
            <a:endParaRPr lang="en-US" sz="1790" b="0" strike="noStrike" spc="-1">
              <a:solidFill>
                <a:srgbClr val="FFFFF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Organisation</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Good to know</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sp>
        <p:nvSpPr>
          <p:cNvPr id="120" name="Textfeld 119"/>
          <p:cNvSpPr txBox="1"/>
          <p:nvPr/>
        </p:nvSpPr>
        <p:spPr>
          <a:xfrm>
            <a:off x="4804896" y="3714319"/>
            <a:ext cx="2755437" cy="762120"/>
          </a:xfrm>
          <a:prstGeom prst="rect">
            <a:avLst/>
          </a:prstGeom>
          <a:noFill/>
          <a:ln w="0">
            <a:noFill/>
          </a:ln>
        </p:spPr>
        <p:txBody>
          <a:bodyPr lIns="0" tIns="0" rIns="0" bIns="0" anchor="t">
            <a:noAutofit/>
          </a:bodyPr>
          <a:lstStyle/>
          <a:p>
            <a:pPr marL="457200" indent="-457200">
              <a:buFont typeface="Arial" panose="020B0604020202020204" pitchFamily="34" charset="0"/>
              <a:buChar char="•"/>
            </a:pPr>
            <a:r>
              <a:rPr lang="en-US" sz="1600" b="1" strike="noStrike" spc="-1" dirty="0" err="1">
                <a:solidFill>
                  <a:srgbClr val="000000"/>
                </a:solidFill>
                <a:latin typeface="Noto Sans"/>
              </a:rPr>
              <a:t>Übungsdaten</a:t>
            </a:r>
            <a:endParaRPr lang="en-US" sz="1600" b="1" strike="noStrike" spc="-1" dirty="0">
              <a:solidFill>
                <a:srgbClr val="000000"/>
              </a:solidFill>
              <a:latin typeface="Noto Sans"/>
            </a:endParaRPr>
          </a:p>
          <a:p>
            <a:pPr marL="457200" indent="-457200">
              <a:buFont typeface="Arial" panose="020B0604020202020204" pitchFamily="34" charset="0"/>
              <a:buChar char="•"/>
            </a:pPr>
            <a:r>
              <a:rPr lang="en-US" sz="1600" b="1" spc="-1" dirty="0">
                <a:solidFill>
                  <a:srgbClr val="000000"/>
                </a:solidFill>
                <a:latin typeface="Noto Sans"/>
              </a:rPr>
              <a:t>Tests</a:t>
            </a:r>
            <a:endParaRPr lang="en-US" sz="1600" b="0" strike="noStrike" spc="-1" dirty="0">
              <a:solidFill>
                <a:srgbClr val="000000"/>
              </a:solidFill>
              <a:latin typeface="Arial"/>
            </a:endParaRPr>
          </a:p>
        </p:txBody>
      </p:sp>
      <p:sp>
        <p:nvSpPr>
          <p:cNvPr id="121" name="Rechteck 120"/>
          <p:cNvSpPr/>
          <p:nvPr/>
        </p:nvSpPr>
        <p:spPr>
          <a:xfrm>
            <a:off x="647640" y="5755902"/>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22" name="Textfeld 121"/>
          <p:cNvSpPr txBox="1"/>
          <p:nvPr/>
        </p:nvSpPr>
        <p:spPr>
          <a:xfrm>
            <a:off x="838080" y="5862462"/>
            <a:ext cx="10515600" cy="442080"/>
          </a:xfrm>
          <a:prstGeom prst="rect">
            <a:avLst/>
          </a:prstGeom>
          <a:noFill/>
          <a:ln w="0">
            <a:noFill/>
          </a:ln>
        </p:spPr>
        <p:txBody>
          <a:bodyPr lIns="0" tIns="0" rIns="0" bIns="0" anchor="t">
            <a:noAutofit/>
          </a:bodyPr>
          <a:lstStyle/>
          <a:p>
            <a:r>
              <a:rPr lang="en-US" sz="2350" b="1" strike="noStrike" spc="-1" dirty="0" err="1">
                <a:solidFill>
                  <a:srgbClr val="004899"/>
                </a:solidFill>
                <a:latin typeface="Noto Sans"/>
              </a:rPr>
              <a:t>Ist</a:t>
            </a:r>
            <a:r>
              <a:rPr lang="en-US" sz="2350" b="1" strike="noStrike" spc="-1" dirty="0">
                <a:solidFill>
                  <a:srgbClr val="004899"/>
                </a:solidFill>
                <a:latin typeface="Noto Sans"/>
              </a:rPr>
              <a:t> </a:t>
            </a:r>
            <a:r>
              <a:rPr lang="en-US" sz="2350" b="1" strike="noStrike" spc="-1" dirty="0" err="1">
                <a:solidFill>
                  <a:srgbClr val="004899"/>
                </a:solidFill>
                <a:latin typeface="Noto Sans"/>
              </a:rPr>
              <a:t>noch</a:t>
            </a:r>
            <a:r>
              <a:rPr lang="en-US" sz="2350" b="1" strike="noStrike" spc="-1" dirty="0">
                <a:solidFill>
                  <a:srgbClr val="004899"/>
                </a:solidFill>
                <a:latin typeface="Noto Sans"/>
              </a:rPr>
              <a:t> </a:t>
            </a:r>
            <a:r>
              <a:rPr lang="en-US" sz="2350" b="1" strike="noStrike" spc="-1" dirty="0" err="1">
                <a:solidFill>
                  <a:srgbClr val="004899"/>
                </a:solidFill>
                <a:latin typeface="Noto Sans"/>
              </a:rPr>
              <a:t>jeman</a:t>
            </a:r>
            <a:r>
              <a:rPr lang="en-US" sz="2350" b="1" spc="-1" dirty="0" err="1">
                <a:solidFill>
                  <a:srgbClr val="004899"/>
                </a:solidFill>
                <a:latin typeface="Noto Sans"/>
              </a:rPr>
              <a:t>d</a:t>
            </a:r>
            <a:r>
              <a:rPr lang="en-US" sz="2350" b="1" spc="-1" dirty="0">
                <a:solidFill>
                  <a:srgbClr val="004899"/>
                </a:solidFill>
                <a:latin typeface="Noto Sans"/>
              </a:rPr>
              <a:t> </a:t>
            </a:r>
            <a:r>
              <a:rPr lang="en-US" sz="2350" b="1" spc="-1" dirty="0" err="1">
                <a:solidFill>
                  <a:srgbClr val="004899"/>
                </a:solidFill>
                <a:latin typeface="Noto Sans"/>
              </a:rPr>
              <a:t>nicht</a:t>
            </a:r>
            <a:r>
              <a:rPr lang="en-US" sz="2350" b="1" spc="-1" dirty="0">
                <a:solidFill>
                  <a:srgbClr val="004899"/>
                </a:solidFill>
                <a:latin typeface="Noto Sans"/>
              </a:rPr>
              <a:t> dem </a:t>
            </a:r>
            <a:r>
              <a:rPr lang="en-US" sz="2350" b="1" spc="-1" dirty="0" err="1">
                <a:solidFill>
                  <a:srgbClr val="004899"/>
                </a:solidFill>
                <a:latin typeface="Noto Sans"/>
              </a:rPr>
              <a:t>Kurs</a:t>
            </a:r>
            <a:r>
              <a:rPr lang="en-US" sz="2350" b="1" spc="-1" dirty="0">
                <a:solidFill>
                  <a:srgbClr val="004899"/>
                </a:solidFill>
                <a:latin typeface="Noto Sans"/>
              </a:rPr>
              <a:t> </a:t>
            </a:r>
            <a:r>
              <a:rPr lang="en-US" sz="2350" b="1" spc="-1" dirty="0" err="1">
                <a:solidFill>
                  <a:srgbClr val="004899"/>
                </a:solidFill>
                <a:latin typeface="Noto Sans"/>
              </a:rPr>
              <a:t>beigetreten</a:t>
            </a:r>
            <a:r>
              <a:rPr lang="en-US" sz="2350" b="1" spc="-1" dirty="0">
                <a:solidFill>
                  <a:srgbClr val="004899"/>
                </a:solidFill>
                <a:latin typeface="Noto Sans"/>
              </a:rPr>
              <a:t> (Marvin / Ilias) ?</a:t>
            </a:r>
            <a:endParaRPr lang="en-US" sz="2350" b="0" strike="noStrike" spc="-1" dirty="0">
              <a:solidFill>
                <a:srgbClr val="000000"/>
              </a:solidFill>
              <a:latin typeface="Arial"/>
            </a:endParaRPr>
          </a:p>
        </p:txBody>
      </p:sp>
      <p:pic>
        <p:nvPicPr>
          <p:cNvPr id="1026" name="Picture 2">
            <a:extLst>
              <a:ext uri="{FF2B5EF4-FFF2-40B4-BE49-F238E27FC236}">
                <a16:creationId xmlns:a16="http://schemas.microsoft.com/office/drawing/2014/main" id="{AA7DC615-17FF-9F6F-C602-75DD0B2288E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04896" y="1676098"/>
            <a:ext cx="1775134" cy="1775134"/>
          </a:xfrm>
          <a:prstGeom prst="rect">
            <a:avLst/>
          </a:prstGeom>
          <a:noFill/>
          <a:extLst>
            <a:ext uri="{909E8E84-426E-40DD-AFC4-6F175D3DCCD1}">
              <a14:hiddenFill xmlns:a14="http://schemas.microsoft.com/office/drawing/2010/main">
                <a:solidFill>
                  <a:srgbClr val="FFFFFF"/>
                </a:solidFill>
              </a14:hiddenFill>
            </a:ext>
          </a:extLst>
        </p:spPr>
      </p:pic>
      <p:pic>
        <p:nvPicPr>
          <p:cNvPr id="3" name="Grafik 2">
            <a:extLst>
              <a:ext uri="{FF2B5EF4-FFF2-40B4-BE49-F238E27FC236}">
                <a16:creationId xmlns:a16="http://schemas.microsoft.com/office/drawing/2014/main" id="{DAAF6BE7-0B22-847B-10B0-EC3176896204}"/>
              </a:ext>
            </a:extLst>
          </p:cNvPr>
          <p:cNvPicPr>
            <a:picLocks noChangeAspect="1"/>
          </p:cNvPicPr>
          <p:nvPr/>
        </p:nvPicPr>
        <p:blipFill>
          <a:blip r:embed="rId4"/>
          <a:stretch>
            <a:fillRect/>
          </a:stretch>
        </p:blipFill>
        <p:spPr>
          <a:xfrm>
            <a:off x="7209144" y="1999541"/>
            <a:ext cx="4472316" cy="949677"/>
          </a:xfrm>
          <a:prstGeom prst="rect">
            <a:avLst/>
          </a:prstGeom>
        </p:spPr>
      </p:pic>
      <p:sp>
        <p:nvSpPr>
          <p:cNvPr id="4" name="Textfeld 3">
            <a:extLst>
              <a:ext uri="{FF2B5EF4-FFF2-40B4-BE49-F238E27FC236}">
                <a16:creationId xmlns:a16="http://schemas.microsoft.com/office/drawing/2014/main" id="{A5E0F220-D8EA-7C66-1163-7B8F146BC986}"/>
              </a:ext>
            </a:extLst>
          </p:cNvPr>
          <p:cNvSpPr txBox="1"/>
          <p:nvPr/>
        </p:nvSpPr>
        <p:spPr>
          <a:xfrm>
            <a:off x="7268482" y="3714319"/>
            <a:ext cx="4252958" cy="762120"/>
          </a:xfrm>
          <a:prstGeom prst="rect">
            <a:avLst/>
          </a:prstGeom>
          <a:noFill/>
          <a:ln w="0">
            <a:noFill/>
          </a:ln>
        </p:spPr>
        <p:txBody>
          <a:bodyPr lIns="0" tIns="0" rIns="0" bIns="0" anchor="t">
            <a:noAutofit/>
          </a:bodyPr>
          <a:lstStyle/>
          <a:p>
            <a:pPr marL="457200" indent="-457200">
              <a:buFont typeface="Arial" panose="020B0604020202020204" pitchFamily="34" charset="0"/>
              <a:buChar char="•"/>
            </a:pPr>
            <a:r>
              <a:rPr lang="en-US" sz="1600" b="1" strike="noStrike" spc="-1" dirty="0" err="1">
                <a:solidFill>
                  <a:srgbClr val="000000"/>
                </a:solidFill>
                <a:latin typeface="Noto Sans"/>
              </a:rPr>
              <a:t>Einschreibung</a:t>
            </a:r>
            <a:endParaRPr lang="en-US" sz="1600" b="1" strike="noStrike" spc="-1" dirty="0">
              <a:solidFill>
                <a:srgbClr val="000000"/>
              </a:solidFill>
              <a:latin typeface="Noto Sans"/>
            </a:endParaRPr>
          </a:p>
          <a:p>
            <a:pPr marL="457200" indent="-457200">
              <a:buFont typeface="Arial" panose="020B0604020202020204" pitchFamily="34" charset="0"/>
              <a:buChar char="•"/>
            </a:pPr>
            <a:r>
              <a:rPr lang="en-US" sz="1600" b="1" spc="-1" dirty="0" err="1">
                <a:solidFill>
                  <a:srgbClr val="000000"/>
                </a:solidFill>
                <a:latin typeface="Noto Sans"/>
              </a:rPr>
              <a:t>Bestanden</a:t>
            </a:r>
            <a:r>
              <a:rPr lang="en-US" sz="1600" b="1" spc="-1" dirty="0">
                <a:solidFill>
                  <a:srgbClr val="000000"/>
                </a:solidFill>
                <a:latin typeface="Noto Sans"/>
              </a:rPr>
              <a:t>/</a:t>
            </a:r>
            <a:r>
              <a:rPr lang="en-US" sz="1600" b="1" spc="-1" dirty="0" err="1">
                <a:solidFill>
                  <a:srgbClr val="000000"/>
                </a:solidFill>
                <a:latin typeface="Noto Sans"/>
              </a:rPr>
              <a:t>nicht</a:t>
            </a:r>
            <a:r>
              <a:rPr lang="en-US" sz="1600" b="1" spc="-1" dirty="0">
                <a:solidFill>
                  <a:srgbClr val="000000"/>
                </a:solidFill>
                <a:latin typeface="Noto Sans"/>
              </a:rPr>
              <a:t> </a:t>
            </a:r>
            <a:r>
              <a:rPr lang="en-US" sz="1600" b="1" spc="-1" dirty="0" err="1">
                <a:solidFill>
                  <a:srgbClr val="000000"/>
                </a:solidFill>
                <a:latin typeface="Noto Sans"/>
              </a:rPr>
              <a:t>bestanden</a:t>
            </a:r>
            <a:r>
              <a:rPr lang="en-US" sz="1600" b="1" spc="-1" dirty="0">
                <a:solidFill>
                  <a:srgbClr val="000000"/>
                </a:solidFill>
                <a:latin typeface="Noto Sans"/>
              </a:rPr>
              <a:t> </a:t>
            </a:r>
            <a:r>
              <a:rPr lang="en-US" sz="1600" b="1" spc="-1" dirty="0" err="1">
                <a:solidFill>
                  <a:srgbClr val="000000"/>
                </a:solidFill>
                <a:latin typeface="Noto Sans"/>
              </a:rPr>
              <a:t>Noteneinsicht</a:t>
            </a:r>
            <a:endParaRPr lang="en-US" sz="1600" b="0" strike="noStrike" spc="-1" dirty="0">
              <a:solidFill>
                <a:srgbClr val="000000"/>
              </a:solidFill>
              <a:latin typeface="Arial"/>
            </a:endParaRPr>
          </a:p>
        </p:txBody>
      </p:sp>
      <p:sp>
        <p:nvSpPr>
          <p:cNvPr id="5" name="Rechteck 4">
            <a:extLst>
              <a:ext uri="{FF2B5EF4-FFF2-40B4-BE49-F238E27FC236}">
                <a16:creationId xmlns:a16="http://schemas.microsoft.com/office/drawing/2014/main" id="{15212B6A-ECAA-9355-550D-43741781A4C7}"/>
              </a:ext>
            </a:extLst>
          </p:cNvPr>
          <p:cNvSpPr/>
          <p:nvPr/>
        </p:nvSpPr>
        <p:spPr>
          <a:xfrm>
            <a:off x="762120" y="1715175"/>
            <a:ext cx="2718483" cy="16689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HTML Lernumgebung</a:t>
            </a:r>
          </a:p>
        </p:txBody>
      </p:sp>
      <p:sp>
        <p:nvSpPr>
          <p:cNvPr id="6" name="Textfeld 5">
            <a:extLst>
              <a:ext uri="{FF2B5EF4-FFF2-40B4-BE49-F238E27FC236}">
                <a16:creationId xmlns:a16="http://schemas.microsoft.com/office/drawing/2014/main" id="{F601AB0B-3E14-2A4F-AB4F-BC2D42A4C429}"/>
              </a:ext>
            </a:extLst>
          </p:cNvPr>
          <p:cNvSpPr txBox="1"/>
          <p:nvPr/>
        </p:nvSpPr>
        <p:spPr>
          <a:xfrm>
            <a:off x="2937026" y="4827577"/>
            <a:ext cx="2755437" cy="762120"/>
          </a:xfrm>
          <a:prstGeom prst="rect">
            <a:avLst/>
          </a:prstGeom>
          <a:noFill/>
          <a:ln w="0">
            <a:noFill/>
          </a:ln>
        </p:spPr>
        <p:txBody>
          <a:bodyPr lIns="0" tIns="0" rIns="0" bIns="0" anchor="t">
            <a:noAutofit/>
          </a:bodyPr>
          <a:lstStyle/>
          <a:p>
            <a:r>
              <a:rPr lang="en-US" sz="1600" b="1" strike="noStrike" spc="-1" dirty="0">
                <a:solidFill>
                  <a:srgbClr val="000000"/>
                </a:solidFill>
                <a:latin typeface="Noto Sans"/>
              </a:rPr>
              <a:t>Blended learning</a:t>
            </a:r>
          </a:p>
        </p:txBody>
      </p:sp>
      <p:sp>
        <p:nvSpPr>
          <p:cNvPr id="7" name="Geschweifte Klammer rechts 6">
            <a:extLst>
              <a:ext uri="{FF2B5EF4-FFF2-40B4-BE49-F238E27FC236}">
                <a16:creationId xmlns:a16="http://schemas.microsoft.com/office/drawing/2014/main" id="{3D809A71-3537-28E3-240A-DCD1D67C3ED3}"/>
              </a:ext>
            </a:extLst>
          </p:cNvPr>
          <p:cNvSpPr/>
          <p:nvPr/>
        </p:nvSpPr>
        <p:spPr>
          <a:xfrm rot="5400000">
            <a:off x="3673644" y="1596148"/>
            <a:ext cx="228601" cy="593439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8" name="Textfeld 7">
            <a:extLst>
              <a:ext uri="{FF2B5EF4-FFF2-40B4-BE49-F238E27FC236}">
                <a16:creationId xmlns:a16="http://schemas.microsoft.com/office/drawing/2014/main" id="{5E921C75-CF6A-1929-474C-A09579E634D0}"/>
              </a:ext>
            </a:extLst>
          </p:cNvPr>
          <p:cNvSpPr txBox="1"/>
          <p:nvPr/>
        </p:nvSpPr>
        <p:spPr>
          <a:xfrm>
            <a:off x="877566" y="3714319"/>
            <a:ext cx="2755437" cy="762120"/>
          </a:xfrm>
          <a:prstGeom prst="rect">
            <a:avLst/>
          </a:prstGeom>
          <a:noFill/>
          <a:ln w="0">
            <a:noFill/>
          </a:ln>
        </p:spPr>
        <p:txBody>
          <a:bodyPr lIns="0" tIns="0" rIns="0" bIns="0" anchor="t">
            <a:noAutofit/>
          </a:bodyPr>
          <a:lstStyle/>
          <a:p>
            <a:pPr marL="457200" indent="-457200">
              <a:buFont typeface="Arial" panose="020B0604020202020204" pitchFamily="34" charset="0"/>
              <a:buChar char="•"/>
            </a:pPr>
            <a:r>
              <a:rPr lang="en-US" sz="1600" b="1" strike="noStrike" spc="-1" dirty="0">
                <a:solidFill>
                  <a:srgbClr val="000000"/>
                </a:solidFill>
                <a:latin typeface="Noto Sans"/>
              </a:rPr>
              <a:t>In Ilias </a:t>
            </a:r>
            <a:r>
              <a:rPr lang="en-US" sz="1600" b="1" strike="noStrike" spc="-1" dirty="0" err="1">
                <a:solidFill>
                  <a:srgbClr val="000000"/>
                </a:solidFill>
                <a:latin typeface="Noto Sans"/>
              </a:rPr>
              <a:t>verlinkt</a:t>
            </a:r>
            <a:endParaRPr lang="en-US" sz="1600" b="1" strike="noStrike" spc="-1" dirty="0">
              <a:solidFill>
                <a:srgbClr val="000000"/>
              </a:solidFill>
              <a:latin typeface="Noto Sans"/>
            </a:endParaRPr>
          </a:p>
          <a:p>
            <a:pPr marL="457200" indent="-457200">
              <a:buFont typeface="Arial" panose="020B0604020202020204" pitchFamily="34" charset="0"/>
              <a:buChar char="•"/>
            </a:pPr>
            <a:r>
              <a:rPr lang="en-US" sz="1600" b="1" strike="noStrike" spc="-1" dirty="0" err="1">
                <a:solidFill>
                  <a:srgbClr val="000000"/>
                </a:solidFill>
                <a:latin typeface="Noto Sans"/>
              </a:rPr>
              <a:t>Kursinhalte</a:t>
            </a:r>
            <a:endParaRPr lang="en-US" sz="1600" b="1" strike="noStrike" spc="-1" dirty="0">
              <a:solidFill>
                <a:srgbClr val="000000"/>
              </a:solidFill>
              <a:latin typeface="Noto Sans"/>
            </a:endParaRPr>
          </a:p>
        </p:txBody>
      </p:sp>
    </p:spTree>
    <p:extLst>
      <p:ext uri="{BB962C8B-B14F-4D97-AF65-F5344CB8AC3E}">
        <p14:creationId xmlns:p14="http://schemas.microsoft.com/office/powerpoint/2010/main" val="36266660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JiTT</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Good to know</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09</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graphicFrame>
        <p:nvGraphicFramePr>
          <p:cNvPr id="7" name="Diagramm 6">
            <a:extLst>
              <a:ext uri="{FF2B5EF4-FFF2-40B4-BE49-F238E27FC236}">
                <a16:creationId xmlns:a16="http://schemas.microsoft.com/office/drawing/2014/main" id="{38C87E9D-BD87-E2C1-F96C-335919611E96}"/>
              </a:ext>
            </a:extLst>
          </p:cNvPr>
          <p:cNvGraphicFramePr/>
          <p:nvPr>
            <p:extLst>
              <p:ext uri="{D42A27DB-BD31-4B8C-83A1-F6EECF244321}">
                <p14:modId xmlns:p14="http://schemas.microsoft.com/office/powerpoint/2010/main" val="1451886820"/>
              </p:ext>
            </p:extLst>
          </p:nvPr>
        </p:nvGraphicFramePr>
        <p:xfrm>
          <a:off x="3901989" y="800100"/>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Rechteck: abgerundete Ecken 7">
            <a:extLst>
              <a:ext uri="{FF2B5EF4-FFF2-40B4-BE49-F238E27FC236}">
                <a16:creationId xmlns:a16="http://schemas.microsoft.com/office/drawing/2014/main" id="{377C816A-FA72-F2AB-7D9E-D03F7908C4B0}"/>
              </a:ext>
            </a:extLst>
          </p:cNvPr>
          <p:cNvSpPr/>
          <p:nvPr/>
        </p:nvSpPr>
        <p:spPr>
          <a:xfrm>
            <a:off x="729048" y="4693508"/>
            <a:ext cx="1993557" cy="576649"/>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de-DE" dirty="0"/>
              <a:t>4 Tests </a:t>
            </a:r>
          </a:p>
        </p:txBody>
      </p:sp>
      <p:cxnSp>
        <p:nvCxnSpPr>
          <p:cNvPr id="10" name="Gerader Verbinder 9">
            <a:extLst>
              <a:ext uri="{FF2B5EF4-FFF2-40B4-BE49-F238E27FC236}">
                <a16:creationId xmlns:a16="http://schemas.microsoft.com/office/drawing/2014/main" id="{BBA1A3C4-3E60-63FA-EEB3-1DFA1E61E1B0}"/>
              </a:ext>
            </a:extLst>
          </p:cNvPr>
          <p:cNvCxnSpPr>
            <a:cxnSpLocks/>
          </p:cNvCxnSpPr>
          <p:nvPr/>
        </p:nvCxnSpPr>
        <p:spPr>
          <a:xfrm>
            <a:off x="4135394" y="582003"/>
            <a:ext cx="0" cy="5433678"/>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2" name="Textfeld 11">
            <a:extLst>
              <a:ext uri="{FF2B5EF4-FFF2-40B4-BE49-F238E27FC236}">
                <a16:creationId xmlns:a16="http://schemas.microsoft.com/office/drawing/2014/main" id="{7EA34B8C-6623-F9DB-5ED5-82A815E9573C}"/>
              </a:ext>
            </a:extLst>
          </p:cNvPr>
          <p:cNvSpPr txBox="1"/>
          <p:nvPr/>
        </p:nvSpPr>
        <p:spPr>
          <a:xfrm>
            <a:off x="10543685" y="5791996"/>
            <a:ext cx="1486304" cy="369332"/>
          </a:xfrm>
          <a:prstGeom prst="rect">
            <a:avLst/>
          </a:prstGeom>
          <a:noFill/>
          <a:ln>
            <a:noFill/>
          </a:ln>
        </p:spPr>
        <p:txBody>
          <a:bodyPr wrap="none" rtlCol="0">
            <a:spAutoFit/>
          </a:bodyPr>
          <a:lstStyle/>
          <a:p>
            <a:r>
              <a:rPr lang="de-DE" dirty="0">
                <a:solidFill>
                  <a:schemeClr val="bg1">
                    <a:lumMod val="50000"/>
                  </a:schemeClr>
                </a:solidFill>
              </a:rPr>
              <a:t>wöchentlich</a:t>
            </a:r>
          </a:p>
        </p:txBody>
      </p:sp>
      <p:sp>
        <p:nvSpPr>
          <p:cNvPr id="13" name="Textfeld 12">
            <a:extLst>
              <a:ext uri="{FF2B5EF4-FFF2-40B4-BE49-F238E27FC236}">
                <a16:creationId xmlns:a16="http://schemas.microsoft.com/office/drawing/2014/main" id="{D1A83661-84EE-63E3-CA5C-5B75DCB1A22F}"/>
              </a:ext>
            </a:extLst>
          </p:cNvPr>
          <p:cNvSpPr txBox="1"/>
          <p:nvPr/>
        </p:nvSpPr>
        <p:spPr>
          <a:xfrm>
            <a:off x="729048" y="5791996"/>
            <a:ext cx="1710725" cy="369332"/>
          </a:xfrm>
          <a:prstGeom prst="rect">
            <a:avLst/>
          </a:prstGeom>
          <a:noFill/>
          <a:ln>
            <a:noFill/>
          </a:ln>
        </p:spPr>
        <p:txBody>
          <a:bodyPr wrap="none" rtlCol="0">
            <a:spAutoFit/>
          </a:bodyPr>
          <a:lstStyle/>
          <a:p>
            <a:r>
              <a:rPr lang="de-DE" dirty="0">
                <a:solidFill>
                  <a:schemeClr val="bg1">
                    <a:lumMod val="50000"/>
                  </a:schemeClr>
                </a:solidFill>
              </a:rPr>
              <a:t>Alle 3 Wochen</a:t>
            </a:r>
          </a:p>
        </p:txBody>
      </p:sp>
      <p:cxnSp>
        <p:nvCxnSpPr>
          <p:cNvPr id="15" name="Gerade Verbindung mit Pfeil 14">
            <a:extLst>
              <a:ext uri="{FF2B5EF4-FFF2-40B4-BE49-F238E27FC236}">
                <a16:creationId xmlns:a16="http://schemas.microsoft.com/office/drawing/2014/main" id="{4088CECC-2069-4F28-5D26-47D658BC082E}"/>
              </a:ext>
            </a:extLst>
          </p:cNvPr>
          <p:cNvCxnSpPr>
            <a:cxnSpLocks/>
          </p:cNvCxnSpPr>
          <p:nvPr/>
        </p:nvCxnSpPr>
        <p:spPr>
          <a:xfrm flipV="1">
            <a:off x="1790356" y="2940908"/>
            <a:ext cx="0" cy="17526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feld 17">
            <a:extLst>
              <a:ext uri="{FF2B5EF4-FFF2-40B4-BE49-F238E27FC236}">
                <a16:creationId xmlns:a16="http://schemas.microsoft.com/office/drawing/2014/main" id="{9618820E-0B63-4033-23FB-B7AF7A1FD105}"/>
              </a:ext>
            </a:extLst>
          </p:cNvPr>
          <p:cNvSpPr txBox="1"/>
          <p:nvPr/>
        </p:nvSpPr>
        <p:spPr>
          <a:xfrm>
            <a:off x="1813731" y="3586894"/>
            <a:ext cx="442750" cy="584775"/>
          </a:xfrm>
          <a:prstGeom prst="rect">
            <a:avLst/>
          </a:prstGeom>
          <a:noFill/>
        </p:spPr>
        <p:txBody>
          <a:bodyPr wrap="none" rtlCol="0">
            <a:spAutoFit/>
          </a:bodyPr>
          <a:lstStyle/>
          <a:p>
            <a:r>
              <a:rPr lang="de-DE" sz="3200" dirty="0"/>
              <a:t>∅</a:t>
            </a:r>
          </a:p>
        </p:txBody>
      </p:sp>
      <p:sp>
        <p:nvSpPr>
          <p:cNvPr id="19" name="Textfeld 18">
            <a:extLst>
              <a:ext uri="{FF2B5EF4-FFF2-40B4-BE49-F238E27FC236}">
                <a16:creationId xmlns:a16="http://schemas.microsoft.com/office/drawing/2014/main" id="{935FF7F1-7A3A-2447-0FCB-9A3D52AD62B9}"/>
              </a:ext>
            </a:extLst>
          </p:cNvPr>
          <p:cNvSpPr txBox="1"/>
          <p:nvPr/>
        </p:nvSpPr>
        <p:spPr>
          <a:xfrm>
            <a:off x="12783" y="2150717"/>
            <a:ext cx="3889206" cy="646331"/>
          </a:xfrm>
          <a:prstGeom prst="rect">
            <a:avLst/>
          </a:prstGeom>
          <a:noFill/>
        </p:spPr>
        <p:txBody>
          <a:bodyPr wrap="none" rtlCol="0">
            <a:spAutoFit/>
          </a:bodyPr>
          <a:lstStyle/>
          <a:p>
            <a:pPr algn="ctr"/>
            <a:r>
              <a:rPr lang="de-DE" dirty="0"/>
              <a:t>Note (L3)</a:t>
            </a:r>
          </a:p>
          <a:p>
            <a:pPr algn="ctr"/>
            <a:r>
              <a:rPr lang="de-DE" dirty="0"/>
              <a:t>Bestanden / nicht bestanden (</a:t>
            </a:r>
            <a:r>
              <a:rPr lang="de-DE" dirty="0" err="1"/>
              <a:t>BSc</a:t>
            </a:r>
            <a:r>
              <a:rPr lang="de-DE" dirty="0"/>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iTT – vollständigen Block ersetzen">
            <a:extLst>
              <a:ext uri="{FF2B5EF4-FFF2-40B4-BE49-F238E27FC236}">
                <a16:creationId xmlns:a16="http://schemas.microsoft.com/office/drawing/2014/main" id="{DEA953B3-45FA-2105-A50F-E4EDD912EBB5}"/>
              </a:ext>
            </a:extLst>
          </p:cNvPr>
          <p:cNvSpPr/>
          <p:nvPr/>
        </p:nvSpPr>
        <p:spPr>
          <a:xfrm>
            <a:off x="762120" y="1806120"/>
            <a:ext cx="10668240" cy="4152960"/>
          </a:xfrm>
          <a:prstGeom prst="rect">
            <a:avLst/>
          </a:prstGeom>
          <a:solidFill>
            <a:srgbClr val="EAF5F7"/>
          </a:solidFill>
          <a:ln w="16200">
            <a:solidFill>
              <a:srgbClr val="A6D9E2"/>
            </a:solidFill>
            <a:round/>
          </a:ln>
        </p:spPr>
        <p:txBody>
          <a:bodyPr lIns="97920" tIns="52920" rIns="97920" bIns="52920" anchor="ctr" anchorCtr="1">
            <a:noAutofit/>
          </a:bodyPr>
          <a:lstStyle/>
          <a:p>
            <a:endParaRPr lang="en-US" sz="1800" b="0" strike="noStrike" spc="-1">
              <a:solidFill>
                <a:srgbClr val="000000"/>
              </a:solidFill>
              <a:latin typeface="Arial"/>
            </a:endParaRPr>
          </a:p>
        </p:txBody>
      </p:sp>
      <p:sp>
        <p:nvSpPr>
          <p:cNvPr id="3" name="Textfeld 2">
            <a:extLst>
              <a:ext uri="{FF2B5EF4-FFF2-40B4-BE49-F238E27FC236}">
                <a16:creationId xmlns:a16="http://schemas.microsoft.com/office/drawing/2014/main" id="{555E9E4B-C4CF-981F-A3E7-062A2DAAE996}"/>
              </a:ext>
            </a:extLst>
          </p:cNvPr>
          <p:cNvSpPr txBox="1"/>
          <p:nvPr/>
        </p:nvSpPr>
        <p:spPr>
          <a:xfrm>
            <a:off x="1371600" y="3276720"/>
            <a:ext cx="9448920" cy="990720"/>
          </a:xfrm>
          <a:prstGeom prst="rect">
            <a:avLst/>
          </a:prstGeom>
          <a:noFill/>
          <a:ln w="0">
            <a:noFill/>
          </a:ln>
        </p:spPr>
        <p:txBody>
          <a:bodyPr lIns="0" tIns="0" rIns="0" bIns="0" anchor="t">
            <a:noAutofit/>
          </a:bodyPr>
          <a:lstStyle/>
          <a:p>
            <a:pPr algn="ctr"/>
            <a:r>
              <a:rPr lang="en-US" sz="3570" b="0" strike="noStrike" spc="-1" dirty="0" err="1">
                <a:solidFill>
                  <a:srgbClr val="004899"/>
                </a:solidFill>
                <a:latin typeface="Noto Sans"/>
              </a:rPr>
              <a:t>Anmeldezeiträume</a:t>
            </a:r>
            <a:r>
              <a:rPr lang="en-US" sz="3570" b="0" strike="noStrike" spc="-1" dirty="0">
                <a:solidFill>
                  <a:srgbClr val="004899"/>
                </a:solidFill>
                <a:latin typeface="Noto Sans"/>
              </a:rPr>
              <a:t> für </a:t>
            </a:r>
            <a:r>
              <a:rPr lang="en-US" sz="3570" b="0" strike="noStrike" spc="-1" dirty="0" err="1">
                <a:solidFill>
                  <a:srgbClr val="004899"/>
                </a:solidFill>
                <a:latin typeface="Noto Sans"/>
              </a:rPr>
              <a:t>Prüfungs</a:t>
            </a:r>
            <a:r>
              <a:rPr lang="en-US" sz="3570" b="0" strike="noStrike" spc="-1" dirty="0">
                <a:solidFill>
                  <a:srgbClr val="004899"/>
                </a:solidFill>
                <a:latin typeface="Noto Sans"/>
              </a:rPr>
              <a:t>- und </a:t>
            </a:r>
            <a:r>
              <a:rPr lang="en-US" sz="3570" b="0" strike="noStrike" spc="-1" dirty="0" err="1">
                <a:solidFill>
                  <a:srgbClr val="004899"/>
                </a:solidFill>
                <a:latin typeface="Noto Sans"/>
              </a:rPr>
              <a:t>Studienleistung</a:t>
            </a:r>
            <a:r>
              <a:rPr lang="en-US" sz="3570" b="0" strike="noStrike" spc="-1" dirty="0">
                <a:solidFill>
                  <a:srgbClr val="004899"/>
                </a:solidFill>
                <a:latin typeface="Noto Sans"/>
              </a:rPr>
              <a:t> </a:t>
            </a:r>
            <a:r>
              <a:rPr lang="en-US" sz="3570" b="0" strike="noStrike" spc="-1" dirty="0" err="1">
                <a:solidFill>
                  <a:srgbClr val="004899"/>
                </a:solidFill>
                <a:latin typeface="Noto Sans"/>
              </a:rPr>
              <a:t>beachten</a:t>
            </a:r>
            <a:r>
              <a:rPr lang="en-US" sz="3570" b="0" strike="noStrike" spc="-1" dirty="0">
                <a:solidFill>
                  <a:srgbClr val="004899"/>
                </a:solidFill>
                <a:latin typeface="Noto Sans"/>
              </a:rPr>
              <a:t>!!! </a:t>
            </a:r>
          </a:p>
          <a:p>
            <a:pPr algn="ctr"/>
            <a:r>
              <a:rPr lang="en-US" sz="3570" b="0" strike="noStrike" spc="-1" dirty="0">
                <a:solidFill>
                  <a:srgbClr val="004899"/>
                </a:solidFill>
                <a:latin typeface="Noto Sans"/>
              </a:rPr>
              <a:t>01.10.2026 – 29.01.2027</a:t>
            </a:r>
            <a:endParaRPr lang="en-US" sz="3570" b="0" strike="noStrike" spc="-1" dirty="0">
              <a:solidFill>
                <a:srgbClr val="000000"/>
              </a:solidFill>
              <a:latin typeface="Arial"/>
            </a:endParaRPr>
          </a:p>
        </p:txBody>
      </p:sp>
      <p:sp>
        <p:nvSpPr>
          <p:cNvPr id="4" name="Textfeld 3">
            <a:extLst>
              <a:ext uri="{FF2B5EF4-FFF2-40B4-BE49-F238E27FC236}">
                <a16:creationId xmlns:a16="http://schemas.microsoft.com/office/drawing/2014/main" id="{41B04965-35BD-09C1-C0D0-E59E606B45E9}"/>
              </a:ext>
            </a:extLst>
          </p:cNvPr>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Organisation</a:t>
            </a:r>
            <a:endParaRPr lang="en-US" sz="3190" b="0" strike="noStrike" spc="-1" dirty="0">
              <a:solidFill>
                <a:srgbClr val="000000"/>
              </a:solidFill>
              <a:latin typeface="Arial"/>
            </a:endParaRPr>
          </a:p>
        </p:txBody>
      </p:sp>
      <p:sp>
        <p:nvSpPr>
          <p:cNvPr id="5" name="Textfeld 4">
            <a:extLst>
              <a:ext uri="{FF2B5EF4-FFF2-40B4-BE49-F238E27FC236}">
                <a16:creationId xmlns:a16="http://schemas.microsoft.com/office/drawing/2014/main" id="{2EF89C34-A485-EBA1-CC70-98EA8D401A58}"/>
              </a:ext>
            </a:extLst>
          </p:cNvPr>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09</a:t>
            </a:r>
            <a:endParaRPr lang="en-US" sz="939" b="0" strike="noStrike" spc="-1" dirty="0">
              <a:solidFill>
                <a:srgbClr val="000000"/>
              </a:solidFill>
              <a:latin typeface="Arial"/>
            </a:endParaRPr>
          </a:p>
        </p:txBody>
      </p:sp>
      <p:sp>
        <p:nvSpPr>
          <p:cNvPr id="6" name="Textfeld 5">
            <a:extLst>
              <a:ext uri="{FF2B5EF4-FFF2-40B4-BE49-F238E27FC236}">
                <a16:creationId xmlns:a16="http://schemas.microsoft.com/office/drawing/2014/main" id="{A9DA268F-1A2F-C094-ECEA-BC24C19A2934}"/>
              </a:ext>
            </a:extLst>
          </p:cNvPr>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spTree>
    <p:extLst>
      <p:ext uri="{BB962C8B-B14F-4D97-AF65-F5344CB8AC3E}">
        <p14:creationId xmlns:p14="http://schemas.microsoft.com/office/powerpoint/2010/main" val="17926044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1" name="Grafik 90"/>
          <p:cNvPicPr/>
          <p:nvPr/>
        </p:nvPicPr>
        <p:blipFill>
          <a:blip r:embed="rId3"/>
          <a:stretch/>
        </p:blipFill>
        <p:spPr>
          <a:xfrm>
            <a:off x="335160" y="2666880"/>
            <a:ext cx="4107240" cy="1407240"/>
          </a:xfrm>
          <a:prstGeom prst="rect">
            <a:avLst/>
          </a:prstGeom>
          <a:ln w="0">
            <a:noFill/>
          </a:ln>
        </p:spPr>
      </p:pic>
      <p:sp>
        <p:nvSpPr>
          <p:cNvPr id="92" name="Textfeld 91"/>
          <p:cNvSpPr txBox="1"/>
          <p:nvPr/>
        </p:nvSpPr>
        <p:spPr>
          <a:xfrm>
            <a:off x="4762440" y="2171880"/>
            <a:ext cx="6477120" cy="2286000"/>
          </a:xfrm>
          <a:prstGeom prst="rect">
            <a:avLst/>
          </a:prstGeom>
          <a:noFill/>
          <a:ln w="0">
            <a:noFill/>
          </a:ln>
        </p:spPr>
        <p:txBody>
          <a:bodyPr lIns="0" tIns="0" rIns="0" bIns="0" anchor="t">
            <a:noAutofit/>
          </a:bodyPr>
          <a:lstStyle/>
          <a:p>
            <a:r>
              <a:rPr lang="en-US" sz="4140" b="0" strike="noStrike" spc="-1" dirty="0" err="1">
                <a:solidFill>
                  <a:srgbClr val="FFFFFF"/>
                </a:solidFill>
                <a:latin typeface="Noto Sans"/>
              </a:rPr>
              <a:t>Arbeiten</a:t>
            </a:r>
            <a:r>
              <a:rPr lang="en-US" sz="4140" b="0" strike="noStrike" spc="-1" dirty="0">
                <a:solidFill>
                  <a:srgbClr val="FFFFFF"/>
                </a:solidFill>
                <a:latin typeface="Noto Sans"/>
              </a:rPr>
              <a:t> </a:t>
            </a:r>
            <a:r>
              <a:rPr lang="en-US" sz="4140" b="0" strike="noStrike" spc="-1" dirty="0" err="1">
                <a:solidFill>
                  <a:srgbClr val="FFFFFF"/>
                </a:solidFill>
                <a:latin typeface="Noto Sans"/>
              </a:rPr>
              <a:t>mit</a:t>
            </a:r>
            <a:r>
              <a:rPr lang="en-US" sz="4140" b="0" strike="noStrike" spc="-1" dirty="0">
                <a:solidFill>
                  <a:srgbClr val="FFFFFF"/>
                </a:solidFill>
                <a:latin typeface="Noto Sans"/>
              </a:rPr>
              <a:t> </a:t>
            </a:r>
            <a:r>
              <a:rPr lang="en-US" sz="4140" b="0" strike="noStrike" spc="-1" dirty="0" err="1">
                <a:solidFill>
                  <a:srgbClr val="FFFFFF"/>
                </a:solidFill>
                <a:latin typeface="Noto Sans"/>
              </a:rPr>
              <a:t>Geodaten</a:t>
            </a:r>
            <a:endParaRPr lang="en-US" sz="4140" b="0" strike="noStrike" spc="-1" dirty="0">
              <a:solidFill>
                <a:srgbClr val="FFFFFF"/>
              </a:solidFill>
              <a:latin typeface="Noto Sans"/>
            </a:endParaRPr>
          </a:p>
          <a:p>
            <a:r>
              <a:rPr lang="en-US" sz="4140" spc="-1" dirty="0">
                <a:solidFill>
                  <a:srgbClr val="FFFFFF"/>
                </a:solidFill>
                <a:latin typeface="Noto Sans"/>
              </a:rPr>
              <a:t>- Hardware &amp; Software</a:t>
            </a:r>
            <a:endParaRPr lang="en-US" sz="4140" b="0" strike="noStrike" spc="-1" dirty="0">
              <a:solidFill>
                <a:srgbClr val="FFFFFF"/>
              </a:solidFill>
              <a:latin typeface="Arial"/>
            </a:endParaRPr>
          </a:p>
        </p:txBody>
      </p:sp>
      <p:sp>
        <p:nvSpPr>
          <p:cNvPr id="93" name="Textfeld 92"/>
          <p:cNvSpPr txBox="1"/>
          <p:nvPr/>
        </p:nvSpPr>
        <p:spPr>
          <a:xfrm>
            <a:off x="4762440" y="4678560"/>
            <a:ext cx="6400800" cy="533520"/>
          </a:xfrm>
          <a:prstGeom prst="rect">
            <a:avLst/>
          </a:prstGeom>
          <a:noFill/>
          <a:ln w="0">
            <a:noFill/>
          </a:ln>
        </p:spPr>
        <p:txBody>
          <a:bodyPr lIns="0" tIns="0" rIns="0" bIns="0" anchor="t">
            <a:noAutofit/>
          </a:bodyPr>
          <a:lstStyle/>
          <a:p>
            <a:r>
              <a:rPr lang="en-US" sz="2630" b="0" strike="noStrike" spc="-1" dirty="0">
                <a:solidFill>
                  <a:srgbClr val="FFFFFF"/>
                </a:solidFill>
                <a:latin typeface="Noto Sans"/>
              </a:rPr>
              <a:t>Unit 01</a:t>
            </a:r>
            <a:endParaRPr lang="en-US" sz="2630" b="0" strike="noStrike" spc="-1" dirty="0">
              <a:solidFill>
                <a:srgbClr val="FFFFFF"/>
              </a:solidFill>
              <a:latin typeface="Arial"/>
            </a:endParaRPr>
          </a:p>
        </p:txBody>
      </p:sp>
      <p:sp>
        <p:nvSpPr>
          <p:cNvPr id="94" name="Textfeld 93"/>
          <p:cNvSpPr txBox="1"/>
          <p:nvPr/>
        </p:nvSpPr>
        <p:spPr>
          <a:xfrm>
            <a:off x="4762440" y="5669280"/>
            <a:ext cx="6400800" cy="762120"/>
          </a:xfrm>
          <a:prstGeom prst="rect">
            <a:avLst/>
          </a:prstGeom>
          <a:noFill/>
          <a:ln w="0">
            <a:noFill/>
          </a:ln>
        </p:spPr>
        <p:txBody>
          <a:bodyPr lIns="0" tIns="0" rIns="0" bIns="0" anchor="t">
            <a:noAutofit/>
          </a:bodyPr>
          <a:lstStyle/>
          <a:p>
            <a:r>
              <a:rPr lang="en-US" sz="1790" b="0" strike="noStrike" spc="-1">
                <a:solidFill>
                  <a:srgbClr val="FFFFFF"/>
                </a:solidFill>
                <a:latin typeface="Noto Sans"/>
              </a:rPr>
              <a:t>Fachbereich 19 · Geographie</a:t>
            </a:r>
            <a:endParaRPr lang="en-US" sz="1790" b="0" strike="noStrike" spc="-1">
              <a:solidFill>
                <a:srgbClr val="FFFFFF"/>
              </a:solidFill>
              <a:latin typeface="Arial"/>
            </a:endParaRPr>
          </a:p>
          <a:p>
            <a:r>
              <a:rPr lang="en-US" sz="1790" b="0" strike="noStrike" spc="-1">
                <a:solidFill>
                  <a:srgbClr val="FFFFFF"/>
                </a:solidFill>
                <a:latin typeface="Noto Sans"/>
              </a:rPr>
              <a:t>Philipps-Universität Marburg</a:t>
            </a:r>
            <a:endParaRPr lang="en-US" sz="1790" b="0" strike="noStrike" spc="-1">
              <a:solidFill>
                <a:srgbClr val="FFFFFF"/>
              </a:solidFill>
              <a:latin typeface="Arial"/>
            </a:endParaRPr>
          </a:p>
        </p:txBody>
      </p:sp>
    </p:spTree>
    <p:extLst>
      <p:ext uri="{BB962C8B-B14F-4D97-AF65-F5344CB8AC3E}">
        <p14:creationId xmlns:p14="http://schemas.microsoft.com/office/powerpoint/2010/main" val="7561282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LiveVoting</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 &amp; Software</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09</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sp>
        <p:nvSpPr>
          <p:cNvPr id="2" name="Rechteck 1">
            <a:extLst>
              <a:ext uri="{FF2B5EF4-FFF2-40B4-BE49-F238E27FC236}">
                <a16:creationId xmlns:a16="http://schemas.microsoft.com/office/drawing/2014/main" id="{BEA35536-C971-5D3D-C9CE-AF04F76215C6}"/>
              </a:ext>
            </a:extLst>
          </p:cNvPr>
          <p:cNvSpPr/>
          <p:nvPr/>
        </p:nvSpPr>
        <p:spPr>
          <a:xfrm>
            <a:off x="3789405" y="1647568"/>
            <a:ext cx="4143633" cy="40694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QR EINFÜGEN!!!!</a:t>
            </a:r>
          </a:p>
        </p:txBody>
      </p:sp>
    </p:spTree>
    <p:extLst>
      <p:ext uri="{BB962C8B-B14F-4D97-AF65-F5344CB8AC3E}">
        <p14:creationId xmlns:p14="http://schemas.microsoft.com/office/powerpoint/2010/main" val="908264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Codierung</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 &amp; Software</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09</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pic>
        <p:nvPicPr>
          <p:cNvPr id="4" name="soundreality-sos-signal-137144">
            <a:hlinkClick r:id="" action="ppaction://media"/>
            <a:extLst>
              <a:ext uri="{FF2B5EF4-FFF2-40B4-BE49-F238E27FC236}">
                <a16:creationId xmlns:a16="http://schemas.microsoft.com/office/drawing/2014/main" id="{A969591C-38A1-232A-2696-6BE0C078E75A}"/>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484436" y="2784462"/>
            <a:ext cx="1845276" cy="1845276"/>
          </a:xfrm>
          <a:prstGeom prst="rect">
            <a:avLst/>
          </a:prstGeom>
        </p:spPr>
      </p:pic>
      <p:pic>
        <p:nvPicPr>
          <p:cNvPr id="6" name="Grafik 5">
            <a:extLst>
              <a:ext uri="{FF2B5EF4-FFF2-40B4-BE49-F238E27FC236}">
                <a16:creationId xmlns:a16="http://schemas.microsoft.com/office/drawing/2014/main" id="{6AAEA0D1-96A1-CA0F-BA28-F8FC1888FAE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30589" y="1884672"/>
            <a:ext cx="4356484" cy="4118361"/>
          </a:xfrm>
          <a:prstGeom prst="rect">
            <a:avLst/>
          </a:prstGeom>
        </p:spPr>
      </p:pic>
      <p:sp>
        <p:nvSpPr>
          <p:cNvPr id="7" name="Textfeld 6">
            <a:extLst>
              <a:ext uri="{FF2B5EF4-FFF2-40B4-BE49-F238E27FC236}">
                <a16:creationId xmlns:a16="http://schemas.microsoft.com/office/drawing/2014/main" id="{36283604-B40C-FC90-2B79-8C8728F250FA}"/>
              </a:ext>
            </a:extLst>
          </p:cNvPr>
          <p:cNvSpPr txBox="1"/>
          <p:nvPr/>
        </p:nvSpPr>
        <p:spPr>
          <a:xfrm>
            <a:off x="1181378" y="5937404"/>
            <a:ext cx="3185552" cy="369332"/>
          </a:xfrm>
          <a:prstGeom prst="rect">
            <a:avLst/>
          </a:prstGeom>
          <a:noFill/>
        </p:spPr>
        <p:txBody>
          <a:bodyPr wrap="none" rtlCol="0">
            <a:spAutoFit/>
          </a:bodyPr>
          <a:lstStyle/>
          <a:p>
            <a:pPr algn="l"/>
            <a:r>
              <a:rPr lang="de-DE" b="0" i="0" dirty="0">
                <a:solidFill>
                  <a:srgbClr val="202122"/>
                </a:solidFill>
                <a:effectLst/>
                <a:latin typeface="Arial" panose="020B0604020202020204" pitchFamily="34" charset="0"/>
              </a:rPr>
              <a:t>Morses erster Apparat (1837)</a:t>
            </a:r>
          </a:p>
        </p:txBody>
      </p:sp>
    </p:spTree>
    <p:extLst>
      <p:ext uri="{BB962C8B-B14F-4D97-AF65-F5344CB8AC3E}">
        <p14:creationId xmlns:p14="http://schemas.microsoft.com/office/powerpoint/2010/main" val="740534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6032"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p:cMediaNode vol="80000">
                <p:cTn id="11" fill="hold" display="0">
                  <p:stCondLst>
                    <p:cond delay="indefinite"/>
                  </p:stCondLst>
                  <p:endCondLst>
                    <p:cond evt="onStopAudio" delay="0">
                      <p:tgtEl>
                        <p:sldTgt/>
                      </p:tgtEl>
                    </p:cond>
                  </p:endCondLst>
                </p:cTn>
                <p:tgtEl>
                  <p:spTgt spid="4"/>
                </p:tgtEl>
              </p:cMediaNode>
            </p:audio>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Codierung</a:t>
            </a:r>
            <a:endParaRPr lang="en-US" sz="3190" b="0" strike="noStrike" spc="-1" dirty="0">
              <a:solidFill>
                <a:srgbClr val="000000"/>
              </a:solidFill>
              <a:latin typeface="Arial"/>
            </a:endParaRPr>
          </a:p>
        </p:txBody>
      </p:sp>
      <p:sp>
        <p:nvSpPr>
          <p:cNvPr id="116" name="Textfeld 115"/>
          <p:cNvSpPr txBox="1"/>
          <p:nvPr/>
        </p:nvSpPr>
        <p:spPr>
          <a:xfrm>
            <a:off x="761880" y="1314464"/>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 &amp; Software</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09</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pic>
        <p:nvPicPr>
          <p:cNvPr id="3" name="Grafik 2">
            <a:extLst>
              <a:ext uri="{FF2B5EF4-FFF2-40B4-BE49-F238E27FC236}">
                <a16:creationId xmlns:a16="http://schemas.microsoft.com/office/drawing/2014/main" id="{6D95925F-788A-ED8E-0E91-03122DFF7D9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8072" y="1753333"/>
            <a:ext cx="3764281" cy="4819007"/>
          </a:xfrm>
          <a:prstGeom prst="rect">
            <a:avLst/>
          </a:prstGeom>
        </p:spPr>
      </p:pic>
      <p:sp>
        <p:nvSpPr>
          <p:cNvPr id="12" name="Rechteck 11">
            <a:extLst>
              <a:ext uri="{FF2B5EF4-FFF2-40B4-BE49-F238E27FC236}">
                <a16:creationId xmlns:a16="http://schemas.microsoft.com/office/drawing/2014/main" id="{4F3E7E70-8E59-9B9A-C805-F80FB603DAB5}"/>
              </a:ext>
            </a:extLst>
          </p:cNvPr>
          <p:cNvSpPr/>
          <p:nvPr/>
        </p:nvSpPr>
        <p:spPr>
          <a:xfrm>
            <a:off x="5053687" y="1623088"/>
            <a:ext cx="6492520" cy="594360"/>
          </a:xfrm>
          <a:prstGeom prst="rect">
            <a:avLst/>
          </a:prstGeom>
          <a:solidFill>
            <a:srgbClr val="EAF5F7"/>
          </a:solidFill>
          <a:ln w="0">
            <a:noFill/>
          </a:ln>
        </p:spPr>
        <p:txBody>
          <a:bodyPr lIns="90000" tIns="45000" rIns="90000" bIns="45000" anchor="ctr" anchorCtr="1">
            <a:noAutofit/>
          </a:bodyPr>
          <a:lstStyle/>
          <a:p>
            <a:r>
              <a:rPr lang="en-US" sz="1800" b="0" strike="noStrike" spc="-1" dirty="0">
                <a:solidFill>
                  <a:srgbClr val="000000"/>
                </a:solidFill>
                <a:latin typeface="Arial"/>
              </a:rPr>
              <a:t>2 </a:t>
            </a:r>
            <a:r>
              <a:rPr lang="en-US" sz="1800" b="0" strike="noStrike" spc="-1" dirty="0" err="1">
                <a:solidFill>
                  <a:srgbClr val="000000"/>
                </a:solidFill>
                <a:latin typeface="Arial"/>
              </a:rPr>
              <a:t>Zustände</a:t>
            </a:r>
            <a:r>
              <a:rPr lang="en-US" sz="1800" b="0" strike="noStrike" spc="-1" dirty="0">
                <a:solidFill>
                  <a:srgbClr val="000000"/>
                </a:solidFill>
                <a:latin typeface="Arial"/>
              </a:rPr>
              <a:t> + </a:t>
            </a:r>
            <a:r>
              <a:rPr lang="en-US" sz="1800" b="0" strike="noStrike" spc="-1" dirty="0" err="1">
                <a:solidFill>
                  <a:srgbClr val="000000"/>
                </a:solidFill>
                <a:latin typeface="Arial"/>
              </a:rPr>
              <a:t>vereinbarte</a:t>
            </a:r>
            <a:r>
              <a:rPr lang="en-US" sz="1800" b="0" strike="noStrike" spc="-1" dirty="0">
                <a:solidFill>
                  <a:srgbClr val="000000"/>
                </a:solidFill>
                <a:latin typeface="Arial"/>
              </a:rPr>
              <a:t> </a:t>
            </a:r>
            <a:r>
              <a:rPr lang="en-US" sz="1800" b="0" strike="noStrike" spc="-1" dirty="0" err="1">
                <a:solidFill>
                  <a:srgbClr val="000000"/>
                </a:solidFill>
                <a:latin typeface="Arial"/>
              </a:rPr>
              <a:t>Zuordnung</a:t>
            </a:r>
            <a:r>
              <a:rPr lang="en-US" sz="1800" b="0" strike="noStrike" spc="-1" dirty="0">
                <a:solidFill>
                  <a:srgbClr val="000000"/>
                </a:solidFill>
                <a:latin typeface="Arial"/>
              </a:rPr>
              <a:t> = Information</a:t>
            </a:r>
          </a:p>
        </p:txBody>
      </p:sp>
      <p:sp>
        <p:nvSpPr>
          <p:cNvPr id="13" name="Rechteck 12">
            <a:extLst>
              <a:ext uri="{FF2B5EF4-FFF2-40B4-BE49-F238E27FC236}">
                <a16:creationId xmlns:a16="http://schemas.microsoft.com/office/drawing/2014/main" id="{8FD31BF6-C97C-6336-4364-B546DB0F9798}"/>
              </a:ext>
            </a:extLst>
          </p:cNvPr>
          <p:cNvSpPr/>
          <p:nvPr/>
        </p:nvSpPr>
        <p:spPr>
          <a:xfrm>
            <a:off x="645793" y="1623088"/>
            <a:ext cx="3959763" cy="4819007"/>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Textfeld 13">
            <a:extLst>
              <a:ext uri="{FF2B5EF4-FFF2-40B4-BE49-F238E27FC236}">
                <a16:creationId xmlns:a16="http://schemas.microsoft.com/office/drawing/2014/main" id="{FE6A651C-8556-5A7F-9E2A-CAE0888D446F}"/>
              </a:ext>
            </a:extLst>
          </p:cNvPr>
          <p:cNvSpPr txBox="1"/>
          <p:nvPr/>
        </p:nvSpPr>
        <p:spPr>
          <a:xfrm>
            <a:off x="5726673" y="4190410"/>
            <a:ext cx="2031325" cy="523220"/>
          </a:xfrm>
          <a:prstGeom prst="rect">
            <a:avLst/>
          </a:prstGeom>
          <a:noFill/>
        </p:spPr>
        <p:txBody>
          <a:bodyPr wrap="none" rtlCol="0">
            <a:spAutoFit/>
          </a:bodyPr>
          <a:lstStyle/>
          <a:p>
            <a:r>
              <a:rPr lang="de-DE" sz="2800" b="1" dirty="0">
                <a:solidFill>
                  <a:schemeClr val="accent2">
                    <a:lumMod val="50000"/>
                  </a:schemeClr>
                </a:solidFill>
              </a:rPr>
              <a:t>ASCII = A	</a:t>
            </a:r>
          </a:p>
        </p:txBody>
      </p:sp>
      <p:cxnSp>
        <p:nvCxnSpPr>
          <p:cNvPr id="18" name="Gerade Verbindung mit Pfeil 17">
            <a:extLst>
              <a:ext uri="{FF2B5EF4-FFF2-40B4-BE49-F238E27FC236}">
                <a16:creationId xmlns:a16="http://schemas.microsoft.com/office/drawing/2014/main" id="{3B9F582F-28A1-5E71-9E62-2C2BE1A38B44}"/>
              </a:ext>
            </a:extLst>
          </p:cNvPr>
          <p:cNvCxnSpPr>
            <a:cxnSpLocks/>
            <a:stCxn id="26" idx="0"/>
          </p:cNvCxnSpPr>
          <p:nvPr/>
        </p:nvCxnSpPr>
        <p:spPr>
          <a:xfrm flipH="1" flipV="1">
            <a:off x="5918701" y="2795532"/>
            <a:ext cx="4732" cy="95120"/>
          </a:xfrm>
          <a:prstGeom prst="straightConnector1">
            <a:avLst/>
          </a:prstGeom>
          <a:ln>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Geschweifte Klammer rechts 21">
            <a:extLst>
              <a:ext uri="{FF2B5EF4-FFF2-40B4-BE49-F238E27FC236}">
                <a16:creationId xmlns:a16="http://schemas.microsoft.com/office/drawing/2014/main" id="{278D5AB5-DD74-A459-709F-DD7FD8335E8B}"/>
              </a:ext>
            </a:extLst>
          </p:cNvPr>
          <p:cNvSpPr/>
          <p:nvPr/>
        </p:nvSpPr>
        <p:spPr>
          <a:xfrm rot="5400000">
            <a:off x="6972777" y="2226090"/>
            <a:ext cx="207711" cy="2635914"/>
          </a:xfrm>
          <a:prstGeom prst="rightBrace">
            <a:avLst>
              <a:gd name="adj1" fmla="val 7240"/>
              <a:gd name="adj2" fmla="val 49404"/>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23" name="Textfeld 22">
            <a:extLst>
              <a:ext uri="{FF2B5EF4-FFF2-40B4-BE49-F238E27FC236}">
                <a16:creationId xmlns:a16="http://schemas.microsoft.com/office/drawing/2014/main" id="{84005CCB-9381-D0CB-1B20-52330BC4782D}"/>
              </a:ext>
            </a:extLst>
          </p:cNvPr>
          <p:cNvSpPr txBox="1"/>
          <p:nvPr/>
        </p:nvSpPr>
        <p:spPr>
          <a:xfrm>
            <a:off x="6833291" y="3716497"/>
            <a:ext cx="665567" cy="646331"/>
          </a:xfrm>
          <a:prstGeom prst="rect">
            <a:avLst/>
          </a:prstGeom>
          <a:noFill/>
        </p:spPr>
        <p:txBody>
          <a:bodyPr wrap="none" rtlCol="0">
            <a:spAutoFit/>
          </a:bodyPr>
          <a:lstStyle/>
          <a:p>
            <a:r>
              <a:rPr lang="de-DE" dirty="0"/>
              <a:t>Byte</a:t>
            </a:r>
          </a:p>
          <a:p>
            <a:endParaRPr lang="de-DE" dirty="0"/>
          </a:p>
        </p:txBody>
      </p:sp>
      <p:sp>
        <p:nvSpPr>
          <p:cNvPr id="24" name="Textfeld 23">
            <a:extLst>
              <a:ext uri="{FF2B5EF4-FFF2-40B4-BE49-F238E27FC236}">
                <a16:creationId xmlns:a16="http://schemas.microsoft.com/office/drawing/2014/main" id="{0C7A75A0-6C71-3291-1C43-660448A9705C}"/>
              </a:ext>
            </a:extLst>
          </p:cNvPr>
          <p:cNvSpPr txBox="1"/>
          <p:nvPr/>
        </p:nvSpPr>
        <p:spPr>
          <a:xfrm>
            <a:off x="5679693" y="2527656"/>
            <a:ext cx="478016" cy="646331"/>
          </a:xfrm>
          <a:prstGeom prst="rect">
            <a:avLst/>
          </a:prstGeom>
          <a:noFill/>
        </p:spPr>
        <p:txBody>
          <a:bodyPr wrap="none" rtlCol="0">
            <a:spAutoFit/>
          </a:bodyPr>
          <a:lstStyle/>
          <a:p>
            <a:r>
              <a:rPr lang="de-DE" dirty="0"/>
              <a:t>Bit</a:t>
            </a:r>
          </a:p>
          <a:p>
            <a:endParaRPr lang="de-DE" dirty="0"/>
          </a:p>
        </p:txBody>
      </p:sp>
      <p:grpSp>
        <p:nvGrpSpPr>
          <p:cNvPr id="34" name="Gruppieren 33">
            <a:extLst>
              <a:ext uri="{FF2B5EF4-FFF2-40B4-BE49-F238E27FC236}">
                <a16:creationId xmlns:a16="http://schemas.microsoft.com/office/drawing/2014/main" id="{D29D11F2-29D6-9B93-8DCF-D459DC2BFA23}"/>
              </a:ext>
            </a:extLst>
          </p:cNvPr>
          <p:cNvGrpSpPr/>
          <p:nvPr/>
        </p:nvGrpSpPr>
        <p:grpSpPr>
          <a:xfrm>
            <a:off x="5758676" y="2890652"/>
            <a:ext cx="2635914" cy="501380"/>
            <a:chOff x="5083174" y="2997746"/>
            <a:chExt cx="2635914" cy="501380"/>
          </a:xfrm>
        </p:grpSpPr>
        <p:sp>
          <p:nvSpPr>
            <p:cNvPr id="26" name="Rechteck: abgerundete Ecken 25">
              <a:extLst>
                <a:ext uri="{FF2B5EF4-FFF2-40B4-BE49-F238E27FC236}">
                  <a16:creationId xmlns:a16="http://schemas.microsoft.com/office/drawing/2014/main" id="{1AB63F64-7970-D62E-3B5B-97711B9B9570}"/>
                </a:ext>
              </a:extLst>
            </p:cNvPr>
            <p:cNvSpPr/>
            <p:nvPr/>
          </p:nvSpPr>
          <p:spPr>
            <a:xfrm>
              <a:off x="5083174"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27" name="Rechteck: abgerundete Ecken 26">
              <a:extLst>
                <a:ext uri="{FF2B5EF4-FFF2-40B4-BE49-F238E27FC236}">
                  <a16:creationId xmlns:a16="http://schemas.microsoft.com/office/drawing/2014/main" id="{45D76BB4-4A27-8653-5D8E-A5E5DED8336B}"/>
                </a:ext>
              </a:extLst>
            </p:cNvPr>
            <p:cNvSpPr/>
            <p:nvPr/>
          </p:nvSpPr>
          <p:spPr>
            <a:xfrm>
              <a:off x="5413837"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1</a:t>
              </a:r>
            </a:p>
          </p:txBody>
        </p:sp>
        <p:sp>
          <p:nvSpPr>
            <p:cNvPr id="28" name="Rechteck: abgerundete Ecken 27">
              <a:extLst>
                <a:ext uri="{FF2B5EF4-FFF2-40B4-BE49-F238E27FC236}">
                  <a16:creationId xmlns:a16="http://schemas.microsoft.com/office/drawing/2014/main" id="{D4B9D43B-9233-F152-CE9A-939E486ACC9B}"/>
                </a:ext>
              </a:extLst>
            </p:cNvPr>
            <p:cNvSpPr/>
            <p:nvPr/>
          </p:nvSpPr>
          <p:spPr>
            <a:xfrm>
              <a:off x="5744500"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29" name="Rechteck: abgerundete Ecken 28">
              <a:extLst>
                <a:ext uri="{FF2B5EF4-FFF2-40B4-BE49-F238E27FC236}">
                  <a16:creationId xmlns:a16="http://schemas.microsoft.com/office/drawing/2014/main" id="{6D9DE148-F58D-A181-1299-57A9F6A89B1A}"/>
                </a:ext>
              </a:extLst>
            </p:cNvPr>
            <p:cNvSpPr/>
            <p:nvPr/>
          </p:nvSpPr>
          <p:spPr>
            <a:xfrm>
              <a:off x="6075163"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30" name="Rechteck: abgerundete Ecken 29">
              <a:extLst>
                <a:ext uri="{FF2B5EF4-FFF2-40B4-BE49-F238E27FC236}">
                  <a16:creationId xmlns:a16="http://schemas.microsoft.com/office/drawing/2014/main" id="{226A015D-AE91-7A0D-F6F5-0A1496F1D107}"/>
                </a:ext>
              </a:extLst>
            </p:cNvPr>
            <p:cNvSpPr/>
            <p:nvPr/>
          </p:nvSpPr>
          <p:spPr>
            <a:xfrm>
              <a:off x="6397588"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31" name="Rechteck: abgerundete Ecken 30">
              <a:extLst>
                <a:ext uri="{FF2B5EF4-FFF2-40B4-BE49-F238E27FC236}">
                  <a16:creationId xmlns:a16="http://schemas.microsoft.com/office/drawing/2014/main" id="{21448FDF-62B4-7828-09C4-E8B3B92C285B}"/>
                </a:ext>
              </a:extLst>
            </p:cNvPr>
            <p:cNvSpPr/>
            <p:nvPr/>
          </p:nvSpPr>
          <p:spPr>
            <a:xfrm>
              <a:off x="6728251" y="2997746"/>
              <a:ext cx="329513" cy="493142"/>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32" name="Rechteck: abgerundete Ecken 31">
              <a:extLst>
                <a:ext uri="{FF2B5EF4-FFF2-40B4-BE49-F238E27FC236}">
                  <a16:creationId xmlns:a16="http://schemas.microsoft.com/office/drawing/2014/main" id="{D9E78036-1499-3501-0305-DD6DCF3D64BD}"/>
                </a:ext>
              </a:extLst>
            </p:cNvPr>
            <p:cNvSpPr/>
            <p:nvPr/>
          </p:nvSpPr>
          <p:spPr>
            <a:xfrm>
              <a:off x="7058914"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33" name="Rechteck: abgerundete Ecken 32">
              <a:extLst>
                <a:ext uri="{FF2B5EF4-FFF2-40B4-BE49-F238E27FC236}">
                  <a16:creationId xmlns:a16="http://schemas.microsoft.com/office/drawing/2014/main" id="{28314A63-9CB1-9613-9C0B-334519F52DC4}"/>
                </a:ext>
              </a:extLst>
            </p:cNvPr>
            <p:cNvSpPr/>
            <p:nvPr/>
          </p:nvSpPr>
          <p:spPr>
            <a:xfrm>
              <a:off x="7389575" y="2997746"/>
              <a:ext cx="329513" cy="493142"/>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1</a:t>
              </a:r>
            </a:p>
          </p:txBody>
        </p:sp>
      </p:grpSp>
      <p:grpSp>
        <p:nvGrpSpPr>
          <p:cNvPr id="35" name="Gruppieren 34">
            <a:extLst>
              <a:ext uri="{FF2B5EF4-FFF2-40B4-BE49-F238E27FC236}">
                <a16:creationId xmlns:a16="http://schemas.microsoft.com/office/drawing/2014/main" id="{E46833B0-4325-ECA3-CA38-BED1DC020CD3}"/>
              </a:ext>
            </a:extLst>
          </p:cNvPr>
          <p:cNvGrpSpPr/>
          <p:nvPr/>
        </p:nvGrpSpPr>
        <p:grpSpPr>
          <a:xfrm>
            <a:off x="8423840" y="2891964"/>
            <a:ext cx="2635914" cy="501380"/>
            <a:chOff x="5083174" y="2997746"/>
            <a:chExt cx="2635914" cy="501380"/>
          </a:xfrm>
        </p:grpSpPr>
        <p:sp>
          <p:nvSpPr>
            <p:cNvPr id="36" name="Rechteck: abgerundete Ecken 35">
              <a:extLst>
                <a:ext uri="{FF2B5EF4-FFF2-40B4-BE49-F238E27FC236}">
                  <a16:creationId xmlns:a16="http://schemas.microsoft.com/office/drawing/2014/main" id="{DBF55B8D-C1CE-2457-58B5-FF18E50EBD6A}"/>
                </a:ext>
              </a:extLst>
            </p:cNvPr>
            <p:cNvSpPr/>
            <p:nvPr/>
          </p:nvSpPr>
          <p:spPr>
            <a:xfrm>
              <a:off x="5083174"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37" name="Rechteck: abgerundete Ecken 36">
              <a:extLst>
                <a:ext uri="{FF2B5EF4-FFF2-40B4-BE49-F238E27FC236}">
                  <a16:creationId xmlns:a16="http://schemas.microsoft.com/office/drawing/2014/main" id="{525987C5-CAFC-BB90-47F6-7F94189534F0}"/>
                </a:ext>
              </a:extLst>
            </p:cNvPr>
            <p:cNvSpPr/>
            <p:nvPr/>
          </p:nvSpPr>
          <p:spPr>
            <a:xfrm>
              <a:off x="5413837"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38" name="Rechteck: abgerundete Ecken 37">
              <a:extLst>
                <a:ext uri="{FF2B5EF4-FFF2-40B4-BE49-F238E27FC236}">
                  <a16:creationId xmlns:a16="http://schemas.microsoft.com/office/drawing/2014/main" id="{1D72241A-9107-A558-3DA3-BC25E57D7DC3}"/>
                </a:ext>
              </a:extLst>
            </p:cNvPr>
            <p:cNvSpPr/>
            <p:nvPr/>
          </p:nvSpPr>
          <p:spPr>
            <a:xfrm>
              <a:off x="5744500"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39" name="Rechteck: abgerundete Ecken 38">
              <a:extLst>
                <a:ext uri="{FF2B5EF4-FFF2-40B4-BE49-F238E27FC236}">
                  <a16:creationId xmlns:a16="http://schemas.microsoft.com/office/drawing/2014/main" id="{555267F1-C912-A1DD-5C19-ABEAA1A082A9}"/>
                </a:ext>
              </a:extLst>
            </p:cNvPr>
            <p:cNvSpPr/>
            <p:nvPr/>
          </p:nvSpPr>
          <p:spPr>
            <a:xfrm>
              <a:off x="6075163"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40" name="Rechteck: abgerundete Ecken 39">
              <a:extLst>
                <a:ext uri="{FF2B5EF4-FFF2-40B4-BE49-F238E27FC236}">
                  <a16:creationId xmlns:a16="http://schemas.microsoft.com/office/drawing/2014/main" id="{C003DCBD-C0AA-382E-E34D-0118D4EE0600}"/>
                </a:ext>
              </a:extLst>
            </p:cNvPr>
            <p:cNvSpPr/>
            <p:nvPr/>
          </p:nvSpPr>
          <p:spPr>
            <a:xfrm>
              <a:off x="6397588"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41" name="Rechteck: abgerundete Ecken 40">
              <a:extLst>
                <a:ext uri="{FF2B5EF4-FFF2-40B4-BE49-F238E27FC236}">
                  <a16:creationId xmlns:a16="http://schemas.microsoft.com/office/drawing/2014/main" id="{BE1F8FA7-1534-A371-A0F0-A53A2FE2FF76}"/>
                </a:ext>
              </a:extLst>
            </p:cNvPr>
            <p:cNvSpPr/>
            <p:nvPr/>
          </p:nvSpPr>
          <p:spPr>
            <a:xfrm>
              <a:off x="6728251" y="2997746"/>
              <a:ext cx="329513" cy="493142"/>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42" name="Rechteck: abgerundete Ecken 41">
              <a:extLst>
                <a:ext uri="{FF2B5EF4-FFF2-40B4-BE49-F238E27FC236}">
                  <a16:creationId xmlns:a16="http://schemas.microsoft.com/office/drawing/2014/main" id="{F1E725E2-7DF7-BEED-B2C1-B45EC07D11B4}"/>
                </a:ext>
              </a:extLst>
            </p:cNvPr>
            <p:cNvSpPr/>
            <p:nvPr/>
          </p:nvSpPr>
          <p:spPr>
            <a:xfrm>
              <a:off x="7058914"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43" name="Rechteck: abgerundete Ecken 42">
              <a:extLst>
                <a:ext uri="{FF2B5EF4-FFF2-40B4-BE49-F238E27FC236}">
                  <a16:creationId xmlns:a16="http://schemas.microsoft.com/office/drawing/2014/main" id="{08C67615-3E16-A1C2-B61C-1E64E4F39D57}"/>
                </a:ext>
              </a:extLst>
            </p:cNvPr>
            <p:cNvSpPr/>
            <p:nvPr/>
          </p:nvSpPr>
          <p:spPr>
            <a:xfrm>
              <a:off x="7389575" y="2997746"/>
              <a:ext cx="329513" cy="493142"/>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grpSp>
      <p:graphicFrame>
        <p:nvGraphicFramePr>
          <p:cNvPr id="45" name="Tabelle 44">
            <a:extLst>
              <a:ext uri="{FF2B5EF4-FFF2-40B4-BE49-F238E27FC236}">
                <a16:creationId xmlns:a16="http://schemas.microsoft.com/office/drawing/2014/main" id="{184F6F40-E37E-A934-DDA9-9E667C9BAE82}"/>
              </a:ext>
            </a:extLst>
          </p:cNvPr>
          <p:cNvGraphicFramePr>
            <a:graphicFrameLocks noGrp="1"/>
          </p:cNvGraphicFramePr>
          <p:nvPr>
            <p:extLst>
              <p:ext uri="{D42A27DB-BD31-4B8C-83A1-F6EECF244321}">
                <p14:modId xmlns:p14="http://schemas.microsoft.com/office/powerpoint/2010/main" val="3545220079"/>
              </p:ext>
            </p:extLst>
          </p:nvPr>
        </p:nvGraphicFramePr>
        <p:xfrm>
          <a:off x="8423840" y="3805126"/>
          <a:ext cx="2635914" cy="2262594"/>
        </p:xfrm>
        <a:graphic>
          <a:graphicData uri="http://schemas.openxmlformats.org/drawingml/2006/table">
            <a:tbl>
              <a:tblPr firstRow="1" bandRow="1">
                <a:tableStyleId>{21E4AEA4-8DFA-4A89-87EB-49C32662AFE0}</a:tableStyleId>
              </a:tblPr>
              <a:tblGrid>
                <a:gridCol w="620635">
                  <a:extLst>
                    <a:ext uri="{9D8B030D-6E8A-4147-A177-3AD203B41FA5}">
                      <a16:colId xmlns:a16="http://schemas.microsoft.com/office/drawing/2014/main" val="630276662"/>
                    </a:ext>
                  </a:extLst>
                </a:gridCol>
                <a:gridCol w="2015279">
                  <a:extLst>
                    <a:ext uri="{9D8B030D-6E8A-4147-A177-3AD203B41FA5}">
                      <a16:colId xmlns:a16="http://schemas.microsoft.com/office/drawing/2014/main" val="3801347752"/>
                    </a:ext>
                  </a:extLst>
                </a:gridCol>
              </a:tblGrid>
              <a:tr h="373204">
                <a:tc>
                  <a:txBody>
                    <a:bodyPr/>
                    <a:lstStyle/>
                    <a:p>
                      <a:r>
                        <a:rPr lang="de-DE" sz="1600" dirty="0"/>
                        <a:t>Bits</a:t>
                      </a:r>
                      <a:endParaRPr lang="de-DE" dirty="0"/>
                    </a:p>
                  </a:txBody>
                  <a:tcPr/>
                </a:tc>
                <a:tc>
                  <a:txBody>
                    <a:bodyPr/>
                    <a:lstStyle/>
                    <a:p>
                      <a:r>
                        <a:rPr lang="de-DE" sz="1600" dirty="0"/>
                        <a:t>Kombinationen</a:t>
                      </a:r>
                    </a:p>
                  </a:txBody>
                  <a:tcPr/>
                </a:tc>
                <a:extLst>
                  <a:ext uri="{0D108BD9-81ED-4DB2-BD59-A6C34878D82A}">
                    <a16:rowId xmlns:a16="http://schemas.microsoft.com/office/drawing/2014/main" val="1213878313"/>
                  </a:ext>
                </a:extLst>
              </a:tr>
              <a:tr h="377878">
                <a:tc>
                  <a:txBody>
                    <a:bodyPr/>
                    <a:lstStyle/>
                    <a:p>
                      <a:pPr algn="r"/>
                      <a:r>
                        <a:rPr lang="de-DE" dirty="0"/>
                        <a:t>1</a:t>
                      </a:r>
                    </a:p>
                  </a:txBody>
                  <a:tcPr/>
                </a:tc>
                <a:tc>
                  <a:txBody>
                    <a:bodyPr/>
                    <a:lstStyle/>
                    <a:p>
                      <a:pPr algn="r"/>
                      <a:r>
                        <a:rPr lang="de-DE" dirty="0"/>
                        <a:t>2</a:t>
                      </a:r>
                    </a:p>
                  </a:txBody>
                  <a:tcPr/>
                </a:tc>
                <a:extLst>
                  <a:ext uri="{0D108BD9-81ED-4DB2-BD59-A6C34878D82A}">
                    <a16:rowId xmlns:a16="http://schemas.microsoft.com/office/drawing/2014/main" val="3045331997"/>
                  </a:ext>
                </a:extLst>
              </a:tr>
              <a:tr h="377878">
                <a:tc>
                  <a:txBody>
                    <a:bodyPr/>
                    <a:lstStyle/>
                    <a:p>
                      <a:pPr algn="r"/>
                      <a:r>
                        <a:rPr lang="de-DE" dirty="0"/>
                        <a:t>2</a:t>
                      </a:r>
                    </a:p>
                  </a:txBody>
                  <a:tcPr/>
                </a:tc>
                <a:tc>
                  <a:txBody>
                    <a:bodyPr/>
                    <a:lstStyle/>
                    <a:p>
                      <a:pPr algn="r"/>
                      <a:r>
                        <a:rPr lang="de-DE" dirty="0"/>
                        <a:t>4</a:t>
                      </a:r>
                    </a:p>
                  </a:txBody>
                  <a:tcPr/>
                </a:tc>
                <a:extLst>
                  <a:ext uri="{0D108BD9-81ED-4DB2-BD59-A6C34878D82A}">
                    <a16:rowId xmlns:a16="http://schemas.microsoft.com/office/drawing/2014/main" val="4010564105"/>
                  </a:ext>
                </a:extLst>
              </a:tr>
              <a:tr h="377878">
                <a:tc>
                  <a:txBody>
                    <a:bodyPr/>
                    <a:lstStyle/>
                    <a:p>
                      <a:pPr algn="r"/>
                      <a:r>
                        <a:rPr lang="de-DE" dirty="0"/>
                        <a:t>4</a:t>
                      </a:r>
                    </a:p>
                  </a:txBody>
                  <a:tcPr/>
                </a:tc>
                <a:tc>
                  <a:txBody>
                    <a:bodyPr/>
                    <a:lstStyle/>
                    <a:p>
                      <a:pPr algn="r"/>
                      <a:r>
                        <a:rPr lang="de-DE" dirty="0"/>
                        <a:t>16</a:t>
                      </a:r>
                    </a:p>
                  </a:txBody>
                  <a:tcPr/>
                </a:tc>
                <a:extLst>
                  <a:ext uri="{0D108BD9-81ED-4DB2-BD59-A6C34878D82A}">
                    <a16:rowId xmlns:a16="http://schemas.microsoft.com/office/drawing/2014/main" val="4227011272"/>
                  </a:ext>
                </a:extLst>
              </a:tr>
              <a:tr h="377878">
                <a:tc>
                  <a:txBody>
                    <a:bodyPr/>
                    <a:lstStyle/>
                    <a:p>
                      <a:pPr algn="r"/>
                      <a:r>
                        <a:rPr lang="de-DE" dirty="0"/>
                        <a:t>8</a:t>
                      </a:r>
                    </a:p>
                  </a:txBody>
                  <a:tcPr/>
                </a:tc>
                <a:tc>
                  <a:txBody>
                    <a:bodyPr/>
                    <a:lstStyle/>
                    <a:p>
                      <a:pPr algn="r"/>
                      <a:r>
                        <a:rPr lang="de-DE" dirty="0"/>
                        <a:t>256</a:t>
                      </a:r>
                    </a:p>
                  </a:txBody>
                  <a:tcPr/>
                </a:tc>
                <a:extLst>
                  <a:ext uri="{0D108BD9-81ED-4DB2-BD59-A6C34878D82A}">
                    <a16:rowId xmlns:a16="http://schemas.microsoft.com/office/drawing/2014/main" val="266139601"/>
                  </a:ext>
                </a:extLst>
              </a:tr>
              <a:tr h="377878">
                <a:tc>
                  <a:txBody>
                    <a:bodyPr/>
                    <a:lstStyle/>
                    <a:p>
                      <a:pPr algn="r"/>
                      <a:r>
                        <a:rPr lang="de-DE" dirty="0"/>
                        <a:t>16</a:t>
                      </a:r>
                    </a:p>
                  </a:txBody>
                  <a:tcPr/>
                </a:tc>
                <a:tc>
                  <a:txBody>
                    <a:bodyPr/>
                    <a:lstStyle/>
                    <a:p>
                      <a:pPr algn="r"/>
                      <a:r>
                        <a:rPr lang="de-DE" dirty="0"/>
                        <a:t>65.536</a:t>
                      </a:r>
                    </a:p>
                  </a:txBody>
                  <a:tcPr/>
                </a:tc>
                <a:extLst>
                  <a:ext uri="{0D108BD9-81ED-4DB2-BD59-A6C34878D82A}">
                    <a16:rowId xmlns:a16="http://schemas.microsoft.com/office/drawing/2014/main" val="2464992632"/>
                  </a:ext>
                </a:extLst>
              </a:tr>
            </a:tbl>
          </a:graphicData>
        </a:graphic>
      </p:graphicFrame>
      <p:sp>
        <p:nvSpPr>
          <p:cNvPr id="46" name="Textfeld 45">
            <a:extLst>
              <a:ext uri="{FF2B5EF4-FFF2-40B4-BE49-F238E27FC236}">
                <a16:creationId xmlns:a16="http://schemas.microsoft.com/office/drawing/2014/main" id="{B4CEDC86-47A9-35A3-52CC-D599F2153CCF}"/>
              </a:ext>
            </a:extLst>
          </p:cNvPr>
          <p:cNvSpPr txBox="1"/>
          <p:nvPr/>
        </p:nvSpPr>
        <p:spPr>
          <a:xfrm>
            <a:off x="5699823" y="4721869"/>
            <a:ext cx="2635915" cy="1384995"/>
          </a:xfrm>
          <a:prstGeom prst="rect">
            <a:avLst/>
          </a:prstGeom>
          <a:noFill/>
        </p:spPr>
        <p:txBody>
          <a:bodyPr wrap="square" rtlCol="0">
            <a:spAutoFit/>
          </a:bodyPr>
          <a:lstStyle/>
          <a:p>
            <a:r>
              <a:rPr lang="de-DE" sz="1400" dirty="0"/>
              <a:t>Ein Code– z. B. ASCII oder UTF-8 – legt fest, welche Bitfolge welchem Zeichen entspricht. Dasselbe Prinzip gilt auch für Zahlen, Bilder und Töne</a:t>
            </a:r>
          </a:p>
        </p:txBody>
      </p:sp>
    </p:spTree>
    <p:extLst>
      <p:ext uri="{BB962C8B-B14F-4D97-AF65-F5344CB8AC3E}">
        <p14:creationId xmlns:p14="http://schemas.microsoft.com/office/powerpoint/2010/main" val="3407338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Dateiformat</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 &amp; Software</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09</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sp>
        <p:nvSpPr>
          <p:cNvPr id="2" name="Textfeld 1">
            <a:extLst>
              <a:ext uri="{FF2B5EF4-FFF2-40B4-BE49-F238E27FC236}">
                <a16:creationId xmlns:a16="http://schemas.microsoft.com/office/drawing/2014/main" id="{0735257A-C512-43AA-141F-5B95EBC53717}"/>
              </a:ext>
            </a:extLst>
          </p:cNvPr>
          <p:cNvSpPr txBox="1"/>
          <p:nvPr/>
        </p:nvSpPr>
        <p:spPr>
          <a:xfrm>
            <a:off x="762120" y="1951471"/>
            <a:ext cx="7584127" cy="369332"/>
          </a:xfrm>
          <a:prstGeom prst="rect">
            <a:avLst/>
          </a:prstGeom>
          <a:noFill/>
        </p:spPr>
        <p:txBody>
          <a:bodyPr wrap="none" rtlCol="0">
            <a:spAutoFit/>
          </a:bodyPr>
          <a:lstStyle/>
          <a:p>
            <a:r>
              <a:rPr lang="de-DE" dirty="0"/>
              <a:t>Eine lange Bitfolge braucht zusätzlich eine Struktur: das Dateiformat</a:t>
            </a:r>
          </a:p>
        </p:txBody>
      </p:sp>
      <p:sp>
        <p:nvSpPr>
          <p:cNvPr id="3" name="Textfeld 2">
            <a:extLst>
              <a:ext uri="{FF2B5EF4-FFF2-40B4-BE49-F238E27FC236}">
                <a16:creationId xmlns:a16="http://schemas.microsoft.com/office/drawing/2014/main" id="{30D4381B-8D84-043A-9DE0-389E39D181A4}"/>
              </a:ext>
            </a:extLst>
          </p:cNvPr>
          <p:cNvSpPr txBox="1"/>
          <p:nvPr/>
        </p:nvSpPr>
        <p:spPr>
          <a:xfrm>
            <a:off x="762120" y="2402188"/>
            <a:ext cx="8131106" cy="646331"/>
          </a:xfrm>
          <a:prstGeom prst="rect">
            <a:avLst/>
          </a:prstGeom>
          <a:noFill/>
        </p:spPr>
        <p:txBody>
          <a:bodyPr wrap="square" rtlCol="0">
            <a:spAutoFit/>
          </a:bodyPr>
          <a:lstStyle/>
          <a:p>
            <a:r>
              <a:rPr lang="de-DE" b="0" i="0" dirty="0">
                <a:solidFill>
                  <a:srgbClr val="4B5563"/>
                </a:solidFill>
                <a:effectLst/>
                <a:latin typeface="Inter"/>
              </a:rPr>
              <a:t>Es legt fest, wie eine Datei aufgebaut ist – nicht nur, wie einzelne Zeichen kodiert sind, sondern wie viele zusammengehören und was sie insgesamt bedeuten.</a:t>
            </a:r>
            <a:endParaRPr lang="de-DE" dirty="0"/>
          </a:p>
        </p:txBody>
      </p:sp>
      <p:sp>
        <p:nvSpPr>
          <p:cNvPr id="6" name="Shape 2">
            <a:extLst>
              <a:ext uri="{FF2B5EF4-FFF2-40B4-BE49-F238E27FC236}">
                <a16:creationId xmlns:a16="http://schemas.microsoft.com/office/drawing/2014/main" id="{6A0039AC-A010-37FB-657C-FF524F134590}"/>
              </a:ext>
            </a:extLst>
          </p:cNvPr>
          <p:cNvSpPr/>
          <p:nvPr/>
        </p:nvSpPr>
        <p:spPr>
          <a:xfrm>
            <a:off x="822260" y="3343771"/>
            <a:ext cx="3376125" cy="1646870"/>
          </a:xfrm>
          <a:prstGeom prst="roundRect">
            <a:avLst>
              <a:gd name="adj" fmla="val 5976"/>
            </a:avLst>
          </a:prstGeom>
          <a:solidFill>
            <a:srgbClr val="FFFFFF"/>
          </a:solidFill>
          <a:ln w="19050">
            <a:solidFill>
              <a:schemeClr val="accent2">
                <a:lumMod val="50000"/>
              </a:schemeClr>
            </a:solidFill>
            <a:prstDash val="solid"/>
          </a:ln>
        </p:spPr>
        <p:txBody>
          <a:bodyPr/>
          <a:lstStyle/>
          <a:p>
            <a:endParaRPr lang="de-DE"/>
          </a:p>
        </p:txBody>
      </p:sp>
      <p:sp>
        <p:nvSpPr>
          <p:cNvPr id="7" name="Text 3">
            <a:extLst>
              <a:ext uri="{FF2B5EF4-FFF2-40B4-BE49-F238E27FC236}">
                <a16:creationId xmlns:a16="http://schemas.microsoft.com/office/drawing/2014/main" id="{70DDF35F-8724-EE84-1CEC-EA6CE8455552}"/>
              </a:ext>
            </a:extLst>
          </p:cNvPr>
          <p:cNvSpPr/>
          <p:nvPr/>
        </p:nvSpPr>
        <p:spPr>
          <a:xfrm>
            <a:off x="1028525" y="3550038"/>
            <a:ext cx="3052503" cy="223543"/>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60"/>
              </a:lnSpc>
              <a:buNone/>
            </a:pPr>
            <a:r>
              <a:rPr lang="en-US" sz="1300" b="1" dirty="0">
                <a:solidFill>
                  <a:srgbClr val="1C2430"/>
                </a:solidFill>
                <a:latin typeface="Inter" pitchFamily="34" charset="0"/>
                <a:ea typeface="Inter" pitchFamily="34" charset="-122"/>
                <a:cs typeface="Inter" pitchFamily="34" charset="-120"/>
              </a:rPr>
              <a:t>Allgemein</a:t>
            </a:r>
            <a:endParaRPr lang="en-US" sz="1300" dirty="0"/>
          </a:p>
        </p:txBody>
      </p:sp>
      <p:sp>
        <p:nvSpPr>
          <p:cNvPr id="8" name="Text 4">
            <a:extLst>
              <a:ext uri="{FF2B5EF4-FFF2-40B4-BE49-F238E27FC236}">
                <a16:creationId xmlns:a16="http://schemas.microsoft.com/office/drawing/2014/main" id="{746E6E00-CE5A-2098-F622-6A344DF56334}"/>
              </a:ext>
            </a:extLst>
          </p:cNvPr>
          <p:cNvSpPr/>
          <p:nvPr/>
        </p:nvSpPr>
        <p:spPr>
          <a:xfrm>
            <a:off x="1028525" y="3836985"/>
            <a:ext cx="3052503" cy="960217"/>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.txt</a:t>
            </a:r>
            <a:r>
              <a:rPr lang="en-US" sz="1150" dirty="0">
                <a:solidFill>
                  <a:srgbClr val="4B5563"/>
                </a:solidFill>
                <a:latin typeface="Inter" pitchFamily="34" charset="0"/>
                <a:ea typeface="Inter" pitchFamily="34" charset="-122"/>
                <a:cs typeface="Inter" pitchFamily="34" charset="-120"/>
              </a:rPr>
              <a:t> – reiner Text</a:t>
            </a:r>
            <a:endParaRPr lang="en-US" sz="1150" dirty="0"/>
          </a:p>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.csv</a:t>
            </a:r>
            <a:r>
              <a:rPr lang="en-US" sz="1150" dirty="0">
                <a:solidFill>
                  <a:srgbClr val="4B5563"/>
                </a:solidFill>
                <a:latin typeface="Inter" pitchFamily="34" charset="0"/>
                <a:ea typeface="Inter" pitchFamily="34" charset="-122"/>
                <a:cs typeface="Inter" pitchFamily="34" charset="-120"/>
              </a:rPr>
              <a:t> – Tabelle, Komma-getrennt</a:t>
            </a:r>
            <a:endParaRPr lang="en-US" sz="1150" dirty="0"/>
          </a:p>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.docx</a:t>
            </a:r>
            <a:r>
              <a:rPr lang="en-US" sz="1150" dirty="0">
                <a:solidFill>
                  <a:srgbClr val="4B5563"/>
                </a:solidFill>
                <a:latin typeface="Inter" pitchFamily="34" charset="0"/>
                <a:ea typeface="Inter" pitchFamily="34" charset="-122"/>
                <a:cs typeface="Inter" pitchFamily="34" charset="-120"/>
              </a:rPr>
              <a:t> – Word-Dokument</a:t>
            </a:r>
            <a:endParaRPr lang="en-US" sz="1150" dirty="0"/>
          </a:p>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.pdf</a:t>
            </a:r>
            <a:r>
              <a:rPr lang="en-US" sz="1150" dirty="0">
                <a:solidFill>
                  <a:srgbClr val="4B5563"/>
                </a:solidFill>
                <a:latin typeface="Inter" pitchFamily="34" charset="0"/>
                <a:ea typeface="Inter" pitchFamily="34" charset="-122"/>
                <a:cs typeface="Inter" pitchFamily="34" charset="-120"/>
              </a:rPr>
              <a:t> – layoutfixiertes Dokument</a:t>
            </a:r>
            <a:endParaRPr lang="en-US" sz="1150" dirty="0"/>
          </a:p>
        </p:txBody>
      </p:sp>
      <p:sp>
        <p:nvSpPr>
          <p:cNvPr id="9" name="Shape 5">
            <a:extLst>
              <a:ext uri="{FF2B5EF4-FFF2-40B4-BE49-F238E27FC236}">
                <a16:creationId xmlns:a16="http://schemas.microsoft.com/office/drawing/2014/main" id="{237552A4-F7C3-025E-96B9-9F6A50E56D51}"/>
              </a:ext>
            </a:extLst>
          </p:cNvPr>
          <p:cNvSpPr/>
          <p:nvPr/>
        </p:nvSpPr>
        <p:spPr>
          <a:xfrm>
            <a:off x="4407888" y="3343771"/>
            <a:ext cx="3376223" cy="1646870"/>
          </a:xfrm>
          <a:prstGeom prst="roundRect">
            <a:avLst>
              <a:gd name="adj" fmla="val 5976"/>
            </a:avLst>
          </a:prstGeom>
          <a:solidFill>
            <a:srgbClr val="FFFFFF"/>
          </a:solidFill>
          <a:ln w="12700">
            <a:solidFill>
              <a:schemeClr val="accent2">
                <a:lumMod val="50000"/>
              </a:schemeClr>
            </a:solidFill>
            <a:prstDash val="solid"/>
          </a:ln>
        </p:spPr>
        <p:txBody>
          <a:bodyPr/>
          <a:lstStyle/>
          <a:p>
            <a:endParaRPr lang="de-DE"/>
          </a:p>
        </p:txBody>
      </p:sp>
      <p:sp>
        <p:nvSpPr>
          <p:cNvPr id="10" name="Text 6">
            <a:extLst>
              <a:ext uri="{FF2B5EF4-FFF2-40B4-BE49-F238E27FC236}">
                <a16:creationId xmlns:a16="http://schemas.microsoft.com/office/drawing/2014/main" id="{E8FB8A4E-A49A-C890-278D-76D8220DD055}"/>
              </a:ext>
            </a:extLst>
          </p:cNvPr>
          <p:cNvSpPr/>
          <p:nvPr/>
        </p:nvSpPr>
        <p:spPr>
          <a:xfrm>
            <a:off x="4614153" y="3550038"/>
            <a:ext cx="3052604" cy="223543"/>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60"/>
              </a:lnSpc>
              <a:buNone/>
            </a:pPr>
            <a:r>
              <a:rPr lang="en-US" sz="1300" b="1" dirty="0">
                <a:solidFill>
                  <a:srgbClr val="1C2430"/>
                </a:solidFill>
                <a:latin typeface="Inter" pitchFamily="34" charset="0"/>
                <a:ea typeface="Inter" pitchFamily="34" charset="-122"/>
                <a:cs typeface="Inter" pitchFamily="34" charset="-120"/>
              </a:rPr>
              <a:t>Bild &amp; Ton</a:t>
            </a:r>
            <a:endParaRPr lang="en-US" sz="1300" dirty="0"/>
          </a:p>
        </p:txBody>
      </p:sp>
      <p:sp>
        <p:nvSpPr>
          <p:cNvPr id="11" name="Text 7">
            <a:extLst>
              <a:ext uri="{FF2B5EF4-FFF2-40B4-BE49-F238E27FC236}">
                <a16:creationId xmlns:a16="http://schemas.microsoft.com/office/drawing/2014/main" id="{A345C072-3585-7DEB-C394-240C6AA49137}"/>
              </a:ext>
            </a:extLst>
          </p:cNvPr>
          <p:cNvSpPr/>
          <p:nvPr/>
        </p:nvSpPr>
        <p:spPr>
          <a:xfrm>
            <a:off x="4614153" y="3836985"/>
            <a:ext cx="3052604" cy="726513"/>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.jpg / .png</a:t>
            </a:r>
            <a:r>
              <a:rPr lang="en-US" sz="1150" dirty="0">
                <a:solidFill>
                  <a:srgbClr val="4B5563"/>
                </a:solidFill>
                <a:latin typeface="Inter" pitchFamily="34" charset="0"/>
                <a:ea typeface="Inter" pitchFamily="34" charset="-122"/>
                <a:cs typeface="Inter" pitchFamily="34" charset="-120"/>
              </a:rPr>
              <a:t> – Bilder</a:t>
            </a:r>
            <a:endParaRPr lang="en-US" sz="1150" dirty="0"/>
          </a:p>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.mp3</a:t>
            </a:r>
            <a:r>
              <a:rPr lang="en-US" sz="1150" dirty="0">
                <a:solidFill>
                  <a:srgbClr val="4B5563"/>
                </a:solidFill>
                <a:latin typeface="Inter" pitchFamily="34" charset="0"/>
                <a:ea typeface="Inter" pitchFamily="34" charset="-122"/>
                <a:cs typeface="Inter" pitchFamily="34" charset="-120"/>
              </a:rPr>
              <a:t> – komprimiertes Audio</a:t>
            </a:r>
            <a:endParaRPr lang="en-US" sz="1150" dirty="0"/>
          </a:p>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.wav</a:t>
            </a:r>
            <a:r>
              <a:rPr lang="en-US" sz="1150" dirty="0">
                <a:solidFill>
                  <a:srgbClr val="4B5563"/>
                </a:solidFill>
                <a:latin typeface="Inter" pitchFamily="34" charset="0"/>
                <a:ea typeface="Inter" pitchFamily="34" charset="-122"/>
                <a:cs typeface="Inter" pitchFamily="34" charset="-120"/>
              </a:rPr>
              <a:t> – unkomprimiertes Audio</a:t>
            </a:r>
            <a:endParaRPr lang="en-US" sz="1150" dirty="0"/>
          </a:p>
        </p:txBody>
      </p:sp>
      <p:sp>
        <p:nvSpPr>
          <p:cNvPr id="12" name="Shape 8">
            <a:extLst>
              <a:ext uri="{FF2B5EF4-FFF2-40B4-BE49-F238E27FC236}">
                <a16:creationId xmlns:a16="http://schemas.microsoft.com/office/drawing/2014/main" id="{CC5872E1-974E-3A0D-CE1F-A354AB08DCF5}"/>
              </a:ext>
            </a:extLst>
          </p:cNvPr>
          <p:cNvSpPr/>
          <p:nvPr/>
        </p:nvSpPr>
        <p:spPr>
          <a:xfrm>
            <a:off x="7996789" y="3346946"/>
            <a:ext cx="3382448" cy="1640520"/>
          </a:xfrm>
          <a:prstGeom prst="roundRect">
            <a:avLst>
              <a:gd name="adj" fmla="val 5806"/>
            </a:avLst>
          </a:prstGeom>
          <a:solidFill>
            <a:srgbClr val="FFFFFF"/>
          </a:solidFill>
          <a:ln w="12700">
            <a:solidFill>
              <a:srgbClr val="2E8B84"/>
            </a:solidFill>
            <a:prstDash val="solid"/>
          </a:ln>
        </p:spPr>
        <p:txBody>
          <a:bodyPr/>
          <a:lstStyle/>
          <a:p>
            <a:endParaRPr lang="de-DE"/>
          </a:p>
        </p:txBody>
      </p:sp>
      <p:sp>
        <p:nvSpPr>
          <p:cNvPr id="13" name="Text 9">
            <a:extLst>
              <a:ext uri="{FF2B5EF4-FFF2-40B4-BE49-F238E27FC236}">
                <a16:creationId xmlns:a16="http://schemas.microsoft.com/office/drawing/2014/main" id="{968D90A7-2198-FD38-71DF-EE1ECD3D82D4}"/>
              </a:ext>
            </a:extLst>
          </p:cNvPr>
          <p:cNvSpPr/>
          <p:nvPr/>
        </p:nvSpPr>
        <p:spPr>
          <a:xfrm>
            <a:off x="8206166" y="3556323"/>
            <a:ext cx="3052604" cy="223543"/>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60"/>
              </a:lnSpc>
              <a:buNone/>
            </a:pPr>
            <a:r>
              <a:rPr lang="en-US" sz="1300" b="1" dirty="0">
                <a:solidFill>
                  <a:srgbClr val="2E8B84"/>
                </a:solidFill>
                <a:latin typeface="Inter" pitchFamily="34" charset="0"/>
                <a:ea typeface="Inter" pitchFamily="34" charset="-122"/>
                <a:cs typeface="Inter" pitchFamily="34" charset="-120"/>
              </a:rPr>
              <a:t>Geodaten</a:t>
            </a:r>
            <a:endParaRPr lang="en-US" sz="1300" dirty="0"/>
          </a:p>
        </p:txBody>
      </p:sp>
      <p:sp>
        <p:nvSpPr>
          <p:cNvPr id="14" name="Text 10">
            <a:extLst>
              <a:ext uri="{FF2B5EF4-FFF2-40B4-BE49-F238E27FC236}">
                <a16:creationId xmlns:a16="http://schemas.microsoft.com/office/drawing/2014/main" id="{46C11D60-A5D1-EA38-3276-3DAAA54DF408}"/>
              </a:ext>
            </a:extLst>
          </p:cNvPr>
          <p:cNvSpPr/>
          <p:nvPr/>
        </p:nvSpPr>
        <p:spPr>
          <a:xfrm>
            <a:off x="8206166" y="3843273"/>
            <a:ext cx="3052604" cy="960217"/>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.shp</a:t>
            </a:r>
            <a:r>
              <a:rPr lang="en-US" sz="1150" dirty="0">
                <a:solidFill>
                  <a:srgbClr val="4B5563"/>
                </a:solidFill>
                <a:latin typeface="Inter" pitchFamily="34" charset="0"/>
                <a:ea typeface="Inter" pitchFamily="34" charset="-122"/>
                <a:cs typeface="Inter" pitchFamily="34" charset="-120"/>
              </a:rPr>
              <a:t> – Shapefile (Vektordaten)</a:t>
            </a:r>
            <a:endParaRPr lang="en-US" sz="1150" dirty="0"/>
          </a:p>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.geojson</a:t>
            </a:r>
            <a:r>
              <a:rPr lang="en-US" sz="1150" dirty="0">
                <a:solidFill>
                  <a:srgbClr val="4B5563"/>
                </a:solidFill>
                <a:latin typeface="Inter" pitchFamily="34" charset="0"/>
                <a:ea typeface="Inter" pitchFamily="34" charset="-122"/>
                <a:cs typeface="Inter" pitchFamily="34" charset="-120"/>
              </a:rPr>
              <a:t> – Geometrien als Text</a:t>
            </a:r>
            <a:endParaRPr lang="en-US" sz="1150" dirty="0"/>
          </a:p>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.tif / GeoTIFF</a:t>
            </a:r>
            <a:r>
              <a:rPr lang="en-US" sz="1150" dirty="0">
                <a:solidFill>
                  <a:srgbClr val="4B5563"/>
                </a:solidFill>
                <a:latin typeface="Inter" pitchFamily="34" charset="0"/>
                <a:ea typeface="Inter" pitchFamily="34" charset="-122"/>
                <a:cs typeface="Inter" pitchFamily="34" charset="-120"/>
              </a:rPr>
              <a:t> – georeferenziertes Raster</a:t>
            </a:r>
            <a:endParaRPr lang="en-US" sz="1150" dirty="0"/>
          </a:p>
          <a:p>
            <a:pPr marL="0" indent="0" algn="l">
              <a:lnSpc>
                <a:spcPts val="1840"/>
              </a:lnSpc>
              <a:buNone/>
            </a:pPr>
            <a:r>
              <a:rPr lang="en-US" sz="1150" b="1" dirty="0">
                <a:solidFill>
                  <a:srgbClr val="4B5563"/>
                </a:solidFill>
                <a:latin typeface="Inter" pitchFamily="34" charset="0"/>
                <a:ea typeface="Inter" pitchFamily="34" charset="-122"/>
                <a:cs typeface="Inter" pitchFamily="34" charset="-120"/>
              </a:rPr>
              <a:t>.kml</a:t>
            </a:r>
            <a:r>
              <a:rPr lang="en-US" sz="1150" dirty="0">
                <a:solidFill>
                  <a:srgbClr val="4B5563"/>
                </a:solidFill>
                <a:latin typeface="Inter" pitchFamily="34" charset="0"/>
                <a:ea typeface="Inter" pitchFamily="34" charset="-122"/>
                <a:cs typeface="Inter" pitchFamily="34" charset="-120"/>
              </a:rPr>
              <a:t> – Orte für Google Earth</a:t>
            </a:r>
            <a:endParaRPr lang="en-US" sz="1150" dirty="0"/>
          </a:p>
        </p:txBody>
      </p:sp>
      <p:sp>
        <p:nvSpPr>
          <p:cNvPr id="15" name="Text 11">
            <a:extLst>
              <a:ext uri="{FF2B5EF4-FFF2-40B4-BE49-F238E27FC236}">
                <a16:creationId xmlns:a16="http://schemas.microsoft.com/office/drawing/2014/main" id="{ACD65D7C-1AE3-EF48-0294-6FB8826F49F5}"/>
              </a:ext>
            </a:extLst>
          </p:cNvPr>
          <p:cNvSpPr/>
          <p:nvPr/>
        </p:nvSpPr>
        <p:spPr>
          <a:xfrm>
            <a:off x="819085" y="5247757"/>
            <a:ext cx="9810750" cy="451942"/>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680"/>
              </a:lnSpc>
              <a:buNone/>
            </a:pPr>
            <a:r>
              <a:rPr lang="en-US" sz="1200" dirty="0">
                <a:solidFill>
                  <a:srgbClr val="6B7280"/>
                </a:solidFill>
                <a:latin typeface="Inter" pitchFamily="34" charset="0"/>
                <a:ea typeface="Inter" pitchFamily="34" charset="-122"/>
                <a:cs typeface="Inter" pitchFamily="34" charset="-120"/>
              </a:rPr>
              <a:t>Jedes Format legt fest, wie die Bitfolge intern aufgebaut ist – ein Shapefile speichert z. B. zusätzlich zur Geometrie auch das Koordinatenreferenzsystem mit.</a:t>
            </a:r>
            <a:endParaRPr lang="en-US" sz="1200" dirty="0"/>
          </a:p>
        </p:txBody>
      </p:sp>
    </p:spTree>
    <p:extLst>
      <p:ext uri="{BB962C8B-B14F-4D97-AF65-F5344CB8AC3E}">
        <p14:creationId xmlns:p14="http://schemas.microsoft.com/office/powerpoint/2010/main" val="13846643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Textfeld 360"/>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Übung</a:t>
            </a:r>
            <a:endParaRPr lang="en-US" sz="3190" b="0" strike="noStrike" spc="-1" dirty="0">
              <a:solidFill>
                <a:srgbClr val="000000"/>
              </a:solidFill>
              <a:latin typeface="Arial"/>
            </a:endParaRPr>
          </a:p>
        </p:txBody>
      </p:sp>
      <p:sp>
        <p:nvSpPr>
          <p:cNvPr id="362" name="Textfeld 361"/>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err="1">
                <a:solidFill>
                  <a:srgbClr val="004899"/>
                </a:solidFill>
                <a:latin typeface="Noto Sans"/>
              </a:rPr>
              <a:t>Übung</a:t>
            </a:r>
            <a:r>
              <a:rPr lang="en-US" sz="1130" b="1" strike="noStrike" spc="-1" dirty="0">
                <a:solidFill>
                  <a:srgbClr val="004899"/>
                </a:solidFill>
                <a:latin typeface="Noto Sans"/>
              </a:rPr>
              <a:t> </a:t>
            </a:r>
            <a:r>
              <a:rPr lang="en-US" sz="1130" b="1" strike="noStrike" spc="-1" dirty="0" err="1">
                <a:solidFill>
                  <a:srgbClr val="004899"/>
                </a:solidFill>
                <a:latin typeface="Noto Sans"/>
              </a:rPr>
              <a:t>Codierung</a:t>
            </a:r>
            <a:endParaRPr lang="en-US" sz="1130" b="0" strike="noStrike" spc="-1" dirty="0">
              <a:solidFill>
                <a:srgbClr val="000000"/>
              </a:solidFill>
              <a:latin typeface="Arial"/>
            </a:endParaRPr>
          </a:p>
        </p:txBody>
      </p:sp>
      <p:sp>
        <p:nvSpPr>
          <p:cNvPr id="363" name="Textfeld 362"/>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364" name="Textfeld 363"/>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18</a:t>
            </a:r>
            <a:endParaRPr lang="en-US" sz="939" b="0" strike="noStrike" spc="-1">
              <a:solidFill>
                <a:srgbClr val="000000"/>
              </a:solidFill>
              <a:latin typeface="Arial"/>
            </a:endParaRPr>
          </a:p>
        </p:txBody>
      </p:sp>
      <p:sp>
        <p:nvSpPr>
          <p:cNvPr id="2" name="Shape 2">
            <a:extLst>
              <a:ext uri="{FF2B5EF4-FFF2-40B4-BE49-F238E27FC236}">
                <a16:creationId xmlns:a16="http://schemas.microsoft.com/office/drawing/2014/main" id="{B0BCC52E-1748-0FEF-BD09-EE8EF6B66C59}"/>
              </a:ext>
            </a:extLst>
          </p:cNvPr>
          <p:cNvSpPr/>
          <p:nvPr/>
        </p:nvSpPr>
        <p:spPr>
          <a:xfrm>
            <a:off x="2345237" y="2078410"/>
            <a:ext cx="7360920" cy="2788920"/>
          </a:xfrm>
          <a:prstGeom prst="roundRect">
            <a:avLst>
              <a:gd name="adj" fmla="val 3934"/>
            </a:avLst>
          </a:prstGeom>
          <a:solidFill>
            <a:srgbClr val="F3F5F8"/>
          </a:solidFill>
          <a:ln w="12700">
            <a:solidFill>
              <a:srgbClr val="D6DBE3"/>
            </a:solidFill>
            <a:prstDash val="solid"/>
          </a:ln>
        </p:spPr>
      </p:sp>
      <p:sp>
        <p:nvSpPr>
          <p:cNvPr id="3" name="Shape 3">
            <a:extLst>
              <a:ext uri="{FF2B5EF4-FFF2-40B4-BE49-F238E27FC236}">
                <a16:creationId xmlns:a16="http://schemas.microsoft.com/office/drawing/2014/main" id="{B7693B82-C842-DD82-3DD3-D9D5F1D40358}"/>
              </a:ext>
            </a:extLst>
          </p:cNvPr>
          <p:cNvSpPr/>
          <p:nvPr/>
        </p:nvSpPr>
        <p:spPr>
          <a:xfrm>
            <a:off x="2532888" y="1932106"/>
            <a:ext cx="1737360" cy="310896"/>
          </a:xfrm>
          <a:prstGeom prst="roundRect">
            <a:avLst>
              <a:gd name="adj" fmla="val 50000"/>
            </a:avLst>
          </a:prstGeom>
          <a:solidFill>
            <a:srgbClr val="0F1F3D"/>
          </a:solidFill>
          <a:ln/>
        </p:spPr>
      </p:sp>
      <p:sp>
        <p:nvSpPr>
          <p:cNvPr id="4" name="Text 4">
            <a:extLst>
              <a:ext uri="{FF2B5EF4-FFF2-40B4-BE49-F238E27FC236}">
                <a16:creationId xmlns:a16="http://schemas.microsoft.com/office/drawing/2014/main" id="{C8ADD137-FCD6-8891-7E52-50B539AAE898}"/>
              </a:ext>
            </a:extLst>
          </p:cNvPr>
          <p:cNvSpPr/>
          <p:nvPr/>
        </p:nvSpPr>
        <p:spPr>
          <a:xfrm>
            <a:off x="2532888" y="1932106"/>
            <a:ext cx="1737360" cy="310896"/>
          </a:xfrm>
          <a:prstGeom prst="rect">
            <a:avLst/>
          </a:prstGeom>
          <a:noFill/>
          <a:ln/>
        </p:spPr>
        <p:txBody>
          <a:bodyPr wrap="square" rtlCol="0" anchor="ctr"/>
          <a:lstStyle/>
          <a:p>
            <a:pPr marL="0" indent="0" algn="ctr">
              <a:buNone/>
            </a:pPr>
            <a:r>
              <a:rPr lang="en-US" sz="1050" b="1" kern="0" spc="100" dirty="0">
                <a:solidFill>
                  <a:srgbClr val="FFFFFF"/>
                </a:solidFill>
                <a:latin typeface="Calibri" pitchFamily="34" charset="0"/>
                <a:ea typeface="Calibri" pitchFamily="34" charset="-122"/>
                <a:cs typeface="Calibri" pitchFamily="34" charset="-120"/>
              </a:rPr>
              <a:t>MAINBOARD</a:t>
            </a:r>
            <a:endParaRPr lang="en-US" sz="1050" dirty="0"/>
          </a:p>
        </p:txBody>
      </p:sp>
      <p:sp>
        <p:nvSpPr>
          <p:cNvPr id="5" name="Shape 5">
            <a:extLst>
              <a:ext uri="{FF2B5EF4-FFF2-40B4-BE49-F238E27FC236}">
                <a16:creationId xmlns:a16="http://schemas.microsoft.com/office/drawing/2014/main" id="{1AC83112-17DC-A3CF-93FC-D6ECD18C5E6B}"/>
              </a:ext>
            </a:extLst>
          </p:cNvPr>
          <p:cNvSpPr/>
          <p:nvPr/>
        </p:nvSpPr>
        <p:spPr>
          <a:xfrm>
            <a:off x="365760" y="2307010"/>
            <a:ext cx="1691640" cy="2331720"/>
          </a:xfrm>
          <a:prstGeom prst="roundRect">
            <a:avLst>
              <a:gd name="adj" fmla="val 4865"/>
            </a:avLst>
          </a:prstGeom>
          <a:solidFill>
            <a:srgbClr val="FFFFFF"/>
          </a:solidFill>
          <a:ln w="12700">
            <a:solidFill>
              <a:srgbClr val="D6DBE3"/>
            </a:solidFill>
            <a:prstDash val="solid"/>
          </a:ln>
          <a:effectLst>
            <a:outerShdw blurRad="76200" dist="25400" dir="5400000" algn="bl" rotWithShape="0">
              <a:srgbClr val="1B2B4D">
                <a:alpha val="18000"/>
              </a:srgbClr>
            </a:outerShdw>
          </a:effectLst>
        </p:spPr>
      </p:sp>
      <p:sp>
        <p:nvSpPr>
          <p:cNvPr id="6" name="Shape 6">
            <a:extLst>
              <a:ext uri="{FF2B5EF4-FFF2-40B4-BE49-F238E27FC236}">
                <a16:creationId xmlns:a16="http://schemas.microsoft.com/office/drawing/2014/main" id="{30004959-1E9A-3B11-B139-4738799B62BF}"/>
              </a:ext>
            </a:extLst>
          </p:cNvPr>
          <p:cNvSpPr/>
          <p:nvPr/>
        </p:nvSpPr>
        <p:spPr>
          <a:xfrm>
            <a:off x="530352" y="2471602"/>
            <a:ext cx="457200" cy="457200"/>
          </a:xfrm>
          <a:prstGeom prst="ellipse">
            <a:avLst/>
          </a:prstGeom>
          <a:solidFill>
            <a:srgbClr val="0F1F3D"/>
          </a:solidFill>
          <a:ln/>
        </p:spPr>
      </p:sp>
      <p:pic>
        <p:nvPicPr>
          <p:cNvPr id="7" name="Image 0" descr="/home/claude/icon_keyboard.png">
            <a:extLst>
              <a:ext uri="{FF2B5EF4-FFF2-40B4-BE49-F238E27FC236}">
                <a16:creationId xmlns:a16="http://schemas.microsoft.com/office/drawing/2014/main" id="{691E7140-23EA-0EC3-70BA-807A7FF30A86}"/>
              </a:ext>
            </a:extLst>
          </p:cNvPr>
          <p:cNvPicPr>
            <a:picLocks noChangeAspect="1"/>
          </p:cNvPicPr>
          <p:nvPr/>
        </p:nvPicPr>
        <p:blipFill>
          <a:blip r:embed="rId3"/>
          <a:stretch>
            <a:fillRect/>
          </a:stretch>
        </p:blipFill>
        <p:spPr>
          <a:xfrm>
            <a:off x="630936" y="2572186"/>
            <a:ext cx="256032" cy="256032"/>
          </a:xfrm>
          <a:prstGeom prst="rect">
            <a:avLst/>
          </a:prstGeom>
        </p:spPr>
      </p:pic>
      <p:sp>
        <p:nvSpPr>
          <p:cNvPr id="8" name="Text 7">
            <a:extLst>
              <a:ext uri="{FF2B5EF4-FFF2-40B4-BE49-F238E27FC236}">
                <a16:creationId xmlns:a16="http://schemas.microsoft.com/office/drawing/2014/main" id="{87248ABC-5502-73DB-4B4A-63C7B1F7E7D0}"/>
              </a:ext>
            </a:extLst>
          </p:cNvPr>
          <p:cNvSpPr/>
          <p:nvPr/>
        </p:nvSpPr>
        <p:spPr>
          <a:xfrm>
            <a:off x="1097280" y="2444170"/>
            <a:ext cx="822960" cy="274320"/>
          </a:xfrm>
          <a:prstGeom prst="rect">
            <a:avLst/>
          </a:prstGeom>
          <a:noFill/>
          <a:ln/>
        </p:spPr>
        <p:txBody>
          <a:bodyPr wrap="square" rtlCol="0" anchor="b"/>
          <a:lstStyle/>
          <a:p>
            <a:pPr marL="0" indent="0">
              <a:buNone/>
            </a:pPr>
            <a:r>
              <a:rPr lang="en-US" sz="1450" b="1" dirty="0">
                <a:solidFill>
                  <a:srgbClr val="0F1F3D"/>
                </a:solidFill>
                <a:latin typeface="Calibri" pitchFamily="34" charset="0"/>
                <a:ea typeface="Calibri" pitchFamily="34" charset="-122"/>
                <a:cs typeface="Calibri" pitchFamily="34" charset="-120"/>
              </a:rPr>
              <a:t>Tastatur</a:t>
            </a:r>
            <a:endParaRPr lang="en-US" sz="1450" dirty="0"/>
          </a:p>
        </p:txBody>
      </p:sp>
      <p:sp>
        <p:nvSpPr>
          <p:cNvPr id="9" name="Text 8">
            <a:extLst>
              <a:ext uri="{FF2B5EF4-FFF2-40B4-BE49-F238E27FC236}">
                <a16:creationId xmlns:a16="http://schemas.microsoft.com/office/drawing/2014/main" id="{E74EF5C4-4B56-C24E-1744-FB22E15CCFF4}"/>
              </a:ext>
            </a:extLst>
          </p:cNvPr>
          <p:cNvSpPr/>
          <p:nvPr/>
        </p:nvSpPr>
        <p:spPr>
          <a:xfrm>
            <a:off x="1097280" y="2709346"/>
            <a:ext cx="822960" cy="201168"/>
          </a:xfrm>
          <a:prstGeom prst="rect">
            <a:avLst/>
          </a:prstGeom>
          <a:noFill/>
          <a:ln/>
        </p:spPr>
        <p:txBody>
          <a:bodyPr wrap="square" rtlCol="0" anchor="t"/>
          <a:lstStyle/>
          <a:p>
            <a:pPr marL="0" indent="0">
              <a:buNone/>
            </a:pPr>
            <a:r>
              <a:rPr lang="en-US" sz="900" b="1" kern="0" spc="100" dirty="0">
                <a:solidFill>
                  <a:srgbClr val="E8983A"/>
                </a:solidFill>
                <a:latin typeface="Calibri" pitchFamily="34" charset="0"/>
                <a:ea typeface="Calibri" pitchFamily="34" charset="-122"/>
                <a:cs typeface="Calibri" pitchFamily="34" charset="-120"/>
              </a:rPr>
              <a:t>EINGABE</a:t>
            </a:r>
            <a:endParaRPr lang="en-US" sz="900" dirty="0"/>
          </a:p>
        </p:txBody>
      </p:sp>
      <p:sp>
        <p:nvSpPr>
          <p:cNvPr id="10" name="Text 9">
            <a:extLst>
              <a:ext uri="{FF2B5EF4-FFF2-40B4-BE49-F238E27FC236}">
                <a16:creationId xmlns:a16="http://schemas.microsoft.com/office/drawing/2014/main" id="{36D391D7-E67D-BF0F-0AEB-858B3B82D822}"/>
              </a:ext>
            </a:extLst>
          </p:cNvPr>
          <p:cNvSpPr/>
          <p:nvPr/>
        </p:nvSpPr>
        <p:spPr>
          <a:xfrm>
            <a:off x="548640" y="3020242"/>
            <a:ext cx="1325880" cy="1508760"/>
          </a:xfrm>
          <a:prstGeom prst="rect">
            <a:avLst/>
          </a:prstGeom>
          <a:noFill/>
          <a:ln/>
        </p:spPr>
        <p:txBody>
          <a:bodyPr wrap="square" rtlCol="0" anchor="t"/>
          <a:lstStyle/>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Taste schließt Kontakt</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Mikrocontroller erkennt Position (Scan-Code)</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sendet Scan-Code per USB</a:t>
            </a:r>
            <a:endParaRPr lang="en-US" sz="1050" dirty="0"/>
          </a:p>
        </p:txBody>
      </p:sp>
      <p:sp>
        <p:nvSpPr>
          <p:cNvPr id="11" name="Shape 10">
            <a:extLst>
              <a:ext uri="{FF2B5EF4-FFF2-40B4-BE49-F238E27FC236}">
                <a16:creationId xmlns:a16="http://schemas.microsoft.com/office/drawing/2014/main" id="{A96B7076-6D61-4158-7183-911D984C12B9}"/>
              </a:ext>
            </a:extLst>
          </p:cNvPr>
          <p:cNvSpPr/>
          <p:nvPr/>
        </p:nvSpPr>
        <p:spPr>
          <a:xfrm>
            <a:off x="6096000" y="5032337"/>
            <a:ext cx="1965960" cy="2331720"/>
          </a:xfrm>
          <a:prstGeom prst="roundRect">
            <a:avLst>
              <a:gd name="adj" fmla="val 4186"/>
            </a:avLst>
          </a:prstGeom>
          <a:solidFill>
            <a:srgbClr val="FFFFFF"/>
          </a:solidFill>
          <a:ln w="19050">
            <a:solidFill>
              <a:srgbClr val="E8983A"/>
            </a:solidFill>
            <a:prstDash val="solid"/>
          </a:ln>
          <a:effectLst>
            <a:outerShdw blurRad="76200" dist="25400" dir="5400000" algn="bl" rotWithShape="0">
              <a:srgbClr val="1B2B4D">
                <a:alpha val="18000"/>
              </a:srgbClr>
            </a:outerShdw>
          </a:effectLst>
        </p:spPr>
      </p:sp>
      <p:sp>
        <p:nvSpPr>
          <p:cNvPr id="12" name="Shape 11">
            <a:extLst>
              <a:ext uri="{FF2B5EF4-FFF2-40B4-BE49-F238E27FC236}">
                <a16:creationId xmlns:a16="http://schemas.microsoft.com/office/drawing/2014/main" id="{6F6A7E37-404D-B1C0-0D05-42DE4DFEA6FA}"/>
              </a:ext>
            </a:extLst>
          </p:cNvPr>
          <p:cNvSpPr/>
          <p:nvPr/>
        </p:nvSpPr>
        <p:spPr>
          <a:xfrm>
            <a:off x="6260592" y="5196929"/>
            <a:ext cx="457200" cy="457200"/>
          </a:xfrm>
          <a:prstGeom prst="ellipse">
            <a:avLst/>
          </a:prstGeom>
          <a:solidFill>
            <a:srgbClr val="0F1F3D"/>
          </a:solidFill>
          <a:ln/>
        </p:spPr>
      </p:sp>
      <p:pic>
        <p:nvPicPr>
          <p:cNvPr id="13" name="Image 1" descr="/home/claude/icon_cpu.png">
            <a:extLst>
              <a:ext uri="{FF2B5EF4-FFF2-40B4-BE49-F238E27FC236}">
                <a16:creationId xmlns:a16="http://schemas.microsoft.com/office/drawing/2014/main" id="{142EFF6F-5AA0-C762-D56C-616131AE7E90}"/>
              </a:ext>
            </a:extLst>
          </p:cNvPr>
          <p:cNvPicPr>
            <a:picLocks noChangeAspect="1"/>
          </p:cNvPicPr>
          <p:nvPr/>
        </p:nvPicPr>
        <p:blipFill>
          <a:blip r:embed="rId4"/>
          <a:stretch>
            <a:fillRect/>
          </a:stretch>
        </p:blipFill>
        <p:spPr>
          <a:xfrm>
            <a:off x="6361176" y="5297513"/>
            <a:ext cx="256032" cy="256032"/>
          </a:xfrm>
          <a:prstGeom prst="rect">
            <a:avLst/>
          </a:prstGeom>
        </p:spPr>
      </p:pic>
      <p:sp>
        <p:nvSpPr>
          <p:cNvPr id="14" name="Text 12">
            <a:extLst>
              <a:ext uri="{FF2B5EF4-FFF2-40B4-BE49-F238E27FC236}">
                <a16:creationId xmlns:a16="http://schemas.microsoft.com/office/drawing/2014/main" id="{9A549EB9-775D-A371-792E-B84E28E897A0}"/>
              </a:ext>
            </a:extLst>
          </p:cNvPr>
          <p:cNvSpPr/>
          <p:nvPr/>
        </p:nvSpPr>
        <p:spPr>
          <a:xfrm>
            <a:off x="6827520" y="5169497"/>
            <a:ext cx="1097280" cy="274320"/>
          </a:xfrm>
          <a:prstGeom prst="rect">
            <a:avLst/>
          </a:prstGeom>
          <a:noFill/>
          <a:ln/>
        </p:spPr>
        <p:txBody>
          <a:bodyPr wrap="square" rtlCol="0" anchor="b"/>
          <a:lstStyle/>
          <a:p>
            <a:pPr marL="0" indent="0">
              <a:buNone/>
            </a:pPr>
            <a:r>
              <a:rPr lang="en-US" sz="1450" b="1" dirty="0">
                <a:solidFill>
                  <a:srgbClr val="0F1F3D"/>
                </a:solidFill>
                <a:latin typeface="Calibri" pitchFamily="34" charset="0"/>
                <a:ea typeface="Calibri" pitchFamily="34" charset="-122"/>
                <a:cs typeface="Calibri" pitchFamily="34" charset="-120"/>
              </a:rPr>
              <a:t>CPU</a:t>
            </a:r>
            <a:endParaRPr lang="en-US" sz="1450" dirty="0"/>
          </a:p>
        </p:txBody>
      </p:sp>
      <p:sp>
        <p:nvSpPr>
          <p:cNvPr id="15" name="Text 13">
            <a:extLst>
              <a:ext uri="{FF2B5EF4-FFF2-40B4-BE49-F238E27FC236}">
                <a16:creationId xmlns:a16="http://schemas.microsoft.com/office/drawing/2014/main" id="{0FE3E1EA-A650-98C3-2043-73A9BFC01600}"/>
              </a:ext>
            </a:extLst>
          </p:cNvPr>
          <p:cNvSpPr/>
          <p:nvPr/>
        </p:nvSpPr>
        <p:spPr>
          <a:xfrm>
            <a:off x="6827520" y="5434673"/>
            <a:ext cx="1097280" cy="201168"/>
          </a:xfrm>
          <a:prstGeom prst="rect">
            <a:avLst/>
          </a:prstGeom>
          <a:noFill/>
          <a:ln/>
        </p:spPr>
        <p:txBody>
          <a:bodyPr wrap="square" rtlCol="0" anchor="t"/>
          <a:lstStyle/>
          <a:p>
            <a:pPr marL="0" indent="0">
              <a:buNone/>
            </a:pPr>
            <a:r>
              <a:rPr lang="en-US" sz="900" b="1" kern="0" spc="100" dirty="0">
                <a:solidFill>
                  <a:srgbClr val="E8983A"/>
                </a:solidFill>
                <a:latin typeface="Calibri" pitchFamily="34" charset="0"/>
                <a:ea typeface="Calibri" pitchFamily="34" charset="-122"/>
                <a:cs typeface="Calibri" pitchFamily="34" charset="-120"/>
              </a:rPr>
              <a:t>VERARBEITUNG</a:t>
            </a:r>
            <a:endParaRPr lang="en-US" sz="900" dirty="0"/>
          </a:p>
        </p:txBody>
      </p:sp>
      <p:sp>
        <p:nvSpPr>
          <p:cNvPr id="16" name="Text 14">
            <a:extLst>
              <a:ext uri="{FF2B5EF4-FFF2-40B4-BE49-F238E27FC236}">
                <a16:creationId xmlns:a16="http://schemas.microsoft.com/office/drawing/2014/main" id="{F202AC4A-359D-0D48-6D70-B817FE1E351D}"/>
              </a:ext>
            </a:extLst>
          </p:cNvPr>
          <p:cNvSpPr/>
          <p:nvPr/>
        </p:nvSpPr>
        <p:spPr>
          <a:xfrm>
            <a:off x="6278880" y="5745569"/>
            <a:ext cx="1600200" cy="1508760"/>
          </a:xfrm>
          <a:prstGeom prst="rect">
            <a:avLst/>
          </a:prstGeom>
          <a:noFill/>
          <a:ln/>
        </p:spPr>
        <p:txBody>
          <a:bodyPr wrap="square" rtlCol="0" anchor="t"/>
          <a:lstStyle/>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Interrupt weckt Prozessor</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Treiber: Scan-Code -&gt; Zeichen (Unicode)</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rechnet binär (0/1), Takt in GHz</a:t>
            </a:r>
            <a:endParaRPr lang="en-US" sz="1050" dirty="0"/>
          </a:p>
        </p:txBody>
      </p:sp>
      <p:sp>
        <p:nvSpPr>
          <p:cNvPr id="17" name="Shape 15">
            <a:extLst>
              <a:ext uri="{FF2B5EF4-FFF2-40B4-BE49-F238E27FC236}">
                <a16:creationId xmlns:a16="http://schemas.microsoft.com/office/drawing/2014/main" id="{54BB2233-9E00-B132-BBF4-D3A05D9785AD}"/>
              </a:ext>
            </a:extLst>
          </p:cNvPr>
          <p:cNvSpPr/>
          <p:nvPr/>
        </p:nvSpPr>
        <p:spPr>
          <a:xfrm>
            <a:off x="2938935" y="3619209"/>
            <a:ext cx="1965960" cy="2443840"/>
          </a:xfrm>
          <a:prstGeom prst="roundRect">
            <a:avLst>
              <a:gd name="adj" fmla="val 4186"/>
            </a:avLst>
          </a:prstGeom>
          <a:solidFill>
            <a:srgbClr val="FFFFFF"/>
          </a:solidFill>
          <a:ln w="12700">
            <a:solidFill>
              <a:srgbClr val="D6DBE3"/>
            </a:solidFill>
            <a:prstDash val="solid"/>
          </a:ln>
          <a:effectLst>
            <a:outerShdw blurRad="76200" dist="25400" dir="5400000" algn="bl" rotWithShape="0">
              <a:srgbClr val="1B2B4D">
                <a:alpha val="18000"/>
              </a:srgbClr>
            </a:outerShdw>
          </a:effectLst>
        </p:spPr>
      </p:sp>
      <p:sp>
        <p:nvSpPr>
          <p:cNvPr id="18" name="Shape 16">
            <a:extLst>
              <a:ext uri="{FF2B5EF4-FFF2-40B4-BE49-F238E27FC236}">
                <a16:creationId xmlns:a16="http://schemas.microsoft.com/office/drawing/2014/main" id="{8A669381-3644-1FA8-4ECF-BA9DD79BB75F}"/>
              </a:ext>
            </a:extLst>
          </p:cNvPr>
          <p:cNvSpPr/>
          <p:nvPr/>
        </p:nvSpPr>
        <p:spPr>
          <a:xfrm>
            <a:off x="3103527" y="3783801"/>
            <a:ext cx="457200" cy="457200"/>
          </a:xfrm>
          <a:prstGeom prst="ellipse">
            <a:avLst/>
          </a:prstGeom>
          <a:solidFill>
            <a:srgbClr val="0F1F3D"/>
          </a:solidFill>
          <a:ln/>
        </p:spPr>
      </p:sp>
      <p:pic>
        <p:nvPicPr>
          <p:cNvPr id="19" name="Image 2" descr="/home/claude/icon_ram.png">
            <a:extLst>
              <a:ext uri="{FF2B5EF4-FFF2-40B4-BE49-F238E27FC236}">
                <a16:creationId xmlns:a16="http://schemas.microsoft.com/office/drawing/2014/main" id="{1FEF6F9D-5864-A83D-7984-C4CE5B4CA439}"/>
              </a:ext>
            </a:extLst>
          </p:cNvPr>
          <p:cNvPicPr>
            <a:picLocks noChangeAspect="1"/>
          </p:cNvPicPr>
          <p:nvPr/>
        </p:nvPicPr>
        <p:blipFill>
          <a:blip r:embed="rId5"/>
          <a:stretch>
            <a:fillRect/>
          </a:stretch>
        </p:blipFill>
        <p:spPr>
          <a:xfrm>
            <a:off x="3204111" y="3884385"/>
            <a:ext cx="256032" cy="256032"/>
          </a:xfrm>
          <a:prstGeom prst="rect">
            <a:avLst/>
          </a:prstGeom>
        </p:spPr>
      </p:pic>
      <p:sp>
        <p:nvSpPr>
          <p:cNvPr id="20" name="Text 17">
            <a:extLst>
              <a:ext uri="{FF2B5EF4-FFF2-40B4-BE49-F238E27FC236}">
                <a16:creationId xmlns:a16="http://schemas.microsoft.com/office/drawing/2014/main" id="{295CA9EA-449C-30E7-63AF-C39E2C8A5961}"/>
              </a:ext>
            </a:extLst>
          </p:cNvPr>
          <p:cNvSpPr/>
          <p:nvPr/>
        </p:nvSpPr>
        <p:spPr>
          <a:xfrm>
            <a:off x="3670455" y="3756369"/>
            <a:ext cx="1097280" cy="274320"/>
          </a:xfrm>
          <a:prstGeom prst="rect">
            <a:avLst/>
          </a:prstGeom>
          <a:noFill/>
          <a:ln/>
        </p:spPr>
        <p:txBody>
          <a:bodyPr wrap="square" rtlCol="0" anchor="b"/>
          <a:lstStyle/>
          <a:p>
            <a:pPr marL="0" indent="0">
              <a:buNone/>
            </a:pPr>
            <a:r>
              <a:rPr lang="en-US" sz="1450" b="1" dirty="0">
                <a:solidFill>
                  <a:srgbClr val="0F1F3D"/>
                </a:solidFill>
                <a:latin typeface="Calibri" pitchFamily="34" charset="0"/>
                <a:ea typeface="Calibri" pitchFamily="34" charset="-122"/>
                <a:cs typeface="Calibri" pitchFamily="34" charset="-120"/>
              </a:rPr>
              <a:t>RAM</a:t>
            </a:r>
            <a:endParaRPr lang="en-US" sz="1450" dirty="0"/>
          </a:p>
        </p:txBody>
      </p:sp>
      <p:sp>
        <p:nvSpPr>
          <p:cNvPr id="21" name="Text 18">
            <a:extLst>
              <a:ext uri="{FF2B5EF4-FFF2-40B4-BE49-F238E27FC236}">
                <a16:creationId xmlns:a16="http://schemas.microsoft.com/office/drawing/2014/main" id="{F44AA063-C0FE-ACC7-F651-36F44603CA9F}"/>
              </a:ext>
            </a:extLst>
          </p:cNvPr>
          <p:cNvSpPr/>
          <p:nvPr/>
        </p:nvSpPr>
        <p:spPr>
          <a:xfrm>
            <a:off x="3670455" y="4021545"/>
            <a:ext cx="1097280" cy="201168"/>
          </a:xfrm>
          <a:prstGeom prst="rect">
            <a:avLst/>
          </a:prstGeom>
          <a:noFill/>
          <a:ln/>
        </p:spPr>
        <p:txBody>
          <a:bodyPr wrap="square" rtlCol="0" anchor="t"/>
          <a:lstStyle/>
          <a:p>
            <a:pPr marL="0" indent="0">
              <a:buNone/>
            </a:pPr>
            <a:r>
              <a:rPr lang="en-US" sz="900" b="1" kern="0" spc="100" dirty="0">
                <a:solidFill>
                  <a:srgbClr val="E8983A"/>
                </a:solidFill>
                <a:latin typeface="Calibri" pitchFamily="34" charset="0"/>
                <a:ea typeface="Calibri" pitchFamily="34" charset="-122"/>
                <a:cs typeface="Calibri" pitchFamily="34" charset="-120"/>
              </a:rPr>
              <a:t>ARBEITSSPEICHER</a:t>
            </a:r>
            <a:endParaRPr lang="en-US" sz="900" dirty="0"/>
          </a:p>
        </p:txBody>
      </p:sp>
      <p:sp>
        <p:nvSpPr>
          <p:cNvPr id="22" name="Text 19">
            <a:extLst>
              <a:ext uri="{FF2B5EF4-FFF2-40B4-BE49-F238E27FC236}">
                <a16:creationId xmlns:a16="http://schemas.microsoft.com/office/drawing/2014/main" id="{950FB6C4-413A-5C7C-CF81-EE5E0F200C3F}"/>
              </a:ext>
            </a:extLst>
          </p:cNvPr>
          <p:cNvSpPr/>
          <p:nvPr/>
        </p:nvSpPr>
        <p:spPr>
          <a:xfrm>
            <a:off x="3121815" y="4332441"/>
            <a:ext cx="1600200" cy="1508760"/>
          </a:xfrm>
          <a:prstGeom prst="rect">
            <a:avLst/>
          </a:prstGeom>
          <a:noFill/>
          <a:ln/>
        </p:spPr>
        <p:txBody>
          <a:bodyPr wrap="square" rtlCol="0" anchor="t"/>
          <a:lstStyle/>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„Schreibtisch“ der CPU</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schnell, </a:t>
            </a:r>
            <a:r>
              <a:rPr lang="en-US" sz="1050" dirty="0" err="1">
                <a:solidFill>
                  <a:srgbClr val="5B6472"/>
                </a:solidFill>
                <a:latin typeface="Calibri" pitchFamily="34" charset="0"/>
                <a:ea typeface="Calibri" pitchFamily="34" charset="-122"/>
                <a:cs typeface="Calibri" pitchFamily="34" charset="-120"/>
              </a:rPr>
              <a:t>aber</a:t>
            </a:r>
            <a:r>
              <a:rPr lang="en-US" sz="1050" dirty="0">
                <a:solidFill>
                  <a:srgbClr val="5B6472"/>
                </a:solidFill>
                <a:latin typeface="Calibri" pitchFamily="34" charset="0"/>
                <a:ea typeface="Calibri" pitchFamily="34" charset="-122"/>
                <a:cs typeface="Calibri" pitchFamily="34" charset="-120"/>
              </a:rPr>
              <a:t> </a:t>
            </a:r>
            <a:r>
              <a:rPr lang="en-US" sz="1050" dirty="0" err="1">
                <a:solidFill>
                  <a:srgbClr val="5B6472"/>
                </a:solidFill>
                <a:latin typeface="Calibri" pitchFamily="34" charset="0"/>
                <a:ea typeface="Calibri" pitchFamily="34" charset="-122"/>
                <a:cs typeface="Calibri" pitchFamily="34" charset="-120"/>
              </a:rPr>
              <a:t>flüchtig</a:t>
            </a:r>
            <a:endParaRPr lang="en-US" sz="1050" dirty="0"/>
          </a:p>
        </p:txBody>
      </p:sp>
      <p:sp>
        <p:nvSpPr>
          <p:cNvPr id="23" name="Shape 20">
            <a:extLst>
              <a:ext uri="{FF2B5EF4-FFF2-40B4-BE49-F238E27FC236}">
                <a16:creationId xmlns:a16="http://schemas.microsoft.com/office/drawing/2014/main" id="{40112C61-7816-EA78-3B17-ADD1F51826A8}"/>
              </a:ext>
            </a:extLst>
          </p:cNvPr>
          <p:cNvSpPr/>
          <p:nvPr/>
        </p:nvSpPr>
        <p:spPr>
          <a:xfrm>
            <a:off x="7223760" y="2307010"/>
            <a:ext cx="1965960" cy="2331720"/>
          </a:xfrm>
          <a:prstGeom prst="roundRect">
            <a:avLst>
              <a:gd name="adj" fmla="val 4186"/>
            </a:avLst>
          </a:prstGeom>
          <a:solidFill>
            <a:srgbClr val="FFFFFF"/>
          </a:solidFill>
          <a:ln w="12700">
            <a:solidFill>
              <a:srgbClr val="D6DBE3"/>
            </a:solidFill>
            <a:prstDash val="solid"/>
          </a:ln>
          <a:effectLst>
            <a:outerShdw blurRad="76200" dist="25400" dir="5400000" algn="bl" rotWithShape="0">
              <a:srgbClr val="1B2B4D">
                <a:alpha val="18000"/>
              </a:srgbClr>
            </a:outerShdw>
          </a:effectLst>
        </p:spPr>
      </p:sp>
      <p:sp>
        <p:nvSpPr>
          <p:cNvPr id="24" name="Shape 21">
            <a:extLst>
              <a:ext uri="{FF2B5EF4-FFF2-40B4-BE49-F238E27FC236}">
                <a16:creationId xmlns:a16="http://schemas.microsoft.com/office/drawing/2014/main" id="{41B5E23E-8A90-3A1F-0EB8-929048AA8B55}"/>
              </a:ext>
            </a:extLst>
          </p:cNvPr>
          <p:cNvSpPr/>
          <p:nvPr/>
        </p:nvSpPr>
        <p:spPr>
          <a:xfrm>
            <a:off x="7388352" y="2471602"/>
            <a:ext cx="457200" cy="457200"/>
          </a:xfrm>
          <a:prstGeom prst="ellipse">
            <a:avLst/>
          </a:prstGeom>
          <a:solidFill>
            <a:srgbClr val="0F1F3D"/>
          </a:solidFill>
          <a:ln/>
        </p:spPr>
      </p:sp>
      <p:pic>
        <p:nvPicPr>
          <p:cNvPr id="25" name="Image 3" descr="/home/claude/icon_gpu.png">
            <a:extLst>
              <a:ext uri="{FF2B5EF4-FFF2-40B4-BE49-F238E27FC236}">
                <a16:creationId xmlns:a16="http://schemas.microsoft.com/office/drawing/2014/main" id="{2D6D0ECC-3D61-99DC-A884-6F6E989D6D9F}"/>
              </a:ext>
            </a:extLst>
          </p:cNvPr>
          <p:cNvPicPr>
            <a:picLocks noChangeAspect="1"/>
          </p:cNvPicPr>
          <p:nvPr/>
        </p:nvPicPr>
        <p:blipFill>
          <a:blip r:embed="rId6"/>
          <a:stretch>
            <a:fillRect/>
          </a:stretch>
        </p:blipFill>
        <p:spPr>
          <a:xfrm>
            <a:off x="7488936" y="2572186"/>
            <a:ext cx="256032" cy="256032"/>
          </a:xfrm>
          <a:prstGeom prst="rect">
            <a:avLst/>
          </a:prstGeom>
        </p:spPr>
      </p:pic>
      <p:sp>
        <p:nvSpPr>
          <p:cNvPr id="26" name="Text 22">
            <a:extLst>
              <a:ext uri="{FF2B5EF4-FFF2-40B4-BE49-F238E27FC236}">
                <a16:creationId xmlns:a16="http://schemas.microsoft.com/office/drawing/2014/main" id="{C80D6675-BFA9-1AD3-CD85-9EE610D4AAD4}"/>
              </a:ext>
            </a:extLst>
          </p:cNvPr>
          <p:cNvSpPr/>
          <p:nvPr/>
        </p:nvSpPr>
        <p:spPr>
          <a:xfrm>
            <a:off x="7955280" y="2444170"/>
            <a:ext cx="1097280" cy="274320"/>
          </a:xfrm>
          <a:prstGeom prst="rect">
            <a:avLst/>
          </a:prstGeom>
          <a:noFill/>
          <a:ln/>
        </p:spPr>
        <p:txBody>
          <a:bodyPr wrap="square" rtlCol="0" anchor="b"/>
          <a:lstStyle/>
          <a:p>
            <a:pPr marL="0" indent="0">
              <a:buNone/>
            </a:pPr>
            <a:r>
              <a:rPr lang="en-US" sz="1450" b="1" dirty="0">
                <a:solidFill>
                  <a:srgbClr val="0F1F3D"/>
                </a:solidFill>
                <a:latin typeface="Calibri" pitchFamily="34" charset="0"/>
                <a:ea typeface="Calibri" pitchFamily="34" charset="-122"/>
                <a:cs typeface="Calibri" pitchFamily="34" charset="-120"/>
              </a:rPr>
              <a:t>GPU</a:t>
            </a:r>
            <a:endParaRPr lang="en-US" sz="1450" dirty="0"/>
          </a:p>
        </p:txBody>
      </p:sp>
      <p:sp>
        <p:nvSpPr>
          <p:cNvPr id="27" name="Text 23">
            <a:extLst>
              <a:ext uri="{FF2B5EF4-FFF2-40B4-BE49-F238E27FC236}">
                <a16:creationId xmlns:a16="http://schemas.microsoft.com/office/drawing/2014/main" id="{9317C872-5830-93E0-E266-15E29CB8DCD6}"/>
              </a:ext>
            </a:extLst>
          </p:cNvPr>
          <p:cNvSpPr/>
          <p:nvPr/>
        </p:nvSpPr>
        <p:spPr>
          <a:xfrm>
            <a:off x="7955280" y="2709346"/>
            <a:ext cx="1097280" cy="201168"/>
          </a:xfrm>
          <a:prstGeom prst="rect">
            <a:avLst/>
          </a:prstGeom>
          <a:noFill/>
          <a:ln/>
        </p:spPr>
        <p:txBody>
          <a:bodyPr wrap="square" rtlCol="0" anchor="t"/>
          <a:lstStyle/>
          <a:p>
            <a:pPr marL="0" indent="0">
              <a:buNone/>
            </a:pPr>
            <a:r>
              <a:rPr lang="en-US" sz="900" b="1" kern="0" spc="100" dirty="0">
                <a:solidFill>
                  <a:srgbClr val="E8983A"/>
                </a:solidFill>
                <a:latin typeface="Calibri" pitchFamily="34" charset="0"/>
                <a:ea typeface="Calibri" pitchFamily="34" charset="-122"/>
                <a:cs typeface="Calibri" pitchFamily="34" charset="-120"/>
              </a:rPr>
              <a:t>GRAFIKKARTE</a:t>
            </a:r>
            <a:endParaRPr lang="en-US" sz="900" dirty="0"/>
          </a:p>
        </p:txBody>
      </p:sp>
      <p:sp>
        <p:nvSpPr>
          <p:cNvPr id="28" name="Text 24">
            <a:extLst>
              <a:ext uri="{FF2B5EF4-FFF2-40B4-BE49-F238E27FC236}">
                <a16:creationId xmlns:a16="http://schemas.microsoft.com/office/drawing/2014/main" id="{677DFBBF-4691-AB74-D950-8BADD6121B1D}"/>
              </a:ext>
            </a:extLst>
          </p:cNvPr>
          <p:cNvSpPr/>
          <p:nvPr/>
        </p:nvSpPr>
        <p:spPr>
          <a:xfrm>
            <a:off x="7406640" y="3020242"/>
            <a:ext cx="1600200" cy="1508760"/>
          </a:xfrm>
          <a:prstGeom prst="rect">
            <a:avLst/>
          </a:prstGeom>
          <a:noFill/>
          <a:ln/>
        </p:spPr>
        <p:txBody>
          <a:bodyPr wrap="square" rtlCol="0" anchor="t"/>
          <a:lstStyle/>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wandelt Zeichen in Pixel um</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Rasterisierung der Schriftart</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Bild landet im Framebuffer</a:t>
            </a:r>
            <a:endParaRPr lang="en-US" sz="1050" dirty="0"/>
          </a:p>
        </p:txBody>
      </p:sp>
      <p:sp>
        <p:nvSpPr>
          <p:cNvPr id="29" name="Shape 25">
            <a:extLst>
              <a:ext uri="{FF2B5EF4-FFF2-40B4-BE49-F238E27FC236}">
                <a16:creationId xmlns:a16="http://schemas.microsoft.com/office/drawing/2014/main" id="{2B575A70-86F5-A09E-7CE1-23BBA9867DBC}"/>
              </a:ext>
            </a:extLst>
          </p:cNvPr>
          <p:cNvSpPr/>
          <p:nvPr/>
        </p:nvSpPr>
        <p:spPr>
          <a:xfrm>
            <a:off x="9784080" y="2307010"/>
            <a:ext cx="2057400" cy="2331720"/>
          </a:xfrm>
          <a:prstGeom prst="roundRect">
            <a:avLst>
              <a:gd name="adj" fmla="val 4000"/>
            </a:avLst>
          </a:prstGeom>
          <a:solidFill>
            <a:srgbClr val="FFFFFF"/>
          </a:solidFill>
          <a:ln w="12700">
            <a:solidFill>
              <a:srgbClr val="D6DBE3"/>
            </a:solidFill>
            <a:prstDash val="solid"/>
          </a:ln>
          <a:effectLst>
            <a:outerShdw blurRad="76200" dist="25400" dir="5400000" algn="bl" rotWithShape="0">
              <a:srgbClr val="1B2B4D">
                <a:alpha val="18000"/>
              </a:srgbClr>
            </a:outerShdw>
          </a:effectLst>
        </p:spPr>
      </p:sp>
      <p:sp>
        <p:nvSpPr>
          <p:cNvPr id="30" name="Shape 26">
            <a:extLst>
              <a:ext uri="{FF2B5EF4-FFF2-40B4-BE49-F238E27FC236}">
                <a16:creationId xmlns:a16="http://schemas.microsoft.com/office/drawing/2014/main" id="{2E546929-61BD-76CE-88CC-DB1B2EB13D75}"/>
              </a:ext>
            </a:extLst>
          </p:cNvPr>
          <p:cNvSpPr/>
          <p:nvPr/>
        </p:nvSpPr>
        <p:spPr>
          <a:xfrm>
            <a:off x="9948672" y="2471602"/>
            <a:ext cx="457200" cy="457200"/>
          </a:xfrm>
          <a:prstGeom prst="ellipse">
            <a:avLst/>
          </a:prstGeom>
          <a:solidFill>
            <a:srgbClr val="0F1F3D"/>
          </a:solidFill>
          <a:ln/>
        </p:spPr>
      </p:sp>
      <p:pic>
        <p:nvPicPr>
          <p:cNvPr id="31" name="Image 4" descr="/home/claude/icon_monitor.png">
            <a:extLst>
              <a:ext uri="{FF2B5EF4-FFF2-40B4-BE49-F238E27FC236}">
                <a16:creationId xmlns:a16="http://schemas.microsoft.com/office/drawing/2014/main" id="{B4719BA9-9E12-A6C4-0629-D00B2F302069}"/>
              </a:ext>
            </a:extLst>
          </p:cNvPr>
          <p:cNvPicPr>
            <a:picLocks noChangeAspect="1"/>
          </p:cNvPicPr>
          <p:nvPr/>
        </p:nvPicPr>
        <p:blipFill>
          <a:blip r:embed="rId7"/>
          <a:stretch>
            <a:fillRect/>
          </a:stretch>
        </p:blipFill>
        <p:spPr>
          <a:xfrm>
            <a:off x="10049256" y="2572186"/>
            <a:ext cx="256032" cy="256032"/>
          </a:xfrm>
          <a:prstGeom prst="rect">
            <a:avLst/>
          </a:prstGeom>
        </p:spPr>
      </p:pic>
      <p:sp>
        <p:nvSpPr>
          <p:cNvPr id="32" name="Text 27">
            <a:extLst>
              <a:ext uri="{FF2B5EF4-FFF2-40B4-BE49-F238E27FC236}">
                <a16:creationId xmlns:a16="http://schemas.microsoft.com/office/drawing/2014/main" id="{97713CA2-6D0F-5550-98A6-0305B6CEADAA}"/>
              </a:ext>
            </a:extLst>
          </p:cNvPr>
          <p:cNvSpPr/>
          <p:nvPr/>
        </p:nvSpPr>
        <p:spPr>
          <a:xfrm>
            <a:off x="10515600" y="2444170"/>
            <a:ext cx="1188720" cy="274320"/>
          </a:xfrm>
          <a:prstGeom prst="rect">
            <a:avLst/>
          </a:prstGeom>
          <a:noFill/>
          <a:ln/>
        </p:spPr>
        <p:txBody>
          <a:bodyPr wrap="square" rtlCol="0" anchor="b"/>
          <a:lstStyle/>
          <a:p>
            <a:pPr marL="0" indent="0">
              <a:buNone/>
            </a:pPr>
            <a:r>
              <a:rPr lang="en-US" sz="1450" b="1" dirty="0">
                <a:solidFill>
                  <a:srgbClr val="0F1F3D"/>
                </a:solidFill>
                <a:latin typeface="Calibri" pitchFamily="34" charset="0"/>
                <a:ea typeface="Calibri" pitchFamily="34" charset="-122"/>
                <a:cs typeface="Calibri" pitchFamily="34" charset="-120"/>
              </a:rPr>
              <a:t>Bildschirm</a:t>
            </a:r>
            <a:endParaRPr lang="en-US" sz="1450" dirty="0"/>
          </a:p>
        </p:txBody>
      </p:sp>
      <p:sp>
        <p:nvSpPr>
          <p:cNvPr id="33" name="Text 28">
            <a:extLst>
              <a:ext uri="{FF2B5EF4-FFF2-40B4-BE49-F238E27FC236}">
                <a16:creationId xmlns:a16="http://schemas.microsoft.com/office/drawing/2014/main" id="{78E96D29-5762-B1FE-A927-D639698FD63C}"/>
              </a:ext>
            </a:extLst>
          </p:cNvPr>
          <p:cNvSpPr/>
          <p:nvPr/>
        </p:nvSpPr>
        <p:spPr>
          <a:xfrm>
            <a:off x="10515600" y="2709346"/>
            <a:ext cx="1188720" cy="201168"/>
          </a:xfrm>
          <a:prstGeom prst="rect">
            <a:avLst/>
          </a:prstGeom>
          <a:noFill/>
          <a:ln/>
        </p:spPr>
        <p:txBody>
          <a:bodyPr wrap="square" rtlCol="0" anchor="t"/>
          <a:lstStyle/>
          <a:p>
            <a:pPr marL="0" indent="0">
              <a:buNone/>
            </a:pPr>
            <a:r>
              <a:rPr lang="en-US" sz="900" b="1" kern="0" spc="100" dirty="0">
                <a:solidFill>
                  <a:srgbClr val="E8983A"/>
                </a:solidFill>
                <a:latin typeface="Calibri" pitchFamily="34" charset="0"/>
                <a:ea typeface="Calibri" pitchFamily="34" charset="-122"/>
                <a:cs typeface="Calibri" pitchFamily="34" charset="-120"/>
              </a:rPr>
              <a:t>ANZEIGE</a:t>
            </a:r>
            <a:endParaRPr lang="en-US" sz="900" dirty="0"/>
          </a:p>
        </p:txBody>
      </p:sp>
      <p:sp>
        <p:nvSpPr>
          <p:cNvPr id="34" name="Text 29">
            <a:extLst>
              <a:ext uri="{FF2B5EF4-FFF2-40B4-BE49-F238E27FC236}">
                <a16:creationId xmlns:a16="http://schemas.microsoft.com/office/drawing/2014/main" id="{CB95FC10-CE41-3797-9819-1C3562851592}"/>
              </a:ext>
            </a:extLst>
          </p:cNvPr>
          <p:cNvSpPr/>
          <p:nvPr/>
        </p:nvSpPr>
        <p:spPr>
          <a:xfrm>
            <a:off x="9966960" y="3020242"/>
            <a:ext cx="1691640" cy="1508760"/>
          </a:xfrm>
          <a:prstGeom prst="rect">
            <a:avLst/>
          </a:prstGeom>
          <a:noFill/>
          <a:ln/>
        </p:spPr>
        <p:txBody>
          <a:bodyPr wrap="square" rtlCol="0" anchor="t"/>
          <a:lstStyle/>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liest Framebuffer aus</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z. B. 60x pro Sekunde</a:t>
            </a:r>
            <a:endParaRPr lang="en-US" sz="1050" dirty="0"/>
          </a:p>
          <a:p>
            <a:pPr marL="152400" indent="-152400">
              <a:lnSpc>
                <a:spcPct val="112000"/>
              </a:lnSpc>
              <a:buSzPct val="100000"/>
              <a:buChar char="•"/>
            </a:pPr>
            <a:r>
              <a:rPr lang="en-US" sz="1050" dirty="0">
                <a:solidFill>
                  <a:srgbClr val="5B6472"/>
                </a:solidFill>
                <a:latin typeface="Calibri" pitchFamily="34" charset="0"/>
                <a:ea typeface="Calibri" pitchFamily="34" charset="-122"/>
                <a:cs typeface="Calibri" pitchFamily="34" charset="-120"/>
              </a:rPr>
              <a:t>zeigt das Zeichen an</a:t>
            </a:r>
            <a:endParaRPr lang="en-US" sz="1050" dirty="0"/>
          </a:p>
        </p:txBody>
      </p:sp>
      <p:sp>
        <p:nvSpPr>
          <p:cNvPr id="37" name="Shape 32">
            <a:extLst>
              <a:ext uri="{FF2B5EF4-FFF2-40B4-BE49-F238E27FC236}">
                <a16:creationId xmlns:a16="http://schemas.microsoft.com/office/drawing/2014/main" id="{BB545AF3-7D01-93D0-29EA-746623C723B7}"/>
              </a:ext>
            </a:extLst>
          </p:cNvPr>
          <p:cNvSpPr/>
          <p:nvPr/>
        </p:nvSpPr>
        <p:spPr>
          <a:xfrm>
            <a:off x="8116824" y="6198197"/>
            <a:ext cx="210312" cy="0"/>
          </a:xfrm>
          <a:prstGeom prst="line">
            <a:avLst/>
          </a:prstGeom>
          <a:noFill/>
          <a:ln w="22225">
            <a:solidFill>
              <a:srgbClr val="5B6472"/>
            </a:solidFill>
            <a:prstDash val="solid"/>
            <a:tailEnd type="triangle"/>
          </a:ln>
        </p:spPr>
      </p:sp>
      <p:sp>
        <p:nvSpPr>
          <p:cNvPr id="38" name="Shape 33">
            <a:extLst>
              <a:ext uri="{FF2B5EF4-FFF2-40B4-BE49-F238E27FC236}">
                <a16:creationId xmlns:a16="http://schemas.microsoft.com/office/drawing/2014/main" id="{AFB5F13F-4B36-D54E-C9F3-9B1D2AE33BC2}"/>
              </a:ext>
            </a:extLst>
          </p:cNvPr>
          <p:cNvSpPr/>
          <p:nvPr/>
        </p:nvSpPr>
        <p:spPr>
          <a:xfrm>
            <a:off x="6958584" y="3472870"/>
            <a:ext cx="210312" cy="0"/>
          </a:xfrm>
          <a:prstGeom prst="line">
            <a:avLst/>
          </a:prstGeom>
          <a:noFill/>
          <a:ln w="22225">
            <a:solidFill>
              <a:srgbClr val="5B6472"/>
            </a:solidFill>
            <a:prstDash val="solid"/>
            <a:tailEnd type="triangle"/>
          </a:ln>
        </p:spPr>
      </p:sp>
      <p:sp>
        <p:nvSpPr>
          <p:cNvPr id="39" name="Shape 34">
            <a:extLst>
              <a:ext uri="{FF2B5EF4-FFF2-40B4-BE49-F238E27FC236}">
                <a16:creationId xmlns:a16="http://schemas.microsoft.com/office/drawing/2014/main" id="{F457E360-B9C2-C489-6497-5CBCBA84541A}"/>
              </a:ext>
            </a:extLst>
          </p:cNvPr>
          <p:cNvSpPr/>
          <p:nvPr/>
        </p:nvSpPr>
        <p:spPr>
          <a:xfrm>
            <a:off x="9244584" y="3472870"/>
            <a:ext cx="484632" cy="0"/>
          </a:xfrm>
          <a:prstGeom prst="line">
            <a:avLst/>
          </a:prstGeom>
          <a:noFill/>
          <a:ln w="22225">
            <a:solidFill>
              <a:srgbClr val="5B6472"/>
            </a:solidFill>
            <a:prstDash val="solid"/>
            <a:tailEnd type="triangle"/>
          </a:ln>
        </p:spPr>
      </p:sp>
      <p:sp>
        <p:nvSpPr>
          <p:cNvPr id="40" name="Text 35">
            <a:extLst>
              <a:ext uri="{FF2B5EF4-FFF2-40B4-BE49-F238E27FC236}">
                <a16:creationId xmlns:a16="http://schemas.microsoft.com/office/drawing/2014/main" id="{72FAB1A1-4C3F-67A2-9367-6E40D838D2A2}"/>
              </a:ext>
            </a:extLst>
          </p:cNvPr>
          <p:cNvSpPr/>
          <p:nvPr/>
        </p:nvSpPr>
        <p:spPr>
          <a:xfrm>
            <a:off x="9244584" y="3161974"/>
            <a:ext cx="484632" cy="256032"/>
          </a:xfrm>
          <a:prstGeom prst="rect">
            <a:avLst/>
          </a:prstGeom>
          <a:noFill/>
          <a:ln/>
        </p:spPr>
        <p:txBody>
          <a:bodyPr wrap="square" rtlCol="0" anchor="ctr"/>
          <a:lstStyle/>
          <a:p>
            <a:pPr marL="0" indent="0" algn="ctr">
              <a:buNone/>
            </a:pPr>
            <a:r>
              <a:rPr lang="en-US" sz="850" i="1" dirty="0">
                <a:solidFill>
                  <a:srgbClr val="5B6472"/>
                </a:solidFill>
                <a:latin typeface="Calibri" pitchFamily="34" charset="0"/>
                <a:ea typeface="Calibri" pitchFamily="34" charset="-122"/>
                <a:cs typeface="Calibri" pitchFamily="34" charset="-120"/>
              </a:rPr>
              <a:t>Pixel</a:t>
            </a:r>
            <a:endParaRPr lang="en-US" sz="850" dirty="0"/>
          </a:p>
        </p:txBody>
      </p:sp>
      <p:sp>
        <p:nvSpPr>
          <p:cNvPr id="41" name="Rechteck: abgerundete Ecken 40">
            <a:extLst>
              <a:ext uri="{FF2B5EF4-FFF2-40B4-BE49-F238E27FC236}">
                <a16:creationId xmlns:a16="http://schemas.microsoft.com/office/drawing/2014/main" id="{D14EBD60-B3BC-B292-9F1B-8B7F94165222}"/>
              </a:ext>
            </a:extLst>
          </p:cNvPr>
          <p:cNvSpPr/>
          <p:nvPr/>
        </p:nvSpPr>
        <p:spPr>
          <a:xfrm>
            <a:off x="3196677" y="4921736"/>
            <a:ext cx="1499612" cy="279419"/>
          </a:xfrm>
          <a:prstGeom prst="roundRect">
            <a:avLst/>
          </a:prstGeom>
          <a:solidFill>
            <a:srgbClr val="0F1F3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050" dirty="0"/>
              <a:t>Scan Code</a:t>
            </a:r>
          </a:p>
        </p:txBody>
      </p:sp>
      <p:sp>
        <p:nvSpPr>
          <p:cNvPr id="42" name="Rechteck: abgerundete Ecken 41">
            <a:extLst>
              <a:ext uri="{FF2B5EF4-FFF2-40B4-BE49-F238E27FC236}">
                <a16:creationId xmlns:a16="http://schemas.microsoft.com/office/drawing/2014/main" id="{4DAC00B8-3EA7-C10F-A8EC-13C50D88D6EE}"/>
              </a:ext>
            </a:extLst>
          </p:cNvPr>
          <p:cNvSpPr/>
          <p:nvPr/>
        </p:nvSpPr>
        <p:spPr>
          <a:xfrm>
            <a:off x="3200490" y="5332794"/>
            <a:ext cx="1499612" cy="279419"/>
          </a:xfrm>
          <a:prstGeom prst="roundRect">
            <a:avLst/>
          </a:prstGeom>
          <a:solidFill>
            <a:srgbClr val="0F1F3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050" dirty="0"/>
              <a:t>Treiber Code</a:t>
            </a:r>
          </a:p>
        </p:txBody>
      </p:sp>
      <p:sp>
        <p:nvSpPr>
          <p:cNvPr id="43" name="Shape 20">
            <a:extLst>
              <a:ext uri="{FF2B5EF4-FFF2-40B4-BE49-F238E27FC236}">
                <a16:creationId xmlns:a16="http://schemas.microsoft.com/office/drawing/2014/main" id="{8A7FE8B2-6412-73CE-9247-9FEC0CD52F83}"/>
              </a:ext>
            </a:extLst>
          </p:cNvPr>
          <p:cNvSpPr/>
          <p:nvPr/>
        </p:nvSpPr>
        <p:spPr>
          <a:xfrm>
            <a:off x="2464174" y="2565865"/>
            <a:ext cx="1404297" cy="462483"/>
          </a:xfrm>
          <a:prstGeom prst="roundRect">
            <a:avLst>
              <a:gd name="adj" fmla="val 4186"/>
            </a:avLst>
          </a:prstGeom>
          <a:solidFill>
            <a:srgbClr val="FFFFFF"/>
          </a:solidFill>
          <a:ln w="12700">
            <a:solidFill>
              <a:srgbClr val="D6DBE3"/>
            </a:solidFill>
            <a:prstDash val="solid"/>
          </a:ln>
          <a:effectLst>
            <a:outerShdw blurRad="76200" dist="25400" dir="5400000" algn="bl" rotWithShape="0">
              <a:srgbClr val="1B2B4D">
                <a:alpha val="18000"/>
              </a:srgbClr>
            </a:outerShdw>
          </a:effectLst>
        </p:spPr>
        <p:txBody>
          <a:bodyPr/>
          <a:lstStyle/>
          <a:p>
            <a:r>
              <a:rPr lang="de-DE" dirty="0" err="1"/>
              <a:t>Usb</a:t>
            </a:r>
            <a:r>
              <a:rPr lang="de-DE" dirty="0"/>
              <a:t> </a:t>
            </a:r>
            <a:r>
              <a:rPr lang="de-DE" dirty="0" err="1"/>
              <a:t>controller</a:t>
            </a:r>
            <a:endParaRPr lang="de-DE" dirty="0"/>
          </a:p>
        </p:txBody>
      </p:sp>
    </p:spTree>
    <p:extLst>
      <p:ext uri="{BB962C8B-B14F-4D97-AF65-F5344CB8AC3E}">
        <p14:creationId xmlns:p14="http://schemas.microsoft.com/office/powerpoint/2010/main" val="1369823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Hardware</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 &amp; Software</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09</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sp>
        <p:nvSpPr>
          <p:cNvPr id="2" name="Rechteck: abgerundete Ecken 1">
            <a:extLst>
              <a:ext uri="{FF2B5EF4-FFF2-40B4-BE49-F238E27FC236}">
                <a16:creationId xmlns:a16="http://schemas.microsoft.com/office/drawing/2014/main" id="{1CFA4D2F-CF6A-222C-404D-0CE1AF8987F4}"/>
              </a:ext>
            </a:extLst>
          </p:cNvPr>
          <p:cNvSpPr/>
          <p:nvPr/>
        </p:nvSpPr>
        <p:spPr>
          <a:xfrm>
            <a:off x="3748216" y="2012092"/>
            <a:ext cx="3566983" cy="283381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9831200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JiTT</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 &amp; Software</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09</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4</a:t>
            </a:r>
            <a:endParaRPr lang="en-US" sz="939" b="0" strike="noStrike" spc="-1">
              <a:solidFill>
                <a:srgbClr val="000000"/>
              </a:solidFill>
              <a:latin typeface="Arial"/>
            </a:endParaRPr>
          </a:p>
        </p:txBody>
      </p:sp>
    </p:spTree>
    <p:extLst>
      <p:ext uri="{BB962C8B-B14F-4D97-AF65-F5344CB8AC3E}">
        <p14:creationId xmlns:p14="http://schemas.microsoft.com/office/powerpoint/2010/main" val="14270614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feld 100"/>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Geodaten</a:t>
            </a:r>
            <a:r>
              <a:rPr lang="en-US" sz="3190" b="1" strike="noStrike" spc="-1" dirty="0">
                <a:solidFill>
                  <a:srgbClr val="000000"/>
                </a:solidFill>
                <a:latin typeface="Noto Sans"/>
              </a:rPr>
              <a:t>, </a:t>
            </a:r>
            <a:r>
              <a:rPr lang="en-US" sz="3190" b="1" strike="noStrike" spc="-1" dirty="0" err="1">
                <a:solidFill>
                  <a:srgbClr val="000000"/>
                </a:solidFill>
                <a:latin typeface="Noto Sans"/>
              </a:rPr>
              <a:t>Koordinaten</a:t>
            </a:r>
            <a:r>
              <a:rPr lang="en-US" sz="3190" b="1" strike="noStrike" spc="-1" dirty="0">
                <a:solidFill>
                  <a:srgbClr val="000000"/>
                </a:solidFill>
                <a:latin typeface="Noto Sans"/>
              </a:rPr>
              <a:t> und </a:t>
            </a:r>
            <a:r>
              <a:rPr lang="en-US" sz="3190" b="1" strike="noStrike" spc="-1" dirty="0" err="1">
                <a:solidFill>
                  <a:srgbClr val="000000"/>
                </a:solidFill>
                <a:latin typeface="Noto Sans"/>
              </a:rPr>
              <a:t>Projektionen</a:t>
            </a:r>
            <a:endParaRPr lang="en-US" sz="3190" b="0" strike="noStrike" spc="-1" dirty="0">
              <a:solidFill>
                <a:srgbClr val="000000"/>
              </a:solidFill>
              <a:latin typeface="Arial"/>
            </a:endParaRPr>
          </a:p>
        </p:txBody>
      </p:sp>
      <p:sp>
        <p:nvSpPr>
          <p:cNvPr id="102" name="Textfeld 101"/>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UNIT 09 · ORIENTIERUNG</a:t>
            </a:r>
            <a:endParaRPr lang="en-US" sz="1130" b="0" strike="noStrike" spc="-1">
              <a:solidFill>
                <a:srgbClr val="000000"/>
              </a:solidFill>
              <a:latin typeface="Arial"/>
            </a:endParaRPr>
          </a:p>
        </p:txBody>
      </p:sp>
      <p:sp>
        <p:nvSpPr>
          <p:cNvPr id="103" name="Textfeld 102"/>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104" name="Textfeld 103"/>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3</a:t>
            </a:r>
            <a:endParaRPr lang="en-US" sz="939" b="0" strike="noStrike" spc="-1">
              <a:solidFill>
                <a:srgbClr val="000000"/>
              </a:solidFill>
              <a:latin typeface="Arial"/>
            </a:endParaRPr>
          </a:p>
        </p:txBody>
      </p:sp>
      <p:pic>
        <p:nvPicPr>
          <p:cNvPr id="105" name="Grafik 104"/>
          <p:cNvPicPr/>
          <p:nvPr/>
        </p:nvPicPr>
        <p:blipFill>
          <a:blip r:embed="rId3"/>
          <a:stretch/>
        </p:blipFill>
        <p:spPr>
          <a:xfrm>
            <a:off x="647640" y="1638360"/>
            <a:ext cx="10896840" cy="1816200"/>
          </a:xfrm>
          <a:prstGeom prst="rect">
            <a:avLst/>
          </a:prstGeom>
          <a:ln w="0">
            <a:noFill/>
          </a:ln>
        </p:spPr>
      </p:pic>
      <p:sp>
        <p:nvSpPr>
          <p:cNvPr id="106" name="Textfeld 105"/>
          <p:cNvSpPr txBox="1"/>
          <p:nvPr/>
        </p:nvSpPr>
        <p:spPr>
          <a:xfrm>
            <a:off x="647640" y="3551040"/>
            <a:ext cx="10896840" cy="190440"/>
          </a:xfrm>
          <a:prstGeom prst="rect">
            <a:avLst/>
          </a:prstGeom>
          <a:noFill/>
          <a:ln w="0">
            <a:noFill/>
          </a:ln>
        </p:spPr>
        <p:txBody>
          <a:bodyPr lIns="0" tIns="0" rIns="0" bIns="0" anchor="t">
            <a:noAutofit/>
          </a:bodyPr>
          <a:lstStyle/>
          <a:p>
            <a:r>
              <a:rPr lang="en-US" sz="939" b="0" strike="noStrike" spc="-1">
                <a:solidFill>
                  <a:srgbClr val="414141"/>
                </a:solidFill>
                <a:latin typeface="Noto Sans"/>
              </a:rPr>
              <a:t>Vorhandene KI-generierte Kursillustration</a:t>
            </a:r>
            <a:endParaRPr lang="en-US" sz="939" b="0" strike="noStrike" spc="-1">
              <a:solidFill>
                <a:srgbClr val="000000"/>
              </a:solidFill>
              <a:latin typeface="Arial"/>
            </a:endParaRPr>
          </a:p>
        </p:txBody>
      </p:sp>
      <p:sp>
        <p:nvSpPr>
          <p:cNvPr id="107" name="Textfeld 106"/>
          <p:cNvSpPr txBox="1"/>
          <p:nvPr/>
        </p:nvSpPr>
        <p:spPr>
          <a:xfrm>
            <a:off x="647640" y="4038480"/>
            <a:ext cx="3276720" cy="495360"/>
          </a:xfrm>
          <a:prstGeom prst="rect">
            <a:avLst/>
          </a:prstGeom>
          <a:noFill/>
          <a:ln w="0">
            <a:noFill/>
          </a:ln>
        </p:spPr>
        <p:txBody>
          <a:bodyPr lIns="0" tIns="0" rIns="0" bIns="0" anchor="t">
            <a:noAutofit/>
          </a:bodyPr>
          <a:lstStyle/>
          <a:p>
            <a:r>
              <a:rPr lang="en-US" sz="3100" b="1" strike="noStrike" spc="-1">
                <a:solidFill>
                  <a:srgbClr val="004899"/>
                </a:solidFill>
                <a:latin typeface="Noto Sans"/>
              </a:rPr>
              <a:t>01</a:t>
            </a:r>
            <a:endParaRPr lang="en-US" sz="3100" b="0" strike="noStrike" spc="-1">
              <a:solidFill>
                <a:srgbClr val="000000"/>
              </a:solidFill>
              <a:latin typeface="Arial"/>
            </a:endParaRPr>
          </a:p>
        </p:txBody>
      </p:sp>
      <p:sp>
        <p:nvSpPr>
          <p:cNvPr id="108" name="Textfeld 107"/>
          <p:cNvSpPr txBox="1"/>
          <p:nvPr/>
        </p:nvSpPr>
        <p:spPr>
          <a:xfrm>
            <a:off x="647640" y="4625280"/>
            <a:ext cx="3314880" cy="723960"/>
          </a:xfrm>
          <a:prstGeom prst="rect">
            <a:avLst/>
          </a:prstGeom>
          <a:noFill/>
          <a:ln w="0">
            <a:noFill/>
          </a:ln>
        </p:spPr>
        <p:txBody>
          <a:bodyPr lIns="0" tIns="0" rIns="0" bIns="0" anchor="t">
            <a:noAutofit/>
          </a:bodyPr>
          <a:lstStyle/>
          <a:p>
            <a:r>
              <a:rPr lang="en-US" sz="2450" b="1" strike="noStrike" spc="-1">
                <a:solidFill>
                  <a:srgbClr val="000000"/>
                </a:solidFill>
                <a:latin typeface="Noto Sans"/>
              </a:rPr>
              <a:t>Raumbezug erkennen</a:t>
            </a:r>
            <a:endParaRPr lang="en-US" sz="2450" b="0" strike="noStrike" spc="-1">
              <a:solidFill>
                <a:srgbClr val="000000"/>
              </a:solidFill>
              <a:latin typeface="Arial"/>
            </a:endParaRPr>
          </a:p>
        </p:txBody>
      </p:sp>
      <p:sp>
        <p:nvSpPr>
          <p:cNvPr id="109" name="Textfeld 108"/>
          <p:cNvSpPr txBox="1"/>
          <p:nvPr/>
        </p:nvSpPr>
        <p:spPr>
          <a:xfrm>
            <a:off x="4381560" y="4038480"/>
            <a:ext cx="3276720" cy="495360"/>
          </a:xfrm>
          <a:prstGeom prst="rect">
            <a:avLst/>
          </a:prstGeom>
          <a:noFill/>
          <a:ln w="0">
            <a:noFill/>
          </a:ln>
        </p:spPr>
        <p:txBody>
          <a:bodyPr lIns="0" tIns="0" rIns="0" bIns="0" anchor="t">
            <a:noAutofit/>
          </a:bodyPr>
          <a:lstStyle/>
          <a:p>
            <a:r>
              <a:rPr lang="en-US" sz="3100" b="1" strike="noStrike" spc="-1">
                <a:solidFill>
                  <a:srgbClr val="004899"/>
                </a:solidFill>
                <a:latin typeface="Noto Sans"/>
              </a:rPr>
              <a:t>02</a:t>
            </a:r>
            <a:endParaRPr lang="en-US" sz="3100" b="0" strike="noStrike" spc="-1">
              <a:solidFill>
                <a:srgbClr val="000000"/>
              </a:solidFill>
              <a:latin typeface="Arial"/>
            </a:endParaRPr>
          </a:p>
        </p:txBody>
      </p:sp>
      <p:sp>
        <p:nvSpPr>
          <p:cNvPr id="110" name="Textfeld 109"/>
          <p:cNvSpPr txBox="1"/>
          <p:nvPr/>
        </p:nvSpPr>
        <p:spPr>
          <a:xfrm>
            <a:off x="4381560" y="4625280"/>
            <a:ext cx="3314880" cy="723960"/>
          </a:xfrm>
          <a:prstGeom prst="rect">
            <a:avLst/>
          </a:prstGeom>
          <a:noFill/>
          <a:ln w="0">
            <a:noFill/>
          </a:ln>
        </p:spPr>
        <p:txBody>
          <a:bodyPr lIns="0" tIns="0" rIns="0" bIns="0" anchor="t">
            <a:noAutofit/>
          </a:bodyPr>
          <a:lstStyle/>
          <a:p>
            <a:r>
              <a:rPr lang="en-US" sz="2450" b="1" strike="noStrike" spc="-1">
                <a:solidFill>
                  <a:srgbClr val="000000"/>
                </a:solidFill>
                <a:latin typeface="Noto Sans"/>
              </a:rPr>
              <a:t>Koordinaten prüfen</a:t>
            </a:r>
            <a:endParaRPr lang="en-US" sz="2450" b="0" strike="noStrike" spc="-1">
              <a:solidFill>
                <a:srgbClr val="000000"/>
              </a:solidFill>
              <a:latin typeface="Arial"/>
            </a:endParaRPr>
          </a:p>
        </p:txBody>
      </p:sp>
      <p:sp>
        <p:nvSpPr>
          <p:cNvPr id="111" name="Textfeld 110"/>
          <p:cNvSpPr txBox="1"/>
          <p:nvPr/>
        </p:nvSpPr>
        <p:spPr>
          <a:xfrm>
            <a:off x="8115480" y="4038480"/>
            <a:ext cx="3276720" cy="495360"/>
          </a:xfrm>
          <a:prstGeom prst="rect">
            <a:avLst/>
          </a:prstGeom>
          <a:noFill/>
          <a:ln w="0">
            <a:noFill/>
          </a:ln>
        </p:spPr>
        <p:txBody>
          <a:bodyPr lIns="0" tIns="0" rIns="0" bIns="0" anchor="t">
            <a:noAutofit/>
          </a:bodyPr>
          <a:lstStyle/>
          <a:p>
            <a:r>
              <a:rPr lang="en-US" sz="3100" b="1" strike="noStrike" spc="-1">
                <a:solidFill>
                  <a:srgbClr val="004899"/>
                </a:solidFill>
                <a:latin typeface="Noto Sans"/>
              </a:rPr>
              <a:t>03</a:t>
            </a:r>
            <a:endParaRPr lang="en-US" sz="3100" b="0" strike="noStrike" spc="-1">
              <a:solidFill>
                <a:srgbClr val="000000"/>
              </a:solidFill>
              <a:latin typeface="Arial"/>
            </a:endParaRPr>
          </a:p>
        </p:txBody>
      </p:sp>
      <p:sp>
        <p:nvSpPr>
          <p:cNvPr id="112" name="Textfeld 111"/>
          <p:cNvSpPr txBox="1"/>
          <p:nvPr/>
        </p:nvSpPr>
        <p:spPr>
          <a:xfrm>
            <a:off x="8115480" y="4625280"/>
            <a:ext cx="3314880" cy="723960"/>
          </a:xfrm>
          <a:prstGeom prst="rect">
            <a:avLst/>
          </a:prstGeom>
          <a:noFill/>
          <a:ln w="0">
            <a:noFill/>
          </a:ln>
        </p:spPr>
        <p:txBody>
          <a:bodyPr lIns="0" tIns="0" rIns="0" bIns="0" anchor="t">
            <a:noAutofit/>
          </a:bodyPr>
          <a:lstStyle/>
          <a:p>
            <a:r>
              <a:rPr lang="en-US" sz="2450" b="1" strike="noStrike" spc="-1">
                <a:solidFill>
                  <a:srgbClr val="000000"/>
                </a:solidFill>
                <a:latin typeface="Noto Sans"/>
              </a:rPr>
              <a:t>CRS auswählen</a:t>
            </a:r>
            <a:endParaRPr lang="en-US" sz="2450" b="0" strike="noStrike" spc="-1">
              <a:solidFill>
                <a:srgbClr val="000000"/>
              </a:solidFill>
              <a:latin typeface="Arial"/>
            </a:endParaRPr>
          </a:p>
        </p:txBody>
      </p:sp>
      <p:sp>
        <p:nvSpPr>
          <p:cNvPr id="113" name="Rechteck 112"/>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14" name="Textfeld 113"/>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Heute: verstehen, gemeinsam prüfen und begründen.</a:t>
            </a:r>
            <a:endParaRPr lang="en-US" sz="2350" b="0" strike="noStrike" spc="-1">
              <a:solidFill>
                <a:srgbClr val="00000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Textfeld 9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JiTT · Rückblick auf die letzte Sitzung</a:t>
            </a:r>
            <a:endParaRPr lang="en-US" sz="3190" b="0" strike="noStrike" spc="-1">
              <a:solidFill>
                <a:srgbClr val="000000"/>
              </a:solidFill>
              <a:latin typeface="Arial"/>
            </a:endParaRPr>
          </a:p>
        </p:txBody>
      </p:sp>
      <p:sp>
        <p:nvSpPr>
          <p:cNvPr id="96" name="Textfeld 9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PLATZHALTER · VOLLSTÄNDIG AUSTAUSCHBAR</a:t>
            </a:r>
            <a:endParaRPr lang="en-US" sz="1130" b="0" strike="noStrike" spc="-1">
              <a:solidFill>
                <a:srgbClr val="000000"/>
              </a:solidFill>
              <a:latin typeface="Arial"/>
            </a:endParaRPr>
          </a:p>
        </p:txBody>
      </p:sp>
      <p:sp>
        <p:nvSpPr>
          <p:cNvPr id="97" name="Textfeld 9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98" name="Textfeld 9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a:t>
            </a:r>
            <a:endParaRPr lang="en-US" sz="939" b="0" strike="noStrike" spc="-1">
              <a:solidFill>
                <a:srgbClr val="000000"/>
              </a:solidFill>
              <a:latin typeface="Arial"/>
            </a:endParaRPr>
          </a:p>
        </p:txBody>
      </p:sp>
      <p:sp>
        <p:nvSpPr>
          <p:cNvPr id="99" name="JiTT – vollständigen Block ersetzen"/>
          <p:cNvSpPr/>
          <p:nvPr/>
        </p:nvSpPr>
        <p:spPr>
          <a:xfrm>
            <a:off x="762120" y="1806120"/>
            <a:ext cx="10668240" cy="4152960"/>
          </a:xfrm>
          <a:prstGeom prst="rect">
            <a:avLst/>
          </a:prstGeom>
          <a:solidFill>
            <a:srgbClr val="EAF5F7"/>
          </a:solidFill>
          <a:ln w="16200">
            <a:solidFill>
              <a:srgbClr val="A6D9E2"/>
            </a:solidFill>
            <a:round/>
          </a:ln>
        </p:spPr>
        <p:txBody>
          <a:bodyPr lIns="97920" tIns="52920" rIns="97920" bIns="52920" anchor="ctr" anchorCtr="1">
            <a:noAutofit/>
          </a:bodyPr>
          <a:lstStyle/>
          <a:p>
            <a:endParaRPr lang="en-US" sz="1800" b="0" strike="noStrike" spc="-1">
              <a:solidFill>
                <a:srgbClr val="000000"/>
              </a:solidFill>
              <a:latin typeface="Arial"/>
            </a:endParaRPr>
          </a:p>
        </p:txBody>
      </p:sp>
      <p:sp>
        <p:nvSpPr>
          <p:cNvPr id="100" name="Textfeld 99"/>
          <p:cNvSpPr txBox="1"/>
          <p:nvPr/>
        </p:nvSpPr>
        <p:spPr>
          <a:xfrm>
            <a:off x="1371600" y="3276720"/>
            <a:ext cx="9448920" cy="990720"/>
          </a:xfrm>
          <a:prstGeom prst="rect">
            <a:avLst/>
          </a:prstGeom>
          <a:noFill/>
          <a:ln w="0">
            <a:noFill/>
          </a:ln>
        </p:spPr>
        <p:txBody>
          <a:bodyPr lIns="0" tIns="0" rIns="0" bIns="0" anchor="t">
            <a:noAutofit/>
          </a:bodyPr>
          <a:lstStyle/>
          <a:p>
            <a:pPr algn="ctr"/>
            <a:r>
              <a:rPr lang="en-US" sz="3570" b="0" strike="noStrike" spc="-1" dirty="0">
                <a:solidFill>
                  <a:srgbClr val="004899"/>
                </a:solidFill>
                <a:latin typeface="Noto Sans"/>
              </a:rPr>
              <a:t>[</a:t>
            </a:r>
            <a:r>
              <a:rPr lang="en-US" sz="3570" b="0" strike="noStrike" spc="-1" dirty="0" err="1">
                <a:solidFill>
                  <a:srgbClr val="004899"/>
                </a:solidFill>
                <a:latin typeface="Noto Sans"/>
              </a:rPr>
              <a:t>Hier</a:t>
            </a:r>
            <a:r>
              <a:rPr lang="en-US" sz="3570" b="0" strike="noStrike" spc="-1" dirty="0">
                <a:solidFill>
                  <a:srgbClr val="004899"/>
                </a:solidFill>
                <a:latin typeface="Noto Sans"/>
              </a:rPr>
              <a:t> den </a:t>
            </a:r>
            <a:r>
              <a:rPr lang="en-US" sz="3570" b="0" strike="noStrike" spc="-1" dirty="0" err="1">
                <a:solidFill>
                  <a:srgbClr val="004899"/>
                </a:solidFill>
                <a:latin typeface="Noto Sans"/>
              </a:rPr>
              <a:t>vollständigen</a:t>
            </a:r>
            <a:endParaRPr lang="en-US" sz="3570" b="0" strike="noStrike" spc="-1" dirty="0">
              <a:solidFill>
                <a:srgbClr val="000000"/>
              </a:solidFill>
              <a:latin typeface="Arial"/>
            </a:endParaRPr>
          </a:p>
          <a:p>
            <a:pPr algn="ctr"/>
            <a:r>
              <a:rPr lang="en-US" sz="3570" b="0" strike="noStrike" spc="-1" dirty="0" err="1">
                <a:solidFill>
                  <a:srgbClr val="004899"/>
                </a:solidFill>
                <a:latin typeface="Noto Sans"/>
              </a:rPr>
              <a:t>JiTT</a:t>
            </a:r>
            <a:r>
              <a:rPr lang="en-US" sz="3570" b="0" strike="noStrike" spc="-1" dirty="0">
                <a:solidFill>
                  <a:srgbClr val="004899"/>
                </a:solidFill>
                <a:latin typeface="Noto Sans"/>
              </a:rPr>
              <a:t>-Block </a:t>
            </a:r>
            <a:r>
              <a:rPr lang="en-US" sz="3570" b="0" strike="noStrike" spc="-1" dirty="0" err="1">
                <a:solidFill>
                  <a:srgbClr val="004899"/>
                </a:solidFill>
                <a:latin typeface="Noto Sans"/>
              </a:rPr>
              <a:t>einfügen</a:t>
            </a:r>
            <a:r>
              <a:rPr lang="en-US" sz="3570" b="0" strike="noStrike" spc="-1" dirty="0">
                <a:solidFill>
                  <a:srgbClr val="004899"/>
                </a:solidFill>
                <a:latin typeface="Noto Sans"/>
              </a:rPr>
              <a:t>]</a:t>
            </a:r>
            <a:endParaRPr lang="en-US" sz="3570" b="0" strike="noStrike" spc="-1" dirty="0">
              <a:solidFill>
                <a:srgbClr val="000000"/>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Textfeld 12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Was macht Daten zu Geodaten?</a:t>
            </a:r>
            <a:endParaRPr lang="en-US" sz="3190" b="0" strike="noStrike" spc="-1">
              <a:solidFill>
                <a:srgbClr val="000000"/>
              </a:solidFill>
              <a:latin typeface="Arial"/>
            </a:endParaRPr>
          </a:p>
        </p:txBody>
      </p:sp>
      <p:sp>
        <p:nvSpPr>
          <p:cNvPr id="124" name="Textfeld 12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01 · RAUMBEZUG</a:t>
            </a:r>
            <a:endParaRPr lang="en-US" sz="1130" b="0" strike="noStrike" spc="-1">
              <a:solidFill>
                <a:srgbClr val="000000"/>
              </a:solidFill>
              <a:latin typeface="Arial"/>
            </a:endParaRPr>
          </a:p>
        </p:txBody>
      </p:sp>
      <p:sp>
        <p:nvSpPr>
          <p:cNvPr id="125" name="Textfeld 12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126" name="Textfeld 12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5</a:t>
            </a:r>
            <a:endParaRPr lang="en-US" sz="939" b="0" strike="noStrike" spc="-1">
              <a:solidFill>
                <a:srgbClr val="000000"/>
              </a:solidFill>
              <a:latin typeface="Arial"/>
            </a:endParaRPr>
          </a:p>
        </p:txBody>
      </p:sp>
      <p:pic>
        <p:nvPicPr>
          <p:cNvPr id="127" name="Grafik 126" descr="Links enthält eine Tabelle Beobachtungs-ID, Datum und Temperatur. Rechts enthält dieselbe Tabelle zusätzlich Breiten- und Längengrad. Identität, Zeitpunkt und Messwert bleiben beim Ergänzen des Raumbezugs erhalten."/>
          <p:cNvPicPr/>
          <p:nvPr/>
        </p:nvPicPr>
        <p:blipFill>
          <a:blip r:embed="rId3">
            <a:extLst>
              <a:ext uri="{96DAC541-7B7A-43D3-8B79-37D633B846F1}">
                <asvg:svgBlip xmlns:asvg="http://schemas.microsoft.com/office/drawing/2016/SVG/main" r:embed="rId4"/>
              </a:ext>
            </a:extLst>
          </a:blip>
          <a:stretch/>
        </p:blipFill>
        <p:spPr>
          <a:xfrm>
            <a:off x="1905120" y="1638360"/>
            <a:ext cx="8382240" cy="3604320"/>
          </a:xfrm>
          <a:prstGeom prst="rect">
            <a:avLst/>
          </a:prstGeom>
          <a:ln w="0">
            <a:noFill/>
          </a:ln>
        </p:spPr>
      </p:pic>
      <p:sp>
        <p:nvSpPr>
          <p:cNvPr id="128" name="Rechteck 127"/>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29" name="Textfeld 128"/>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Geodaten verbinden Informationen mit einem Ort oder Gebiet.</a:t>
            </a:r>
            <a:endParaRPr lang="en-US" sz="2350" b="0" strike="noStrike" spc="-1">
              <a:solidFill>
                <a:srgbClr val="000000"/>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 name="Textfeld 129"/>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Wie bilden wir die Wirklichkeit ab?</a:t>
            </a:r>
            <a:endParaRPr lang="en-US" sz="3190" b="0" strike="noStrike" spc="-1">
              <a:solidFill>
                <a:srgbClr val="000000"/>
              </a:solidFill>
              <a:latin typeface="Arial"/>
            </a:endParaRPr>
          </a:p>
        </p:txBody>
      </p:sp>
      <p:sp>
        <p:nvSpPr>
          <p:cNvPr id="131" name="Textfeld 130"/>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01 · RAUMBEZUG</a:t>
            </a:r>
            <a:endParaRPr lang="en-US" sz="1130" b="0" strike="noStrike" spc="-1">
              <a:solidFill>
                <a:srgbClr val="000000"/>
              </a:solidFill>
              <a:latin typeface="Arial"/>
            </a:endParaRPr>
          </a:p>
        </p:txBody>
      </p:sp>
      <p:sp>
        <p:nvSpPr>
          <p:cNvPr id="132" name="Textfeld 131"/>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133" name="Textfeld 132"/>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6</a:t>
            </a:r>
            <a:endParaRPr lang="en-US" sz="939" b="0" strike="noStrike" spc="-1">
              <a:solidFill>
                <a:srgbClr val="000000"/>
              </a:solidFill>
              <a:latin typeface="Arial"/>
            </a:endParaRPr>
          </a:p>
        </p:txBody>
      </p:sp>
      <p:sp>
        <p:nvSpPr>
          <p:cNvPr id="134" name="Rechteck 133"/>
          <p:cNvSpPr/>
          <p:nvPr/>
        </p:nvSpPr>
        <p:spPr>
          <a:xfrm>
            <a:off x="647640" y="1790640"/>
            <a:ext cx="3429000" cy="300996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35" name="Textfeld 134"/>
          <p:cNvSpPr txBox="1"/>
          <p:nvPr/>
        </p:nvSpPr>
        <p:spPr>
          <a:xfrm>
            <a:off x="838080" y="1981080"/>
            <a:ext cx="3048120" cy="419040"/>
          </a:xfrm>
          <a:prstGeom prst="rect">
            <a:avLst/>
          </a:prstGeom>
          <a:noFill/>
          <a:ln w="0">
            <a:noFill/>
          </a:ln>
        </p:spPr>
        <p:txBody>
          <a:bodyPr lIns="0" tIns="0" rIns="0" bIns="0" anchor="t">
            <a:noAutofit/>
          </a:bodyPr>
          <a:lstStyle/>
          <a:p>
            <a:r>
              <a:rPr lang="en-US" sz="2630" b="1" strike="noStrike" spc="-1">
                <a:solidFill>
                  <a:srgbClr val="004899"/>
                </a:solidFill>
                <a:latin typeface="Noto Sans"/>
              </a:rPr>
              <a:t>Punkt</a:t>
            </a:r>
            <a:endParaRPr lang="en-US" sz="2630" b="0" strike="noStrike" spc="-1">
              <a:solidFill>
                <a:srgbClr val="000000"/>
              </a:solidFill>
              <a:latin typeface="Arial"/>
            </a:endParaRPr>
          </a:p>
        </p:txBody>
      </p:sp>
      <p:sp>
        <p:nvSpPr>
          <p:cNvPr id="136" name="Textfeld 135"/>
          <p:cNvSpPr txBox="1"/>
          <p:nvPr/>
        </p:nvSpPr>
        <p:spPr>
          <a:xfrm>
            <a:off x="838080" y="4152960"/>
            <a:ext cx="3048120" cy="533520"/>
          </a:xfrm>
          <a:prstGeom prst="rect">
            <a:avLst/>
          </a:prstGeom>
          <a:noFill/>
          <a:ln w="0">
            <a:noFill/>
          </a:ln>
        </p:spPr>
        <p:txBody>
          <a:bodyPr lIns="0" tIns="0" rIns="0" bIns="0" anchor="t">
            <a:noAutofit/>
          </a:bodyPr>
          <a:lstStyle/>
          <a:p>
            <a:r>
              <a:rPr lang="en-US" sz="2350" b="0" strike="noStrike" spc="-1">
                <a:solidFill>
                  <a:srgbClr val="000000"/>
                </a:solidFill>
                <a:latin typeface="Noto Sans"/>
              </a:rPr>
              <a:t>Messstation</a:t>
            </a:r>
            <a:endParaRPr lang="en-US" sz="2350" b="0" strike="noStrike" spc="-1">
              <a:solidFill>
                <a:srgbClr val="000000"/>
              </a:solidFill>
              <a:latin typeface="Arial"/>
            </a:endParaRPr>
          </a:p>
        </p:txBody>
      </p:sp>
      <p:sp>
        <p:nvSpPr>
          <p:cNvPr id="137" name="Rechteck 136"/>
          <p:cNvSpPr/>
          <p:nvPr/>
        </p:nvSpPr>
        <p:spPr>
          <a:xfrm>
            <a:off x="4381560" y="1790640"/>
            <a:ext cx="3429000" cy="300996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38" name="Textfeld 137"/>
          <p:cNvSpPr txBox="1"/>
          <p:nvPr/>
        </p:nvSpPr>
        <p:spPr>
          <a:xfrm>
            <a:off x="4572000" y="1981080"/>
            <a:ext cx="3048120" cy="419040"/>
          </a:xfrm>
          <a:prstGeom prst="rect">
            <a:avLst/>
          </a:prstGeom>
          <a:noFill/>
          <a:ln w="0">
            <a:noFill/>
          </a:ln>
        </p:spPr>
        <p:txBody>
          <a:bodyPr lIns="0" tIns="0" rIns="0" bIns="0" anchor="t">
            <a:noAutofit/>
          </a:bodyPr>
          <a:lstStyle/>
          <a:p>
            <a:r>
              <a:rPr lang="en-US" sz="2630" b="1" strike="noStrike" spc="-1">
                <a:solidFill>
                  <a:srgbClr val="004899"/>
                </a:solidFill>
                <a:latin typeface="Noto Sans"/>
              </a:rPr>
              <a:t>Linie</a:t>
            </a:r>
            <a:endParaRPr lang="en-US" sz="2630" b="0" strike="noStrike" spc="-1">
              <a:solidFill>
                <a:srgbClr val="000000"/>
              </a:solidFill>
              <a:latin typeface="Arial"/>
            </a:endParaRPr>
          </a:p>
        </p:txBody>
      </p:sp>
      <p:sp>
        <p:nvSpPr>
          <p:cNvPr id="139" name="Textfeld 138"/>
          <p:cNvSpPr txBox="1"/>
          <p:nvPr/>
        </p:nvSpPr>
        <p:spPr>
          <a:xfrm>
            <a:off x="4572000" y="4152960"/>
            <a:ext cx="3048120" cy="533520"/>
          </a:xfrm>
          <a:prstGeom prst="rect">
            <a:avLst/>
          </a:prstGeom>
          <a:noFill/>
          <a:ln w="0">
            <a:noFill/>
          </a:ln>
        </p:spPr>
        <p:txBody>
          <a:bodyPr lIns="0" tIns="0" rIns="0" bIns="0" anchor="t">
            <a:noAutofit/>
          </a:bodyPr>
          <a:lstStyle/>
          <a:p>
            <a:r>
              <a:rPr lang="en-US" sz="2350" b="0" strike="noStrike" spc="-1">
                <a:solidFill>
                  <a:srgbClr val="000000"/>
                </a:solidFill>
                <a:latin typeface="Noto Sans"/>
              </a:rPr>
              <a:t>Straßenverlauf</a:t>
            </a:r>
            <a:endParaRPr lang="en-US" sz="2350" b="0" strike="noStrike" spc="-1">
              <a:solidFill>
                <a:srgbClr val="000000"/>
              </a:solidFill>
              <a:latin typeface="Arial"/>
            </a:endParaRPr>
          </a:p>
        </p:txBody>
      </p:sp>
      <p:sp>
        <p:nvSpPr>
          <p:cNvPr id="140" name="Rechteck 139"/>
          <p:cNvSpPr/>
          <p:nvPr/>
        </p:nvSpPr>
        <p:spPr>
          <a:xfrm>
            <a:off x="8115480" y="1790640"/>
            <a:ext cx="3429000" cy="300996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41" name="Textfeld 140"/>
          <p:cNvSpPr txBox="1"/>
          <p:nvPr/>
        </p:nvSpPr>
        <p:spPr>
          <a:xfrm>
            <a:off x="8305920" y="1981080"/>
            <a:ext cx="3048120" cy="419040"/>
          </a:xfrm>
          <a:prstGeom prst="rect">
            <a:avLst/>
          </a:prstGeom>
          <a:noFill/>
          <a:ln w="0">
            <a:noFill/>
          </a:ln>
        </p:spPr>
        <p:txBody>
          <a:bodyPr lIns="0" tIns="0" rIns="0" bIns="0" anchor="t">
            <a:noAutofit/>
          </a:bodyPr>
          <a:lstStyle/>
          <a:p>
            <a:r>
              <a:rPr lang="en-US" sz="2630" b="1" strike="noStrike" spc="-1">
                <a:solidFill>
                  <a:srgbClr val="004899"/>
                </a:solidFill>
                <a:latin typeface="Noto Sans"/>
              </a:rPr>
              <a:t>Fläche</a:t>
            </a:r>
            <a:endParaRPr lang="en-US" sz="2630" b="0" strike="noStrike" spc="-1">
              <a:solidFill>
                <a:srgbClr val="000000"/>
              </a:solidFill>
              <a:latin typeface="Arial"/>
            </a:endParaRPr>
          </a:p>
        </p:txBody>
      </p:sp>
      <p:sp>
        <p:nvSpPr>
          <p:cNvPr id="142" name="Textfeld 141"/>
          <p:cNvSpPr txBox="1"/>
          <p:nvPr/>
        </p:nvSpPr>
        <p:spPr>
          <a:xfrm>
            <a:off x="8305920" y="4152960"/>
            <a:ext cx="3048120" cy="533520"/>
          </a:xfrm>
          <a:prstGeom prst="rect">
            <a:avLst/>
          </a:prstGeom>
          <a:noFill/>
          <a:ln w="0">
            <a:noFill/>
          </a:ln>
        </p:spPr>
        <p:txBody>
          <a:bodyPr lIns="0" tIns="0" rIns="0" bIns="0" anchor="t">
            <a:noAutofit/>
          </a:bodyPr>
          <a:lstStyle/>
          <a:p>
            <a:r>
              <a:rPr lang="en-US" sz="2350" b="0" strike="noStrike" spc="-1">
                <a:solidFill>
                  <a:srgbClr val="000000"/>
                </a:solidFill>
                <a:latin typeface="Noto Sans"/>
              </a:rPr>
              <a:t>Stadtgebiet</a:t>
            </a:r>
            <a:endParaRPr lang="en-US" sz="2350" b="0" strike="noStrike" spc="-1">
              <a:solidFill>
                <a:srgbClr val="000000"/>
              </a:solidFill>
              <a:latin typeface="Arial"/>
            </a:endParaRPr>
          </a:p>
        </p:txBody>
      </p:sp>
      <p:sp>
        <p:nvSpPr>
          <p:cNvPr id="143" name="Ellipse 142"/>
          <p:cNvSpPr/>
          <p:nvPr/>
        </p:nvSpPr>
        <p:spPr>
          <a:xfrm>
            <a:off x="2133720" y="3009960"/>
            <a:ext cx="365760" cy="365760"/>
          </a:xfrm>
          <a:prstGeom prst="ellipse">
            <a:avLst/>
          </a:prstGeom>
          <a:solidFill>
            <a:srgbClr val="A32123"/>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44" name="Freihandform: Form 143"/>
          <p:cNvSpPr/>
          <p:nvPr/>
        </p:nvSpPr>
        <p:spPr>
          <a:xfrm>
            <a:off x="4762440" y="2712600"/>
            <a:ext cx="2629080" cy="846000"/>
          </a:xfrm>
          <a:custGeom>
            <a:avLst/>
            <a:gdLst/>
            <a:ahLst/>
            <a:cxnLst/>
            <a:rect l="0" t="0" r="r" b="b"/>
            <a:pathLst>
              <a:path w="7303" h="2350" fill="none">
                <a:moveTo>
                  <a:pt x="0" y="2350"/>
                </a:moveTo>
                <a:lnTo>
                  <a:pt x="1440" y="720"/>
                </a:lnTo>
                <a:lnTo>
                  <a:pt x="3175" y="1609"/>
                </a:lnTo>
                <a:lnTo>
                  <a:pt x="4763" y="0"/>
                </a:lnTo>
                <a:lnTo>
                  <a:pt x="7303" y="932"/>
                </a:lnTo>
              </a:path>
            </a:pathLst>
          </a:custGeom>
          <a:ln w="54000">
            <a:solidFill>
              <a:srgbClr val="004899"/>
            </a:solidFill>
            <a:round/>
          </a:ln>
        </p:spPr>
        <p:txBody>
          <a:bodyPr lIns="117000" tIns="72000" rIns="117000" bIns="72000" anchor="ctr" anchorCtr="1">
            <a:noAutofit/>
          </a:bodyPr>
          <a:lstStyle/>
          <a:p>
            <a:endParaRPr lang="en-US" sz="1800" b="0" strike="noStrike" spc="-1">
              <a:solidFill>
                <a:srgbClr val="000000"/>
              </a:solidFill>
              <a:latin typeface="Arial"/>
            </a:endParaRPr>
          </a:p>
        </p:txBody>
      </p:sp>
      <p:sp>
        <p:nvSpPr>
          <p:cNvPr id="145" name="Freihandform: Form 144"/>
          <p:cNvSpPr/>
          <p:nvPr/>
        </p:nvSpPr>
        <p:spPr>
          <a:xfrm>
            <a:off x="8686800" y="2575440"/>
            <a:ext cx="2210040" cy="1234440"/>
          </a:xfrm>
          <a:custGeom>
            <a:avLst/>
            <a:gdLst/>
            <a:ahLst/>
            <a:cxnLst/>
            <a:rect l="0" t="0" r="r" b="b"/>
            <a:pathLst>
              <a:path w="6139" h="3429">
                <a:moveTo>
                  <a:pt x="0" y="741"/>
                </a:moveTo>
                <a:lnTo>
                  <a:pt x="3387" y="0"/>
                </a:lnTo>
                <a:lnTo>
                  <a:pt x="6139" y="2011"/>
                </a:lnTo>
                <a:lnTo>
                  <a:pt x="4022" y="3429"/>
                </a:lnTo>
                <a:lnTo>
                  <a:pt x="297" y="2964"/>
                </a:lnTo>
                <a:lnTo>
                  <a:pt x="0" y="741"/>
                </a:lnTo>
                <a:close/>
              </a:path>
            </a:pathLst>
          </a:custGeom>
          <a:solidFill>
            <a:srgbClr val="EAF5F7"/>
          </a:solidFill>
          <a:ln w="21600">
            <a:solidFill>
              <a:srgbClr val="004899"/>
            </a:solidFill>
            <a:round/>
          </a:ln>
        </p:spPr>
        <p:txBody>
          <a:bodyPr lIns="100800" tIns="55800" rIns="100800" bIns="55800" anchor="ctr" anchorCtr="1">
            <a:noAutofit/>
          </a:bodyPr>
          <a:lstStyle/>
          <a:p>
            <a:endParaRPr lang="en-US" sz="1800" b="0" strike="noStrike" spc="-1">
              <a:solidFill>
                <a:srgbClr val="000000"/>
              </a:solidFill>
              <a:latin typeface="Arial"/>
            </a:endParaRPr>
          </a:p>
        </p:txBody>
      </p:sp>
      <p:sp>
        <p:nvSpPr>
          <p:cNvPr id="146" name="Rechteck 145"/>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47" name="Textfeld 146"/>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Die Fragestellung und der Maßstab bestimmen das Modell.</a:t>
            </a:r>
            <a:endParaRPr lang="en-US" sz="2350" b="0" strike="noStrike" spc="-1">
              <a:solidFill>
                <a:srgbClr val="000000"/>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Textfeld 147"/>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Welche Beispiele haben einen Raumbezug?</a:t>
            </a:r>
            <a:endParaRPr lang="en-US" sz="3190" b="0" strike="noStrike" spc="-1">
              <a:solidFill>
                <a:srgbClr val="000000"/>
              </a:solidFill>
              <a:latin typeface="Arial"/>
            </a:endParaRPr>
          </a:p>
        </p:txBody>
      </p:sp>
      <p:sp>
        <p:nvSpPr>
          <p:cNvPr id="149" name="Textfeld 148"/>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MITDENKEN · NACHBARSCHAFTSGESPRÄCH</a:t>
            </a:r>
            <a:endParaRPr lang="en-US" sz="1130" b="0" strike="noStrike" spc="-1">
              <a:solidFill>
                <a:srgbClr val="000000"/>
              </a:solidFill>
              <a:latin typeface="Arial"/>
            </a:endParaRPr>
          </a:p>
        </p:txBody>
      </p:sp>
      <p:sp>
        <p:nvSpPr>
          <p:cNvPr id="150" name="Textfeld 149"/>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151" name="Textfeld 150"/>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7</a:t>
            </a:r>
            <a:endParaRPr lang="en-US" sz="939" b="0" strike="noStrike" spc="-1">
              <a:solidFill>
                <a:srgbClr val="000000"/>
              </a:solidFill>
              <a:latin typeface="Arial"/>
            </a:endParaRPr>
          </a:p>
        </p:txBody>
      </p:sp>
      <p:sp>
        <p:nvSpPr>
          <p:cNvPr id="152" name="Ellipse 151"/>
          <p:cNvSpPr/>
          <p:nvPr/>
        </p:nvSpPr>
        <p:spPr>
          <a:xfrm>
            <a:off x="647640" y="1752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53" name="Textfeld 152"/>
          <p:cNvSpPr txBox="1"/>
          <p:nvPr/>
        </p:nvSpPr>
        <p:spPr>
          <a:xfrm>
            <a:off x="647640" y="1813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A</a:t>
            </a:r>
            <a:endParaRPr lang="en-US" sz="2450" b="0" strike="noStrike" spc="-1">
              <a:solidFill>
                <a:srgbClr val="000000"/>
              </a:solidFill>
              <a:latin typeface="Arial"/>
            </a:endParaRPr>
          </a:p>
        </p:txBody>
      </p:sp>
      <p:sp>
        <p:nvSpPr>
          <p:cNvPr id="154" name="Textfeld 153"/>
          <p:cNvSpPr txBox="1"/>
          <p:nvPr/>
        </p:nvSpPr>
        <p:spPr>
          <a:xfrm>
            <a:off x="1371600" y="1752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Einwohnerzahl mit Gemeindenamen</a:t>
            </a:r>
            <a:endParaRPr lang="en-US" sz="2720" b="0" strike="noStrike" spc="-1">
              <a:solidFill>
                <a:srgbClr val="000000"/>
              </a:solidFill>
              <a:latin typeface="Arial"/>
            </a:endParaRPr>
          </a:p>
        </p:txBody>
      </p:sp>
      <p:sp>
        <p:nvSpPr>
          <p:cNvPr id="155" name="Textfeld 154"/>
          <p:cNvSpPr txBox="1"/>
          <p:nvPr/>
        </p:nvSpPr>
        <p:spPr>
          <a:xfrm>
            <a:off x="1371600" y="2225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Können Sie die Information räumlich zuordnen?</a:t>
            </a:r>
            <a:endParaRPr lang="en-US" sz="2260" b="0" strike="noStrike" spc="-1">
              <a:solidFill>
                <a:srgbClr val="000000"/>
              </a:solidFill>
              <a:latin typeface="Arial"/>
            </a:endParaRPr>
          </a:p>
        </p:txBody>
      </p:sp>
      <p:sp>
        <p:nvSpPr>
          <p:cNvPr id="156" name="Ellipse 155"/>
          <p:cNvSpPr/>
          <p:nvPr/>
        </p:nvSpPr>
        <p:spPr>
          <a:xfrm>
            <a:off x="647640" y="293364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57" name="Textfeld 156"/>
          <p:cNvSpPr txBox="1"/>
          <p:nvPr/>
        </p:nvSpPr>
        <p:spPr>
          <a:xfrm>
            <a:off x="647640" y="299484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B</a:t>
            </a:r>
            <a:endParaRPr lang="en-US" sz="2450" b="0" strike="noStrike" spc="-1">
              <a:solidFill>
                <a:srgbClr val="000000"/>
              </a:solidFill>
              <a:latin typeface="Arial"/>
            </a:endParaRPr>
          </a:p>
        </p:txBody>
      </p:sp>
      <p:sp>
        <p:nvSpPr>
          <p:cNvPr id="158" name="Textfeld 157"/>
          <p:cNvSpPr txBox="1"/>
          <p:nvPr/>
        </p:nvSpPr>
        <p:spPr>
          <a:xfrm>
            <a:off x="1371600" y="293364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Temperatur mit Datum, ohne Messort</a:t>
            </a:r>
            <a:endParaRPr lang="en-US" sz="2720" b="0" strike="noStrike" spc="-1">
              <a:solidFill>
                <a:srgbClr val="000000"/>
              </a:solidFill>
              <a:latin typeface="Arial"/>
            </a:endParaRPr>
          </a:p>
        </p:txBody>
      </p:sp>
      <p:sp>
        <p:nvSpPr>
          <p:cNvPr id="159" name="Textfeld 158"/>
          <p:cNvSpPr txBox="1"/>
          <p:nvPr/>
        </p:nvSpPr>
        <p:spPr>
          <a:xfrm>
            <a:off x="1371600" y="340632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Welche Information fehlt?</a:t>
            </a:r>
            <a:endParaRPr lang="en-US" sz="2260" b="0" strike="noStrike" spc="-1">
              <a:solidFill>
                <a:srgbClr val="000000"/>
              </a:solidFill>
              <a:latin typeface="Arial"/>
            </a:endParaRPr>
          </a:p>
        </p:txBody>
      </p:sp>
      <p:sp>
        <p:nvSpPr>
          <p:cNvPr id="160" name="Ellipse 159"/>
          <p:cNvSpPr/>
          <p:nvPr/>
        </p:nvSpPr>
        <p:spPr>
          <a:xfrm>
            <a:off x="647640" y="411480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61" name="Textfeld 160"/>
          <p:cNvSpPr txBox="1"/>
          <p:nvPr/>
        </p:nvSpPr>
        <p:spPr>
          <a:xfrm>
            <a:off x="647640" y="417564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C</a:t>
            </a:r>
            <a:endParaRPr lang="en-US" sz="2450" b="0" strike="noStrike" spc="-1">
              <a:solidFill>
                <a:srgbClr val="000000"/>
              </a:solidFill>
              <a:latin typeface="Arial"/>
            </a:endParaRPr>
          </a:p>
        </p:txBody>
      </p:sp>
      <p:sp>
        <p:nvSpPr>
          <p:cNvPr id="162" name="Textfeld 161"/>
          <p:cNvSpPr txBox="1"/>
          <p:nvPr/>
        </p:nvSpPr>
        <p:spPr>
          <a:xfrm>
            <a:off x="1371600" y="411480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Pflanzenfund „in der Nähe von Marburg“</a:t>
            </a:r>
            <a:endParaRPr lang="en-US" sz="2720" b="0" strike="noStrike" spc="-1">
              <a:solidFill>
                <a:srgbClr val="000000"/>
              </a:solidFill>
              <a:latin typeface="Arial"/>
            </a:endParaRPr>
          </a:p>
        </p:txBody>
      </p:sp>
      <p:sp>
        <p:nvSpPr>
          <p:cNvPr id="163" name="Textfeld 162"/>
          <p:cNvSpPr txBox="1"/>
          <p:nvPr/>
        </p:nvSpPr>
        <p:spPr>
          <a:xfrm>
            <a:off x="1371600" y="458712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Wie genau ist dieser Raumbezug?</a:t>
            </a:r>
            <a:endParaRPr lang="en-US" sz="2260" b="0" strike="noStrike" spc="-1">
              <a:solidFill>
                <a:srgbClr val="000000"/>
              </a:solidFill>
              <a:latin typeface="Arial"/>
            </a:endParaRPr>
          </a:p>
        </p:txBody>
      </p:sp>
      <p:sp>
        <p:nvSpPr>
          <p:cNvPr id="164" name="Rechteck 163"/>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65" name="Textfeld 164"/>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Erst allein überlegen, dann zu zweit eine Begründung finden.</a:t>
            </a:r>
            <a:endParaRPr lang="en-US" sz="2350" b="0" strike="noStrike" spc="-1">
              <a:solidFill>
                <a:srgbClr val="000000"/>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Textfeld 165"/>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Raumbezug ist nicht immer punktgenau</a:t>
            </a:r>
            <a:endParaRPr lang="en-US" sz="3190" b="0" strike="noStrike" spc="-1">
              <a:solidFill>
                <a:srgbClr val="000000"/>
              </a:solidFill>
              <a:latin typeface="Arial"/>
            </a:endParaRPr>
          </a:p>
        </p:txBody>
      </p:sp>
      <p:sp>
        <p:nvSpPr>
          <p:cNvPr id="167" name="Textfeld 166"/>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AUFLÖSUNG · RAUMBEZUG</a:t>
            </a:r>
            <a:endParaRPr lang="en-US" sz="1130" b="0" strike="noStrike" spc="-1">
              <a:solidFill>
                <a:srgbClr val="000000"/>
              </a:solidFill>
              <a:latin typeface="Arial"/>
            </a:endParaRPr>
          </a:p>
        </p:txBody>
      </p:sp>
      <p:sp>
        <p:nvSpPr>
          <p:cNvPr id="168" name="Textfeld 167"/>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169" name="Textfeld 168"/>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8</a:t>
            </a:r>
            <a:endParaRPr lang="en-US" sz="939" b="0" strike="noStrike" spc="-1">
              <a:solidFill>
                <a:srgbClr val="000000"/>
              </a:solidFill>
              <a:latin typeface="Arial"/>
            </a:endParaRPr>
          </a:p>
        </p:txBody>
      </p:sp>
      <p:sp>
        <p:nvSpPr>
          <p:cNvPr id="170" name="Ellipse 169"/>
          <p:cNvSpPr/>
          <p:nvPr/>
        </p:nvSpPr>
        <p:spPr>
          <a:xfrm>
            <a:off x="647640" y="1752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71" name="Textfeld 170"/>
          <p:cNvSpPr txBox="1"/>
          <p:nvPr/>
        </p:nvSpPr>
        <p:spPr>
          <a:xfrm>
            <a:off x="647640" y="1813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A</a:t>
            </a:r>
            <a:endParaRPr lang="en-US" sz="2450" b="0" strike="noStrike" spc="-1">
              <a:solidFill>
                <a:srgbClr val="000000"/>
              </a:solidFill>
              <a:latin typeface="Arial"/>
            </a:endParaRPr>
          </a:p>
        </p:txBody>
      </p:sp>
      <p:sp>
        <p:nvSpPr>
          <p:cNvPr id="172" name="Textfeld 171"/>
          <p:cNvSpPr txBox="1"/>
          <p:nvPr/>
        </p:nvSpPr>
        <p:spPr>
          <a:xfrm>
            <a:off x="1371600" y="1752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Ja: Bezug zu einer Gemeinde</a:t>
            </a:r>
            <a:endParaRPr lang="en-US" sz="2720" b="0" strike="noStrike" spc="-1">
              <a:solidFill>
                <a:srgbClr val="000000"/>
              </a:solidFill>
              <a:latin typeface="Arial"/>
            </a:endParaRPr>
          </a:p>
        </p:txBody>
      </p:sp>
      <p:sp>
        <p:nvSpPr>
          <p:cNvPr id="173" name="Textfeld 172"/>
          <p:cNvSpPr txBox="1"/>
          <p:nvPr/>
        </p:nvSpPr>
        <p:spPr>
          <a:xfrm>
            <a:off x="1371600" y="2225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Für eine Karte benötigen wir die passende Gemeindegeometrie.</a:t>
            </a:r>
            <a:endParaRPr lang="en-US" sz="2260" b="0" strike="noStrike" spc="-1">
              <a:solidFill>
                <a:srgbClr val="000000"/>
              </a:solidFill>
              <a:latin typeface="Arial"/>
            </a:endParaRPr>
          </a:p>
        </p:txBody>
      </p:sp>
      <p:sp>
        <p:nvSpPr>
          <p:cNvPr id="174" name="Ellipse 173"/>
          <p:cNvSpPr/>
          <p:nvPr/>
        </p:nvSpPr>
        <p:spPr>
          <a:xfrm>
            <a:off x="647640" y="293364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75" name="Textfeld 174"/>
          <p:cNvSpPr txBox="1"/>
          <p:nvPr/>
        </p:nvSpPr>
        <p:spPr>
          <a:xfrm>
            <a:off x="647640" y="299484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B</a:t>
            </a:r>
            <a:endParaRPr lang="en-US" sz="2450" b="0" strike="noStrike" spc="-1">
              <a:solidFill>
                <a:srgbClr val="000000"/>
              </a:solidFill>
              <a:latin typeface="Arial"/>
            </a:endParaRPr>
          </a:p>
        </p:txBody>
      </p:sp>
      <p:sp>
        <p:nvSpPr>
          <p:cNvPr id="176" name="Textfeld 175"/>
          <p:cNvSpPr txBox="1"/>
          <p:nvPr/>
        </p:nvSpPr>
        <p:spPr>
          <a:xfrm>
            <a:off x="1371600" y="293364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Nein: Der Messort fehlt</a:t>
            </a:r>
            <a:endParaRPr lang="en-US" sz="2720" b="0" strike="noStrike" spc="-1">
              <a:solidFill>
                <a:srgbClr val="000000"/>
              </a:solidFill>
              <a:latin typeface="Arial"/>
            </a:endParaRPr>
          </a:p>
        </p:txBody>
      </p:sp>
      <p:sp>
        <p:nvSpPr>
          <p:cNvPr id="177" name="Textfeld 176"/>
          <p:cNvSpPr txBox="1"/>
          <p:nvPr/>
        </p:nvSpPr>
        <p:spPr>
          <a:xfrm>
            <a:off x="1371600" y="340632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Ein Datum beschreibt die Zeit, nicht die räumliche Lage.</a:t>
            </a:r>
            <a:endParaRPr lang="en-US" sz="2260" b="0" strike="noStrike" spc="-1">
              <a:solidFill>
                <a:srgbClr val="000000"/>
              </a:solidFill>
              <a:latin typeface="Arial"/>
            </a:endParaRPr>
          </a:p>
        </p:txBody>
      </p:sp>
      <p:sp>
        <p:nvSpPr>
          <p:cNvPr id="178" name="Ellipse 177"/>
          <p:cNvSpPr/>
          <p:nvPr/>
        </p:nvSpPr>
        <p:spPr>
          <a:xfrm>
            <a:off x="647640" y="411480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79" name="Textfeld 178"/>
          <p:cNvSpPr txBox="1"/>
          <p:nvPr/>
        </p:nvSpPr>
        <p:spPr>
          <a:xfrm>
            <a:off x="647640" y="417564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C</a:t>
            </a:r>
            <a:endParaRPr lang="en-US" sz="2450" b="0" strike="noStrike" spc="-1">
              <a:solidFill>
                <a:srgbClr val="000000"/>
              </a:solidFill>
              <a:latin typeface="Arial"/>
            </a:endParaRPr>
          </a:p>
        </p:txBody>
      </p:sp>
      <p:sp>
        <p:nvSpPr>
          <p:cNvPr id="180" name="Textfeld 179"/>
          <p:cNvSpPr txBox="1"/>
          <p:nvPr/>
        </p:nvSpPr>
        <p:spPr>
          <a:xfrm>
            <a:off x="1371600" y="411480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Ja: aber nur ungefähr</a:t>
            </a:r>
            <a:endParaRPr lang="en-US" sz="2720" b="0" strike="noStrike" spc="-1">
              <a:solidFill>
                <a:srgbClr val="000000"/>
              </a:solidFill>
              <a:latin typeface="Arial"/>
            </a:endParaRPr>
          </a:p>
        </p:txBody>
      </p:sp>
      <p:sp>
        <p:nvSpPr>
          <p:cNvPr id="181" name="Textfeld 180"/>
          <p:cNvSpPr txBox="1"/>
          <p:nvPr/>
        </p:nvSpPr>
        <p:spPr>
          <a:xfrm>
            <a:off x="1371600" y="458712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Für eine genaue Fundortkarte reicht die Angabe nicht aus.</a:t>
            </a:r>
            <a:endParaRPr lang="en-US" sz="2260" b="0" strike="noStrike" spc="-1">
              <a:solidFill>
                <a:srgbClr val="000000"/>
              </a:solidFill>
              <a:latin typeface="Arial"/>
            </a:endParaRPr>
          </a:p>
        </p:txBody>
      </p:sp>
      <p:sp>
        <p:nvSpPr>
          <p:cNvPr id="182" name="Rechteck 181"/>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83" name="Textfeld 182"/>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Raumbezug vorhanden? Und: genau genug für die Frage?</a:t>
            </a:r>
            <a:endParaRPr lang="en-US" sz="2350" b="0" strike="noStrike" spc="-1">
              <a:solidFill>
                <a:srgbClr val="000000"/>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Textfeld 183"/>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Breite und Länge beschreiben Winkel</a:t>
            </a:r>
            <a:endParaRPr lang="en-US" sz="3190" b="0" strike="noStrike" spc="-1">
              <a:solidFill>
                <a:srgbClr val="000000"/>
              </a:solidFill>
              <a:latin typeface="Arial"/>
            </a:endParaRPr>
          </a:p>
        </p:txBody>
      </p:sp>
      <p:sp>
        <p:nvSpPr>
          <p:cNvPr id="185" name="Textfeld 184"/>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02 · KOORDINATEN</a:t>
            </a:r>
            <a:endParaRPr lang="en-US" sz="1130" b="0" strike="noStrike" spc="-1">
              <a:solidFill>
                <a:srgbClr val="000000"/>
              </a:solidFill>
              <a:latin typeface="Arial"/>
            </a:endParaRPr>
          </a:p>
        </p:txBody>
      </p:sp>
      <p:sp>
        <p:nvSpPr>
          <p:cNvPr id="186" name="Textfeld 185"/>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187" name="Textfeld 186"/>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9</a:t>
            </a:r>
            <a:endParaRPr lang="en-US" sz="939" b="0" strike="noStrike" spc="-1">
              <a:solidFill>
                <a:srgbClr val="000000"/>
              </a:solidFill>
              <a:latin typeface="Arial"/>
            </a:endParaRPr>
          </a:p>
        </p:txBody>
      </p:sp>
      <p:pic>
        <p:nvPicPr>
          <p:cNvPr id="188" name="Grafik 187" descr="Eine schematische Erdkugel zeigt waagerechte Breitenkreise, senkrechte Meridiane, Äquator, Nullmeridian und einen Punkt für Marburg."/>
          <p:cNvPicPr/>
          <p:nvPr/>
        </p:nvPicPr>
        <p:blipFill>
          <a:blip r:embed="rId3">
            <a:extLst>
              <a:ext uri="{96DAC541-7B7A-43D3-8B79-37D633B846F1}">
                <asvg:svgBlip xmlns:asvg="http://schemas.microsoft.com/office/drawing/2016/SVG/main" r:embed="rId4"/>
              </a:ext>
            </a:extLst>
          </a:blip>
          <a:stretch/>
        </p:blipFill>
        <p:spPr>
          <a:xfrm>
            <a:off x="647640" y="1714680"/>
            <a:ext cx="7086600" cy="3688200"/>
          </a:xfrm>
          <a:prstGeom prst="rect">
            <a:avLst/>
          </a:prstGeom>
          <a:ln w="0">
            <a:noFill/>
          </a:ln>
        </p:spPr>
      </p:pic>
      <p:sp>
        <p:nvSpPr>
          <p:cNvPr id="189" name="Rechteck 188"/>
          <p:cNvSpPr/>
          <p:nvPr/>
        </p:nvSpPr>
        <p:spPr>
          <a:xfrm>
            <a:off x="8039160" y="1790640"/>
            <a:ext cx="3505320" cy="156204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90" name="Rechteck 189"/>
          <p:cNvSpPr/>
          <p:nvPr/>
        </p:nvSpPr>
        <p:spPr>
          <a:xfrm>
            <a:off x="8039160" y="1790640"/>
            <a:ext cx="53280" cy="156204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91" name="Textfeld 190"/>
          <p:cNvSpPr txBox="1"/>
          <p:nvPr/>
        </p:nvSpPr>
        <p:spPr>
          <a:xfrm>
            <a:off x="8245080" y="1973520"/>
            <a:ext cx="309384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Breite · latitude</a:t>
            </a:r>
            <a:endParaRPr lang="en-US" sz="2540" b="0" strike="noStrike" spc="-1">
              <a:solidFill>
                <a:srgbClr val="000000"/>
              </a:solidFill>
              <a:latin typeface="Arial"/>
            </a:endParaRPr>
          </a:p>
        </p:txBody>
      </p:sp>
      <p:sp>
        <p:nvSpPr>
          <p:cNvPr id="192" name="Textfeld 191"/>
          <p:cNvSpPr txBox="1"/>
          <p:nvPr/>
        </p:nvSpPr>
        <p:spPr>
          <a:xfrm>
            <a:off x="8245080" y="2552760"/>
            <a:ext cx="3093840" cy="663120"/>
          </a:xfrm>
          <a:prstGeom prst="rect">
            <a:avLst/>
          </a:prstGeom>
          <a:noFill/>
          <a:ln w="0">
            <a:noFill/>
          </a:ln>
        </p:spPr>
        <p:txBody>
          <a:bodyPr lIns="0" tIns="0" rIns="0" bIns="0" anchor="t">
            <a:noAutofit/>
          </a:bodyPr>
          <a:lstStyle/>
          <a:p>
            <a:r>
              <a:rPr lang="en-US" sz="2160" b="0" strike="noStrike" spc="-1">
                <a:solidFill>
                  <a:srgbClr val="000000"/>
                </a:solidFill>
                <a:latin typeface="Noto Sans"/>
              </a:rPr>
              <a:t>−90° bis +90°</a:t>
            </a:r>
            <a:endParaRPr lang="en-US" sz="2160" b="0" strike="noStrike" spc="-1">
              <a:solidFill>
                <a:srgbClr val="000000"/>
              </a:solidFill>
              <a:latin typeface="Arial"/>
            </a:endParaRPr>
          </a:p>
          <a:p>
            <a:r>
              <a:rPr lang="en-US" sz="2160" b="0" strike="noStrike" spc="-1">
                <a:solidFill>
                  <a:srgbClr val="000000"/>
                </a:solidFill>
                <a:latin typeface="Noto Sans"/>
              </a:rPr>
              <a:t>Süd bis Nord</a:t>
            </a:r>
            <a:endParaRPr lang="en-US" sz="2160" b="0" strike="noStrike" spc="-1">
              <a:solidFill>
                <a:srgbClr val="000000"/>
              </a:solidFill>
              <a:latin typeface="Arial"/>
            </a:endParaRPr>
          </a:p>
        </p:txBody>
      </p:sp>
      <p:sp>
        <p:nvSpPr>
          <p:cNvPr id="193" name="Rechteck 192"/>
          <p:cNvSpPr/>
          <p:nvPr/>
        </p:nvSpPr>
        <p:spPr>
          <a:xfrm>
            <a:off x="8039160" y="3619440"/>
            <a:ext cx="3505320" cy="156204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94" name="Rechteck 193"/>
          <p:cNvSpPr/>
          <p:nvPr/>
        </p:nvSpPr>
        <p:spPr>
          <a:xfrm>
            <a:off x="8039160" y="3619440"/>
            <a:ext cx="53280" cy="1562040"/>
          </a:xfrm>
          <a:prstGeom prst="rect">
            <a:avLst/>
          </a:prstGeom>
          <a:solidFill>
            <a:srgbClr val="A32123"/>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195" name="Textfeld 194"/>
          <p:cNvSpPr txBox="1"/>
          <p:nvPr/>
        </p:nvSpPr>
        <p:spPr>
          <a:xfrm>
            <a:off x="8245080" y="3802320"/>
            <a:ext cx="3093840" cy="647640"/>
          </a:xfrm>
          <a:prstGeom prst="rect">
            <a:avLst/>
          </a:prstGeom>
          <a:noFill/>
          <a:ln w="0">
            <a:noFill/>
          </a:ln>
        </p:spPr>
        <p:txBody>
          <a:bodyPr lIns="0" tIns="0" rIns="0" bIns="0" anchor="t">
            <a:noAutofit/>
          </a:bodyPr>
          <a:lstStyle/>
          <a:p>
            <a:r>
              <a:rPr lang="en-US" sz="2540" b="1" strike="noStrike" spc="-1">
                <a:solidFill>
                  <a:srgbClr val="A32123"/>
                </a:solidFill>
                <a:latin typeface="Noto Sans"/>
              </a:rPr>
              <a:t>Länge · longitude</a:t>
            </a:r>
            <a:endParaRPr lang="en-US" sz="2540" b="0" strike="noStrike" spc="-1">
              <a:solidFill>
                <a:srgbClr val="000000"/>
              </a:solidFill>
              <a:latin typeface="Arial"/>
            </a:endParaRPr>
          </a:p>
        </p:txBody>
      </p:sp>
      <p:sp>
        <p:nvSpPr>
          <p:cNvPr id="196" name="Textfeld 195"/>
          <p:cNvSpPr txBox="1"/>
          <p:nvPr/>
        </p:nvSpPr>
        <p:spPr>
          <a:xfrm>
            <a:off x="8245080" y="4381560"/>
            <a:ext cx="3093840" cy="663120"/>
          </a:xfrm>
          <a:prstGeom prst="rect">
            <a:avLst/>
          </a:prstGeom>
          <a:noFill/>
          <a:ln w="0">
            <a:noFill/>
          </a:ln>
        </p:spPr>
        <p:txBody>
          <a:bodyPr lIns="0" tIns="0" rIns="0" bIns="0" anchor="t">
            <a:noAutofit/>
          </a:bodyPr>
          <a:lstStyle/>
          <a:p>
            <a:r>
              <a:rPr lang="en-US" sz="2160" b="0" strike="noStrike" spc="-1">
                <a:solidFill>
                  <a:srgbClr val="000000"/>
                </a:solidFill>
                <a:latin typeface="Noto Sans"/>
              </a:rPr>
              <a:t>−180° bis +180°</a:t>
            </a:r>
            <a:endParaRPr lang="en-US" sz="2160" b="0" strike="noStrike" spc="-1">
              <a:solidFill>
                <a:srgbClr val="000000"/>
              </a:solidFill>
              <a:latin typeface="Arial"/>
            </a:endParaRPr>
          </a:p>
          <a:p>
            <a:r>
              <a:rPr lang="en-US" sz="2160" b="0" strike="noStrike" spc="-1">
                <a:solidFill>
                  <a:srgbClr val="000000"/>
                </a:solidFill>
                <a:latin typeface="Noto Sans"/>
              </a:rPr>
              <a:t>West bis Ost</a:t>
            </a:r>
            <a:endParaRPr lang="en-US" sz="2160" b="0" strike="noStrike" spc="-1">
              <a:solidFill>
                <a:srgbClr val="000000"/>
              </a:solidFill>
              <a:latin typeface="Arial"/>
            </a:endParaRPr>
          </a:p>
        </p:txBody>
      </p:sp>
      <p:sp>
        <p:nvSpPr>
          <p:cNvPr id="197" name="Rechteck 196"/>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98" name="Textfeld 197"/>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Nord und Ost: positiv   /   Süd und West: negativ</a:t>
            </a:r>
            <a:endParaRPr lang="en-US" sz="2350" b="0" strike="noStrike" spc="-1">
              <a:solidFill>
                <a:srgbClr val="000000"/>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Textfeld 198"/>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Marburg: Welche Zahl steht zuerst?</a:t>
            </a:r>
            <a:endParaRPr lang="en-US" sz="3190" b="0" strike="noStrike" spc="-1">
              <a:solidFill>
                <a:srgbClr val="000000"/>
              </a:solidFill>
              <a:latin typeface="Arial"/>
            </a:endParaRPr>
          </a:p>
        </p:txBody>
      </p:sp>
      <p:sp>
        <p:nvSpPr>
          <p:cNvPr id="200" name="Textfeld 199"/>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02 · KOORDINATEN</a:t>
            </a:r>
            <a:endParaRPr lang="en-US" sz="1130" b="0" strike="noStrike" spc="-1">
              <a:solidFill>
                <a:srgbClr val="000000"/>
              </a:solidFill>
              <a:latin typeface="Arial"/>
            </a:endParaRPr>
          </a:p>
        </p:txBody>
      </p:sp>
      <p:sp>
        <p:nvSpPr>
          <p:cNvPr id="201" name="Textfeld 200"/>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202" name="Textfeld 201"/>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10</a:t>
            </a:r>
            <a:endParaRPr lang="en-US" sz="939" b="0" strike="noStrike" spc="-1">
              <a:solidFill>
                <a:srgbClr val="000000"/>
              </a:solidFill>
              <a:latin typeface="Arial"/>
            </a:endParaRPr>
          </a:p>
        </p:txBody>
      </p:sp>
      <p:sp>
        <p:nvSpPr>
          <p:cNvPr id="203" name="Rechteck 202"/>
          <p:cNvSpPr/>
          <p:nvPr/>
        </p:nvSpPr>
        <p:spPr>
          <a:xfrm>
            <a:off x="647640" y="1790640"/>
            <a:ext cx="4853880" cy="85356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04" name="Textfeld 203"/>
          <p:cNvSpPr txBox="1"/>
          <p:nvPr/>
        </p:nvSpPr>
        <p:spPr>
          <a:xfrm>
            <a:off x="784800" y="1920240"/>
            <a:ext cx="4602600" cy="723960"/>
          </a:xfrm>
          <a:prstGeom prst="rect">
            <a:avLst/>
          </a:prstGeom>
          <a:noFill/>
          <a:ln w="0">
            <a:noFill/>
          </a:ln>
        </p:spPr>
        <p:txBody>
          <a:bodyPr lIns="0" tIns="0" rIns="0" bIns="0" anchor="t">
            <a:noAutofit/>
          </a:bodyPr>
          <a:lstStyle/>
          <a:p>
            <a:r>
              <a:rPr lang="en-US" sz="2720" b="1" strike="noStrike" spc="-1">
                <a:solidFill>
                  <a:srgbClr val="FFFFFF"/>
                </a:solidFill>
                <a:latin typeface="Noto Sans"/>
              </a:rPr>
              <a:t>Beschriftung</a:t>
            </a:r>
            <a:endParaRPr lang="en-US" sz="2720" b="0" strike="noStrike" spc="-1">
              <a:solidFill>
                <a:srgbClr val="000000"/>
              </a:solidFill>
              <a:latin typeface="Arial"/>
            </a:endParaRPr>
          </a:p>
        </p:txBody>
      </p:sp>
      <p:sp>
        <p:nvSpPr>
          <p:cNvPr id="205" name="Rechteck 204"/>
          <p:cNvSpPr/>
          <p:nvPr/>
        </p:nvSpPr>
        <p:spPr>
          <a:xfrm>
            <a:off x="5524560" y="1790640"/>
            <a:ext cx="5996880" cy="85356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06" name="Textfeld 205"/>
          <p:cNvSpPr txBox="1"/>
          <p:nvPr/>
        </p:nvSpPr>
        <p:spPr>
          <a:xfrm>
            <a:off x="5661720" y="1920240"/>
            <a:ext cx="5745600" cy="723960"/>
          </a:xfrm>
          <a:prstGeom prst="rect">
            <a:avLst/>
          </a:prstGeom>
          <a:noFill/>
          <a:ln w="0">
            <a:noFill/>
          </a:ln>
        </p:spPr>
        <p:txBody>
          <a:bodyPr lIns="0" tIns="0" rIns="0" bIns="0" anchor="t">
            <a:noAutofit/>
          </a:bodyPr>
          <a:lstStyle/>
          <a:p>
            <a:r>
              <a:rPr lang="en-US" sz="2720" b="1" strike="noStrike" spc="-1">
                <a:solidFill>
                  <a:srgbClr val="FFFFFF"/>
                </a:solidFill>
                <a:latin typeface="Noto Sans"/>
              </a:rPr>
              <a:t>Werte für Marburg</a:t>
            </a:r>
            <a:endParaRPr lang="en-US" sz="2720" b="0" strike="noStrike" spc="-1">
              <a:solidFill>
                <a:srgbClr val="000000"/>
              </a:solidFill>
              <a:latin typeface="Arial"/>
            </a:endParaRPr>
          </a:p>
        </p:txBody>
      </p:sp>
      <p:sp>
        <p:nvSpPr>
          <p:cNvPr id="207" name="Rechteck 206"/>
          <p:cNvSpPr/>
          <p:nvPr/>
        </p:nvSpPr>
        <p:spPr>
          <a:xfrm>
            <a:off x="647640" y="2666880"/>
            <a:ext cx="4853880" cy="85356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08" name="Textfeld 207"/>
          <p:cNvSpPr txBox="1"/>
          <p:nvPr/>
        </p:nvSpPr>
        <p:spPr>
          <a:xfrm>
            <a:off x="784800" y="2796480"/>
            <a:ext cx="4602600" cy="723960"/>
          </a:xfrm>
          <a:prstGeom prst="rect">
            <a:avLst/>
          </a:prstGeom>
          <a:noFill/>
          <a:ln w="0">
            <a:noFill/>
          </a:ln>
        </p:spPr>
        <p:txBody>
          <a:bodyPr lIns="0" tIns="0" rIns="0" bIns="0" anchor="t">
            <a:noAutofit/>
          </a:bodyPr>
          <a:lstStyle/>
          <a:p>
            <a:r>
              <a:rPr lang="en-US" sz="2720" b="0" strike="noStrike" spc="-1">
                <a:solidFill>
                  <a:srgbClr val="000000"/>
                </a:solidFill>
                <a:latin typeface="Noto Sans"/>
              </a:rPr>
              <a:t>Breite / Länge</a:t>
            </a:r>
            <a:endParaRPr lang="en-US" sz="2720" b="0" strike="noStrike" spc="-1">
              <a:solidFill>
                <a:srgbClr val="000000"/>
              </a:solidFill>
              <a:latin typeface="Arial"/>
            </a:endParaRPr>
          </a:p>
        </p:txBody>
      </p:sp>
      <p:sp>
        <p:nvSpPr>
          <p:cNvPr id="209" name="Rechteck 208"/>
          <p:cNvSpPr/>
          <p:nvPr/>
        </p:nvSpPr>
        <p:spPr>
          <a:xfrm>
            <a:off x="5524560" y="2666880"/>
            <a:ext cx="5996880" cy="85356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10" name="Textfeld 209"/>
          <p:cNvSpPr txBox="1"/>
          <p:nvPr/>
        </p:nvSpPr>
        <p:spPr>
          <a:xfrm>
            <a:off x="5661720" y="2796480"/>
            <a:ext cx="5745600" cy="723960"/>
          </a:xfrm>
          <a:prstGeom prst="rect">
            <a:avLst/>
          </a:prstGeom>
          <a:noFill/>
          <a:ln w="0">
            <a:noFill/>
          </a:ln>
        </p:spPr>
        <p:txBody>
          <a:bodyPr lIns="0" tIns="0" rIns="0" bIns="0" anchor="t">
            <a:noAutofit/>
          </a:bodyPr>
          <a:lstStyle/>
          <a:p>
            <a:r>
              <a:rPr lang="en-US" sz="2720" b="0" strike="noStrike" spc="-1">
                <a:solidFill>
                  <a:srgbClr val="000000"/>
                </a:solidFill>
                <a:latin typeface="Noto Sans"/>
              </a:rPr>
              <a:t>50,81° N / 8,77° E</a:t>
            </a:r>
            <a:endParaRPr lang="en-US" sz="2720" b="0" strike="noStrike" spc="-1">
              <a:solidFill>
                <a:srgbClr val="000000"/>
              </a:solidFill>
              <a:latin typeface="Arial"/>
            </a:endParaRPr>
          </a:p>
        </p:txBody>
      </p:sp>
      <p:sp>
        <p:nvSpPr>
          <p:cNvPr id="211" name="Rechteck 210"/>
          <p:cNvSpPr/>
          <p:nvPr/>
        </p:nvSpPr>
        <p:spPr>
          <a:xfrm>
            <a:off x="647640" y="3543480"/>
            <a:ext cx="4853880" cy="8535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12" name="Textfeld 211"/>
          <p:cNvSpPr txBox="1"/>
          <p:nvPr/>
        </p:nvSpPr>
        <p:spPr>
          <a:xfrm>
            <a:off x="784800" y="3672720"/>
            <a:ext cx="4602600" cy="723960"/>
          </a:xfrm>
          <a:prstGeom prst="rect">
            <a:avLst/>
          </a:prstGeom>
          <a:noFill/>
          <a:ln w="0">
            <a:noFill/>
          </a:ln>
        </p:spPr>
        <p:txBody>
          <a:bodyPr lIns="0" tIns="0" rIns="0" bIns="0" anchor="t">
            <a:noAutofit/>
          </a:bodyPr>
          <a:lstStyle/>
          <a:p>
            <a:r>
              <a:rPr lang="en-US" sz="2720" b="0" strike="noStrike" spc="-1">
                <a:solidFill>
                  <a:srgbClr val="000000"/>
                </a:solidFill>
                <a:latin typeface="Noto Sans"/>
              </a:rPr>
              <a:t>Länge / Breite</a:t>
            </a:r>
            <a:endParaRPr lang="en-US" sz="2720" b="0" strike="noStrike" spc="-1">
              <a:solidFill>
                <a:srgbClr val="000000"/>
              </a:solidFill>
              <a:latin typeface="Arial"/>
            </a:endParaRPr>
          </a:p>
        </p:txBody>
      </p:sp>
      <p:sp>
        <p:nvSpPr>
          <p:cNvPr id="213" name="Rechteck 212"/>
          <p:cNvSpPr/>
          <p:nvPr/>
        </p:nvSpPr>
        <p:spPr>
          <a:xfrm>
            <a:off x="5524560" y="3543480"/>
            <a:ext cx="5996880" cy="8535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14" name="Textfeld 213"/>
          <p:cNvSpPr txBox="1"/>
          <p:nvPr/>
        </p:nvSpPr>
        <p:spPr>
          <a:xfrm>
            <a:off x="5661720" y="3672720"/>
            <a:ext cx="5745600" cy="723960"/>
          </a:xfrm>
          <a:prstGeom prst="rect">
            <a:avLst/>
          </a:prstGeom>
          <a:noFill/>
          <a:ln w="0">
            <a:noFill/>
          </a:ln>
        </p:spPr>
        <p:txBody>
          <a:bodyPr lIns="0" tIns="0" rIns="0" bIns="0" anchor="t">
            <a:noAutofit/>
          </a:bodyPr>
          <a:lstStyle/>
          <a:p>
            <a:r>
              <a:rPr lang="en-US" sz="2720" b="0" strike="noStrike" spc="-1">
                <a:solidFill>
                  <a:srgbClr val="000000"/>
                </a:solidFill>
                <a:latin typeface="Noto Sans"/>
              </a:rPr>
              <a:t>8,77° E / 50,81° N</a:t>
            </a:r>
            <a:endParaRPr lang="en-US" sz="2720" b="0" strike="noStrike" spc="-1">
              <a:solidFill>
                <a:srgbClr val="000000"/>
              </a:solidFill>
              <a:latin typeface="Arial"/>
            </a:endParaRPr>
          </a:p>
        </p:txBody>
      </p:sp>
      <p:sp>
        <p:nvSpPr>
          <p:cNvPr id="215" name="Textfeld 214"/>
          <p:cNvSpPr txBox="1"/>
          <p:nvPr/>
        </p:nvSpPr>
        <p:spPr>
          <a:xfrm>
            <a:off x="838080" y="4777920"/>
            <a:ext cx="10515600" cy="487800"/>
          </a:xfrm>
          <a:prstGeom prst="rect">
            <a:avLst/>
          </a:prstGeom>
          <a:noFill/>
          <a:ln w="0">
            <a:noFill/>
          </a:ln>
        </p:spPr>
        <p:txBody>
          <a:bodyPr lIns="0" tIns="0" rIns="0" bIns="0" anchor="t">
            <a:noAutofit/>
          </a:bodyPr>
          <a:lstStyle/>
          <a:p>
            <a:r>
              <a:rPr lang="en-US" sz="2540" b="1" strike="noStrike" spc="-1">
                <a:solidFill>
                  <a:srgbClr val="004899"/>
                </a:solidFill>
                <a:latin typeface="Noto Sans"/>
              </a:rPr>
              <a:t>Kurskonvention für Tabellen: (longitude, latitude) = (x, y)</a:t>
            </a:r>
            <a:endParaRPr lang="en-US" sz="2540" b="0" strike="noStrike" spc="-1">
              <a:solidFill>
                <a:srgbClr val="000000"/>
              </a:solidFill>
              <a:latin typeface="Arial"/>
            </a:endParaRPr>
          </a:p>
        </p:txBody>
      </p:sp>
      <p:sp>
        <p:nvSpPr>
          <p:cNvPr id="216" name="Rechteck 215"/>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17" name="Textfeld 216"/>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Andere Dienste können eine andere Reihenfolge erwarten.</a:t>
            </a:r>
            <a:endParaRPr lang="en-US" sz="2350" b="0" strike="noStrike" spc="-1">
              <a:solidFill>
                <a:srgbClr val="000000"/>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extfeld 217"/>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Vertauscht – und trotzdem formal gültig</a:t>
            </a:r>
            <a:endParaRPr lang="en-US" sz="3190" b="0" strike="noStrike" spc="-1">
              <a:solidFill>
                <a:srgbClr val="000000"/>
              </a:solidFill>
              <a:latin typeface="Arial"/>
            </a:endParaRPr>
          </a:p>
        </p:txBody>
      </p:sp>
      <p:sp>
        <p:nvSpPr>
          <p:cNvPr id="219" name="Textfeld 218"/>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02 · KOORDINATEN</a:t>
            </a:r>
            <a:endParaRPr lang="en-US" sz="1130" b="0" strike="noStrike" spc="-1">
              <a:solidFill>
                <a:srgbClr val="000000"/>
              </a:solidFill>
              <a:latin typeface="Arial"/>
            </a:endParaRPr>
          </a:p>
        </p:txBody>
      </p:sp>
      <p:sp>
        <p:nvSpPr>
          <p:cNvPr id="220" name="Textfeld 219"/>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221" name="Textfeld 220"/>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11</a:t>
            </a:r>
            <a:endParaRPr lang="en-US" sz="939" b="0" strike="noStrike" spc="-1">
              <a:solidFill>
                <a:srgbClr val="000000"/>
              </a:solidFill>
              <a:latin typeface="Arial"/>
            </a:endParaRPr>
          </a:p>
        </p:txBody>
      </p:sp>
      <p:pic>
        <p:nvPicPr>
          <p:cNvPr id="222" name="Grafik 221" descr="Im gleichen lon/lat-Gitter liegt A bei 8,77 Grad Ost und 50,81 Grad Nord. Nach Vertauschen liegt B bei 50,81 Grad Ost und 8,77 Grad Nord. Beide Paare sind formal gültig."/>
          <p:cNvPicPr/>
          <p:nvPr/>
        </p:nvPicPr>
        <p:blipFill>
          <a:blip r:embed="rId3">
            <a:extLst>
              <a:ext uri="{96DAC541-7B7A-43D3-8B79-37D633B846F1}">
                <asvg:svgBlip xmlns:asvg="http://schemas.microsoft.com/office/drawing/2016/SVG/main" r:embed="rId4"/>
              </a:ext>
            </a:extLst>
          </a:blip>
          <a:stretch/>
        </p:blipFill>
        <p:spPr>
          <a:xfrm>
            <a:off x="762120" y="1600200"/>
            <a:ext cx="3809880" cy="3871080"/>
          </a:xfrm>
          <a:prstGeom prst="rect">
            <a:avLst/>
          </a:prstGeom>
          <a:ln w="0">
            <a:noFill/>
          </a:ln>
        </p:spPr>
      </p:pic>
      <p:sp>
        <p:nvSpPr>
          <p:cNvPr id="223" name="Rechteck 222"/>
          <p:cNvSpPr/>
          <p:nvPr/>
        </p:nvSpPr>
        <p:spPr>
          <a:xfrm>
            <a:off x="4952880" y="1790640"/>
            <a:ext cx="6591240" cy="167652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24" name="Rechteck 223"/>
          <p:cNvSpPr/>
          <p:nvPr/>
        </p:nvSpPr>
        <p:spPr>
          <a:xfrm>
            <a:off x="4952880" y="1790640"/>
            <a:ext cx="53280" cy="167652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25" name="Textfeld 224"/>
          <p:cNvSpPr txBox="1"/>
          <p:nvPr/>
        </p:nvSpPr>
        <p:spPr>
          <a:xfrm>
            <a:off x="5158800" y="1973520"/>
            <a:ext cx="617976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Kurskonvention</a:t>
            </a:r>
            <a:endParaRPr lang="en-US" sz="2540" b="0" strike="noStrike" spc="-1">
              <a:solidFill>
                <a:srgbClr val="000000"/>
              </a:solidFill>
              <a:latin typeface="Arial"/>
            </a:endParaRPr>
          </a:p>
        </p:txBody>
      </p:sp>
      <p:sp>
        <p:nvSpPr>
          <p:cNvPr id="226" name="Textfeld 225"/>
          <p:cNvSpPr txBox="1"/>
          <p:nvPr/>
        </p:nvSpPr>
        <p:spPr>
          <a:xfrm>
            <a:off x="5158800" y="2552760"/>
            <a:ext cx="6179760" cy="777240"/>
          </a:xfrm>
          <a:prstGeom prst="rect">
            <a:avLst/>
          </a:prstGeom>
          <a:noFill/>
          <a:ln w="0">
            <a:noFill/>
          </a:ln>
        </p:spPr>
        <p:txBody>
          <a:bodyPr lIns="0" tIns="0" rIns="0" bIns="0" anchor="t">
            <a:noAutofit/>
          </a:bodyPr>
          <a:lstStyle/>
          <a:p>
            <a:r>
              <a:rPr lang="en-US" sz="2720" b="0" strike="noStrike" spc="-1">
                <a:solidFill>
                  <a:srgbClr val="000000"/>
                </a:solidFill>
                <a:latin typeface="Noto Sans"/>
              </a:rPr>
              <a:t>(longitude, latitude) = (x, y)</a:t>
            </a:r>
            <a:endParaRPr lang="en-US" sz="2720" b="0" strike="noStrike" spc="-1">
              <a:solidFill>
                <a:srgbClr val="000000"/>
              </a:solidFill>
              <a:latin typeface="Arial"/>
            </a:endParaRPr>
          </a:p>
        </p:txBody>
      </p:sp>
      <p:sp>
        <p:nvSpPr>
          <p:cNvPr id="227" name="Rechteck 226"/>
          <p:cNvSpPr/>
          <p:nvPr/>
        </p:nvSpPr>
        <p:spPr>
          <a:xfrm>
            <a:off x="4952880" y="3733920"/>
            <a:ext cx="6591240" cy="167652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28" name="Rechteck 227"/>
          <p:cNvSpPr/>
          <p:nvPr/>
        </p:nvSpPr>
        <p:spPr>
          <a:xfrm>
            <a:off x="4952880" y="3733920"/>
            <a:ext cx="53280" cy="1676520"/>
          </a:xfrm>
          <a:prstGeom prst="rect">
            <a:avLst/>
          </a:prstGeom>
          <a:solidFill>
            <a:srgbClr val="A32123"/>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29" name="Textfeld 228"/>
          <p:cNvSpPr txBox="1"/>
          <p:nvPr/>
        </p:nvSpPr>
        <p:spPr>
          <a:xfrm>
            <a:off x="5158800" y="3916800"/>
            <a:ext cx="6179760" cy="647640"/>
          </a:xfrm>
          <a:prstGeom prst="rect">
            <a:avLst/>
          </a:prstGeom>
          <a:noFill/>
          <a:ln w="0">
            <a:noFill/>
          </a:ln>
        </p:spPr>
        <p:txBody>
          <a:bodyPr lIns="0" tIns="0" rIns="0" bIns="0" anchor="t">
            <a:noAutofit/>
          </a:bodyPr>
          <a:lstStyle/>
          <a:p>
            <a:r>
              <a:rPr lang="en-US" sz="2540" b="1" strike="noStrike" spc="-1">
                <a:solidFill>
                  <a:srgbClr val="A32123"/>
                </a:solidFill>
                <a:latin typeface="Noto Sans"/>
              </a:rPr>
              <a:t>Plausibilitätsprüfung</a:t>
            </a:r>
            <a:endParaRPr lang="en-US" sz="2540" b="0" strike="noStrike" spc="-1">
              <a:solidFill>
                <a:srgbClr val="000000"/>
              </a:solidFill>
              <a:latin typeface="Arial"/>
            </a:endParaRPr>
          </a:p>
        </p:txBody>
      </p:sp>
      <p:sp>
        <p:nvSpPr>
          <p:cNvPr id="230" name="Textfeld 229"/>
          <p:cNvSpPr txBox="1"/>
          <p:nvPr/>
        </p:nvSpPr>
        <p:spPr>
          <a:xfrm>
            <a:off x="5158800" y="4495680"/>
            <a:ext cx="6179760" cy="777240"/>
          </a:xfrm>
          <a:prstGeom prst="rect">
            <a:avLst/>
          </a:prstGeom>
          <a:noFill/>
          <a:ln w="0">
            <a:noFill/>
          </a:ln>
        </p:spPr>
        <p:txBody>
          <a:bodyPr lIns="0" tIns="0" rIns="0" bIns="0" anchor="t">
            <a:noAutofit/>
          </a:bodyPr>
          <a:lstStyle/>
          <a:p>
            <a:r>
              <a:rPr lang="en-US" sz="2350" b="0" strike="noStrike" spc="-1">
                <a:solidFill>
                  <a:srgbClr val="000000"/>
                </a:solidFill>
                <a:latin typeface="Noto Sans"/>
              </a:rPr>
              <a:t>Wertebereich + Achsen + erwartete Lage + Metadaten</a:t>
            </a:r>
            <a:endParaRPr lang="en-US" sz="2350" b="0" strike="noStrike" spc="-1">
              <a:solidFill>
                <a:srgbClr val="000000"/>
              </a:solidFill>
              <a:latin typeface="Arial"/>
            </a:endParaRPr>
          </a:p>
        </p:txBody>
      </p:sp>
      <p:sp>
        <p:nvSpPr>
          <p:cNvPr id="231" name="Rechteck 230"/>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32" name="Textfeld 231"/>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Formal gültig bedeutet noch nicht räumlich plausibel.</a:t>
            </a:r>
            <a:endParaRPr lang="en-US" sz="2350" b="0" strike="noStrike" spc="-1">
              <a:solidFill>
                <a:srgbClr val="000000"/>
              </a:solidFill>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Welche Koordinatenpaare müssen wir prüfen?</a:t>
            </a:r>
            <a:endParaRPr lang="en-US" sz="3190" b="0" strike="noStrike" spc="-1">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ÜBUNG · KOORDINATENDATEN</a:t>
            </a:r>
            <a:endParaRPr lang="en-US" sz="1130" b="0" strike="noStrike" spc="-1">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237" name="Rechteck 236"/>
          <p:cNvSpPr/>
          <p:nvPr/>
        </p:nvSpPr>
        <p:spPr>
          <a:xfrm>
            <a:off x="647640" y="1600200"/>
            <a:ext cx="1348920" cy="54108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38" name="Textfeld 237"/>
          <p:cNvSpPr txBox="1"/>
          <p:nvPr/>
        </p:nvSpPr>
        <p:spPr>
          <a:xfrm>
            <a:off x="784800" y="1729800"/>
            <a:ext cx="1097280" cy="411480"/>
          </a:xfrm>
          <a:prstGeom prst="rect">
            <a:avLst/>
          </a:prstGeom>
          <a:noFill/>
          <a:ln w="0">
            <a:noFill/>
          </a:ln>
        </p:spPr>
        <p:txBody>
          <a:bodyPr lIns="0" tIns="0" rIns="0" bIns="0" anchor="t">
            <a:noAutofit/>
          </a:bodyPr>
          <a:lstStyle/>
          <a:p>
            <a:r>
              <a:rPr lang="en-US" sz="2350" b="1" strike="noStrike" spc="-1">
                <a:solidFill>
                  <a:srgbClr val="FFFFFF"/>
                </a:solidFill>
                <a:latin typeface="Noto Sans"/>
              </a:rPr>
              <a:t>Nr.</a:t>
            </a:r>
            <a:endParaRPr lang="en-US" sz="2350" b="0" strike="noStrike" spc="-1">
              <a:solidFill>
                <a:srgbClr val="000000"/>
              </a:solidFill>
              <a:latin typeface="Arial"/>
            </a:endParaRPr>
          </a:p>
        </p:txBody>
      </p:sp>
      <p:sp>
        <p:nvSpPr>
          <p:cNvPr id="239" name="Rechteck 238"/>
          <p:cNvSpPr/>
          <p:nvPr/>
        </p:nvSpPr>
        <p:spPr>
          <a:xfrm>
            <a:off x="2019240" y="1600200"/>
            <a:ext cx="4739760" cy="54108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40" name="Textfeld 239"/>
          <p:cNvSpPr txBox="1"/>
          <p:nvPr/>
        </p:nvSpPr>
        <p:spPr>
          <a:xfrm>
            <a:off x="2156400" y="1729800"/>
            <a:ext cx="4488120" cy="411480"/>
          </a:xfrm>
          <a:prstGeom prst="rect">
            <a:avLst/>
          </a:prstGeom>
          <a:noFill/>
          <a:ln w="0">
            <a:noFill/>
          </a:ln>
        </p:spPr>
        <p:txBody>
          <a:bodyPr lIns="0" tIns="0" rIns="0" bIns="0" anchor="t">
            <a:noAutofit/>
          </a:bodyPr>
          <a:lstStyle/>
          <a:p>
            <a:r>
              <a:rPr lang="en-US" sz="2350" b="1" strike="noStrike" spc="-1">
                <a:solidFill>
                  <a:srgbClr val="FFFFFF"/>
                </a:solidFill>
                <a:latin typeface="Noto Sans"/>
              </a:rPr>
              <a:t>longitude · x</a:t>
            </a:r>
            <a:endParaRPr lang="en-US" sz="2350" b="0" strike="noStrike" spc="-1">
              <a:solidFill>
                <a:srgbClr val="000000"/>
              </a:solidFill>
              <a:latin typeface="Arial"/>
            </a:endParaRPr>
          </a:p>
        </p:txBody>
      </p:sp>
      <p:sp>
        <p:nvSpPr>
          <p:cNvPr id="241" name="Rechteck 240"/>
          <p:cNvSpPr/>
          <p:nvPr/>
        </p:nvSpPr>
        <p:spPr>
          <a:xfrm>
            <a:off x="6782040" y="1600200"/>
            <a:ext cx="4739760" cy="54108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42" name="Textfeld 241"/>
          <p:cNvSpPr txBox="1"/>
          <p:nvPr/>
        </p:nvSpPr>
        <p:spPr>
          <a:xfrm>
            <a:off x="6919200" y="1729800"/>
            <a:ext cx="4488120" cy="411480"/>
          </a:xfrm>
          <a:prstGeom prst="rect">
            <a:avLst/>
          </a:prstGeom>
          <a:noFill/>
          <a:ln w="0">
            <a:noFill/>
          </a:ln>
        </p:spPr>
        <p:txBody>
          <a:bodyPr lIns="0" tIns="0" rIns="0" bIns="0" anchor="t">
            <a:noAutofit/>
          </a:bodyPr>
          <a:lstStyle/>
          <a:p>
            <a:r>
              <a:rPr lang="en-US" sz="2350" b="1" strike="noStrike" spc="-1">
                <a:solidFill>
                  <a:srgbClr val="FFFFFF"/>
                </a:solidFill>
                <a:latin typeface="Noto Sans"/>
              </a:rPr>
              <a:t>latitude · y</a:t>
            </a:r>
            <a:endParaRPr lang="en-US" sz="2350" b="0" strike="noStrike" spc="-1">
              <a:solidFill>
                <a:srgbClr val="000000"/>
              </a:solidFill>
              <a:latin typeface="Arial"/>
            </a:endParaRPr>
          </a:p>
        </p:txBody>
      </p:sp>
      <p:sp>
        <p:nvSpPr>
          <p:cNvPr id="243" name="Rechteck 242"/>
          <p:cNvSpPr/>
          <p:nvPr/>
        </p:nvSpPr>
        <p:spPr>
          <a:xfrm>
            <a:off x="647640" y="2163960"/>
            <a:ext cx="134892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44" name="Textfeld 243"/>
          <p:cNvSpPr txBox="1"/>
          <p:nvPr/>
        </p:nvSpPr>
        <p:spPr>
          <a:xfrm>
            <a:off x="784800" y="2293560"/>
            <a:ext cx="109728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1</a:t>
            </a:r>
            <a:endParaRPr lang="en-US" sz="2350" b="0" strike="noStrike" spc="-1">
              <a:solidFill>
                <a:srgbClr val="000000"/>
              </a:solidFill>
              <a:latin typeface="Arial"/>
            </a:endParaRPr>
          </a:p>
        </p:txBody>
      </p:sp>
      <p:sp>
        <p:nvSpPr>
          <p:cNvPr id="245" name="Rechteck 244"/>
          <p:cNvSpPr/>
          <p:nvPr/>
        </p:nvSpPr>
        <p:spPr>
          <a:xfrm>
            <a:off x="2019240" y="2163960"/>
            <a:ext cx="473976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46" name="Textfeld 245"/>
          <p:cNvSpPr txBox="1"/>
          <p:nvPr/>
        </p:nvSpPr>
        <p:spPr>
          <a:xfrm>
            <a:off x="2156400" y="229356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8.77</a:t>
            </a:r>
            <a:endParaRPr lang="en-US" sz="2350" b="0" strike="noStrike" spc="-1">
              <a:solidFill>
                <a:srgbClr val="000000"/>
              </a:solidFill>
              <a:latin typeface="Arial"/>
            </a:endParaRPr>
          </a:p>
        </p:txBody>
      </p:sp>
      <p:sp>
        <p:nvSpPr>
          <p:cNvPr id="247" name="Rechteck 246"/>
          <p:cNvSpPr/>
          <p:nvPr/>
        </p:nvSpPr>
        <p:spPr>
          <a:xfrm>
            <a:off x="6782040" y="2163960"/>
            <a:ext cx="473976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48" name="Textfeld 247"/>
          <p:cNvSpPr txBox="1"/>
          <p:nvPr/>
        </p:nvSpPr>
        <p:spPr>
          <a:xfrm>
            <a:off x="6919200" y="229356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50.81</a:t>
            </a:r>
            <a:endParaRPr lang="en-US" sz="2350" b="0" strike="noStrike" spc="-1">
              <a:solidFill>
                <a:srgbClr val="000000"/>
              </a:solidFill>
              <a:latin typeface="Arial"/>
            </a:endParaRPr>
          </a:p>
        </p:txBody>
      </p:sp>
      <p:sp>
        <p:nvSpPr>
          <p:cNvPr id="249" name="Rechteck 248"/>
          <p:cNvSpPr/>
          <p:nvPr/>
        </p:nvSpPr>
        <p:spPr>
          <a:xfrm>
            <a:off x="647640" y="2728080"/>
            <a:ext cx="134892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50" name="Textfeld 249"/>
          <p:cNvSpPr txBox="1"/>
          <p:nvPr/>
        </p:nvSpPr>
        <p:spPr>
          <a:xfrm>
            <a:off x="784800" y="2857680"/>
            <a:ext cx="109728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2</a:t>
            </a:r>
            <a:endParaRPr lang="en-US" sz="2350" b="0" strike="noStrike" spc="-1">
              <a:solidFill>
                <a:srgbClr val="000000"/>
              </a:solidFill>
              <a:latin typeface="Arial"/>
            </a:endParaRPr>
          </a:p>
        </p:txBody>
      </p:sp>
      <p:sp>
        <p:nvSpPr>
          <p:cNvPr id="251" name="Rechteck 250"/>
          <p:cNvSpPr/>
          <p:nvPr/>
        </p:nvSpPr>
        <p:spPr>
          <a:xfrm>
            <a:off x="2019240" y="2728080"/>
            <a:ext cx="473976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52" name="Textfeld 251"/>
          <p:cNvSpPr txBox="1"/>
          <p:nvPr/>
        </p:nvSpPr>
        <p:spPr>
          <a:xfrm>
            <a:off x="2156400" y="285768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50.81</a:t>
            </a:r>
            <a:endParaRPr lang="en-US" sz="2350" b="0" strike="noStrike" spc="-1">
              <a:solidFill>
                <a:srgbClr val="000000"/>
              </a:solidFill>
              <a:latin typeface="Arial"/>
            </a:endParaRPr>
          </a:p>
        </p:txBody>
      </p:sp>
      <p:sp>
        <p:nvSpPr>
          <p:cNvPr id="253" name="Rechteck 252"/>
          <p:cNvSpPr/>
          <p:nvPr/>
        </p:nvSpPr>
        <p:spPr>
          <a:xfrm>
            <a:off x="6782040" y="2728080"/>
            <a:ext cx="473976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54" name="Textfeld 253"/>
          <p:cNvSpPr txBox="1"/>
          <p:nvPr/>
        </p:nvSpPr>
        <p:spPr>
          <a:xfrm>
            <a:off x="6919200" y="285768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8.77</a:t>
            </a:r>
            <a:endParaRPr lang="en-US" sz="2350" b="0" strike="noStrike" spc="-1">
              <a:solidFill>
                <a:srgbClr val="000000"/>
              </a:solidFill>
              <a:latin typeface="Arial"/>
            </a:endParaRPr>
          </a:p>
        </p:txBody>
      </p:sp>
      <p:sp>
        <p:nvSpPr>
          <p:cNvPr id="255" name="Rechteck 254"/>
          <p:cNvSpPr/>
          <p:nvPr/>
        </p:nvSpPr>
        <p:spPr>
          <a:xfrm>
            <a:off x="647640" y="3291840"/>
            <a:ext cx="134892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56" name="Textfeld 255"/>
          <p:cNvSpPr txBox="1"/>
          <p:nvPr/>
        </p:nvSpPr>
        <p:spPr>
          <a:xfrm>
            <a:off x="784800" y="3421440"/>
            <a:ext cx="109728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3</a:t>
            </a:r>
            <a:endParaRPr lang="en-US" sz="2350" b="0" strike="noStrike" spc="-1">
              <a:solidFill>
                <a:srgbClr val="000000"/>
              </a:solidFill>
              <a:latin typeface="Arial"/>
            </a:endParaRPr>
          </a:p>
        </p:txBody>
      </p:sp>
      <p:sp>
        <p:nvSpPr>
          <p:cNvPr id="257" name="Rechteck 256"/>
          <p:cNvSpPr/>
          <p:nvPr/>
        </p:nvSpPr>
        <p:spPr>
          <a:xfrm>
            <a:off x="2019240" y="3291840"/>
            <a:ext cx="473976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58" name="Textfeld 257"/>
          <p:cNvSpPr txBox="1"/>
          <p:nvPr/>
        </p:nvSpPr>
        <p:spPr>
          <a:xfrm>
            <a:off x="2156400" y="342144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188.40</a:t>
            </a:r>
            <a:endParaRPr lang="en-US" sz="2350" b="0" strike="noStrike" spc="-1">
              <a:solidFill>
                <a:srgbClr val="000000"/>
              </a:solidFill>
              <a:latin typeface="Arial"/>
            </a:endParaRPr>
          </a:p>
        </p:txBody>
      </p:sp>
      <p:sp>
        <p:nvSpPr>
          <p:cNvPr id="259" name="Rechteck 258"/>
          <p:cNvSpPr/>
          <p:nvPr/>
        </p:nvSpPr>
        <p:spPr>
          <a:xfrm>
            <a:off x="6782040" y="3291840"/>
            <a:ext cx="473976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60" name="Textfeld 259"/>
          <p:cNvSpPr txBox="1"/>
          <p:nvPr/>
        </p:nvSpPr>
        <p:spPr>
          <a:xfrm>
            <a:off x="6919200" y="342144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50.81</a:t>
            </a:r>
            <a:endParaRPr lang="en-US" sz="2350" b="0" strike="noStrike" spc="-1">
              <a:solidFill>
                <a:srgbClr val="000000"/>
              </a:solidFill>
              <a:latin typeface="Arial"/>
            </a:endParaRPr>
          </a:p>
        </p:txBody>
      </p:sp>
      <p:sp>
        <p:nvSpPr>
          <p:cNvPr id="261" name="Rechteck 260"/>
          <p:cNvSpPr/>
          <p:nvPr/>
        </p:nvSpPr>
        <p:spPr>
          <a:xfrm>
            <a:off x="647640" y="3855600"/>
            <a:ext cx="134892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62" name="Textfeld 261"/>
          <p:cNvSpPr txBox="1"/>
          <p:nvPr/>
        </p:nvSpPr>
        <p:spPr>
          <a:xfrm>
            <a:off x="784800" y="3985200"/>
            <a:ext cx="109728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4</a:t>
            </a:r>
            <a:endParaRPr lang="en-US" sz="2350" b="0" strike="noStrike" spc="-1">
              <a:solidFill>
                <a:srgbClr val="000000"/>
              </a:solidFill>
              <a:latin typeface="Arial"/>
            </a:endParaRPr>
          </a:p>
        </p:txBody>
      </p:sp>
      <p:sp>
        <p:nvSpPr>
          <p:cNvPr id="263" name="Rechteck 262"/>
          <p:cNvSpPr/>
          <p:nvPr/>
        </p:nvSpPr>
        <p:spPr>
          <a:xfrm>
            <a:off x="2019240" y="3855600"/>
            <a:ext cx="473976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64" name="Textfeld 263"/>
          <p:cNvSpPr txBox="1"/>
          <p:nvPr/>
        </p:nvSpPr>
        <p:spPr>
          <a:xfrm>
            <a:off x="2156400" y="398520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8.77</a:t>
            </a:r>
            <a:endParaRPr lang="en-US" sz="2350" b="0" strike="noStrike" spc="-1">
              <a:solidFill>
                <a:srgbClr val="000000"/>
              </a:solidFill>
              <a:latin typeface="Arial"/>
            </a:endParaRPr>
          </a:p>
        </p:txBody>
      </p:sp>
      <p:sp>
        <p:nvSpPr>
          <p:cNvPr id="265" name="Rechteck 264"/>
          <p:cNvSpPr/>
          <p:nvPr/>
        </p:nvSpPr>
        <p:spPr>
          <a:xfrm>
            <a:off x="6782040" y="3855600"/>
            <a:ext cx="473976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66" name="Textfeld 265"/>
          <p:cNvSpPr txBox="1"/>
          <p:nvPr/>
        </p:nvSpPr>
        <p:spPr>
          <a:xfrm>
            <a:off x="6919200" y="398520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−50.81</a:t>
            </a:r>
            <a:endParaRPr lang="en-US" sz="2350" b="0" strike="noStrike" spc="-1">
              <a:solidFill>
                <a:srgbClr val="000000"/>
              </a:solidFill>
              <a:latin typeface="Arial"/>
            </a:endParaRPr>
          </a:p>
        </p:txBody>
      </p:sp>
      <p:sp>
        <p:nvSpPr>
          <p:cNvPr id="267" name="Rechteck 266"/>
          <p:cNvSpPr/>
          <p:nvPr/>
        </p:nvSpPr>
        <p:spPr>
          <a:xfrm>
            <a:off x="647640" y="4419720"/>
            <a:ext cx="134892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68" name="Textfeld 267"/>
          <p:cNvSpPr txBox="1"/>
          <p:nvPr/>
        </p:nvSpPr>
        <p:spPr>
          <a:xfrm>
            <a:off x="784800" y="4549320"/>
            <a:ext cx="109728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5</a:t>
            </a:r>
            <a:endParaRPr lang="en-US" sz="2350" b="0" strike="noStrike" spc="-1">
              <a:solidFill>
                <a:srgbClr val="000000"/>
              </a:solidFill>
              <a:latin typeface="Arial"/>
            </a:endParaRPr>
          </a:p>
        </p:txBody>
      </p:sp>
      <p:sp>
        <p:nvSpPr>
          <p:cNvPr id="269" name="Rechteck 268"/>
          <p:cNvSpPr/>
          <p:nvPr/>
        </p:nvSpPr>
        <p:spPr>
          <a:xfrm>
            <a:off x="2019240" y="4419720"/>
            <a:ext cx="473976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70" name="Textfeld 269"/>
          <p:cNvSpPr txBox="1"/>
          <p:nvPr/>
        </p:nvSpPr>
        <p:spPr>
          <a:xfrm>
            <a:off x="2156400" y="454932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0</a:t>
            </a:r>
            <a:endParaRPr lang="en-US" sz="2350" b="0" strike="noStrike" spc="-1">
              <a:solidFill>
                <a:srgbClr val="000000"/>
              </a:solidFill>
              <a:latin typeface="Arial"/>
            </a:endParaRPr>
          </a:p>
        </p:txBody>
      </p:sp>
      <p:sp>
        <p:nvSpPr>
          <p:cNvPr id="271" name="Rechteck 270"/>
          <p:cNvSpPr/>
          <p:nvPr/>
        </p:nvSpPr>
        <p:spPr>
          <a:xfrm>
            <a:off x="6782040" y="4419720"/>
            <a:ext cx="473976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72" name="Textfeld 271"/>
          <p:cNvSpPr txBox="1"/>
          <p:nvPr/>
        </p:nvSpPr>
        <p:spPr>
          <a:xfrm>
            <a:off x="6919200" y="4549320"/>
            <a:ext cx="4488120" cy="411480"/>
          </a:xfrm>
          <a:prstGeom prst="rect">
            <a:avLst/>
          </a:prstGeom>
          <a:noFill/>
          <a:ln w="0">
            <a:noFill/>
          </a:ln>
        </p:spPr>
        <p:txBody>
          <a:bodyPr lIns="0" tIns="0" rIns="0" bIns="0" anchor="t">
            <a:noAutofit/>
          </a:bodyPr>
          <a:lstStyle/>
          <a:p>
            <a:r>
              <a:rPr lang="en-US" sz="2350" b="0" strike="noStrike" spc="-1">
                <a:solidFill>
                  <a:srgbClr val="000000"/>
                </a:solidFill>
                <a:latin typeface="Noto Sans"/>
              </a:rPr>
              <a:t>0</a:t>
            </a:r>
            <a:endParaRPr lang="en-US" sz="2350" b="0" strike="noStrike" spc="-1">
              <a:solidFill>
                <a:srgbClr val="000000"/>
              </a:solidFill>
              <a:latin typeface="Arial"/>
            </a:endParaRPr>
          </a:p>
        </p:txBody>
      </p:sp>
      <p:sp>
        <p:nvSpPr>
          <p:cNvPr id="273" name="Textfeld 272"/>
          <p:cNvSpPr txBox="1"/>
          <p:nvPr/>
        </p:nvSpPr>
        <p:spPr>
          <a:xfrm>
            <a:off x="762120" y="5135760"/>
            <a:ext cx="10668240" cy="343080"/>
          </a:xfrm>
          <a:prstGeom prst="rect">
            <a:avLst/>
          </a:prstGeom>
          <a:noFill/>
          <a:ln w="0">
            <a:noFill/>
          </a:ln>
        </p:spPr>
        <p:txBody>
          <a:bodyPr lIns="0" tIns="0" rIns="0" bIns="0" anchor="t">
            <a:noAutofit/>
          </a:bodyPr>
          <a:lstStyle/>
          <a:p>
            <a:r>
              <a:rPr lang="en-US" sz="2160" b="0" strike="noStrike" spc="-1">
                <a:solidFill>
                  <a:srgbClr val="414141"/>
                </a:solidFill>
                <a:latin typeface="Noto Sans"/>
              </a:rPr>
              <a:t>Geplant: Orte in Deutschland · Einheit: Dezimalgrad</a:t>
            </a:r>
            <a:endParaRPr lang="en-US" sz="2160" b="0" strike="noStrike" spc="-1">
              <a:solidFill>
                <a:srgbClr val="000000"/>
              </a:solidFill>
              <a:latin typeface="Arial"/>
            </a:endParaRPr>
          </a:p>
        </p:txBody>
      </p:sp>
      <p:sp>
        <p:nvSpPr>
          <p:cNvPr id="274" name="Rechteck 273"/>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75" name="Textfeld 274"/>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Markieren Sie Auffälligkeiten. Begründen Sie Ihren Verdacht.</a:t>
            </a:r>
            <a:endParaRPr lang="en-US" sz="2350" b="0" strike="noStrike" spc="-1">
              <a:solidFill>
                <a:srgbClr val="000000"/>
              </a:solidFill>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Textfeld 275"/>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Plausibel ist noch nicht geprüft</a:t>
            </a:r>
            <a:endParaRPr lang="en-US" sz="3190" b="0" strike="noStrike" spc="-1">
              <a:solidFill>
                <a:srgbClr val="000000"/>
              </a:solidFill>
              <a:latin typeface="Arial"/>
            </a:endParaRPr>
          </a:p>
        </p:txBody>
      </p:sp>
      <p:sp>
        <p:nvSpPr>
          <p:cNvPr id="277" name="Textfeld 276"/>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AUFLÖSUNG · KOORDINATENDATEN</a:t>
            </a:r>
            <a:endParaRPr lang="en-US" sz="1130" b="0" strike="noStrike" spc="-1">
              <a:solidFill>
                <a:srgbClr val="000000"/>
              </a:solidFill>
              <a:latin typeface="Arial"/>
            </a:endParaRPr>
          </a:p>
        </p:txBody>
      </p:sp>
      <p:sp>
        <p:nvSpPr>
          <p:cNvPr id="278" name="Textfeld 277"/>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279" name="Textfeld 278"/>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13</a:t>
            </a:r>
            <a:endParaRPr lang="en-US" sz="939" b="0" strike="noStrike" spc="-1">
              <a:solidFill>
                <a:srgbClr val="000000"/>
              </a:solidFill>
              <a:latin typeface="Arial"/>
            </a:endParaRPr>
          </a:p>
        </p:txBody>
      </p:sp>
      <p:sp>
        <p:nvSpPr>
          <p:cNvPr id="280" name="Rechteck 279"/>
          <p:cNvSpPr/>
          <p:nvPr/>
        </p:nvSpPr>
        <p:spPr>
          <a:xfrm>
            <a:off x="647640" y="1600200"/>
            <a:ext cx="1348920" cy="54108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81" name="Textfeld 280"/>
          <p:cNvSpPr txBox="1"/>
          <p:nvPr/>
        </p:nvSpPr>
        <p:spPr>
          <a:xfrm>
            <a:off x="784800" y="1729800"/>
            <a:ext cx="1097280" cy="411480"/>
          </a:xfrm>
          <a:prstGeom prst="rect">
            <a:avLst/>
          </a:prstGeom>
          <a:noFill/>
          <a:ln w="0">
            <a:noFill/>
          </a:ln>
        </p:spPr>
        <p:txBody>
          <a:bodyPr lIns="0" tIns="0" rIns="0" bIns="0" anchor="t">
            <a:noAutofit/>
          </a:bodyPr>
          <a:lstStyle/>
          <a:p>
            <a:r>
              <a:rPr lang="en-US" sz="2160" b="1" strike="noStrike" spc="-1">
                <a:solidFill>
                  <a:srgbClr val="FFFFFF"/>
                </a:solidFill>
                <a:latin typeface="Noto Sans"/>
              </a:rPr>
              <a:t>Nr.</a:t>
            </a:r>
            <a:endParaRPr lang="en-US" sz="2160" b="0" strike="noStrike" spc="-1">
              <a:solidFill>
                <a:srgbClr val="000000"/>
              </a:solidFill>
              <a:latin typeface="Arial"/>
            </a:endParaRPr>
          </a:p>
        </p:txBody>
      </p:sp>
      <p:sp>
        <p:nvSpPr>
          <p:cNvPr id="282" name="Rechteck 281"/>
          <p:cNvSpPr/>
          <p:nvPr/>
        </p:nvSpPr>
        <p:spPr>
          <a:xfrm>
            <a:off x="2019240" y="1600200"/>
            <a:ext cx="9502200" cy="54108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283" name="Textfeld 282"/>
          <p:cNvSpPr txBox="1"/>
          <p:nvPr/>
        </p:nvSpPr>
        <p:spPr>
          <a:xfrm>
            <a:off x="2156400" y="1729800"/>
            <a:ext cx="9250920" cy="411480"/>
          </a:xfrm>
          <a:prstGeom prst="rect">
            <a:avLst/>
          </a:prstGeom>
          <a:noFill/>
          <a:ln w="0">
            <a:noFill/>
          </a:ln>
        </p:spPr>
        <p:txBody>
          <a:bodyPr lIns="0" tIns="0" rIns="0" bIns="0" anchor="t">
            <a:noAutofit/>
          </a:bodyPr>
          <a:lstStyle/>
          <a:p>
            <a:r>
              <a:rPr lang="en-US" sz="2160" b="1" strike="noStrike" spc="-1">
                <a:solidFill>
                  <a:srgbClr val="FFFFFF"/>
                </a:solidFill>
                <a:latin typeface="Noto Sans"/>
              </a:rPr>
              <a:t>Befund</a:t>
            </a:r>
            <a:endParaRPr lang="en-US" sz="2160" b="0" strike="noStrike" spc="-1">
              <a:solidFill>
                <a:srgbClr val="000000"/>
              </a:solidFill>
              <a:latin typeface="Arial"/>
            </a:endParaRPr>
          </a:p>
        </p:txBody>
      </p:sp>
      <p:sp>
        <p:nvSpPr>
          <p:cNvPr id="284" name="Rechteck 283"/>
          <p:cNvSpPr/>
          <p:nvPr/>
        </p:nvSpPr>
        <p:spPr>
          <a:xfrm>
            <a:off x="647640" y="2163960"/>
            <a:ext cx="134892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85" name="Textfeld 284"/>
          <p:cNvSpPr txBox="1"/>
          <p:nvPr/>
        </p:nvSpPr>
        <p:spPr>
          <a:xfrm>
            <a:off x="784800" y="2293560"/>
            <a:ext cx="109728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1</a:t>
            </a:r>
            <a:endParaRPr lang="en-US" sz="2160" b="0" strike="noStrike" spc="-1">
              <a:solidFill>
                <a:srgbClr val="000000"/>
              </a:solidFill>
              <a:latin typeface="Arial"/>
            </a:endParaRPr>
          </a:p>
        </p:txBody>
      </p:sp>
      <p:sp>
        <p:nvSpPr>
          <p:cNvPr id="286" name="Rechteck 285"/>
          <p:cNvSpPr/>
          <p:nvPr/>
        </p:nvSpPr>
        <p:spPr>
          <a:xfrm>
            <a:off x="2019240" y="2163960"/>
            <a:ext cx="950220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87" name="Textfeld 286"/>
          <p:cNvSpPr txBox="1"/>
          <p:nvPr/>
        </p:nvSpPr>
        <p:spPr>
          <a:xfrm>
            <a:off x="2156400" y="2293560"/>
            <a:ext cx="925092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Für Deutschland plausibel</a:t>
            </a:r>
            <a:endParaRPr lang="en-US" sz="2160" b="0" strike="noStrike" spc="-1">
              <a:solidFill>
                <a:srgbClr val="000000"/>
              </a:solidFill>
              <a:latin typeface="Arial"/>
            </a:endParaRPr>
          </a:p>
        </p:txBody>
      </p:sp>
      <p:sp>
        <p:nvSpPr>
          <p:cNvPr id="288" name="Rechteck 287"/>
          <p:cNvSpPr/>
          <p:nvPr/>
        </p:nvSpPr>
        <p:spPr>
          <a:xfrm>
            <a:off x="647640" y="2728080"/>
            <a:ext cx="134892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89" name="Textfeld 288"/>
          <p:cNvSpPr txBox="1"/>
          <p:nvPr/>
        </p:nvSpPr>
        <p:spPr>
          <a:xfrm>
            <a:off x="784800" y="2857680"/>
            <a:ext cx="109728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2</a:t>
            </a:r>
            <a:endParaRPr lang="en-US" sz="2160" b="0" strike="noStrike" spc="-1">
              <a:solidFill>
                <a:srgbClr val="000000"/>
              </a:solidFill>
              <a:latin typeface="Arial"/>
            </a:endParaRPr>
          </a:p>
        </p:txBody>
      </p:sp>
      <p:sp>
        <p:nvSpPr>
          <p:cNvPr id="290" name="Rechteck 289"/>
          <p:cNvSpPr/>
          <p:nvPr/>
        </p:nvSpPr>
        <p:spPr>
          <a:xfrm>
            <a:off x="2019240" y="2728080"/>
            <a:ext cx="950220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91" name="Textfeld 290"/>
          <p:cNvSpPr txBox="1"/>
          <p:nvPr/>
        </p:nvSpPr>
        <p:spPr>
          <a:xfrm>
            <a:off x="2156400" y="2857680"/>
            <a:ext cx="925092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Nicht in Deutschland; möglicherweise vertauscht</a:t>
            </a:r>
            <a:endParaRPr lang="en-US" sz="2160" b="0" strike="noStrike" spc="-1">
              <a:solidFill>
                <a:srgbClr val="000000"/>
              </a:solidFill>
              <a:latin typeface="Arial"/>
            </a:endParaRPr>
          </a:p>
        </p:txBody>
      </p:sp>
      <p:sp>
        <p:nvSpPr>
          <p:cNvPr id="292" name="Rechteck 291"/>
          <p:cNvSpPr/>
          <p:nvPr/>
        </p:nvSpPr>
        <p:spPr>
          <a:xfrm>
            <a:off x="647640" y="3291840"/>
            <a:ext cx="134892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93" name="Textfeld 292"/>
          <p:cNvSpPr txBox="1"/>
          <p:nvPr/>
        </p:nvSpPr>
        <p:spPr>
          <a:xfrm>
            <a:off x="784800" y="3421440"/>
            <a:ext cx="109728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3</a:t>
            </a:r>
            <a:endParaRPr lang="en-US" sz="2160" b="0" strike="noStrike" spc="-1">
              <a:solidFill>
                <a:srgbClr val="000000"/>
              </a:solidFill>
              <a:latin typeface="Arial"/>
            </a:endParaRPr>
          </a:p>
        </p:txBody>
      </p:sp>
      <p:sp>
        <p:nvSpPr>
          <p:cNvPr id="294" name="Rechteck 293"/>
          <p:cNvSpPr/>
          <p:nvPr/>
        </p:nvSpPr>
        <p:spPr>
          <a:xfrm>
            <a:off x="2019240" y="3291840"/>
            <a:ext cx="950220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95" name="Textfeld 294"/>
          <p:cNvSpPr txBox="1"/>
          <p:nvPr/>
        </p:nvSpPr>
        <p:spPr>
          <a:xfrm>
            <a:off x="2156400" y="3421440"/>
            <a:ext cx="925092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Länge über 180°: ungültig</a:t>
            </a:r>
            <a:endParaRPr lang="en-US" sz="2160" b="0" strike="noStrike" spc="-1">
              <a:solidFill>
                <a:srgbClr val="000000"/>
              </a:solidFill>
              <a:latin typeface="Arial"/>
            </a:endParaRPr>
          </a:p>
        </p:txBody>
      </p:sp>
      <p:sp>
        <p:nvSpPr>
          <p:cNvPr id="296" name="Rechteck 295"/>
          <p:cNvSpPr/>
          <p:nvPr/>
        </p:nvSpPr>
        <p:spPr>
          <a:xfrm>
            <a:off x="647640" y="3855600"/>
            <a:ext cx="134892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97" name="Textfeld 296"/>
          <p:cNvSpPr txBox="1"/>
          <p:nvPr/>
        </p:nvSpPr>
        <p:spPr>
          <a:xfrm>
            <a:off x="784800" y="3985200"/>
            <a:ext cx="109728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4</a:t>
            </a:r>
            <a:endParaRPr lang="en-US" sz="2160" b="0" strike="noStrike" spc="-1">
              <a:solidFill>
                <a:srgbClr val="000000"/>
              </a:solidFill>
              <a:latin typeface="Arial"/>
            </a:endParaRPr>
          </a:p>
        </p:txBody>
      </p:sp>
      <p:sp>
        <p:nvSpPr>
          <p:cNvPr id="298" name="Rechteck 297"/>
          <p:cNvSpPr/>
          <p:nvPr/>
        </p:nvSpPr>
        <p:spPr>
          <a:xfrm>
            <a:off x="2019240" y="3855600"/>
            <a:ext cx="9502200" cy="5410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299" name="Textfeld 298"/>
          <p:cNvSpPr txBox="1"/>
          <p:nvPr/>
        </p:nvSpPr>
        <p:spPr>
          <a:xfrm>
            <a:off x="2156400" y="3985200"/>
            <a:ext cx="925092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Breite negativ: Südhalbkugel</a:t>
            </a:r>
            <a:endParaRPr lang="en-US" sz="2160" b="0" strike="noStrike" spc="-1">
              <a:solidFill>
                <a:srgbClr val="000000"/>
              </a:solidFill>
              <a:latin typeface="Arial"/>
            </a:endParaRPr>
          </a:p>
        </p:txBody>
      </p:sp>
      <p:sp>
        <p:nvSpPr>
          <p:cNvPr id="300" name="Rechteck 299"/>
          <p:cNvSpPr/>
          <p:nvPr/>
        </p:nvSpPr>
        <p:spPr>
          <a:xfrm>
            <a:off x="647640" y="4419720"/>
            <a:ext cx="134892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01" name="Textfeld 300"/>
          <p:cNvSpPr txBox="1"/>
          <p:nvPr/>
        </p:nvSpPr>
        <p:spPr>
          <a:xfrm>
            <a:off x="784800" y="4549320"/>
            <a:ext cx="109728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5</a:t>
            </a:r>
            <a:endParaRPr lang="en-US" sz="2160" b="0" strike="noStrike" spc="-1">
              <a:solidFill>
                <a:srgbClr val="000000"/>
              </a:solidFill>
              <a:latin typeface="Arial"/>
            </a:endParaRPr>
          </a:p>
        </p:txBody>
      </p:sp>
      <p:sp>
        <p:nvSpPr>
          <p:cNvPr id="302" name="Rechteck 301"/>
          <p:cNvSpPr/>
          <p:nvPr/>
        </p:nvSpPr>
        <p:spPr>
          <a:xfrm>
            <a:off x="2019240" y="4419720"/>
            <a:ext cx="9502200" cy="54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03" name="Textfeld 302"/>
          <p:cNvSpPr txBox="1"/>
          <p:nvPr/>
        </p:nvSpPr>
        <p:spPr>
          <a:xfrm>
            <a:off x="2156400" y="4549320"/>
            <a:ext cx="9250920" cy="411480"/>
          </a:xfrm>
          <a:prstGeom prst="rect">
            <a:avLst/>
          </a:prstGeom>
          <a:noFill/>
          <a:ln w="0">
            <a:noFill/>
          </a:ln>
        </p:spPr>
        <p:txBody>
          <a:bodyPr lIns="0" tIns="0" rIns="0" bIns="0" anchor="t">
            <a:noAutofit/>
          </a:bodyPr>
          <a:lstStyle/>
          <a:p>
            <a:r>
              <a:rPr lang="en-US" sz="2160" b="0" strike="noStrike" spc="-1">
                <a:solidFill>
                  <a:srgbClr val="000000"/>
                </a:solidFill>
                <a:latin typeface="Noto Sans"/>
              </a:rPr>
              <a:t>Formal gültig, aber nicht in Deutschland</a:t>
            </a:r>
            <a:endParaRPr lang="en-US" sz="2160" b="0" strike="noStrike" spc="-1">
              <a:solidFill>
                <a:srgbClr val="000000"/>
              </a:solidFill>
              <a:latin typeface="Arial"/>
            </a:endParaRPr>
          </a:p>
        </p:txBody>
      </p:sp>
      <p:sp>
        <p:nvSpPr>
          <p:cNvPr id="304" name="Rechteck 303"/>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05" name="Textfeld 304"/>
          <p:cNvSpPr txBox="1"/>
          <p:nvPr/>
        </p:nvSpPr>
        <p:spPr>
          <a:xfrm>
            <a:off x="838080" y="5623560"/>
            <a:ext cx="10515600" cy="442080"/>
          </a:xfrm>
          <a:prstGeom prst="rect">
            <a:avLst/>
          </a:prstGeom>
          <a:noFill/>
          <a:ln w="0">
            <a:noFill/>
          </a:ln>
        </p:spPr>
        <p:txBody>
          <a:bodyPr lIns="0" tIns="0" rIns="0" bIns="0" anchor="t">
            <a:noAutofit/>
          </a:bodyPr>
          <a:lstStyle/>
          <a:p>
            <a:r>
              <a:rPr lang="en-US" sz="2160" b="1" strike="noStrike" spc="-1">
                <a:solidFill>
                  <a:srgbClr val="004899"/>
                </a:solidFill>
                <a:latin typeface="Noto Sans"/>
              </a:rPr>
              <a:t>Auffälligkeit dokumentieren → Quelle prüfen → begründet korrigieren</a:t>
            </a:r>
            <a:endParaRPr lang="en-US" sz="2160" b="0" strike="noStrike" spc="-1">
              <a:solidFill>
                <a:srgbClr val="000000"/>
              </a:solidFill>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 name="Textfeld 305"/>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Koordinaten brauchen ein Bezugssystem</a:t>
            </a:r>
            <a:endParaRPr lang="en-US" sz="3190" b="0" strike="noStrike" spc="-1">
              <a:solidFill>
                <a:srgbClr val="000000"/>
              </a:solidFill>
              <a:latin typeface="Arial"/>
            </a:endParaRPr>
          </a:p>
        </p:txBody>
      </p:sp>
      <p:sp>
        <p:nvSpPr>
          <p:cNvPr id="307" name="Textfeld 306"/>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03 · CRS UND PROJEKTIONEN</a:t>
            </a:r>
            <a:endParaRPr lang="en-US" sz="1130" b="0" strike="noStrike" spc="-1">
              <a:solidFill>
                <a:srgbClr val="000000"/>
              </a:solidFill>
              <a:latin typeface="Arial"/>
            </a:endParaRPr>
          </a:p>
        </p:txBody>
      </p:sp>
      <p:sp>
        <p:nvSpPr>
          <p:cNvPr id="308" name="Textfeld 307"/>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309" name="Textfeld 308"/>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14</a:t>
            </a:r>
            <a:endParaRPr lang="en-US" sz="939" b="0" strike="noStrike" spc="-1">
              <a:solidFill>
                <a:srgbClr val="000000"/>
              </a:solidFill>
              <a:latin typeface="Arial"/>
            </a:endParaRPr>
          </a:p>
        </p:txBody>
      </p:sp>
      <p:pic>
        <p:nvPicPr>
          <p:cNvPr id="310" name="Grafik 309" descr="Zwei Koordinatengitter zeigen denselben Referenzpunkt einmal als 8,77 Grad Ost und 50,81 Grad Nord in WGS 84 und einmal als 483795 Meter Ost und 5628722 Meter Nord in ETRS89 UTM Zone 32N."/>
          <p:cNvPicPr/>
          <p:nvPr/>
        </p:nvPicPr>
        <p:blipFill>
          <a:blip r:embed="rId3">
            <a:extLst>
              <a:ext uri="{96DAC541-7B7A-43D3-8B79-37D633B846F1}">
                <asvg:svgBlip xmlns:asvg="http://schemas.microsoft.com/office/drawing/2016/SVG/main" r:embed="rId4"/>
              </a:ext>
            </a:extLst>
          </a:blip>
          <a:stretch/>
        </p:blipFill>
        <p:spPr>
          <a:xfrm>
            <a:off x="1905120" y="1676520"/>
            <a:ext cx="8382240" cy="3604320"/>
          </a:xfrm>
          <a:prstGeom prst="rect">
            <a:avLst/>
          </a:prstGeom>
          <a:ln w="0">
            <a:noFill/>
          </a:ln>
        </p:spPr>
      </p:pic>
      <p:sp>
        <p:nvSpPr>
          <p:cNvPr id="311" name="Rechteck 310"/>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12" name="Textfeld 311"/>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Derselbe ungefähre Ort bei Marburg – unterschiedliche Zahlen.</a:t>
            </a:r>
            <a:endParaRPr lang="en-US" sz="2350" b="0" strike="noStrike" spc="-1">
              <a:solidFill>
                <a:srgbClr val="000000"/>
              </a:solidFill>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 name="Textfeld 31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Winkel oder Meter?</a:t>
            </a:r>
            <a:endParaRPr lang="en-US" sz="3190" b="0" strike="noStrike" spc="-1">
              <a:solidFill>
                <a:srgbClr val="000000"/>
              </a:solidFill>
              <a:latin typeface="Arial"/>
            </a:endParaRPr>
          </a:p>
        </p:txBody>
      </p:sp>
      <p:sp>
        <p:nvSpPr>
          <p:cNvPr id="314" name="Textfeld 31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03 · CRS UND PROJEKTIONEN</a:t>
            </a:r>
            <a:endParaRPr lang="en-US" sz="1130" b="0" strike="noStrike" spc="-1">
              <a:solidFill>
                <a:srgbClr val="000000"/>
              </a:solidFill>
              <a:latin typeface="Arial"/>
            </a:endParaRPr>
          </a:p>
        </p:txBody>
      </p:sp>
      <p:sp>
        <p:nvSpPr>
          <p:cNvPr id="315" name="Textfeld 31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316" name="Textfeld 31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15</a:t>
            </a:r>
            <a:endParaRPr lang="en-US" sz="939" b="0" strike="noStrike" spc="-1">
              <a:solidFill>
                <a:srgbClr val="000000"/>
              </a:solidFill>
              <a:latin typeface="Arial"/>
            </a:endParaRPr>
          </a:p>
        </p:txBody>
      </p:sp>
      <p:sp>
        <p:nvSpPr>
          <p:cNvPr id="317" name="Rechteck 316"/>
          <p:cNvSpPr/>
          <p:nvPr/>
        </p:nvSpPr>
        <p:spPr>
          <a:xfrm>
            <a:off x="647640" y="1790640"/>
            <a:ext cx="5295960" cy="316224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18" name="Rechteck 317"/>
          <p:cNvSpPr/>
          <p:nvPr/>
        </p:nvSpPr>
        <p:spPr>
          <a:xfrm>
            <a:off x="647640" y="1790640"/>
            <a:ext cx="53280" cy="316224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319" name="Textfeld 318"/>
          <p:cNvSpPr txBox="1"/>
          <p:nvPr/>
        </p:nvSpPr>
        <p:spPr>
          <a:xfrm>
            <a:off x="853560" y="1973520"/>
            <a:ext cx="488448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Geographisches CRS</a:t>
            </a:r>
            <a:endParaRPr lang="en-US" sz="2540" b="0" strike="noStrike" spc="-1">
              <a:solidFill>
                <a:srgbClr val="000000"/>
              </a:solidFill>
              <a:latin typeface="Arial"/>
            </a:endParaRPr>
          </a:p>
        </p:txBody>
      </p:sp>
      <p:sp>
        <p:nvSpPr>
          <p:cNvPr id="320" name="Textfeld 319"/>
          <p:cNvSpPr txBox="1"/>
          <p:nvPr/>
        </p:nvSpPr>
        <p:spPr>
          <a:xfrm>
            <a:off x="853560" y="2735640"/>
            <a:ext cx="4884480" cy="2080440"/>
          </a:xfrm>
          <a:prstGeom prst="rect">
            <a:avLst/>
          </a:prstGeom>
          <a:noFill/>
          <a:ln w="0">
            <a:noFill/>
          </a:ln>
        </p:spPr>
        <p:txBody>
          <a:bodyPr lIns="0" tIns="0" rIns="0" bIns="0" anchor="t">
            <a:noAutofit/>
          </a:bodyPr>
          <a:lstStyle/>
          <a:p>
            <a:r>
              <a:rPr lang="en-US" sz="2630" b="0" strike="noStrike" spc="-1">
                <a:solidFill>
                  <a:srgbClr val="000000"/>
                </a:solidFill>
                <a:latin typeface="Noto Sans"/>
              </a:rPr>
              <a:t>Position auf dem Erdmodell</a:t>
            </a:r>
            <a:endParaRPr lang="en-US" sz="2630" b="0" strike="noStrike" spc="-1">
              <a:solidFill>
                <a:srgbClr val="000000"/>
              </a:solidFill>
              <a:latin typeface="Arial"/>
            </a:endParaRPr>
          </a:p>
          <a:p>
            <a:endParaRPr lang="en-US" sz="2630" b="0" strike="noStrike" spc="-1">
              <a:solidFill>
                <a:srgbClr val="000000"/>
              </a:solidFill>
              <a:latin typeface="Arial"/>
            </a:endParaRPr>
          </a:p>
          <a:p>
            <a:r>
              <a:rPr lang="en-US" sz="2630" b="0" strike="noStrike" spc="-1">
                <a:solidFill>
                  <a:srgbClr val="000000"/>
                </a:solidFill>
                <a:latin typeface="Noto Sans"/>
              </a:rPr>
              <a:t>Länge und Breite</a:t>
            </a:r>
            <a:endParaRPr lang="en-US" sz="2630" b="0" strike="noStrike" spc="-1">
              <a:solidFill>
                <a:srgbClr val="000000"/>
              </a:solidFill>
              <a:latin typeface="Arial"/>
            </a:endParaRPr>
          </a:p>
          <a:p>
            <a:r>
              <a:rPr lang="en-US" sz="2630" b="0" strike="noStrike" spc="-1">
                <a:solidFill>
                  <a:srgbClr val="000000"/>
                </a:solidFill>
                <a:latin typeface="Noto Sans"/>
              </a:rPr>
              <a:t>Einheit: Grad</a:t>
            </a:r>
            <a:endParaRPr lang="en-US" sz="2630" b="0" strike="noStrike" spc="-1">
              <a:solidFill>
                <a:srgbClr val="000000"/>
              </a:solidFill>
              <a:latin typeface="Arial"/>
            </a:endParaRPr>
          </a:p>
        </p:txBody>
      </p:sp>
      <p:sp>
        <p:nvSpPr>
          <p:cNvPr id="321" name="Rechteck 320"/>
          <p:cNvSpPr/>
          <p:nvPr/>
        </p:nvSpPr>
        <p:spPr>
          <a:xfrm>
            <a:off x="6248520" y="1790640"/>
            <a:ext cx="5295960" cy="316224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22" name="Rechteck 321"/>
          <p:cNvSpPr/>
          <p:nvPr/>
        </p:nvSpPr>
        <p:spPr>
          <a:xfrm>
            <a:off x="6248520" y="1790640"/>
            <a:ext cx="53280" cy="316224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323" name="Textfeld 322"/>
          <p:cNvSpPr txBox="1"/>
          <p:nvPr/>
        </p:nvSpPr>
        <p:spPr>
          <a:xfrm>
            <a:off x="6454080" y="1973520"/>
            <a:ext cx="488448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Projiziertes CRS</a:t>
            </a:r>
            <a:endParaRPr lang="en-US" sz="2540" b="0" strike="noStrike" spc="-1">
              <a:solidFill>
                <a:srgbClr val="000000"/>
              </a:solidFill>
              <a:latin typeface="Arial"/>
            </a:endParaRPr>
          </a:p>
        </p:txBody>
      </p:sp>
      <p:sp>
        <p:nvSpPr>
          <p:cNvPr id="324" name="Textfeld 323"/>
          <p:cNvSpPr txBox="1"/>
          <p:nvPr/>
        </p:nvSpPr>
        <p:spPr>
          <a:xfrm>
            <a:off x="6454080" y="2735640"/>
            <a:ext cx="4884480" cy="2080440"/>
          </a:xfrm>
          <a:prstGeom prst="rect">
            <a:avLst/>
          </a:prstGeom>
          <a:noFill/>
          <a:ln w="0">
            <a:noFill/>
          </a:ln>
        </p:spPr>
        <p:txBody>
          <a:bodyPr lIns="0" tIns="0" rIns="0" bIns="0" anchor="t">
            <a:noAutofit/>
          </a:bodyPr>
          <a:lstStyle/>
          <a:p>
            <a:r>
              <a:rPr lang="en-US" sz="2630" b="0" strike="noStrike" spc="-1">
                <a:solidFill>
                  <a:srgbClr val="000000"/>
                </a:solidFill>
                <a:latin typeface="Noto Sans"/>
              </a:rPr>
              <a:t>Position in einer Ebene</a:t>
            </a:r>
            <a:endParaRPr lang="en-US" sz="2630" b="0" strike="noStrike" spc="-1">
              <a:solidFill>
                <a:srgbClr val="000000"/>
              </a:solidFill>
              <a:latin typeface="Arial"/>
            </a:endParaRPr>
          </a:p>
          <a:p>
            <a:endParaRPr lang="en-US" sz="2630" b="0" strike="noStrike" spc="-1">
              <a:solidFill>
                <a:srgbClr val="000000"/>
              </a:solidFill>
              <a:latin typeface="Arial"/>
            </a:endParaRPr>
          </a:p>
          <a:p>
            <a:r>
              <a:rPr lang="en-US" sz="2630" b="0" strike="noStrike" spc="-1">
                <a:solidFill>
                  <a:srgbClr val="000000"/>
                </a:solidFill>
                <a:latin typeface="Noto Sans"/>
              </a:rPr>
              <a:t>x und y</a:t>
            </a:r>
            <a:endParaRPr lang="en-US" sz="2630" b="0" strike="noStrike" spc="-1">
              <a:solidFill>
                <a:srgbClr val="000000"/>
              </a:solidFill>
              <a:latin typeface="Arial"/>
            </a:endParaRPr>
          </a:p>
          <a:p>
            <a:r>
              <a:rPr lang="en-US" sz="2630" b="0" strike="noStrike" spc="-1">
                <a:solidFill>
                  <a:srgbClr val="000000"/>
                </a:solidFill>
                <a:latin typeface="Noto Sans"/>
              </a:rPr>
              <a:t>Einheit: hier Meter</a:t>
            </a:r>
            <a:endParaRPr lang="en-US" sz="2630" b="0" strike="noStrike" spc="-1">
              <a:solidFill>
                <a:srgbClr val="000000"/>
              </a:solidFill>
              <a:latin typeface="Arial"/>
            </a:endParaRPr>
          </a:p>
        </p:txBody>
      </p:sp>
      <p:sp>
        <p:nvSpPr>
          <p:cNvPr id="325" name="Rechteck 324"/>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26" name="Textfeld 325"/>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Die Einheit „Meter“ allein garantiert keine genaue Messung.</a:t>
            </a:r>
            <a:endParaRPr lang="en-US" sz="2350" b="0" strike="noStrike" spc="-1">
              <a:solidFill>
                <a:srgbClr val="000000"/>
              </a:solidFill>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Textfeld 326"/>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Von der gekrümmten Erde auf die Ebene</a:t>
            </a:r>
            <a:endParaRPr lang="en-US" sz="3190" b="0" strike="noStrike" spc="-1">
              <a:solidFill>
                <a:srgbClr val="000000"/>
              </a:solidFill>
              <a:latin typeface="Arial"/>
            </a:endParaRPr>
          </a:p>
        </p:txBody>
      </p:sp>
      <p:sp>
        <p:nvSpPr>
          <p:cNvPr id="328" name="Textfeld 327"/>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03 · KARTENPROJEKTIONEN</a:t>
            </a:r>
            <a:endParaRPr lang="en-US" sz="1130" b="0" strike="noStrike" spc="-1">
              <a:solidFill>
                <a:srgbClr val="000000"/>
              </a:solidFill>
              <a:latin typeface="Arial"/>
            </a:endParaRPr>
          </a:p>
        </p:txBody>
      </p:sp>
      <p:sp>
        <p:nvSpPr>
          <p:cNvPr id="329" name="Textfeld 328"/>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330" name="Textfeld 329"/>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16</a:t>
            </a:r>
            <a:endParaRPr lang="en-US" sz="939" b="0" strike="noStrike" spc="-1">
              <a:solidFill>
                <a:srgbClr val="000000"/>
              </a:solidFill>
              <a:latin typeface="Arial"/>
            </a:endParaRPr>
          </a:p>
        </p:txBody>
      </p:sp>
      <p:sp>
        <p:nvSpPr>
          <p:cNvPr id="331" name="Ellipse 330"/>
          <p:cNvSpPr/>
          <p:nvPr/>
        </p:nvSpPr>
        <p:spPr>
          <a:xfrm>
            <a:off x="1371600" y="2118240"/>
            <a:ext cx="2209680" cy="2209680"/>
          </a:xfrm>
          <a:prstGeom prst="ellipse">
            <a:avLst/>
          </a:prstGeom>
          <a:solidFill>
            <a:srgbClr val="EAF5F7"/>
          </a:solidFill>
          <a:ln w="16200">
            <a:solidFill>
              <a:srgbClr val="000000"/>
            </a:solidFill>
            <a:round/>
          </a:ln>
        </p:spPr>
        <p:txBody>
          <a:bodyPr lIns="97920" tIns="52920" rIns="97920" bIns="52920" anchor="ctr" anchorCtr="1">
            <a:noAutofit/>
          </a:bodyPr>
          <a:lstStyle/>
          <a:p>
            <a:endParaRPr lang="en-US" sz="1800" b="0" strike="noStrike" spc="-1">
              <a:solidFill>
                <a:srgbClr val="000000"/>
              </a:solidFill>
              <a:latin typeface="Arial"/>
            </a:endParaRPr>
          </a:p>
        </p:txBody>
      </p:sp>
      <p:sp>
        <p:nvSpPr>
          <p:cNvPr id="332" name="Gerader Verbinder 331"/>
          <p:cNvSpPr/>
          <p:nvPr/>
        </p:nvSpPr>
        <p:spPr>
          <a:xfrm>
            <a:off x="1924200" y="4180320"/>
            <a:ext cx="1104840" cy="0"/>
          </a:xfrm>
          <a:prstGeom prst="line">
            <a:avLst/>
          </a:prstGeom>
          <a:ln w="9000">
            <a:solidFill>
              <a:srgbClr val="A6D9E2"/>
            </a:solidFill>
            <a:round/>
          </a:ln>
        </p:spPr>
        <p:style>
          <a:lnRef idx="0">
            <a:scrgbClr r="0" g="0" b="0"/>
          </a:lnRef>
          <a:fillRef idx="0">
            <a:scrgbClr r="0" g="0" b="0"/>
          </a:fillRef>
          <a:effectRef idx="0">
            <a:scrgbClr r="0" g="0" b="0"/>
          </a:effectRef>
          <a:fontRef idx="minor"/>
        </p:style>
        <p:txBody>
          <a:bodyPr lIns="94320" tIns="-49320" rIns="94320" bIns="-49320" anchor="ctr" anchorCtr="1">
            <a:noAutofit/>
          </a:bodyPr>
          <a:lstStyle/>
          <a:p>
            <a:endParaRPr lang="en-US" sz="1800" b="0" strike="noStrike" spc="-1">
              <a:solidFill>
                <a:srgbClr val="000000"/>
              </a:solidFill>
              <a:latin typeface="Arial"/>
            </a:endParaRPr>
          </a:p>
        </p:txBody>
      </p:sp>
      <p:sp>
        <p:nvSpPr>
          <p:cNvPr id="333" name="Gerader Verbinder 332"/>
          <p:cNvSpPr/>
          <p:nvPr/>
        </p:nvSpPr>
        <p:spPr>
          <a:xfrm>
            <a:off x="1519560" y="3775680"/>
            <a:ext cx="1913760" cy="0"/>
          </a:xfrm>
          <a:prstGeom prst="line">
            <a:avLst/>
          </a:prstGeom>
          <a:ln w="9000">
            <a:solidFill>
              <a:srgbClr val="A6D9E2"/>
            </a:solidFill>
            <a:round/>
          </a:ln>
        </p:spPr>
        <p:style>
          <a:lnRef idx="0">
            <a:scrgbClr r="0" g="0" b="0"/>
          </a:lnRef>
          <a:fillRef idx="0">
            <a:scrgbClr r="0" g="0" b="0"/>
          </a:fillRef>
          <a:effectRef idx="0">
            <a:scrgbClr r="0" g="0" b="0"/>
          </a:effectRef>
          <a:fontRef idx="minor"/>
        </p:style>
        <p:txBody>
          <a:bodyPr lIns="94320" tIns="-49320" rIns="94320" bIns="-49320" anchor="ctr" anchorCtr="1">
            <a:noAutofit/>
          </a:bodyPr>
          <a:lstStyle/>
          <a:p>
            <a:endParaRPr lang="en-US" sz="1800" b="0" strike="noStrike" spc="-1">
              <a:solidFill>
                <a:srgbClr val="000000"/>
              </a:solidFill>
              <a:latin typeface="Arial"/>
            </a:endParaRPr>
          </a:p>
        </p:txBody>
      </p:sp>
      <p:sp>
        <p:nvSpPr>
          <p:cNvPr id="334" name="Gerader Verbinder 333"/>
          <p:cNvSpPr/>
          <p:nvPr/>
        </p:nvSpPr>
        <p:spPr>
          <a:xfrm>
            <a:off x="1371600" y="3223440"/>
            <a:ext cx="2209680" cy="0"/>
          </a:xfrm>
          <a:prstGeom prst="line">
            <a:avLst/>
          </a:prstGeom>
          <a:ln w="21600">
            <a:solidFill>
              <a:srgbClr val="004899"/>
            </a:solidFill>
            <a:round/>
          </a:ln>
        </p:spPr>
        <p:style>
          <a:lnRef idx="0">
            <a:scrgbClr r="0" g="0" b="0"/>
          </a:lnRef>
          <a:fillRef idx="0">
            <a:scrgbClr r="0" g="0" b="0"/>
          </a:fillRef>
          <a:effectRef idx="0">
            <a:scrgbClr r="0" g="0" b="0"/>
          </a:effectRef>
          <a:fontRef idx="minor"/>
        </p:style>
        <p:txBody>
          <a:bodyPr lIns="100800" tIns="-55800" rIns="100800" bIns="-55800" anchor="ctr" anchorCtr="1">
            <a:noAutofit/>
          </a:bodyPr>
          <a:lstStyle/>
          <a:p>
            <a:endParaRPr lang="en-US" sz="1800" b="0" strike="noStrike" spc="-1">
              <a:solidFill>
                <a:srgbClr val="000000"/>
              </a:solidFill>
              <a:latin typeface="Arial"/>
            </a:endParaRPr>
          </a:p>
        </p:txBody>
      </p:sp>
      <p:sp>
        <p:nvSpPr>
          <p:cNvPr id="335" name="Gerader Verbinder 334"/>
          <p:cNvSpPr/>
          <p:nvPr/>
        </p:nvSpPr>
        <p:spPr>
          <a:xfrm>
            <a:off x="1519560" y="2670840"/>
            <a:ext cx="1913760" cy="0"/>
          </a:xfrm>
          <a:prstGeom prst="line">
            <a:avLst/>
          </a:prstGeom>
          <a:ln w="9000">
            <a:solidFill>
              <a:srgbClr val="A6D9E2"/>
            </a:solidFill>
            <a:round/>
          </a:ln>
        </p:spPr>
        <p:style>
          <a:lnRef idx="0">
            <a:scrgbClr r="0" g="0" b="0"/>
          </a:lnRef>
          <a:fillRef idx="0">
            <a:scrgbClr r="0" g="0" b="0"/>
          </a:fillRef>
          <a:effectRef idx="0">
            <a:scrgbClr r="0" g="0" b="0"/>
          </a:effectRef>
          <a:fontRef idx="minor"/>
        </p:style>
        <p:txBody>
          <a:bodyPr lIns="94320" tIns="-49320" rIns="94320" bIns="-49320" anchor="ctr" anchorCtr="1">
            <a:noAutofit/>
          </a:bodyPr>
          <a:lstStyle/>
          <a:p>
            <a:endParaRPr lang="en-US" sz="1800" b="0" strike="noStrike" spc="-1">
              <a:solidFill>
                <a:srgbClr val="000000"/>
              </a:solidFill>
              <a:latin typeface="Arial"/>
            </a:endParaRPr>
          </a:p>
        </p:txBody>
      </p:sp>
      <p:sp>
        <p:nvSpPr>
          <p:cNvPr id="336" name="Gerader Verbinder 335"/>
          <p:cNvSpPr/>
          <p:nvPr/>
        </p:nvSpPr>
        <p:spPr>
          <a:xfrm>
            <a:off x="1924200" y="2266560"/>
            <a:ext cx="1104840" cy="0"/>
          </a:xfrm>
          <a:prstGeom prst="line">
            <a:avLst/>
          </a:prstGeom>
          <a:ln w="9000">
            <a:solidFill>
              <a:srgbClr val="A6D9E2"/>
            </a:solidFill>
            <a:round/>
          </a:ln>
        </p:spPr>
        <p:style>
          <a:lnRef idx="0">
            <a:scrgbClr r="0" g="0" b="0"/>
          </a:lnRef>
          <a:fillRef idx="0">
            <a:scrgbClr r="0" g="0" b="0"/>
          </a:fillRef>
          <a:effectRef idx="0">
            <a:scrgbClr r="0" g="0" b="0"/>
          </a:effectRef>
          <a:fontRef idx="minor"/>
        </p:style>
        <p:txBody>
          <a:bodyPr lIns="94320" tIns="-49320" rIns="94320" bIns="-49320" anchor="ctr" anchorCtr="1">
            <a:noAutofit/>
          </a:bodyPr>
          <a:lstStyle/>
          <a:p>
            <a:endParaRPr lang="en-US" sz="1800" b="0" strike="noStrike" spc="-1">
              <a:solidFill>
                <a:srgbClr val="000000"/>
              </a:solidFill>
              <a:latin typeface="Arial"/>
            </a:endParaRPr>
          </a:p>
        </p:txBody>
      </p:sp>
      <p:sp>
        <p:nvSpPr>
          <p:cNvPr id="337" name="Freihandform: Form 336"/>
          <p:cNvSpPr/>
          <p:nvPr/>
        </p:nvSpPr>
        <p:spPr>
          <a:xfrm>
            <a:off x="1519560" y="2118240"/>
            <a:ext cx="956880" cy="2210040"/>
          </a:xfrm>
          <a:custGeom>
            <a:avLst/>
            <a:gdLst/>
            <a:ahLst/>
            <a:cxnLst/>
            <a:rect l="0" t="0" r="r" b="b"/>
            <a:pathLst>
              <a:path w="2658" h="6139" fill="none">
                <a:moveTo>
                  <a:pt x="2658" y="6139"/>
                </a:moveTo>
                <a:lnTo>
                  <a:pt x="2519" y="6135"/>
                </a:lnTo>
                <a:lnTo>
                  <a:pt x="2380" y="6122"/>
                </a:lnTo>
                <a:lnTo>
                  <a:pt x="2242" y="6101"/>
                </a:lnTo>
                <a:lnTo>
                  <a:pt x="2106" y="6072"/>
                </a:lnTo>
                <a:lnTo>
                  <a:pt x="1970" y="6034"/>
                </a:lnTo>
                <a:lnTo>
                  <a:pt x="1837" y="5989"/>
                </a:lnTo>
                <a:lnTo>
                  <a:pt x="1706" y="5935"/>
                </a:lnTo>
                <a:lnTo>
                  <a:pt x="1577" y="5873"/>
                </a:lnTo>
                <a:lnTo>
                  <a:pt x="1452" y="5804"/>
                </a:lnTo>
                <a:lnTo>
                  <a:pt x="1329" y="5728"/>
                </a:lnTo>
                <a:lnTo>
                  <a:pt x="1211" y="5644"/>
                </a:lnTo>
                <a:lnTo>
                  <a:pt x="1096" y="5553"/>
                </a:lnTo>
                <a:lnTo>
                  <a:pt x="985" y="5455"/>
                </a:lnTo>
                <a:lnTo>
                  <a:pt x="880" y="5350"/>
                </a:lnTo>
                <a:lnTo>
                  <a:pt x="779" y="5240"/>
                </a:lnTo>
                <a:lnTo>
                  <a:pt x="683" y="5123"/>
                </a:lnTo>
                <a:lnTo>
                  <a:pt x="593" y="5001"/>
                </a:lnTo>
                <a:lnTo>
                  <a:pt x="508" y="4874"/>
                </a:lnTo>
                <a:lnTo>
                  <a:pt x="429" y="4741"/>
                </a:lnTo>
                <a:lnTo>
                  <a:pt x="356" y="4604"/>
                </a:lnTo>
                <a:lnTo>
                  <a:pt x="290" y="4463"/>
                </a:lnTo>
                <a:lnTo>
                  <a:pt x="230" y="4318"/>
                </a:lnTo>
                <a:lnTo>
                  <a:pt x="177" y="4169"/>
                </a:lnTo>
                <a:lnTo>
                  <a:pt x="130" y="4018"/>
                </a:lnTo>
                <a:lnTo>
                  <a:pt x="91" y="3864"/>
                </a:lnTo>
                <a:lnTo>
                  <a:pt x="58" y="3708"/>
                </a:lnTo>
                <a:lnTo>
                  <a:pt x="33" y="3550"/>
                </a:lnTo>
                <a:lnTo>
                  <a:pt x="15" y="3390"/>
                </a:lnTo>
                <a:lnTo>
                  <a:pt x="4" y="3230"/>
                </a:lnTo>
                <a:lnTo>
                  <a:pt x="0" y="3070"/>
                </a:lnTo>
                <a:lnTo>
                  <a:pt x="4" y="2909"/>
                </a:lnTo>
                <a:lnTo>
                  <a:pt x="15" y="2749"/>
                </a:lnTo>
                <a:lnTo>
                  <a:pt x="33" y="2589"/>
                </a:lnTo>
                <a:lnTo>
                  <a:pt x="58" y="2431"/>
                </a:lnTo>
                <a:lnTo>
                  <a:pt x="91" y="2275"/>
                </a:lnTo>
                <a:lnTo>
                  <a:pt x="130" y="2121"/>
                </a:lnTo>
                <a:lnTo>
                  <a:pt x="177" y="1970"/>
                </a:lnTo>
                <a:lnTo>
                  <a:pt x="230" y="1821"/>
                </a:lnTo>
                <a:lnTo>
                  <a:pt x="290" y="1676"/>
                </a:lnTo>
                <a:lnTo>
                  <a:pt x="356" y="1535"/>
                </a:lnTo>
                <a:lnTo>
                  <a:pt x="429" y="1398"/>
                </a:lnTo>
                <a:lnTo>
                  <a:pt x="508" y="1266"/>
                </a:lnTo>
                <a:lnTo>
                  <a:pt x="593" y="1138"/>
                </a:lnTo>
                <a:lnTo>
                  <a:pt x="683" y="1016"/>
                </a:lnTo>
                <a:lnTo>
                  <a:pt x="779" y="899"/>
                </a:lnTo>
                <a:lnTo>
                  <a:pt x="880" y="789"/>
                </a:lnTo>
                <a:lnTo>
                  <a:pt x="985" y="684"/>
                </a:lnTo>
                <a:lnTo>
                  <a:pt x="1096" y="587"/>
                </a:lnTo>
                <a:lnTo>
                  <a:pt x="1211" y="496"/>
                </a:lnTo>
                <a:lnTo>
                  <a:pt x="1329" y="412"/>
                </a:lnTo>
                <a:lnTo>
                  <a:pt x="1452" y="335"/>
                </a:lnTo>
                <a:lnTo>
                  <a:pt x="1577" y="266"/>
                </a:lnTo>
                <a:lnTo>
                  <a:pt x="1706" y="204"/>
                </a:lnTo>
                <a:lnTo>
                  <a:pt x="1837" y="151"/>
                </a:lnTo>
                <a:lnTo>
                  <a:pt x="1970" y="105"/>
                </a:lnTo>
                <a:lnTo>
                  <a:pt x="2106" y="67"/>
                </a:lnTo>
                <a:lnTo>
                  <a:pt x="2242" y="38"/>
                </a:lnTo>
                <a:lnTo>
                  <a:pt x="2380" y="17"/>
                </a:lnTo>
                <a:lnTo>
                  <a:pt x="2519" y="5"/>
                </a:lnTo>
                <a:lnTo>
                  <a:pt x="2658" y="0"/>
                </a:lnTo>
              </a:path>
            </a:pathLst>
          </a:custGeom>
          <a:ln w="9000">
            <a:solidFill>
              <a:srgbClr val="A6D9E2"/>
            </a:solidFill>
            <a:round/>
          </a:ln>
        </p:spPr>
        <p:txBody>
          <a:bodyPr lIns="94320" tIns="49320" rIns="94320" bIns="49320" anchor="ctr" anchorCtr="1">
            <a:noAutofit/>
          </a:bodyPr>
          <a:lstStyle/>
          <a:p>
            <a:endParaRPr lang="en-US" sz="1800" b="0" strike="noStrike" spc="-1">
              <a:solidFill>
                <a:srgbClr val="000000"/>
              </a:solidFill>
              <a:latin typeface="Arial"/>
            </a:endParaRPr>
          </a:p>
        </p:txBody>
      </p:sp>
      <p:sp>
        <p:nvSpPr>
          <p:cNvPr id="338" name="Freihandform: Form 337"/>
          <p:cNvSpPr/>
          <p:nvPr/>
        </p:nvSpPr>
        <p:spPr>
          <a:xfrm>
            <a:off x="1924200" y="2118240"/>
            <a:ext cx="552240" cy="2210040"/>
          </a:xfrm>
          <a:custGeom>
            <a:avLst/>
            <a:gdLst/>
            <a:ahLst/>
            <a:cxnLst/>
            <a:rect l="0" t="0" r="r" b="b"/>
            <a:pathLst>
              <a:path w="1534" h="6139" fill="none">
                <a:moveTo>
                  <a:pt x="1534" y="6139"/>
                </a:moveTo>
                <a:lnTo>
                  <a:pt x="1454" y="6135"/>
                </a:lnTo>
                <a:lnTo>
                  <a:pt x="1374" y="6122"/>
                </a:lnTo>
                <a:lnTo>
                  <a:pt x="1294" y="6101"/>
                </a:lnTo>
                <a:lnTo>
                  <a:pt x="1215" y="6072"/>
                </a:lnTo>
                <a:lnTo>
                  <a:pt x="1137" y="6034"/>
                </a:lnTo>
                <a:lnTo>
                  <a:pt x="1060" y="5989"/>
                </a:lnTo>
                <a:lnTo>
                  <a:pt x="984" y="5935"/>
                </a:lnTo>
                <a:lnTo>
                  <a:pt x="910" y="5873"/>
                </a:lnTo>
                <a:lnTo>
                  <a:pt x="838" y="5804"/>
                </a:lnTo>
                <a:lnTo>
                  <a:pt x="767" y="5728"/>
                </a:lnTo>
                <a:lnTo>
                  <a:pt x="698" y="5644"/>
                </a:lnTo>
                <a:lnTo>
                  <a:pt x="632" y="5553"/>
                </a:lnTo>
                <a:lnTo>
                  <a:pt x="568" y="5455"/>
                </a:lnTo>
                <a:lnTo>
                  <a:pt x="507" y="5350"/>
                </a:lnTo>
                <a:lnTo>
                  <a:pt x="449" y="5240"/>
                </a:lnTo>
                <a:lnTo>
                  <a:pt x="394" y="5123"/>
                </a:lnTo>
                <a:lnTo>
                  <a:pt x="342" y="5001"/>
                </a:lnTo>
                <a:lnTo>
                  <a:pt x="293" y="4874"/>
                </a:lnTo>
                <a:lnTo>
                  <a:pt x="247" y="4741"/>
                </a:lnTo>
                <a:lnTo>
                  <a:pt x="205" y="4604"/>
                </a:lnTo>
                <a:lnTo>
                  <a:pt x="167" y="4463"/>
                </a:lnTo>
                <a:lnTo>
                  <a:pt x="132" y="4318"/>
                </a:lnTo>
                <a:lnTo>
                  <a:pt x="102" y="4169"/>
                </a:lnTo>
                <a:lnTo>
                  <a:pt x="75" y="4018"/>
                </a:lnTo>
                <a:lnTo>
                  <a:pt x="52" y="3864"/>
                </a:lnTo>
                <a:lnTo>
                  <a:pt x="33" y="3708"/>
                </a:lnTo>
                <a:lnTo>
                  <a:pt x="19" y="3550"/>
                </a:lnTo>
                <a:lnTo>
                  <a:pt x="8" y="3390"/>
                </a:lnTo>
                <a:lnTo>
                  <a:pt x="2" y="3230"/>
                </a:lnTo>
                <a:lnTo>
                  <a:pt x="0" y="3070"/>
                </a:lnTo>
                <a:lnTo>
                  <a:pt x="2" y="2909"/>
                </a:lnTo>
                <a:lnTo>
                  <a:pt x="8" y="2749"/>
                </a:lnTo>
                <a:lnTo>
                  <a:pt x="19" y="2589"/>
                </a:lnTo>
                <a:lnTo>
                  <a:pt x="33" y="2431"/>
                </a:lnTo>
                <a:lnTo>
                  <a:pt x="52" y="2275"/>
                </a:lnTo>
                <a:lnTo>
                  <a:pt x="75" y="2121"/>
                </a:lnTo>
                <a:lnTo>
                  <a:pt x="102" y="1970"/>
                </a:lnTo>
                <a:lnTo>
                  <a:pt x="132" y="1821"/>
                </a:lnTo>
                <a:lnTo>
                  <a:pt x="167" y="1676"/>
                </a:lnTo>
                <a:lnTo>
                  <a:pt x="205" y="1535"/>
                </a:lnTo>
                <a:lnTo>
                  <a:pt x="247" y="1398"/>
                </a:lnTo>
                <a:lnTo>
                  <a:pt x="293" y="1266"/>
                </a:lnTo>
                <a:lnTo>
                  <a:pt x="342" y="1138"/>
                </a:lnTo>
                <a:lnTo>
                  <a:pt x="394" y="1016"/>
                </a:lnTo>
                <a:lnTo>
                  <a:pt x="449" y="899"/>
                </a:lnTo>
                <a:lnTo>
                  <a:pt x="507" y="789"/>
                </a:lnTo>
                <a:lnTo>
                  <a:pt x="568" y="684"/>
                </a:lnTo>
                <a:lnTo>
                  <a:pt x="632" y="587"/>
                </a:lnTo>
                <a:lnTo>
                  <a:pt x="698" y="496"/>
                </a:lnTo>
                <a:lnTo>
                  <a:pt x="767" y="412"/>
                </a:lnTo>
                <a:lnTo>
                  <a:pt x="838" y="335"/>
                </a:lnTo>
                <a:lnTo>
                  <a:pt x="910" y="266"/>
                </a:lnTo>
                <a:lnTo>
                  <a:pt x="984" y="204"/>
                </a:lnTo>
                <a:lnTo>
                  <a:pt x="1060" y="151"/>
                </a:lnTo>
                <a:lnTo>
                  <a:pt x="1137" y="105"/>
                </a:lnTo>
                <a:lnTo>
                  <a:pt x="1215" y="67"/>
                </a:lnTo>
                <a:lnTo>
                  <a:pt x="1294" y="38"/>
                </a:lnTo>
                <a:lnTo>
                  <a:pt x="1374" y="17"/>
                </a:lnTo>
                <a:lnTo>
                  <a:pt x="1454" y="5"/>
                </a:lnTo>
                <a:lnTo>
                  <a:pt x="1534" y="0"/>
                </a:lnTo>
              </a:path>
            </a:pathLst>
          </a:custGeom>
          <a:ln w="9000">
            <a:solidFill>
              <a:srgbClr val="A6D9E2"/>
            </a:solidFill>
            <a:round/>
          </a:ln>
        </p:spPr>
        <p:txBody>
          <a:bodyPr lIns="94320" tIns="49320" rIns="94320" bIns="49320" anchor="ctr" anchorCtr="1">
            <a:noAutofit/>
          </a:bodyPr>
          <a:lstStyle/>
          <a:p>
            <a:endParaRPr lang="en-US" sz="1800" b="0" strike="noStrike" spc="-1">
              <a:solidFill>
                <a:srgbClr val="000000"/>
              </a:solidFill>
              <a:latin typeface="Arial"/>
            </a:endParaRPr>
          </a:p>
        </p:txBody>
      </p:sp>
      <p:sp>
        <p:nvSpPr>
          <p:cNvPr id="339" name="Freihandform: Form 338"/>
          <p:cNvSpPr/>
          <p:nvPr/>
        </p:nvSpPr>
        <p:spPr>
          <a:xfrm>
            <a:off x="2476440" y="2118240"/>
            <a:ext cx="0" cy="2210040"/>
          </a:xfrm>
          <a:custGeom>
            <a:avLst/>
            <a:gdLst/>
            <a:ahLst/>
            <a:cxnLst/>
            <a:rect l="0" t="0" r="r" b="b"/>
            <a:pathLst>
              <a:path h="6139" fill="none">
                <a:moveTo>
                  <a:pt x="0" y="6139"/>
                </a:moveTo>
                <a:lnTo>
                  <a:pt x="0" y="6135"/>
                </a:lnTo>
                <a:lnTo>
                  <a:pt x="0" y="6122"/>
                </a:lnTo>
                <a:lnTo>
                  <a:pt x="0" y="6101"/>
                </a:lnTo>
                <a:lnTo>
                  <a:pt x="0" y="6072"/>
                </a:lnTo>
                <a:lnTo>
                  <a:pt x="0" y="6034"/>
                </a:lnTo>
                <a:lnTo>
                  <a:pt x="0" y="5989"/>
                </a:lnTo>
                <a:lnTo>
                  <a:pt x="0" y="5935"/>
                </a:lnTo>
                <a:lnTo>
                  <a:pt x="0" y="5873"/>
                </a:lnTo>
                <a:lnTo>
                  <a:pt x="0" y="5804"/>
                </a:lnTo>
                <a:lnTo>
                  <a:pt x="0" y="5728"/>
                </a:lnTo>
                <a:lnTo>
                  <a:pt x="0" y="5644"/>
                </a:lnTo>
                <a:lnTo>
                  <a:pt x="0" y="5553"/>
                </a:lnTo>
                <a:lnTo>
                  <a:pt x="0" y="5455"/>
                </a:lnTo>
                <a:lnTo>
                  <a:pt x="0" y="5350"/>
                </a:lnTo>
                <a:lnTo>
                  <a:pt x="0" y="5240"/>
                </a:lnTo>
                <a:lnTo>
                  <a:pt x="0" y="5123"/>
                </a:lnTo>
                <a:lnTo>
                  <a:pt x="0" y="5001"/>
                </a:lnTo>
                <a:lnTo>
                  <a:pt x="0" y="4874"/>
                </a:lnTo>
                <a:lnTo>
                  <a:pt x="0" y="4741"/>
                </a:lnTo>
                <a:lnTo>
                  <a:pt x="0" y="4604"/>
                </a:lnTo>
                <a:lnTo>
                  <a:pt x="0" y="4463"/>
                </a:lnTo>
                <a:lnTo>
                  <a:pt x="0" y="4318"/>
                </a:lnTo>
                <a:lnTo>
                  <a:pt x="0" y="4169"/>
                </a:lnTo>
                <a:lnTo>
                  <a:pt x="0" y="4018"/>
                </a:lnTo>
                <a:lnTo>
                  <a:pt x="0" y="3864"/>
                </a:lnTo>
                <a:lnTo>
                  <a:pt x="0" y="3708"/>
                </a:lnTo>
                <a:lnTo>
                  <a:pt x="0" y="3550"/>
                </a:lnTo>
                <a:lnTo>
                  <a:pt x="0" y="3390"/>
                </a:lnTo>
                <a:lnTo>
                  <a:pt x="0" y="3230"/>
                </a:lnTo>
                <a:lnTo>
                  <a:pt x="0" y="3070"/>
                </a:lnTo>
                <a:lnTo>
                  <a:pt x="0" y="2909"/>
                </a:lnTo>
                <a:lnTo>
                  <a:pt x="0" y="2749"/>
                </a:lnTo>
                <a:lnTo>
                  <a:pt x="0" y="2589"/>
                </a:lnTo>
                <a:lnTo>
                  <a:pt x="0" y="2431"/>
                </a:lnTo>
                <a:lnTo>
                  <a:pt x="0" y="2275"/>
                </a:lnTo>
                <a:lnTo>
                  <a:pt x="0" y="2121"/>
                </a:lnTo>
                <a:lnTo>
                  <a:pt x="0" y="1970"/>
                </a:lnTo>
                <a:lnTo>
                  <a:pt x="0" y="1821"/>
                </a:lnTo>
                <a:lnTo>
                  <a:pt x="0" y="1676"/>
                </a:lnTo>
                <a:lnTo>
                  <a:pt x="0" y="1535"/>
                </a:lnTo>
                <a:lnTo>
                  <a:pt x="0" y="1398"/>
                </a:lnTo>
                <a:lnTo>
                  <a:pt x="0" y="1266"/>
                </a:lnTo>
                <a:lnTo>
                  <a:pt x="0" y="1138"/>
                </a:lnTo>
                <a:lnTo>
                  <a:pt x="0" y="1016"/>
                </a:lnTo>
                <a:lnTo>
                  <a:pt x="0" y="899"/>
                </a:lnTo>
                <a:lnTo>
                  <a:pt x="0" y="789"/>
                </a:lnTo>
                <a:lnTo>
                  <a:pt x="0" y="684"/>
                </a:lnTo>
                <a:lnTo>
                  <a:pt x="0" y="587"/>
                </a:lnTo>
                <a:lnTo>
                  <a:pt x="0" y="496"/>
                </a:lnTo>
                <a:lnTo>
                  <a:pt x="0" y="412"/>
                </a:lnTo>
                <a:lnTo>
                  <a:pt x="0" y="335"/>
                </a:lnTo>
                <a:lnTo>
                  <a:pt x="0" y="266"/>
                </a:lnTo>
                <a:lnTo>
                  <a:pt x="0" y="204"/>
                </a:lnTo>
                <a:lnTo>
                  <a:pt x="0" y="151"/>
                </a:lnTo>
                <a:lnTo>
                  <a:pt x="0" y="105"/>
                </a:lnTo>
                <a:lnTo>
                  <a:pt x="0" y="67"/>
                </a:lnTo>
                <a:lnTo>
                  <a:pt x="0" y="38"/>
                </a:lnTo>
                <a:lnTo>
                  <a:pt x="0" y="17"/>
                </a:lnTo>
                <a:lnTo>
                  <a:pt x="0" y="5"/>
                </a:lnTo>
                <a:lnTo>
                  <a:pt x="0" y="0"/>
                </a:lnTo>
              </a:path>
            </a:pathLst>
          </a:custGeom>
          <a:ln w="21600">
            <a:solidFill>
              <a:srgbClr val="A32123"/>
            </a:solidFill>
            <a:round/>
          </a:ln>
        </p:spPr>
        <p:txBody>
          <a:bodyPr lIns="100800" tIns="55800" rIns="100800" bIns="55800" anchor="ctr" anchorCtr="1">
            <a:noAutofit/>
          </a:bodyPr>
          <a:lstStyle/>
          <a:p>
            <a:endParaRPr lang="en-US" sz="1800" b="0" strike="noStrike" spc="-1">
              <a:solidFill>
                <a:srgbClr val="000000"/>
              </a:solidFill>
              <a:latin typeface="Arial"/>
            </a:endParaRPr>
          </a:p>
        </p:txBody>
      </p:sp>
      <p:sp>
        <p:nvSpPr>
          <p:cNvPr id="340" name="Freihandform: Form 339"/>
          <p:cNvSpPr/>
          <p:nvPr/>
        </p:nvSpPr>
        <p:spPr>
          <a:xfrm>
            <a:off x="2476440" y="2118240"/>
            <a:ext cx="552600" cy="2210040"/>
          </a:xfrm>
          <a:custGeom>
            <a:avLst/>
            <a:gdLst/>
            <a:ahLst/>
            <a:cxnLst/>
            <a:rect l="0" t="0" r="r" b="b"/>
            <a:pathLst>
              <a:path w="1535" h="6139" fill="none">
                <a:moveTo>
                  <a:pt x="0" y="6139"/>
                </a:moveTo>
                <a:lnTo>
                  <a:pt x="81" y="6135"/>
                </a:lnTo>
                <a:lnTo>
                  <a:pt x="161" y="6122"/>
                </a:lnTo>
                <a:lnTo>
                  <a:pt x="240" y="6101"/>
                </a:lnTo>
                <a:lnTo>
                  <a:pt x="319" y="6072"/>
                </a:lnTo>
                <a:lnTo>
                  <a:pt x="397" y="6034"/>
                </a:lnTo>
                <a:lnTo>
                  <a:pt x="474" y="5989"/>
                </a:lnTo>
                <a:lnTo>
                  <a:pt x="550" y="5935"/>
                </a:lnTo>
                <a:lnTo>
                  <a:pt x="624" y="5873"/>
                </a:lnTo>
                <a:lnTo>
                  <a:pt x="697" y="5804"/>
                </a:lnTo>
                <a:lnTo>
                  <a:pt x="768" y="5728"/>
                </a:lnTo>
                <a:lnTo>
                  <a:pt x="836" y="5644"/>
                </a:lnTo>
                <a:lnTo>
                  <a:pt x="902" y="5553"/>
                </a:lnTo>
                <a:lnTo>
                  <a:pt x="966" y="5455"/>
                </a:lnTo>
                <a:lnTo>
                  <a:pt x="1027" y="5350"/>
                </a:lnTo>
                <a:lnTo>
                  <a:pt x="1085" y="5240"/>
                </a:lnTo>
                <a:lnTo>
                  <a:pt x="1141" y="5123"/>
                </a:lnTo>
                <a:lnTo>
                  <a:pt x="1193" y="5001"/>
                </a:lnTo>
                <a:lnTo>
                  <a:pt x="1242" y="4874"/>
                </a:lnTo>
                <a:lnTo>
                  <a:pt x="1287" y="4741"/>
                </a:lnTo>
                <a:lnTo>
                  <a:pt x="1329" y="4604"/>
                </a:lnTo>
                <a:lnTo>
                  <a:pt x="1368" y="4463"/>
                </a:lnTo>
                <a:lnTo>
                  <a:pt x="1402" y="4318"/>
                </a:lnTo>
                <a:lnTo>
                  <a:pt x="1433" y="4169"/>
                </a:lnTo>
                <a:lnTo>
                  <a:pt x="1460" y="4018"/>
                </a:lnTo>
                <a:lnTo>
                  <a:pt x="1483" y="3864"/>
                </a:lnTo>
                <a:lnTo>
                  <a:pt x="1501" y="3708"/>
                </a:lnTo>
                <a:lnTo>
                  <a:pt x="1516" y="3550"/>
                </a:lnTo>
                <a:lnTo>
                  <a:pt x="1526" y="3390"/>
                </a:lnTo>
                <a:lnTo>
                  <a:pt x="1533" y="3230"/>
                </a:lnTo>
                <a:lnTo>
                  <a:pt x="1535" y="3070"/>
                </a:lnTo>
                <a:lnTo>
                  <a:pt x="1533" y="2909"/>
                </a:lnTo>
                <a:lnTo>
                  <a:pt x="1526" y="2749"/>
                </a:lnTo>
                <a:lnTo>
                  <a:pt x="1516" y="2589"/>
                </a:lnTo>
                <a:lnTo>
                  <a:pt x="1501" y="2431"/>
                </a:lnTo>
                <a:lnTo>
                  <a:pt x="1483" y="2275"/>
                </a:lnTo>
                <a:lnTo>
                  <a:pt x="1460" y="2121"/>
                </a:lnTo>
                <a:lnTo>
                  <a:pt x="1433" y="1970"/>
                </a:lnTo>
                <a:lnTo>
                  <a:pt x="1402" y="1821"/>
                </a:lnTo>
                <a:lnTo>
                  <a:pt x="1368" y="1676"/>
                </a:lnTo>
                <a:lnTo>
                  <a:pt x="1329" y="1535"/>
                </a:lnTo>
                <a:lnTo>
                  <a:pt x="1287" y="1398"/>
                </a:lnTo>
                <a:lnTo>
                  <a:pt x="1242" y="1266"/>
                </a:lnTo>
                <a:lnTo>
                  <a:pt x="1193" y="1138"/>
                </a:lnTo>
                <a:lnTo>
                  <a:pt x="1141" y="1016"/>
                </a:lnTo>
                <a:lnTo>
                  <a:pt x="1085" y="899"/>
                </a:lnTo>
                <a:lnTo>
                  <a:pt x="1027" y="789"/>
                </a:lnTo>
                <a:lnTo>
                  <a:pt x="966" y="684"/>
                </a:lnTo>
                <a:lnTo>
                  <a:pt x="902" y="587"/>
                </a:lnTo>
                <a:lnTo>
                  <a:pt x="836" y="496"/>
                </a:lnTo>
                <a:lnTo>
                  <a:pt x="768" y="412"/>
                </a:lnTo>
                <a:lnTo>
                  <a:pt x="697" y="335"/>
                </a:lnTo>
                <a:lnTo>
                  <a:pt x="624" y="266"/>
                </a:lnTo>
                <a:lnTo>
                  <a:pt x="550" y="204"/>
                </a:lnTo>
                <a:lnTo>
                  <a:pt x="474" y="151"/>
                </a:lnTo>
                <a:lnTo>
                  <a:pt x="397" y="105"/>
                </a:lnTo>
                <a:lnTo>
                  <a:pt x="319" y="67"/>
                </a:lnTo>
                <a:lnTo>
                  <a:pt x="240" y="38"/>
                </a:lnTo>
                <a:lnTo>
                  <a:pt x="161" y="17"/>
                </a:lnTo>
                <a:lnTo>
                  <a:pt x="81" y="5"/>
                </a:lnTo>
                <a:lnTo>
                  <a:pt x="0" y="0"/>
                </a:lnTo>
              </a:path>
            </a:pathLst>
          </a:custGeom>
          <a:ln w="9000">
            <a:solidFill>
              <a:srgbClr val="A6D9E2"/>
            </a:solidFill>
            <a:round/>
          </a:ln>
        </p:spPr>
        <p:txBody>
          <a:bodyPr lIns="94320" tIns="49320" rIns="94320" bIns="49320" anchor="ctr" anchorCtr="1">
            <a:noAutofit/>
          </a:bodyPr>
          <a:lstStyle/>
          <a:p>
            <a:endParaRPr lang="en-US" sz="1800" b="0" strike="noStrike" spc="-1">
              <a:solidFill>
                <a:srgbClr val="000000"/>
              </a:solidFill>
              <a:latin typeface="Arial"/>
            </a:endParaRPr>
          </a:p>
        </p:txBody>
      </p:sp>
      <p:sp>
        <p:nvSpPr>
          <p:cNvPr id="341" name="Freihandform: Form 340"/>
          <p:cNvSpPr/>
          <p:nvPr/>
        </p:nvSpPr>
        <p:spPr>
          <a:xfrm>
            <a:off x="2476440" y="2118240"/>
            <a:ext cx="956880" cy="2210040"/>
          </a:xfrm>
          <a:custGeom>
            <a:avLst/>
            <a:gdLst/>
            <a:ahLst/>
            <a:cxnLst/>
            <a:rect l="0" t="0" r="r" b="b"/>
            <a:pathLst>
              <a:path w="2658" h="6139" fill="none">
                <a:moveTo>
                  <a:pt x="0" y="6139"/>
                </a:moveTo>
                <a:lnTo>
                  <a:pt x="139" y="6135"/>
                </a:lnTo>
                <a:lnTo>
                  <a:pt x="278" y="6122"/>
                </a:lnTo>
                <a:lnTo>
                  <a:pt x="416" y="6101"/>
                </a:lnTo>
                <a:lnTo>
                  <a:pt x="553" y="6072"/>
                </a:lnTo>
                <a:lnTo>
                  <a:pt x="688" y="6034"/>
                </a:lnTo>
                <a:lnTo>
                  <a:pt x="822" y="5989"/>
                </a:lnTo>
                <a:lnTo>
                  <a:pt x="953" y="5935"/>
                </a:lnTo>
                <a:lnTo>
                  <a:pt x="1081" y="5873"/>
                </a:lnTo>
                <a:lnTo>
                  <a:pt x="1207" y="5804"/>
                </a:lnTo>
                <a:lnTo>
                  <a:pt x="1329" y="5728"/>
                </a:lnTo>
                <a:lnTo>
                  <a:pt x="1448" y="5644"/>
                </a:lnTo>
                <a:lnTo>
                  <a:pt x="1563" y="5553"/>
                </a:lnTo>
                <a:lnTo>
                  <a:pt x="1673" y="5455"/>
                </a:lnTo>
                <a:lnTo>
                  <a:pt x="1779" y="5350"/>
                </a:lnTo>
                <a:lnTo>
                  <a:pt x="1880" y="5240"/>
                </a:lnTo>
                <a:lnTo>
                  <a:pt x="1976" y="5123"/>
                </a:lnTo>
                <a:lnTo>
                  <a:pt x="2066" y="5001"/>
                </a:lnTo>
                <a:lnTo>
                  <a:pt x="2151" y="4874"/>
                </a:lnTo>
                <a:lnTo>
                  <a:pt x="2229" y="4741"/>
                </a:lnTo>
                <a:lnTo>
                  <a:pt x="2302" y="4604"/>
                </a:lnTo>
                <a:lnTo>
                  <a:pt x="2369" y="4463"/>
                </a:lnTo>
                <a:lnTo>
                  <a:pt x="2428" y="4318"/>
                </a:lnTo>
                <a:lnTo>
                  <a:pt x="2482" y="4169"/>
                </a:lnTo>
                <a:lnTo>
                  <a:pt x="2528" y="4018"/>
                </a:lnTo>
                <a:lnTo>
                  <a:pt x="2568" y="3864"/>
                </a:lnTo>
                <a:lnTo>
                  <a:pt x="2600" y="3708"/>
                </a:lnTo>
                <a:lnTo>
                  <a:pt x="2626" y="3550"/>
                </a:lnTo>
                <a:lnTo>
                  <a:pt x="2644" y="3390"/>
                </a:lnTo>
                <a:lnTo>
                  <a:pt x="2655" y="3230"/>
                </a:lnTo>
                <a:lnTo>
                  <a:pt x="2658" y="3070"/>
                </a:lnTo>
                <a:lnTo>
                  <a:pt x="2655" y="2909"/>
                </a:lnTo>
                <a:lnTo>
                  <a:pt x="2644" y="2749"/>
                </a:lnTo>
                <a:lnTo>
                  <a:pt x="2626" y="2589"/>
                </a:lnTo>
                <a:lnTo>
                  <a:pt x="2600" y="2431"/>
                </a:lnTo>
                <a:lnTo>
                  <a:pt x="2568" y="2275"/>
                </a:lnTo>
                <a:lnTo>
                  <a:pt x="2528" y="2121"/>
                </a:lnTo>
                <a:lnTo>
                  <a:pt x="2482" y="1970"/>
                </a:lnTo>
                <a:lnTo>
                  <a:pt x="2428" y="1821"/>
                </a:lnTo>
                <a:lnTo>
                  <a:pt x="2369" y="1676"/>
                </a:lnTo>
                <a:lnTo>
                  <a:pt x="2302" y="1535"/>
                </a:lnTo>
                <a:lnTo>
                  <a:pt x="2229" y="1398"/>
                </a:lnTo>
                <a:lnTo>
                  <a:pt x="2151" y="1266"/>
                </a:lnTo>
                <a:lnTo>
                  <a:pt x="2066" y="1138"/>
                </a:lnTo>
                <a:lnTo>
                  <a:pt x="1976" y="1016"/>
                </a:lnTo>
                <a:lnTo>
                  <a:pt x="1880" y="899"/>
                </a:lnTo>
                <a:lnTo>
                  <a:pt x="1779" y="789"/>
                </a:lnTo>
                <a:lnTo>
                  <a:pt x="1673" y="684"/>
                </a:lnTo>
                <a:lnTo>
                  <a:pt x="1563" y="587"/>
                </a:lnTo>
                <a:lnTo>
                  <a:pt x="1448" y="496"/>
                </a:lnTo>
                <a:lnTo>
                  <a:pt x="1329" y="412"/>
                </a:lnTo>
                <a:lnTo>
                  <a:pt x="1207" y="335"/>
                </a:lnTo>
                <a:lnTo>
                  <a:pt x="1081" y="266"/>
                </a:lnTo>
                <a:lnTo>
                  <a:pt x="953" y="204"/>
                </a:lnTo>
                <a:lnTo>
                  <a:pt x="822" y="151"/>
                </a:lnTo>
                <a:lnTo>
                  <a:pt x="688" y="105"/>
                </a:lnTo>
                <a:lnTo>
                  <a:pt x="553" y="67"/>
                </a:lnTo>
                <a:lnTo>
                  <a:pt x="416" y="38"/>
                </a:lnTo>
                <a:lnTo>
                  <a:pt x="278" y="17"/>
                </a:lnTo>
                <a:lnTo>
                  <a:pt x="139" y="5"/>
                </a:lnTo>
                <a:lnTo>
                  <a:pt x="0" y="0"/>
                </a:lnTo>
              </a:path>
            </a:pathLst>
          </a:custGeom>
          <a:ln w="9000">
            <a:solidFill>
              <a:srgbClr val="A6D9E2"/>
            </a:solidFill>
            <a:round/>
          </a:ln>
        </p:spPr>
        <p:txBody>
          <a:bodyPr lIns="94320" tIns="49320" rIns="94320" bIns="49320" anchor="ctr" anchorCtr="1">
            <a:noAutofit/>
          </a:bodyPr>
          <a:lstStyle/>
          <a:p>
            <a:endParaRPr lang="en-US" sz="1800" b="0" strike="noStrike" spc="-1">
              <a:solidFill>
                <a:srgbClr val="000000"/>
              </a:solidFill>
              <a:latin typeface="Arial"/>
            </a:endParaRPr>
          </a:p>
        </p:txBody>
      </p:sp>
      <p:sp>
        <p:nvSpPr>
          <p:cNvPr id="342" name="Textfeld 341"/>
          <p:cNvSpPr txBox="1"/>
          <p:nvPr/>
        </p:nvSpPr>
        <p:spPr>
          <a:xfrm>
            <a:off x="1371600" y="4648320"/>
            <a:ext cx="2209680" cy="495360"/>
          </a:xfrm>
          <a:prstGeom prst="rect">
            <a:avLst/>
          </a:prstGeom>
          <a:noFill/>
          <a:ln w="0">
            <a:noFill/>
          </a:ln>
        </p:spPr>
        <p:txBody>
          <a:bodyPr lIns="0" tIns="0" rIns="0" bIns="0" anchor="t">
            <a:noAutofit/>
          </a:bodyPr>
          <a:lstStyle/>
          <a:p>
            <a:pPr algn="ctr"/>
            <a:r>
              <a:rPr lang="en-US" sz="2630" b="1" strike="noStrike" spc="-1">
                <a:solidFill>
                  <a:srgbClr val="004899"/>
                </a:solidFill>
                <a:latin typeface="Noto Sans"/>
              </a:rPr>
              <a:t>gekrümmt</a:t>
            </a:r>
            <a:endParaRPr lang="en-US" sz="2630" b="0" strike="noStrike" spc="-1">
              <a:solidFill>
                <a:srgbClr val="000000"/>
              </a:solidFill>
              <a:latin typeface="Arial"/>
            </a:endParaRPr>
          </a:p>
        </p:txBody>
      </p:sp>
      <p:sp>
        <p:nvSpPr>
          <p:cNvPr id="343" name="Textfeld 342"/>
          <p:cNvSpPr txBox="1"/>
          <p:nvPr/>
        </p:nvSpPr>
        <p:spPr>
          <a:xfrm>
            <a:off x="4343400" y="2819520"/>
            <a:ext cx="3581280" cy="609480"/>
          </a:xfrm>
          <a:prstGeom prst="rect">
            <a:avLst/>
          </a:prstGeom>
          <a:noFill/>
          <a:ln w="0">
            <a:noFill/>
          </a:ln>
        </p:spPr>
        <p:txBody>
          <a:bodyPr lIns="0" tIns="0" rIns="0" bIns="0" anchor="t">
            <a:noAutofit/>
          </a:bodyPr>
          <a:lstStyle/>
          <a:p>
            <a:pPr algn="ctr"/>
            <a:r>
              <a:rPr lang="en-US" sz="2720" b="1" strike="noStrike" spc="-1">
                <a:solidFill>
                  <a:srgbClr val="000000"/>
                </a:solidFill>
                <a:latin typeface="Noto Sans"/>
              </a:rPr>
              <a:t>Kartenprojektion</a:t>
            </a:r>
            <a:endParaRPr lang="en-US" sz="2720" b="0" strike="noStrike" spc="-1">
              <a:solidFill>
                <a:srgbClr val="000000"/>
              </a:solidFill>
              <a:latin typeface="Arial"/>
            </a:endParaRPr>
          </a:p>
        </p:txBody>
      </p:sp>
      <p:sp>
        <p:nvSpPr>
          <p:cNvPr id="344" name="Gerader Verbinder 343"/>
          <p:cNvSpPr/>
          <p:nvPr/>
        </p:nvSpPr>
        <p:spPr>
          <a:xfrm>
            <a:off x="4800600" y="3657600"/>
            <a:ext cx="2362320" cy="0"/>
          </a:xfrm>
          <a:prstGeom prst="line">
            <a:avLst/>
          </a:prstGeom>
          <a:ln w="36000">
            <a:solidFill>
              <a:srgbClr val="004899"/>
            </a:solidFill>
            <a:round/>
          </a:ln>
        </p:spPr>
        <p:style>
          <a:lnRef idx="0">
            <a:scrgbClr r="0" g="0" b="0"/>
          </a:lnRef>
          <a:fillRef idx="0">
            <a:scrgbClr r="0" g="0" b="0"/>
          </a:fillRef>
          <a:effectRef idx="0">
            <a:scrgbClr r="0" g="0" b="0"/>
          </a:effectRef>
          <a:fontRef idx="minor"/>
        </p:style>
        <p:txBody>
          <a:bodyPr lIns="108000" tIns="-63000" rIns="108000" bIns="-63000" anchor="ctr" anchorCtr="1">
            <a:noAutofit/>
          </a:bodyPr>
          <a:lstStyle/>
          <a:p>
            <a:endParaRPr lang="en-US" sz="1800" b="0" strike="noStrike" spc="-1">
              <a:solidFill>
                <a:srgbClr val="000000"/>
              </a:solidFill>
              <a:latin typeface="Arial"/>
            </a:endParaRPr>
          </a:p>
        </p:txBody>
      </p:sp>
      <p:sp>
        <p:nvSpPr>
          <p:cNvPr id="345" name="Freihandform: Form 344"/>
          <p:cNvSpPr/>
          <p:nvPr/>
        </p:nvSpPr>
        <p:spPr>
          <a:xfrm>
            <a:off x="6987600" y="3497760"/>
            <a:ext cx="198000" cy="320040"/>
          </a:xfrm>
          <a:custGeom>
            <a:avLst/>
            <a:gdLst/>
            <a:ahLst/>
            <a:cxnLst/>
            <a:rect l="0" t="0" r="r" b="b"/>
            <a:pathLst>
              <a:path w="550" h="889" fill="none">
                <a:moveTo>
                  <a:pt x="0" y="0"/>
                </a:moveTo>
                <a:lnTo>
                  <a:pt x="550" y="444"/>
                </a:lnTo>
                <a:lnTo>
                  <a:pt x="0" y="889"/>
                </a:lnTo>
              </a:path>
            </a:pathLst>
          </a:custGeom>
          <a:ln w="36000">
            <a:solidFill>
              <a:srgbClr val="004899"/>
            </a:solidFill>
            <a:round/>
          </a:ln>
        </p:spPr>
        <p:txBody>
          <a:bodyPr lIns="108000" tIns="63000" rIns="108000" bIns="63000" anchor="ctr" anchorCtr="1">
            <a:noAutofit/>
          </a:bodyPr>
          <a:lstStyle/>
          <a:p>
            <a:endParaRPr lang="en-US" sz="1800" b="0" strike="noStrike" spc="-1">
              <a:solidFill>
                <a:srgbClr val="000000"/>
              </a:solidFill>
              <a:latin typeface="Arial"/>
            </a:endParaRPr>
          </a:p>
        </p:txBody>
      </p:sp>
      <p:sp>
        <p:nvSpPr>
          <p:cNvPr id="346" name="Rechteck 345"/>
          <p:cNvSpPr/>
          <p:nvPr/>
        </p:nvSpPr>
        <p:spPr>
          <a:xfrm>
            <a:off x="8458200" y="2324160"/>
            <a:ext cx="2552760" cy="1790640"/>
          </a:xfrm>
          <a:prstGeom prst="rect">
            <a:avLst/>
          </a:prstGeom>
          <a:solidFill>
            <a:srgbClr val="EAF5F7"/>
          </a:solidFill>
          <a:ln w="16200">
            <a:solidFill>
              <a:srgbClr val="004899"/>
            </a:solidFill>
            <a:round/>
          </a:ln>
        </p:spPr>
        <p:txBody>
          <a:bodyPr lIns="97920" tIns="52920" rIns="97920" bIns="52920" anchor="ctr" anchorCtr="1">
            <a:noAutofit/>
          </a:bodyPr>
          <a:lstStyle/>
          <a:p>
            <a:endParaRPr lang="en-US" sz="1800" b="0" strike="noStrike" spc="-1">
              <a:solidFill>
                <a:srgbClr val="000000"/>
              </a:solidFill>
              <a:latin typeface="Arial"/>
            </a:endParaRPr>
          </a:p>
        </p:txBody>
      </p:sp>
      <p:sp>
        <p:nvSpPr>
          <p:cNvPr id="347" name="Gerader Verbinder 346"/>
          <p:cNvSpPr/>
          <p:nvPr/>
        </p:nvSpPr>
        <p:spPr>
          <a:xfrm>
            <a:off x="9096480" y="2324160"/>
            <a:ext cx="0" cy="1790640"/>
          </a:xfrm>
          <a:prstGeom prst="line">
            <a:avLst/>
          </a:prstGeom>
          <a:ln w="16200">
            <a:solidFill>
              <a:srgbClr val="A6D9E2"/>
            </a:solidFill>
            <a:round/>
          </a:ln>
        </p:spPr>
        <p:style>
          <a:lnRef idx="0">
            <a:scrgbClr r="0" g="0" b="0"/>
          </a:lnRef>
          <a:fillRef idx="0">
            <a:scrgbClr r="0" g="0" b="0"/>
          </a:fillRef>
          <a:effectRef idx="0">
            <a:scrgbClr r="0" g="0" b="0"/>
          </a:effectRef>
          <a:fontRef idx="minor"/>
        </p:style>
        <p:txBody>
          <a:bodyPr lIns="97920" tIns="52920" rIns="97920" bIns="52920" anchor="ctr" anchorCtr="1">
            <a:noAutofit/>
          </a:bodyPr>
          <a:lstStyle/>
          <a:p>
            <a:endParaRPr lang="en-US" sz="1800" b="0" strike="noStrike" spc="-1">
              <a:solidFill>
                <a:srgbClr val="000000"/>
              </a:solidFill>
              <a:latin typeface="Arial"/>
            </a:endParaRPr>
          </a:p>
        </p:txBody>
      </p:sp>
      <p:sp>
        <p:nvSpPr>
          <p:cNvPr id="348" name="Gerader Verbinder 347"/>
          <p:cNvSpPr/>
          <p:nvPr/>
        </p:nvSpPr>
        <p:spPr>
          <a:xfrm>
            <a:off x="8458200" y="2771640"/>
            <a:ext cx="2552760" cy="0"/>
          </a:xfrm>
          <a:prstGeom prst="line">
            <a:avLst/>
          </a:prstGeom>
          <a:ln w="16200">
            <a:solidFill>
              <a:srgbClr val="A6D9E2"/>
            </a:solidFill>
            <a:round/>
          </a:ln>
        </p:spPr>
        <p:style>
          <a:lnRef idx="0">
            <a:scrgbClr r="0" g="0" b="0"/>
          </a:lnRef>
          <a:fillRef idx="0">
            <a:scrgbClr r="0" g="0" b="0"/>
          </a:fillRef>
          <a:effectRef idx="0">
            <a:scrgbClr r="0" g="0" b="0"/>
          </a:effectRef>
          <a:fontRef idx="minor"/>
        </p:style>
        <p:txBody>
          <a:bodyPr lIns="97920" tIns="-52920" rIns="97920" bIns="-52920" anchor="ctr" anchorCtr="1">
            <a:noAutofit/>
          </a:bodyPr>
          <a:lstStyle/>
          <a:p>
            <a:endParaRPr lang="en-US" sz="1800" b="0" strike="noStrike" spc="-1">
              <a:solidFill>
                <a:srgbClr val="000000"/>
              </a:solidFill>
              <a:latin typeface="Arial"/>
            </a:endParaRPr>
          </a:p>
        </p:txBody>
      </p:sp>
      <p:sp>
        <p:nvSpPr>
          <p:cNvPr id="349" name="Gerader Verbinder 348"/>
          <p:cNvSpPr/>
          <p:nvPr/>
        </p:nvSpPr>
        <p:spPr>
          <a:xfrm>
            <a:off x="9734760" y="2324160"/>
            <a:ext cx="0" cy="1790640"/>
          </a:xfrm>
          <a:prstGeom prst="line">
            <a:avLst/>
          </a:prstGeom>
          <a:ln w="16200">
            <a:solidFill>
              <a:srgbClr val="A6D9E2"/>
            </a:solidFill>
            <a:round/>
          </a:ln>
        </p:spPr>
        <p:style>
          <a:lnRef idx="0">
            <a:scrgbClr r="0" g="0" b="0"/>
          </a:lnRef>
          <a:fillRef idx="0">
            <a:scrgbClr r="0" g="0" b="0"/>
          </a:fillRef>
          <a:effectRef idx="0">
            <a:scrgbClr r="0" g="0" b="0"/>
          </a:effectRef>
          <a:fontRef idx="minor"/>
        </p:style>
        <p:txBody>
          <a:bodyPr lIns="97920" tIns="52920" rIns="97920" bIns="52920" anchor="ctr" anchorCtr="1">
            <a:noAutofit/>
          </a:bodyPr>
          <a:lstStyle/>
          <a:p>
            <a:endParaRPr lang="en-US" sz="1800" b="0" strike="noStrike" spc="-1">
              <a:solidFill>
                <a:srgbClr val="000000"/>
              </a:solidFill>
              <a:latin typeface="Arial"/>
            </a:endParaRPr>
          </a:p>
        </p:txBody>
      </p:sp>
      <p:sp>
        <p:nvSpPr>
          <p:cNvPr id="350" name="Gerader Verbinder 349"/>
          <p:cNvSpPr/>
          <p:nvPr/>
        </p:nvSpPr>
        <p:spPr>
          <a:xfrm>
            <a:off x="8458200" y="3219480"/>
            <a:ext cx="2552760" cy="0"/>
          </a:xfrm>
          <a:prstGeom prst="line">
            <a:avLst/>
          </a:prstGeom>
          <a:ln w="16200">
            <a:solidFill>
              <a:srgbClr val="A6D9E2"/>
            </a:solidFill>
            <a:round/>
          </a:ln>
        </p:spPr>
        <p:style>
          <a:lnRef idx="0">
            <a:scrgbClr r="0" g="0" b="0"/>
          </a:lnRef>
          <a:fillRef idx="0">
            <a:scrgbClr r="0" g="0" b="0"/>
          </a:fillRef>
          <a:effectRef idx="0">
            <a:scrgbClr r="0" g="0" b="0"/>
          </a:effectRef>
          <a:fontRef idx="minor"/>
        </p:style>
        <p:txBody>
          <a:bodyPr lIns="97920" tIns="-52920" rIns="97920" bIns="-52920" anchor="ctr" anchorCtr="1">
            <a:noAutofit/>
          </a:bodyPr>
          <a:lstStyle/>
          <a:p>
            <a:endParaRPr lang="en-US" sz="1800" b="0" strike="noStrike" spc="-1">
              <a:solidFill>
                <a:srgbClr val="000000"/>
              </a:solidFill>
              <a:latin typeface="Arial"/>
            </a:endParaRPr>
          </a:p>
        </p:txBody>
      </p:sp>
      <p:sp>
        <p:nvSpPr>
          <p:cNvPr id="351" name="Gerader Verbinder 350"/>
          <p:cNvSpPr/>
          <p:nvPr/>
        </p:nvSpPr>
        <p:spPr>
          <a:xfrm>
            <a:off x="10372680" y="2324160"/>
            <a:ext cx="0" cy="1790640"/>
          </a:xfrm>
          <a:prstGeom prst="line">
            <a:avLst/>
          </a:prstGeom>
          <a:ln w="16200">
            <a:solidFill>
              <a:srgbClr val="A6D9E2"/>
            </a:solidFill>
            <a:round/>
          </a:ln>
        </p:spPr>
        <p:style>
          <a:lnRef idx="0">
            <a:scrgbClr r="0" g="0" b="0"/>
          </a:lnRef>
          <a:fillRef idx="0">
            <a:scrgbClr r="0" g="0" b="0"/>
          </a:fillRef>
          <a:effectRef idx="0">
            <a:scrgbClr r="0" g="0" b="0"/>
          </a:effectRef>
          <a:fontRef idx="minor"/>
        </p:style>
        <p:txBody>
          <a:bodyPr lIns="97920" tIns="52920" rIns="97920" bIns="52920" anchor="ctr" anchorCtr="1">
            <a:noAutofit/>
          </a:bodyPr>
          <a:lstStyle/>
          <a:p>
            <a:endParaRPr lang="en-US" sz="1800" b="0" strike="noStrike" spc="-1">
              <a:solidFill>
                <a:srgbClr val="000000"/>
              </a:solidFill>
              <a:latin typeface="Arial"/>
            </a:endParaRPr>
          </a:p>
        </p:txBody>
      </p:sp>
      <p:sp>
        <p:nvSpPr>
          <p:cNvPr id="352" name="Gerader Verbinder 351"/>
          <p:cNvSpPr/>
          <p:nvPr/>
        </p:nvSpPr>
        <p:spPr>
          <a:xfrm>
            <a:off x="8458200" y="3667320"/>
            <a:ext cx="2552760" cy="0"/>
          </a:xfrm>
          <a:prstGeom prst="line">
            <a:avLst/>
          </a:prstGeom>
          <a:ln w="16200">
            <a:solidFill>
              <a:srgbClr val="A6D9E2"/>
            </a:solidFill>
            <a:round/>
          </a:ln>
        </p:spPr>
        <p:style>
          <a:lnRef idx="0">
            <a:scrgbClr r="0" g="0" b="0"/>
          </a:lnRef>
          <a:fillRef idx="0">
            <a:scrgbClr r="0" g="0" b="0"/>
          </a:fillRef>
          <a:effectRef idx="0">
            <a:scrgbClr r="0" g="0" b="0"/>
          </a:effectRef>
          <a:fontRef idx="minor"/>
        </p:style>
        <p:txBody>
          <a:bodyPr lIns="97920" tIns="-52920" rIns="97920" bIns="-52920" anchor="ctr" anchorCtr="1">
            <a:noAutofit/>
          </a:bodyPr>
          <a:lstStyle/>
          <a:p>
            <a:endParaRPr lang="en-US" sz="1800" b="0" strike="noStrike" spc="-1">
              <a:solidFill>
                <a:srgbClr val="000000"/>
              </a:solidFill>
              <a:latin typeface="Arial"/>
            </a:endParaRPr>
          </a:p>
        </p:txBody>
      </p:sp>
      <p:sp>
        <p:nvSpPr>
          <p:cNvPr id="353" name="Textfeld 352"/>
          <p:cNvSpPr txBox="1"/>
          <p:nvPr/>
        </p:nvSpPr>
        <p:spPr>
          <a:xfrm>
            <a:off x="8458200" y="4648320"/>
            <a:ext cx="2552760" cy="495360"/>
          </a:xfrm>
          <a:prstGeom prst="rect">
            <a:avLst/>
          </a:prstGeom>
          <a:noFill/>
          <a:ln w="0">
            <a:noFill/>
          </a:ln>
        </p:spPr>
        <p:txBody>
          <a:bodyPr lIns="0" tIns="0" rIns="0" bIns="0" anchor="t">
            <a:noAutofit/>
          </a:bodyPr>
          <a:lstStyle/>
          <a:p>
            <a:pPr algn="ctr"/>
            <a:r>
              <a:rPr lang="en-US" sz="2630" b="1" strike="noStrike" spc="-1">
                <a:solidFill>
                  <a:srgbClr val="004899"/>
                </a:solidFill>
                <a:latin typeface="Noto Sans"/>
              </a:rPr>
              <a:t>eben</a:t>
            </a:r>
            <a:endParaRPr lang="en-US" sz="2630" b="0" strike="noStrike" spc="-1">
              <a:solidFill>
                <a:srgbClr val="000000"/>
              </a:solidFill>
              <a:latin typeface="Arial"/>
            </a:endParaRPr>
          </a:p>
        </p:txBody>
      </p:sp>
      <p:sp>
        <p:nvSpPr>
          <p:cNvPr id="354" name="Rechteck 353"/>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55" name="Textfeld 354"/>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Jede ebene Weltkarte verzerrt bestimmte Eigenschaften.</a:t>
            </a:r>
            <a:endParaRPr lang="en-US" sz="2350" b="0" strike="noStrike" spc="-1">
              <a:solidFill>
                <a:srgbClr val="000000"/>
              </a:solidFill>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Textfeld 355"/>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Gleich große Gebiete – anders dargestellt</a:t>
            </a:r>
            <a:endParaRPr lang="en-US" sz="3190" b="0" strike="noStrike" spc="-1">
              <a:solidFill>
                <a:srgbClr val="000000"/>
              </a:solidFill>
              <a:latin typeface="Arial"/>
            </a:endParaRPr>
          </a:p>
        </p:txBody>
      </p:sp>
      <p:sp>
        <p:nvSpPr>
          <p:cNvPr id="357" name="Textfeld 356"/>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VERGLEICH · KARTENPROJEKTIONEN</a:t>
            </a:r>
            <a:endParaRPr lang="en-US" sz="1130" b="0" strike="noStrike" spc="-1">
              <a:solidFill>
                <a:srgbClr val="000000"/>
              </a:solidFill>
              <a:latin typeface="Arial"/>
            </a:endParaRPr>
          </a:p>
        </p:txBody>
      </p:sp>
      <p:sp>
        <p:nvSpPr>
          <p:cNvPr id="358" name="Textfeld 357"/>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359" name="Textfeld 358"/>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17</a:t>
            </a:r>
            <a:endParaRPr lang="en-US" sz="939" b="0" strike="noStrike" spc="-1">
              <a:solidFill>
                <a:srgbClr val="000000"/>
              </a:solidFill>
              <a:latin typeface="Arial"/>
            </a:endParaRPr>
          </a:p>
        </p:txBody>
      </p:sp>
      <p:pic>
        <p:nvPicPr>
          <p:cNvPr id="360" name="Grafik 359" descr="Dieselben geodätischen Referenzflächen mit 1000 Kilometern Radius liegen am Äquator und bei 70 Grad Nord. World Mercator vergrößert die polnahe Fläche stark. Equal Earth erhält die Flächenverhältnisse, verändert jedoch ihre Form."/>
          <p:cNvPicPr/>
          <p:nvPr/>
        </p:nvPicPr>
        <p:blipFill>
          <a:blip r:embed="rId3">
            <a:extLst>
              <a:ext uri="{96DAC541-7B7A-43D3-8B79-37D633B846F1}">
                <asvg:svgBlip xmlns:asvg="http://schemas.microsoft.com/office/drawing/2016/SVG/main" r:embed="rId4"/>
              </a:ext>
            </a:extLst>
          </a:blip>
          <a:stretch/>
        </p:blipFill>
        <p:spPr>
          <a:xfrm>
            <a:off x="1219320" y="1600200"/>
            <a:ext cx="9753840" cy="4587120"/>
          </a:xfrm>
          <a:prstGeom prst="rect">
            <a:avLst/>
          </a:prstGeom>
          <a:ln w="0">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Textfeld 360"/>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Welche Karte passt zum Flächenvergleich?</a:t>
            </a:r>
            <a:endParaRPr lang="en-US" sz="3190" b="0" strike="noStrike" spc="-1">
              <a:solidFill>
                <a:srgbClr val="000000"/>
              </a:solidFill>
              <a:latin typeface="Arial"/>
            </a:endParaRPr>
          </a:p>
        </p:txBody>
      </p:sp>
      <p:sp>
        <p:nvSpPr>
          <p:cNvPr id="362" name="Textfeld 361"/>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ABSTIMMUNG · KARTENPROJEKTIONEN</a:t>
            </a:r>
            <a:endParaRPr lang="en-US" sz="1130" b="0" strike="noStrike" spc="-1">
              <a:solidFill>
                <a:srgbClr val="000000"/>
              </a:solidFill>
              <a:latin typeface="Arial"/>
            </a:endParaRPr>
          </a:p>
        </p:txBody>
      </p:sp>
      <p:sp>
        <p:nvSpPr>
          <p:cNvPr id="363" name="Textfeld 362"/>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364" name="Textfeld 363"/>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18</a:t>
            </a:r>
            <a:endParaRPr lang="en-US" sz="939" b="0" strike="noStrike" spc="-1">
              <a:solidFill>
                <a:srgbClr val="000000"/>
              </a:solidFill>
              <a:latin typeface="Arial"/>
            </a:endParaRPr>
          </a:p>
        </p:txBody>
      </p:sp>
      <p:sp>
        <p:nvSpPr>
          <p:cNvPr id="365" name="Textfeld 364"/>
          <p:cNvSpPr txBox="1"/>
          <p:nvPr/>
        </p:nvSpPr>
        <p:spPr>
          <a:xfrm>
            <a:off x="762120" y="1661040"/>
            <a:ext cx="10668240" cy="762120"/>
          </a:xfrm>
          <a:prstGeom prst="rect">
            <a:avLst/>
          </a:prstGeom>
          <a:noFill/>
          <a:ln w="0">
            <a:noFill/>
          </a:ln>
        </p:spPr>
        <p:txBody>
          <a:bodyPr lIns="0" tIns="0" rIns="0" bIns="0" anchor="t">
            <a:noAutofit/>
          </a:bodyPr>
          <a:lstStyle/>
          <a:p>
            <a:r>
              <a:rPr lang="en-US" sz="2720" b="1" strike="noStrike" spc="-1">
                <a:solidFill>
                  <a:srgbClr val="000000"/>
                </a:solidFill>
                <a:latin typeface="Noto Sans"/>
              </a:rPr>
              <a:t>Wir möchten die Flächen verschiedener Länder vergleichen.</a:t>
            </a:r>
            <a:endParaRPr lang="en-US" sz="2720" b="0" strike="noStrike" spc="-1">
              <a:solidFill>
                <a:srgbClr val="000000"/>
              </a:solidFill>
              <a:latin typeface="Arial"/>
            </a:endParaRPr>
          </a:p>
        </p:txBody>
      </p:sp>
      <p:sp>
        <p:nvSpPr>
          <p:cNvPr id="366" name="Ellipse 365"/>
          <p:cNvSpPr/>
          <p:nvPr/>
        </p:nvSpPr>
        <p:spPr>
          <a:xfrm>
            <a:off x="647640" y="26290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367" name="Textfeld 366"/>
          <p:cNvSpPr txBox="1"/>
          <p:nvPr/>
        </p:nvSpPr>
        <p:spPr>
          <a:xfrm>
            <a:off x="647640" y="268992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A</a:t>
            </a:r>
            <a:endParaRPr lang="en-US" sz="2450" b="0" strike="noStrike" spc="-1">
              <a:solidFill>
                <a:srgbClr val="000000"/>
              </a:solidFill>
              <a:latin typeface="Arial"/>
            </a:endParaRPr>
          </a:p>
        </p:txBody>
      </p:sp>
      <p:sp>
        <p:nvSpPr>
          <p:cNvPr id="368" name="Textfeld 367"/>
          <p:cNvSpPr txBox="1"/>
          <p:nvPr/>
        </p:nvSpPr>
        <p:spPr>
          <a:xfrm>
            <a:off x="1371600" y="26290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Mercator</a:t>
            </a:r>
            <a:endParaRPr lang="en-US" sz="2720" b="0" strike="noStrike" spc="-1">
              <a:solidFill>
                <a:srgbClr val="000000"/>
              </a:solidFill>
              <a:latin typeface="Arial"/>
            </a:endParaRPr>
          </a:p>
        </p:txBody>
      </p:sp>
      <p:sp>
        <p:nvSpPr>
          <p:cNvPr id="369" name="Textfeld 368"/>
          <p:cNvSpPr txBox="1"/>
          <p:nvPr/>
        </p:nvSpPr>
        <p:spPr>
          <a:xfrm>
            <a:off x="1371600" y="310140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Die Formen wirken vertraut.</a:t>
            </a:r>
            <a:endParaRPr lang="en-US" sz="2260" b="0" strike="noStrike" spc="-1">
              <a:solidFill>
                <a:srgbClr val="000000"/>
              </a:solidFill>
              <a:latin typeface="Arial"/>
            </a:endParaRPr>
          </a:p>
        </p:txBody>
      </p:sp>
      <p:sp>
        <p:nvSpPr>
          <p:cNvPr id="370" name="Ellipse 369"/>
          <p:cNvSpPr/>
          <p:nvPr/>
        </p:nvSpPr>
        <p:spPr>
          <a:xfrm>
            <a:off x="647640" y="34822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371" name="Textfeld 370"/>
          <p:cNvSpPr txBox="1"/>
          <p:nvPr/>
        </p:nvSpPr>
        <p:spPr>
          <a:xfrm>
            <a:off x="647640" y="35434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B</a:t>
            </a:r>
            <a:endParaRPr lang="en-US" sz="2450" b="0" strike="noStrike" spc="-1">
              <a:solidFill>
                <a:srgbClr val="000000"/>
              </a:solidFill>
              <a:latin typeface="Arial"/>
            </a:endParaRPr>
          </a:p>
        </p:txBody>
      </p:sp>
      <p:sp>
        <p:nvSpPr>
          <p:cNvPr id="372" name="Textfeld 371"/>
          <p:cNvSpPr txBox="1"/>
          <p:nvPr/>
        </p:nvSpPr>
        <p:spPr>
          <a:xfrm>
            <a:off x="1371600" y="34822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Eine flächentreue Projektion</a:t>
            </a:r>
            <a:endParaRPr lang="en-US" sz="2720" b="0" strike="noStrike" spc="-1">
              <a:solidFill>
                <a:srgbClr val="000000"/>
              </a:solidFill>
              <a:latin typeface="Arial"/>
            </a:endParaRPr>
          </a:p>
        </p:txBody>
      </p:sp>
      <p:sp>
        <p:nvSpPr>
          <p:cNvPr id="373" name="Textfeld 372"/>
          <p:cNvSpPr txBox="1"/>
          <p:nvPr/>
        </p:nvSpPr>
        <p:spPr>
          <a:xfrm>
            <a:off x="1371600" y="39549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Die Flächenverhältnisse sollen erhalten bleiben.</a:t>
            </a:r>
            <a:endParaRPr lang="en-US" sz="2260" b="0" strike="noStrike" spc="-1">
              <a:solidFill>
                <a:srgbClr val="000000"/>
              </a:solidFill>
              <a:latin typeface="Arial"/>
            </a:endParaRPr>
          </a:p>
        </p:txBody>
      </p:sp>
      <p:sp>
        <p:nvSpPr>
          <p:cNvPr id="374" name="Ellipse 373"/>
          <p:cNvSpPr/>
          <p:nvPr/>
        </p:nvSpPr>
        <p:spPr>
          <a:xfrm>
            <a:off x="647640" y="433584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375" name="Textfeld 374"/>
          <p:cNvSpPr txBox="1"/>
          <p:nvPr/>
        </p:nvSpPr>
        <p:spPr>
          <a:xfrm>
            <a:off x="647640" y="4396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C</a:t>
            </a:r>
            <a:endParaRPr lang="en-US" sz="2450" b="0" strike="noStrike" spc="-1">
              <a:solidFill>
                <a:srgbClr val="000000"/>
              </a:solidFill>
              <a:latin typeface="Arial"/>
            </a:endParaRPr>
          </a:p>
        </p:txBody>
      </p:sp>
      <p:sp>
        <p:nvSpPr>
          <p:cNvPr id="376" name="Textfeld 375"/>
          <p:cNvSpPr txBox="1"/>
          <p:nvPr/>
        </p:nvSpPr>
        <p:spPr>
          <a:xfrm>
            <a:off x="1371600" y="433584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Jede Projektion ist gleich geeignet</a:t>
            </a:r>
            <a:endParaRPr lang="en-US" sz="2720" b="0" strike="noStrike" spc="-1">
              <a:solidFill>
                <a:srgbClr val="000000"/>
              </a:solidFill>
              <a:latin typeface="Arial"/>
            </a:endParaRPr>
          </a:p>
        </p:txBody>
      </p:sp>
      <p:sp>
        <p:nvSpPr>
          <p:cNvPr id="377" name="Textfeld 376"/>
          <p:cNvSpPr txBox="1"/>
          <p:nvPr/>
        </p:nvSpPr>
        <p:spPr>
          <a:xfrm>
            <a:off x="1371600" y="4808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Alle stellen doch dieselbe Erde dar.</a:t>
            </a:r>
            <a:endParaRPr lang="en-US" sz="2260" b="0" strike="noStrike" spc="-1">
              <a:solidFill>
                <a:srgbClr val="000000"/>
              </a:solidFill>
              <a:latin typeface="Arial"/>
            </a:endParaRPr>
          </a:p>
        </p:txBody>
      </p:sp>
      <p:sp>
        <p:nvSpPr>
          <p:cNvPr id="378" name="Rechteck 377"/>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79" name="Textfeld 378"/>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A, B oder C? Entscheiden Sie und begründen Sie Ihre Wahl.</a:t>
            </a:r>
            <a:endParaRPr lang="en-US" sz="2350" b="0" strike="noStrike" spc="-1">
              <a:solidFill>
                <a:srgbClr val="000000"/>
              </a:solidFill>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Textfeld 379"/>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Der Zweck entscheidet über die Projektion</a:t>
            </a:r>
            <a:endParaRPr lang="en-US" sz="3190" b="0" strike="noStrike" spc="-1">
              <a:solidFill>
                <a:srgbClr val="000000"/>
              </a:solidFill>
              <a:latin typeface="Arial"/>
            </a:endParaRPr>
          </a:p>
        </p:txBody>
      </p:sp>
      <p:sp>
        <p:nvSpPr>
          <p:cNvPr id="381" name="Textfeld 380"/>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AUFLÖSUNG · KARTENPROJEKTIONEN</a:t>
            </a:r>
            <a:endParaRPr lang="en-US" sz="1130" b="0" strike="noStrike" spc="-1">
              <a:solidFill>
                <a:srgbClr val="000000"/>
              </a:solidFill>
              <a:latin typeface="Arial"/>
            </a:endParaRPr>
          </a:p>
        </p:txBody>
      </p:sp>
      <p:sp>
        <p:nvSpPr>
          <p:cNvPr id="382" name="Textfeld 381"/>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383" name="Textfeld 382"/>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19</a:t>
            </a:r>
            <a:endParaRPr lang="en-US" sz="939" b="0" strike="noStrike" spc="-1">
              <a:solidFill>
                <a:srgbClr val="000000"/>
              </a:solidFill>
              <a:latin typeface="Arial"/>
            </a:endParaRPr>
          </a:p>
        </p:txBody>
      </p:sp>
      <p:sp>
        <p:nvSpPr>
          <p:cNvPr id="384" name="Rechteck 383"/>
          <p:cNvSpPr/>
          <p:nvPr/>
        </p:nvSpPr>
        <p:spPr>
          <a:xfrm>
            <a:off x="647640" y="1790640"/>
            <a:ext cx="10896840" cy="19810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85" name="Rechteck 384"/>
          <p:cNvSpPr/>
          <p:nvPr/>
        </p:nvSpPr>
        <p:spPr>
          <a:xfrm>
            <a:off x="647640" y="1790640"/>
            <a:ext cx="53280" cy="198108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386" name="Textfeld 385"/>
          <p:cNvSpPr txBox="1"/>
          <p:nvPr/>
        </p:nvSpPr>
        <p:spPr>
          <a:xfrm>
            <a:off x="853560" y="1973520"/>
            <a:ext cx="1048536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B · Flächentreu für den Flächenvergleich</a:t>
            </a:r>
            <a:endParaRPr lang="en-US" sz="2540" b="0" strike="noStrike" spc="-1">
              <a:solidFill>
                <a:srgbClr val="000000"/>
              </a:solidFill>
              <a:latin typeface="Arial"/>
            </a:endParaRPr>
          </a:p>
        </p:txBody>
      </p:sp>
      <p:sp>
        <p:nvSpPr>
          <p:cNvPr id="387" name="Textfeld 386"/>
          <p:cNvSpPr txBox="1"/>
          <p:nvPr/>
        </p:nvSpPr>
        <p:spPr>
          <a:xfrm>
            <a:off x="853560" y="2735640"/>
            <a:ext cx="10485360" cy="899280"/>
          </a:xfrm>
          <a:prstGeom prst="rect">
            <a:avLst/>
          </a:prstGeom>
          <a:noFill/>
          <a:ln w="0">
            <a:noFill/>
          </a:ln>
        </p:spPr>
        <p:txBody>
          <a:bodyPr lIns="0" tIns="0" rIns="0" bIns="0" anchor="t">
            <a:noAutofit/>
          </a:bodyPr>
          <a:lstStyle/>
          <a:p>
            <a:r>
              <a:rPr lang="en-US" sz="2820" b="0" strike="noStrike" spc="-1">
                <a:solidFill>
                  <a:srgbClr val="000000"/>
                </a:solidFill>
                <a:latin typeface="Noto Sans"/>
              </a:rPr>
              <a:t>Gleich große Gebiete auf der Erde erscheinen gleich groß auf der Karte.</a:t>
            </a:r>
            <a:endParaRPr lang="en-US" sz="2820" b="0" strike="noStrike" spc="-1">
              <a:solidFill>
                <a:srgbClr val="000000"/>
              </a:solidFill>
              <a:latin typeface="Arial"/>
            </a:endParaRPr>
          </a:p>
        </p:txBody>
      </p:sp>
      <p:sp>
        <p:nvSpPr>
          <p:cNvPr id="388" name="Textfeld 387"/>
          <p:cNvSpPr txBox="1"/>
          <p:nvPr/>
        </p:nvSpPr>
        <p:spPr>
          <a:xfrm>
            <a:off x="838080" y="4152960"/>
            <a:ext cx="10591920" cy="876240"/>
          </a:xfrm>
          <a:prstGeom prst="rect">
            <a:avLst/>
          </a:prstGeom>
          <a:noFill/>
          <a:ln w="0">
            <a:noFill/>
          </a:ln>
        </p:spPr>
        <p:txBody>
          <a:bodyPr lIns="0" tIns="0" rIns="0" bIns="0" anchor="t">
            <a:noAutofit/>
          </a:bodyPr>
          <a:lstStyle/>
          <a:p>
            <a:r>
              <a:rPr lang="en-US" sz="2630" b="0" strike="noStrike" spc="-1">
                <a:solidFill>
                  <a:srgbClr val="000000"/>
                </a:solidFill>
                <a:latin typeface="Noto Sans"/>
              </a:rPr>
              <a:t>Dafür können Formen und Winkel verändert sein.</a:t>
            </a:r>
            <a:endParaRPr lang="en-US" sz="2630" b="0" strike="noStrike" spc="-1">
              <a:solidFill>
                <a:srgbClr val="000000"/>
              </a:solidFill>
              <a:latin typeface="Arial"/>
            </a:endParaRPr>
          </a:p>
          <a:p>
            <a:r>
              <a:rPr lang="en-US" sz="2630" b="0" strike="noStrike" spc="-1">
                <a:solidFill>
                  <a:srgbClr val="000000"/>
                </a:solidFill>
                <a:latin typeface="Noto Sans"/>
              </a:rPr>
              <a:t>Eine vertraute Darstellung ist kein Beleg für Flächentreue.</a:t>
            </a:r>
            <a:endParaRPr lang="en-US" sz="2630" b="0" strike="noStrike" spc="-1">
              <a:solidFill>
                <a:srgbClr val="000000"/>
              </a:solidFill>
              <a:latin typeface="Arial"/>
            </a:endParaRPr>
          </a:p>
        </p:txBody>
      </p:sp>
      <p:sp>
        <p:nvSpPr>
          <p:cNvPr id="389" name="Rechteck 388"/>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90" name="Textfeld 389"/>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Erst die Frage klären, dann die Projektion auswählen.</a:t>
            </a:r>
            <a:endParaRPr lang="en-US" sz="2350" b="0" strike="noStrike" spc="-1">
              <a:solidFill>
                <a:srgbClr val="000000"/>
              </a:solidFill>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 name="Textfeld 390"/>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Drei CRS, die uns im Kurs begegnen</a:t>
            </a:r>
            <a:endParaRPr lang="en-US" sz="3190" b="0" strike="noStrike" spc="-1">
              <a:solidFill>
                <a:srgbClr val="000000"/>
              </a:solidFill>
              <a:latin typeface="Arial"/>
            </a:endParaRPr>
          </a:p>
        </p:txBody>
      </p:sp>
      <p:sp>
        <p:nvSpPr>
          <p:cNvPr id="392" name="Textfeld 391"/>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03 · EPSG-CODES</a:t>
            </a:r>
            <a:endParaRPr lang="en-US" sz="1130" b="0" strike="noStrike" spc="-1">
              <a:solidFill>
                <a:srgbClr val="000000"/>
              </a:solidFill>
              <a:latin typeface="Arial"/>
            </a:endParaRPr>
          </a:p>
        </p:txBody>
      </p:sp>
      <p:sp>
        <p:nvSpPr>
          <p:cNvPr id="393" name="Textfeld 392"/>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394" name="Textfeld 393"/>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20</a:t>
            </a:r>
            <a:endParaRPr lang="en-US" sz="939" b="0" strike="noStrike" spc="-1">
              <a:solidFill>
                <a:srgbClr val="000000"/>
              </a:solidFill>
              <a:latin typeface="Arial"/>
            </a:endParaRPr>
          </a:p>
        </p:txBody>
      </p:sp>
      <p:sp>
        <p:nvSpPr>
          <p:cNvPr id="395" name="Rechteck 394"/>
          <p:cNvSpPr/>
          <p:nvPr/>
        </p:nvSpPr>
        <p:spPr>
          <a:xfrm>
            <a:off x="647640" y="1790640"/>
            <a:ext cx="3429000" cy="3581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96" name="Rechteck 395"/>
          <p:cNvSpPr/>
          <p:nvPr/>
        </p:nvSpPr>
        <p:spPr>
          <a:xfrm>
            <a:off x="647640" y="1790640"/>
            <a:ext cx="53280" cy="358128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397" name="Textfeld 396"/>
          <p:cNvSpPr txBox="1"/>
          <p:nvPr/>
        </p:nvSpPr>
        <p:spPr>
          <a:xfrm>
            <a:off x="853560" y="1973520"/>
            <a:ext cx="301752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EPSG:4326</a:t>
            </a:r>
            <a:endParaRPr lang="en-US" sz="2540" b="0" strike="noStrike" spc="-1">
              <a:solidFill>
                <a:srgbClr val="000000"/>
              </a:solidFill>
              <a:latin typeface="Arial"/>
            </a:endParaRPr>
          </a:p>
        </p:txBody>
      </p:sp>
      <p:sp>
        <p:nvSpPr>
          <p:cNvPr id="398" name="Textfeld 397"/>
          <p:cNvSpPr txBox="1"/>
          <p:nvPr/>
        </p:nvSpPr>
        <p:spPr>
          <a:xfrm>
            <a:off x="853560" y="2735640"/>
            <a:ext cx="3017520" cy="2499480"/>
          </a:xfrm>
          <a:prstGeom prst="rect">
            <a:avLst/>
          </a:prstGeom>
          <a:noFill/>
          <a:ln w="0">
            <a:noFill/>
          </a:ln>
        </p:spPr>
        <p:txBody>
          <a:bodyPr lIns="0" tIns="0" rIns="0" bIns="0" anchor="t">
            <a:noAutofit/>
          </a:bodyPr>
          <a:lstStyle/>
          <a:p>
            <a:r>
              <a:rPr lang="en-US" sz="2450" b="0" strike="noStrike" spc="-1">
                <a:solidFill>
                  <a:srgbClr val="000000"/>
                </a:solidFill>
                <a:latin typeface="Noto Sans"/>
              </a:rPr>
              <a:t>WGS 84</a:t>
            </a:r>
            <a:endParaRPr lang="en-US" sz="2450" b="0" strike="noStrike" spc="-1">
              <a:solidFill>
                <a:srgbClr val="000000"/>
              </a:solidFill>
              <a:latin typeface="Arial"/>
            </a:endParaRPr>
          </a:p>
          <a:p>
            <a:endParaRPr lang="en-US" sz="2450" b="0" strike="noStrike" spc="-1">
              <a:solidFill>
                <a:srgbClr val="000000"/>
              </a:solidFill>
              <a:latin typeface="Arial"/>
            </a:endParaRPr>
          </a:p>
          <a:p>
            <a:r>
              <a:rPr lang="en-US" sz="2450" b="0" strike="noStrike" spc="-1">
                <a:solidFill>
                  <a:srgbClr val="000000"/>
                </a:solidFill>
                <a:latin typeface="Noto Sans"/>
              </a:rPr>
              <a:t>Grad</a:t>
            </a:r>
            <a:endParaRPr lang="en-US" sz="2450" b="0" strike="noStrike" spc="-1">
              <a:solidFill>
                <a:srgbClr val="000000"/>
              </a:solidFill>
              <a:latin typeface="Arial"/>
            </a:endParaRPr>
          </a:p>
          <a:p>
            <a:endParaRPr lang="en-US" sz="2450" b="0" strike="noStrike" spc="-1">
              <a:solidFill>
                <a:srgbClr val="000000"/>
              </a:solidFill>
              <a:latin typeface="Arial"/>
            </a:endParaRPr>
          </a:p>
          <a:p>
            <a:r>
              <a:rPr lang="en-US" sz="2450" b="0" strike="noStrike" spc="-1">
                <a:solidFill>
                  <a:srgbClr val="000000"/>
                </a:solidFill>
                <a:latin typeface="Noto Sans"/>
              </a:rPr>
              <a:t>Weltweite Positionen</a:t>
            </a:r>
            <a:endParaRPr lang="en-US" sz="2450" b="0" strike="noStrike" spc="-1">
              <a:solidFill>
                <a:srgbClr val="000000"/>
              </a:solidFill>
              <a:latin typeface="Arial"/>
            </a:endParaRPr>
          </a:p>
        </p:txBody>
      </p:sp>
      <p:sp>
        <p:nvSpPr>
          <p:cNvPr id="399" name="Rechteck 398"/>
          <p:cNvSpPr/>
          <p:nvPr/>
        </p:nvSpPr>
        <p:spPr>
          <a:xfrm>
            <a:off x="4381560" y="1790640"/>
            <a:ext cx="3429000" cy="3581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00" name="Rechteck 399"/>
          <p:cNvSpPr/>
          <p:nvPr/>
        </p:nvSpPr>
        <p:spPr>
          <a:xfrm>
            <a:off x="4381560" y="1790640"/>
            <a:ext cx="53280" cy="358128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01" name="Textfeld 400"/>
          <p:cNvSpPr txBox="1"/>
          <p:nvPr/>
        </p:nvSpPr>
        <p:spPr>
          <a:xfrm>
            <a:off x="4587120" y="1973520"/>
            <a:ext cx="301752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EPSG:25832</a:t>
            </a:r>
            <a:endParaRPr lang="en-US" sz="2540" b="0" strike="noStrike" spc="-1">
              <a:solidFill>
                <a:srgbClr val="000000"/>
              </a:solidFill>
              <a:latin typeface="Arial"/>
            </a:endParaRPr>
          </a:p>
        </p:txBody>
      </p:sp>
      <p:sp>
        <p:nvSpPr>
          <p:cNvPr id="402" name="Textfeld 401"/>
          <p:cNvSpPr txBox="1"/>
          <p:nvPr/>
        </p:nvSpPr>
        <p:spPr>
          <a:xfrm>
            <a:off x="4587120" y="2735640"/>
            <a:ext cx="3017520" cy="2499480"/>
          </a:xfrm>
          <a:prstGeom prst="rect">
            <a:avLst/>
          </a:prstGeom>
          <a:noFill/>
          <a:ln w="0">
            <a:noFill/>
          </a:ln>
        </p:spPr>
        <p:txBody>
          <a:bodyPr lIns="0" tIns="0" rIns="0" bIns="0" anchor="t">
            <a:noAutofit/>
          </a:bodyPr>
          <a:lstStyle/>
          <a:p>
            <a:r>
              <a:rPr lang="en-US" sz="2450" b="0" strike="noStrike" spc="-1">
                <a:solidFill>
                  <a:srgbClr val="000000"/>
                </a:solidFill>
                <a:latin typeface="Noto Sans"/>
              </a:rPr>
              <a:t>ETRS89 /</a:t>
            </a:r>
            <a:endParaRPr lang="en-US" sz="2450" b="0" strike="noStrike" spc="-1">
              <a:solidFill>
                <a:srgbClr val="000000"/>
              </a:solidFill>
              <a:latin typeface="Arial"/>
            </a:endParaRPr>
          </a:p>
          <a:p>
            <a:r>
              <a:rPr lang="en-US" sz="2450" b="0" strike="noStrike" spc="-1">
                <a:solidFill>
                  <a:srgbClr val="000000"/>
                </a:solidFill>
                <a:latin typeface="Noto Sans"/>
              </a:rPr>
              <a:t>UTM Zone 32N</a:t>
            </a:r>
            <a:endParaRPr lang="en-US" sz="2450" b="0" strike="noStrike" spc="-1">
              <a:solidFill>
                <a:srgbClr val="000000"/>
              </a:solidFill>
              <a:latin typeface="Arial"/>
            </a:endParaRPr>
          </a:p>
          <a:p>
            <a:endParaRPr lang="en-US" sz="2450" b="0" strike="noStrike" spc="-1">
              <a:solidFill>
                <a:srgbClr val="000000"/>
              </a:solidFill>
              <a:latin typeface="Arial"/>
            </a:endParaRPr>
          </a:p>
          <a:p>
            <a:r>
              <a:rPr lang="en-US" sz="2450" b="0" strike="noStrike" spc="-1">
                <a:solidFill>
                  <a:srgbClr val="000000"/>
                </a:solidFill>
                <a:latin typeface="Noto Sans"/>
              </a:rPr>
              <a:t>Meter</a:t>
            </a:r>
            <a:endParaRPr lang="en-US" sz="2450" b="0" strike="noStrike" spc="-1">
              <a:solidFill>
                <a:srgbClr val="000000"/>
              </a:solidFill>
              <a:latin typeface="Arial"/>
            </a:endParaRPr>
          </a:p>
          <a:p>
            <a:r>
              <a:rPr lang="en-US" sz="2450" b="0" strike="noStrike" spc="-1">
                <a:solidFill>
                  <a:srgbClr val="000000"/>
                </a:solidFill>
                <a:latin typeface="Noto Sans"/>
              </a:rPr>
              <a:t>Regional um Marburg</a:t>
            </a:r>
            <a:endParaRPr lang="en-US" sz="2450" b="0" strike="noStrike" spc="-1">
              <a:solidFill>
                <a:srgbClr val="000000"/>
              </a:solidFill>
              <a:latin typeface="Arial"/>
            </a:endParaRPr>
          </a:p>
        </p:txBody>
      </p:sp>
      <p:sp>
        <p:nvSpPr>
          <p:cNvPr id="403" name="Rechteck 402"/>
          <p:cNvSpPr/>
          <p:nvPr/>
        </p:nvSpPr>
        <p:spPr>
          <a:xfrm>
            <a:off x="8115480" y="1790640"/>
            <a:ext cx="3429000" cy="3581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04" name="Rechteck 403"/>
          <p:cNvSpPr/>
          <p:nvPr/>
        </p:nvSpPr>
        <p:spPr>
          <a:xfrm>
            <a:off x="8115480" y="1790640"/>
            <a:ext cx="53280" cy="358128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05" name="Textfeld 404"/>
          <p:cNvSpPr txBox="1"/>
          <p:nvPr/>
        </p:nvSpPr>
        <p:spPr>
          <a:xfrm>
            <a:off x="8321040" y="1973520"/>
            <a:ext cx="301752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EPSG:3857</a:t>
            </a:r>
            <a:endParaRPr lang="en-US" sz="2540" b="0" strike="noStrike" spc="-1">
              <a:solidFill>
                <a:srgbClr val="000000"/>
              </a:solidFill>
              <a:latin typeface="Arial"/>
            </a:endParaRPr>
          </a:p>
        </p:txBody>
      </p:sp>
      <p:sp>
        <p:nvSpPr>
          <p:cNvPr id="406" name="Textfeld 405"/>
          <p:cNvSpPr txBox="1"/>
          <p:nvPr/>
        </p:nvSpPr>
        <p:spPr>
          <a:xfrm>
            <a:off x="8321040" y="2735640"/>
            <a:ext cx="3017520" cy="2499480"/>
          </a:xfrm>
          <a:prstGeom prst="rect">
            <a:avLst/>
          </a:prstGeom>
          <a:noFill/>
          <a:ln w="0">
            <a:noFill/>
          </a:ln>
        </p:spPr>
        <p:txBody>
          <a:bodyPr lIns="0" tIns="0" rIns="0" bIns="0" anchor="t">
            <a:noAutofit/>
          </a:bodyPr>
          <a:lstStyle/>
          <a:p>
            <a:r>
              <a:rPr lang="en-US" sz="2450" b="0" strike="noStrike" spc="-1">
                <a:solidFill>
                  <a:srgbClr val="000000"/>
                </a:solidFill>
                <a:latin typeface="Noto Sans"/>
              </a:rPr>
              <a:t>WGS 84 /</a:t>
            </a:r>
            <a:endParaRPr lang="en-US" sz="2450" b="0" strike="noStrike" spc="-1">
              <a:solidFill>
                <a:srgbClr val="000000"/>
              </a:solidFill>
              <a:latin typeface="Arial"/>
            </a:endParaRPr>
          </a:p>
          <a:p>
            <a:r>
              <a:rPr lang="en-US" sz="2450" b="0" strike="noStrike" spc="-1">
                <a:solidFill>
                  <a:srgbClr val="000000"/>
                </a:solidFill>
                <a:latin typeface="Noto Sans"/>
              </a:rPr>
              <a:t>Pseudo-Mercator</a:t>
            </a:r>
            <a:endParaRPr lang="en-US" sz="2450" b="0" strike="noStrike" spc="-1">
              <a:solidFill>
                <a:srgbClr val="000000"/>
              </a:solidFill>
              <a:latin typeface="Arial"/>
            </a:endParaRPr>
          </a:p>
          <a:p>
            <a:endParaRPr lang="en-US" sz="2450" b="0" strike="noStrike" spc="-1">
              <a:solidFill>
                <a:srgbClr val="000000"/>
              </a:solidFill>
              <a:latin typeface="Arial"/>
            </a:endParaRPr>
          </a:p>
          <a:p>
            <a:r>
              <a:rPr lang="en-US" sz="2450" b="0" strike="noStrike" spc="-1">
                <a:solidFill>
                  <a:srgbClr val="000000"/>
                </a:solidFill>
                <a:latin typeface="Noto Sans"/>
              </a:rPr>
              <a:t>Meter</a:t>
            </a:r>
            <a:endParaRPr lang="en-US" sz="2450" b="0" strike="noStrike" spc="-1">
              <a:solidFill>
                <a:srgbClr val="000000"/>
              </a:solidFill>
              <a:latin typeface="Arial"/>
            </a:endParaRPr>
          </a:p>
          <a:p>
            <a:r>
              <a:rPr lang="en-US" sz="2450" b="0" strike="noStrike" spc="-1">
                <a:solidFill>
                  <a:srgbClr val="000000"/>
                </a:solidFill>
                <a:latin typeface="Noto Sans"/>
              </a:rPr>
              <a:t>Viele Webkarten</a:t>
            </a:r>
            <a:endParaRPr lang="en-US" sz="2450" b="0" strike="noStrike" spc="-1">
              <a:solidFill>
                <a:srgbClr val="000000"/>
              </a:solidFill>
              <a:latin typeface="Arial"/>
            </a:endParaRPr>
          </a:p>
        </p:txBody>
      </p:sp>
      <p:sp>
        <p:nvSpPr>
          <p:cNvPr id="407" name="Rechteck 406"/>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08" name="Textfeld 407"/>
          <p:cNvSpPr txBox="1"/>
          <p:nvPr/>
        </p:nvSpPr>
        <p:spPr>
          <a:xfrm>
            <a:off x="838080" y="5623560"/>
            <a:ext cx="10515600" cy="442080"/>
          </a:xfrm>
          <a:prstGeom prst="rect">
            <a:avLst/>
          </a:prstGeom>
          <a:noFill/>
          <a:ln w="0">
            <a:noFill/>
          </a:ln>
        </p:spPr>
        <p:txBody>
          <a:bodyPr lIns="0" tIns="0" rIns="0" bIns="0" anchor="t">
            <a:noAutofit/>
          </a:bodyPr>
          <a:lstStyle/>
          <a:p>
            <a:r>
              <a:rPr lang="en-US" sz="2160" b="1" strike="noStrike" spc="-1">
                <a:solidFill>
                  <a:srgbClr val="004899"/>
                </a:solidFill>
                <a:latin typeface="Noto Sans"/>
              </a:rPr>
              <a:t>Ein EPSG-Code identifiziert ein CRS. Er bewertet nicht seine Eignung.</a:t>
            </a:r>
            <a:endParaRPr lang="en-US" sz="2160" b="0" strike="noStrike" spc="-1">
              <a:solidFill>
                <a:srgbClr val="000000"/>
              </a:solidFill>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Textfeld 408"/>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UTM: Die Zone muss zum Gebiet passen</a:t>
            </a:r>
            <a:endParaRPr lang="en-US" sz="3190" b="0" strike="noStrike" spc="-1">
              <a:solidFill>
                <a:srgbClr val="000000"/>
              </a:solidFill>
              <a:latin typeface="Arial"/>
            </a:endParaRPr>
          </a:p>
        </p:txBody>
      </p:sp>
      <p:sp>
        <p:nvSpPr>
          <p:cNvPr id="410" name="Textfeld 409"/>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03 · REGIONALE KOORDINATEN</a:t>
            </a:r>
            <a:endParaRPr lang="en-US" sz="1130" b="0" strike="noStrike" spc="-1">
              <a:solidFill>
                <a:srgbClr val="000000"/>
              </a:solidFill>
              <a:latin typeface="Arial"/>
            </a:endParaRPr>
          </a:p>
        </p:txBody>
      </p:sp>
      <p:sp>
        <p:nvSpPr>
          <p:cNvPr id="411" name="Textfeld 410"/>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412" name="Textfeld 411"/>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21</a:t>
            </a:r>
            <a:endParaRPr lang="en-US" sz="939" b="0" strike="noStrike" spc="-1">
              <a:solidFill>
                <a:srgbClr val="000000"/>
              </a:solidFill>
              <a:latin typeface="Arial"/>
            </a:endParaRPr>
          </a:p>
        </p:txBody>
      </p:sp>
      <p:sp>
        <p:nvSpPr>
          <p:cNvPr id="413" name="Rechteck 412"/>
          <p:cNvSpPr/>
          <p:nvPr/>
        </p:nvSpPr>
        <p:spPr>
          <a:xfrm>
            <a:off x="1219320" y="2247840"/>
            <a:ext cx="3276720" cy="2057400"/>
          </a:xfrm>
          <a:prstGeom prst="rect">
            <a:avLst/>
          </a:prstGeom>
          <a:solidFill>
            <a:srgbClr val="FFFFFF"/>
          </a:solidFill>
          <a:ln w="16200">
            <a:solidFill>
              <a:srgbClr val="A6D9E2"/>
            </a:solidFill>
            <a:round/>
          </a:ln>
        </p:spPr>
        <p:txBody>
          <a:bodyPr lIns="97920" tIns="52920" rIns="97920" bIns="52920" anchor="ctr" anchorCtr="1">
            <a:noAutofit/>
          </a:bodyPr>
          <a:lstStyle/>
          <a:p>
            <a:endParaRPr lang="en-US" sz="1800" b="0" strike="noStrike" spc="-1">
              <a:solidFill>
                <a:srgbClr val="000000"/>
              </a:solidFill>
              <a:latin typeface="Arial"/>
            </a:endParaRPr>
          </a:p>
        </p:txBody>
      </p:sp>
      <p:sp>
        <p:nvSpPr>
          <p:cNvPr id="414" name="Textfeld 413"/>
          <p:cNvSpPr txBox="1"/>
          <p:nvPr/>
        </p:nvSpPr>
        <p:spPr>
          <a:xfrm>
            <a:off x="1371600" y="2438280"/>
            <a:ext cx="2971800" cy="495360"/>
          </a:xfrm>
          <a:prstGeom prst="rect">
            <a:avLst/>
          </a:prstGeom>
          <a:noFill/>
          <a:ln w="0">
            <a:noFill/>
          </a:ln>
        </p:spPr>
        <p:txBody>
          <a:bodyPr lIns="0" tIns="0" rIns="0" bIns="0" anchor="t">
            <a:noAutofit/>
          </a:bodyPr>
          <a:lstStyle/>
          <a:p>
            <a:pPr algn="ctr"/>
            <a:r>
              <a:rPr lang="en-US" sz="2910" b="1" strike="noStrike" spc="-1">
                <a:solidFill>
                  <a:srgbClr val="004899"/>
                </a:solidFill>
                <a:latin typeface="Noto Sans"/>
              </a:rPr>
              <a:t>Zone 31</a:t>
            </a:r>
            <a:endParaRPr lang="en-US" sz="2910" b="0" strike="noStrike" spc="-1">
              <a:solidFill>
                <a:srgbClr val="000000"/>
              </a:solidFill>
              <a:latin typeface="Arial"/>
            </a:endParaRPr>
          </a:p>
        </p:txBody>
      </p:sp>
      <p:sp>
        <p:nvSpPr>
          <p:cNvPr id="415" name="Rechteck 414"/>
          <p:cNvSpPr/>
          <p:nvPr/>
        </p:nvSpPr>
        <p:spPr>
          <a:xfrm>
            <a:off x="4495680" y="2247840"/>
            <a:ext cx="3276720" cy="2057400"/>
          </a:xfrm>
          <a:prstGeom prst="rect">
            <a:avLst/>
          </a:prstGeom>
          <a:solidFill>
            <a:srgbClr val="EAF5F7"/>
          </a:solidFill>
          <a:ln w="16200">
            <a:solidFill>
              <a:srgbClr val="A6D9E2"/>
            </a:solidFill>
            <a:round/>
          </a:ln>
        </p:spPr>
        <p:txBody>
          <a:bodyPr lIns="97920" tIns="52920" rIns="97920" bIns="52920" anchor="ctr" anchorCtr="1">
            <a:noAutofit/>
          </a:bodyPr>
          <a:lstStyle/>
          <a:p>
            <a:endParaRPr lang="en-US" sz="1800" b="0" strike="noStrike" spc="-1">
              <a:solidFill>
                <a:srgbClr val="000000"/>
              </a:solidFill>
              <a:latin typeface="Arial"/>
            </a:endParaRPr>
          </a:p>
        </p:txBody>
      </p:sp>
      <p:sp>
        <p:nvSpPr>
          <p:cNvPr id="416" name="Textfeld 415"/>
          <p:cNvSpPr txBox="1"/>
          <p:nvPr/>
        </p:nvSpPr>
        <p:spPr>
          <a:xfrm>
            <a:off x="4648320" y="2438280"/>
            <a:ext cx="2971800" cy="495360"/>
          </a:xfrm>
          <a:prstGeom prst="rect">
            <a:avLst/>
          </a:prstGeom>
          <a:noFill/>
          <a:ln w="0">
            <a:noFill/>
          </a:ln>
        </p:spPr>
        <p:txBody>
          <a:bodyPr lIns="0" tIns="0" rIns="0" bIns="0" anchor="t">
            <a:noAutofit/>
          </a:bodyPr>
          <a:lstStyle/>
          <a:p>
            <a:pPr algn="ctr"/>
            <a:r>
              <a:rPr lang="en-US" sz="2910" b="1" strike="noStrike" spc="-1">
                <a:solidFill>
                  <a:srgbClr val="004899"/>
                </a:solidFill>
                <a:latin typeface="Noto Sans"/>
              </a:rPr>
              <a:t>Zone 32</a:t>
            </a:r>
            <a:endParaRPr lang="en-US" sz="2910" b="0" strike="noStrike" spc="-1">
              <a:solidFill>
                <a:srgbClr val="000000"/>
              </a:solidFill>
              <a:latin typeface="Arial"/>
            </a:endParaRPr>
          </a:p>
        </p:txBody>
      </p:sp>
      <p:sp>
        <p:nvSpPr>
          <p:cNvPr id="417" name="Rechteck 416"/>
          <p:cNvSpPr/>
          <p:nvPr/>
        </p:nvSpPr>
        <p:spPr>
          <a:xfrm>
            <a:off x="7772400" y="2247840"/>
            <a:ext cx="3276720" cy="2057400"/>
          </a:xfrm>
          <a:prstGeom prst="rect">
            <a:avLst/>
          </a:prstGeom>
          <a:solidFill>
            <a:srgbClr val="FFFFFF"/>
          </a:solidFill>
          <a:ln w="16200">
            <a:solidFill>
              <a:srgbClr val="A6D9E2"/>
            </a:solidFill>
            <a:round/>
          </a:ln>
        </p:spPr>
        <p:txBody>
          <a:bodyPr lIns="97920" tIns="52920" rIns="97920" bIns="52920" anchor="ctr" anchorCtr="1">
            <a:noAutofit/>
          </a:bodyPr>
          <a:lstStyle/>
          <a:p>
            <a:endParaRPr lang="en-US" sz="1800" b="0" strike="noStrike" spc="-1">
              <a:solidFill>
                <a:srgbClr val="000000"/>
              </a:solidFill>
              <a:latin typeface="Arial"/>
            </a:endParaRPr>
          </a:p>
        </p:txBody>
      </p:sp>
      <p:sp>
        <p:nvSpPr>
          <p:cNvPr id="418" name="Textfeld 417"/>
          <p:cNvSpPr txBox="1"/>
          <p:nvPr/>
        </p:nvSpPr>
        <p:spPr>
          <a:xfrm>
            <a:off x="7925040" y="2438280"/>
            <a:ext cx="2971800" cy="495360"/>
          </a:xfrm>
          <a:prstGeom prst="rect">
            <a:avLst/>
          </a:prstGeom>
          <a:noFill/>
          <a:ln w="0">
            <a:noFill/>
          </a:ln>
        </p:spPr>
        <p:txBody>
          <a:bodyPr lIns="0" tIns="0" rIns="0" bIns="0" anchor="t">
            <a:noAutofit/>
          </a:bodyPr>
          <a:lstStyle/>
          <a:p>
            <a:pPr algn="ctr"/>
            <a:r>
              <a:rPr lang="en-US" sz="2910" b="1" strike="noStrike" spc="-1">
                <a:solidFill>
                  <a:srgbClr val="004899"/>
                </a:solidFill>
                <a:latin typeface="Noto Sans"/>
              </a:rPr>
              <a:t>Zone 33</a:t>
            </a:r>
            <a:endParaRPr lang="en-US" sz="2910" b="0" strike="noStrike" spc="-1">
              <a:solidFill>
                <a:srgbClr val="000000"/>
              </a:solidFill>
              <a:latin typeface="Arial"/>
            </a:endParaRPr>
          </a:p>
        </p:txBody>
      </p:sp>
      <p:sp>
        <p:nvSpPr>
          <p:cNvPr id="419" name="Textfeld 418"/>
          <p:cNvSpPr txBox="1"/>
          <p:nvPr/>
        </p:nvSpPr>
        <p:spPr>
          <a:xfrm>
            <a:off x="685800" y="4457880"/>
            <a:ext cx="1066680" cy="419040"/>
          </a:xfrm>
          <a:prstGeom prst="rect">
            <a:avLst/>
          </a:prstGeom>
          <a:noFill/>
          <a:ln w="0">
            <a:noFill/>
          </a:ln>
        </p:spPr>
        <p:txBody>
          <a:bodyPr lIns="0" tIns="0" rIns="0" bIns="0" anchor="t">
            <a:noAutofit/>
          </a:bodyPr>
          <a:lstStyle/>
          <a:p>
            <a:pPr algn="ctr"/>
            <a:r>
              <a:rPr lang="en-US" sz="2260" b="0" strike="noStrike" spc="-1">
                <a:solidFill>
                  <a:srgbClr val="414141"/>
                </a:solidFill>
                <a:latin typeface="Noto Sans"/>
              </a:rPr>
              <a:t>0° E</a:t>
            </a:r>
            <a:endParaRPr lang="en-US" sz="2260" b="0" strike="noStrike" spc="-1">
              <a:solidFill>
                <a:srgbClr val="000000"/>
              </a:solidFill>
              <a:latin typeface="Arial"/>
            </a:endParaRPr>
          </a:p>
        </p:txBody>
      </p:sp>
      <p:sp>
        <p:nvSpPr>
          <p:cNvPr id="420" name="Textfeld 419"/>
          <p:cNvSpPr txBox="1"/>
          <p:nvPr/>
        </p:nvSpPr>
        <p:spPr>
          <a:xfrm>
            <a:off x="3962520" y="4457880"/>
            <a:ext cx="1066680" cy="419040"/>
          </a:xfrm>
          <a:prstGeom prst="rect">
            <a:avLst/>
          </a:prstGeom>
          <a:noFill/>
          <a:ln w="0">
            <a:noFill/>
          </a:ln>
        </p:spPr>
        <p:txBody>
          <a:bodyPr lIns="0" tIns="0" rIns="0" bIns="0" anchor="t">
            <a:noAutofit/>
          </a:bodyPr>
          <a:lstStyle/>
          <a:p>
            <a:pPr algn="ctr"/>
            <a:r>
              <a:rPr lang="en-US" sz="2260" b="0" strike="noStrike" spc="-1">
                <a:solidFill>
                  <a:srgbClr val="414141"/>
                </a:solidFill>
                <a:latin typeface="Noto Sans"/>
              </a:rPr>
              <a:t>6° E</a:t>
            </a:r>
            <a:endParaRPr lang="en-US" sz="2260" b="0" strike="noStrike" spc="-1">
              <a:solidFill>
                <a:srgbClr val="000000"/>
              </a:solidFill>
              <a:latin typeface="Arial"/>
            </a:endParaRPr>
          </a:p>
        </p:txBody>
      </p:sp>
      <p:sp>
        <p:nvSpPr>
          <p:cNvPr id="421" name="Textfeld 420"/>
          <p:cNvSpPr txBox="1"/>
          <p:nvPr/>
        </p:nvSpPr>
        <p:spPr>
          <a:xfrm>
            <a:off x="7239240" y="4457880"/>
            <a:ext cx="1066680" cy="419040"/>
          </a:xfrm>
          <a:prstGeom prst="rect">
            <a:avLst/>
          </a:prstGeom>
          <a:noFill/>
          <a:ln w="0">
            <a:noFill/>
          </a:ln>
        </p:spPr>
        <p:txBody>
          <a:bodyPr lIns="0" tIns="0" rIns="0" bIns="0" anchor="t">
            <a:noAutofit/>
          </a:bodyPr>
          <a:lstStyle/>
          <a:p>
            <a:pPr algn="ctr"/>
            <a:r>
              <a:rPr lang="en-US" sz="2260" b="0" strike="noStrike" spc="-1">
                <a:solidFill>
                  <a:srgbClr val="414141"/>
                </a:solidFill>
                <a:latin typeface="Noto Sans"/>
              </a:rPr>
              <a:t>12° E</a:t>
            </a:r>
            <a:endParaRPr lang="en-US" sz="2260" b="0" strike="noStrike" spc="-1">
              <a:solidFill>
                <a:srgbClr val="000000"/>
              </a:solidFill>
              <a:latin typeface="Arial"/>
            </a:endParaRPr>
          </a:p>
        </p:txBody>
      </p:sp>
      <p:sp>
        <p:nvSpPr>
          <p:cNvPr id="422" name="Textfeld 421"/>
          <p:cNvSpPr txBox="1"/>
          <p:nvPr/>
        </p:nvSpPr>
        <p:spPr>
          <a:xfrm>
            <a:off x="10515600" y="4457880"/>
            <a:ext cx="1066680" cy="419040"/>
          </a:xfrm>
          <a:prstGeom prst="rect">
            <a:avLst/>
          </a:prstGeom>
          <a:noFill/>
          <a:ln w="0">
            <a:noFill/>
          </a:ln>
        </p:spPr>
        <p:txBody>
          <a:bodyPr lIns="0" tIns="0" rIns="0" bIns="0" anchor="t">
            <a:noAutofit/>
          </a:bodyPr>
          <a:lstStyle/>
          <a:p>
            <a:pPr algn="ctr"/>
            <a:r>
              <a:rPr lang="en-US" sz="2260" b="0" strike="noStrike" spc="-1">
                <a:solidFill>
                  <a:srgbClr val="414141"/>
                </a:solidFill>
                <a:latin typeface="Noto Sans"/>
              </a:rPr>
              <a:t>18° E</a:t>
            </a:r>
            <a:endParaRPr lang="en-US" sz="2260" b="0" strike="noStrike" spc="-1">
              <a:solidFill>
                <a:srgbClr val="000000"/>
              </a:solidFill>
              <a:latin typeface="Arial"/>
            </a:endParaRPr>
          </a:p>
        </p:txBody>
      </p:sp>
      <p:sp>
        <p:nvSpPr>
          <p:cNvPr id="423" name="Ellipse 422"/>
          <p:cNvSpPr/>
          <p:nvPr/>
        </p:nvSpPr>
        <p:spPr>
          <a:xfrm>
            <a:off x="5909400" y="3429000"/>
            <a:ext cx="198000" cy="198000"/>
          </a:xfrm>
          <a:prstGeom prst="ellipse">
            <a:avLst/>
          </a:prstGeom>
          <a:solidFill>
            <a:srgbClr val="A32123"/>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24" name="Textfeld 423"/>
          <p:cNvSpPr txBox="1"/>
          <p:nvPr/>
        </p:nvSpPr>
        <p:spPr>
          <a:xfrm>
            <a:off x="4648320" y="3718440"/>
            <a:ext cx="2971800" cy="380880"/>
          </a:xfrm>
          <a:prstGeom prst="rect">
            <a:avLst/>
          </a:prstGeom>
          <a:noFill/>
          <a:ln w="0">
            <a:noFill/>
          </a:ln>
        </p:spPr>
        <p:txBody>
          <a:bodyPr lIns="0" tIns="0" rIns="0" bIns="0" anchor="t">
            <a:noAutofit/>
          </a:bodyPr>
          <a:lstStyle/>
          <a:p>
            <a:r>
              <a:rPr lang="en-US" sz="2160" b="1" strike="noStrike" spc="-1">
                <a:solidFill>
                  <a:srgbClr val="A32123"/>
                </a:solidFill>
                <a:latin typeface="Noto Sans"/>
              </a:rPr>
              <a:t>Marburg · 8,77° E</a:t>
            </a:r>
            <a:endParaRPr lang="en-US" sz="2160" b="0" strike="noStrike" spc="-1">
              <a:solidFill>
                <a:srgbClr val="000000"/>
              </a:solidFill>
              <a:latin typeface="Arial"/>
            </a:endParaRPr>
          </a:p>
        </p:txBody>
      </p:sp>
      <p:sp>
        <p:nvSpPr>
          <p:cNvPr id="425" name="Textfeld 424"/>
          <p:cNvSpPr txBox="1"/>
          <p:nvPr/>
        </p:nvSpPr>
        <p:spPr>
          <a:xfrm>
            <a:off x="838080" y="5105520"/>
            <a:ext cx="10515600" cy="304920"/>
          </a:xfrm>
          <a:prstGeom prst="rect">
            <a:avLst/>
          </a:prstGeom>
          <a:noFill/>
          <a:ln w="0">
            <a:noFill/>
          </a:ln>
        </p:spPr>
        <p:txBody>
          <a:bodyPr lIns="0" tIns="0" rIns="0" bIns="0" anchor="t">
            <a:noAutofit/>
          </a:bodyPr>
          <a:lstStyle/>
          <a:p>
            <a:r>
              <a:rPr lang="en-US" sz="1879" b="0" strike="noStrike" spc="-1">
                <a:solidFill>
                  <a:srgbClr val="414141"/>
                </a:solidFill>
                <a:latin typeface="Noto Sans"/>
              </a:rPr>
              <a:t>Längengradintervalle · schematisch · Nordhalbkugel</a:t>
            </a:r>
            <a:endParaRPr lang="en-US" sz="1879" b="0" strike="noStrike" spc="-1">
              <a:solidFill>
                <a:srgbClr val="000000"/>
              </a:solidFill>
              <a:latin typeface="Arial"/>
            </a:endParaRPr>
          </a:p>
        </p:txBody>
      </p:sp>
      <p:sp>
        <p:nvSpPr>
          <p:cNvPr id="426" name="Rechteck 425"/>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27" name="Textfeld 426"/>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Vollständig: ETRS89 / UTM Zone 32N · EPSG:25832</a:t>
            </a:r>
            <a:endParaRPr lang="en-US" sz="2350" b="0" strike="noStrike" spc="-1">
              <a:solidFill>
                <a:srgbClr val="000000"/>
              </a:solidFill>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Textfeld 427"/>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Welches CRS würden Sie auswählen?</a:t>
            </a:r>
            <a:endParaRPr lang="en-US" sz="3190" b="0" strike="noStrike" spc="-1">
              <a:solidFill>
                <a:srgbClr val="000000"/>
              </a:solidFill>
              <a:latin typeface="Arial"/>
            </a:endParaRPr>
          </a:p>
        </p:txBody>
      </p:sp>
      <p:sp>
        <p:nvSpPr>
          <p:cNvPr id="429" name="Textfeld 428"/>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ÜBUNG · ENTSCHEIDEN UND BEGRÜNDEN</a:t>
            </a:r>
            <a:endParaRPr lang="en-US" sz="1130" b="0" strike="noStrike" spc="-1">
              <a:solidFill>
                <a:srgbClr val="000000"/>
              </a:solidFill>
              <a:latin typeface="Arial"/>
            </a:endParaRPr>
          </a:p>
        </p:txBody>
      </p:sp>
      <p:sp>
        <p:nvSpPr>
          <p:cNvPr id="430" name="Textfeld 429"/>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431" name="Textfeld 430"/>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22</a:t>
            </a:r>
            <a:endParaRPr lang="en-US" sz="939" b="0" strike="noStrike" spc="-1">
              <a:solidFill>
                <a:srgbClr val="000000"/>
              </a:solidFill>
              <a:latin typeface="Arial"/>
            </a:endParaRPr>
          </a:p>
        </p:txBody>
      </p:sp>
      <p:sp>
        <p:nvSpPr>
          <p:cNvPr id="432" name="Ellipse 431"/>
          <p:cNvSpPr/>
          <p:nvPr/>
        </p:nvSpPr>
        <p:spPr>
          <a:xfrm>
            <a:off x="647640" y="1752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33" name="Textfeld 432"/>
          <p:cNvSpPr txBox="1"/>
          <p:nvPr/>
        </p:nvSpPr>
        <p:spPr>
          <a:xfrm>
            <a:off x="647640" y="1813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A</a:t>
            </a:r>
            <a:endParaRPr lang="en-US" sz="2450" b="0" strike="noStrike" spc="-1">
              <a:solidFill>
                <a:srgbClr val="000000"/>
              </a:solidFill>
              <a:latin typeface="Arial"/>
            </a:endParaRPr>
          </a:p>
        </p:txBody>
      </p:sp>
      <p:sp>
        <p:nvSpPr>
          <p:cNvPr id="434" name="Textfeld 433"/>
          <p:cNvSpPr txBox="1"/>
          <p:nvPr/>
        </p:nvSpPr>
        <p:spPr>
          <a:xfrm>
            <a:off x="1371600" y="1752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Artenbeobachtungen weltweit speichern</a:t>
            </a:r>
            <a:endParaRPr lang="en-US" sz="2720" b="0" strike="noStrike" spc="-1">
              <a:solidFill>
                <a:srgbClr val="000000"/>
              </a:solidFill>
              <a:latin typeface="Arial"/>
            </a:endParaRPr>
          </a:p>
        </p:txBody>
      </p:sp>
      <p:sp>
        <p:nvSpPr>
          <p:cNvPr id="435" name="Textfeld 434"/>
          <p:cNvSpPr txBox="1"/>
          <p:nvPr/>
        </p:nvSpPr>
        <p:spPr>
          <a:xfrm>
            <a:off x="1371600" y="2225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Die Positionen liegen als Länge und Breite vor.</a:t>
            </a:r>
            <a:endParaRPr lang="en-US" sz="2260" b="0" strike="noStrike" spc="-1">
              <a:solidFill>
                <a:srgbClr val="000000"/>
              </a:solidFill>
              <a:latin typeface="Arial"/>
            </a:endParaRPr>
          </a:p>
        </p:txBody>
      </p:sp>
      <p:sp>
        <p:nvSpPr>
          <p:cNvPr id="436" name="Ellipse 435"/>
          <p:cNvSpPr/>
          <p:nvPr/>
        </p:nvSpPr>
        <p:spPr>
          <a:xfrm>
            <a:off x="647640" y="2895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37" name="Textfeld 436"/>
          <p:cNvSpPr txBox="1"/>
          <p:nvPr/>
        </p:nvSpPr>
        <p:spPr>
          <a:xfrm>
            <a:off x="647640" y="2956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B</a:t>
            </a:r>
            <a:endParaRPr lang="en-US" sz="2450" b="0" strike="noStrike" spc="-1">
              <a:solidFill>
                <a:srgbClr val="000000"/>
              </a:solidFill>
              <a:latin typeface="Arial"/>
            </a:endParaRPr>
          </a:p>
        </p:txBody>
      </p:sp>
      <p:sp>
        <p:nvSpPr>
          <p:cNvPr id="438" name="Textfeld 437"/>
          <p:cNvSpPr txBox="1"/>
          <p:nvPr/>
        </p:nvSpPr>
        <p:spPr>
          <a:xfrm>
            <a:off x="1371600" y="2895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Entfernungen rund um Marburg berechnen</a:t>
            </a:r>
            <a:endParaRPr lang="en-US" sz="2720" b="0" strike="noStrike" spc="-1">
              <a:solidFill>
                <a:srgbClr val="000000"/>
              </a:solidFill>
              <a:latin typeface="Arial"/>
            </a:endParaRPr>
          </a:p>
        </p:txBody>
      </p:sp>
      <p:sp>
        <p:nvSpPr>
          <p:cNvPr id="439" name="Textfeld 438"/>
          <p:cNvSpPr txBox="1"/>
          <p:nvPr/>
        </p:nvSpPr>
        <p:spPr>
          <a:xfrm>
            <a:off x="1371600" y="3368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Sie benötigen eine geeignete Ebene mit Meterkoordinaten.</a:t>
            </a:r>
            <a:endParaRPr lang="en-US" sz="2260" b="0" strike="noStrike" spc="-1">
              <a:solidFill>
                <a:srgbClr val="000000"/>
              </a:solidFill>
              <a:latin typeface="Arial"/>
            </a:endParaRPr>
          </a:p>
        </p:txBody>
      </p:sp>
      <p:sp>
        <p:nvSpPr>
          <p:cNvPr id="440" name="Ellipse 439"/>
          <p:cNvSpPr/>
          <p:nvPr/>
        </p:nvSpPr>
        <p:spPr>
          <a:xfrm>
            <a:off x="647640" y="4038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41" name="Textfeld 440"/>
          <p:cNvSpPr txBox="1"/>
          <p:nvPr/>
        </p:nvSpPr>
        <p:spPr>
          <a:xfrm>
            <a:off x="647640" y="4099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C</a:t>
            </a:r>
            <a:endParaRPr lang="en-US" sz="2450" b="0" strike="noStrike" spc="-1">
              <a:solidFill>
                <a:srgbClr val="000000"/>
              </a:solidFill>
              <a:latin typeface="Arial"/>
            </a:endParaRPr>
          </a:p>
        </p:txBody>
      </p:sp>
      <p:sp>
        <p:nvSpPr>
          <p:cNvPr id="442" name="Textfeld 441"/>
          <p:cNvSpPr txBox="1"/>
          <p:nvPr/>
        </p:nvSpPr>
        <p:spPr>
          <a:xfrm>
            <a:off x="1371600" y="4038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Daten mit üblichen Webkartenkacheln anzeigen</a:t>
            </a:r>
            <a:endParaRPr lang="en-US" sz="2720" b="0" strike="noStrike" spc="-1">
              <a:solidFill>
                <a:srgbClr val="000000"/>
              </a:solidFill>
              <a:latin typeface="Arial"/>
            </a:endParaRPr>
          </a:p>
        </p:txBody>
      </p:sp>
      <p:sp>
        <p:nvSpPr>
          <p:cNvPr id="443" name="Textfeld 442"/>
          <p:cNvSpPr txBox="1"/>
          <p:nvPr/>
        </p:nvSpPr>
        <p:spPr>
          <a:xfrm>
            <a:off x="1371600" y="4511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Es geht um die Darstellung im Browser.</a:t>
            </a:r>
            <a:endParaRPr lang="en-US" sz="2260" b="0" strike="noStrike" spc="-1">
              <a:solidFill>
                <a:srgbClr val="000000"/>
              </a:solidFill>
              <a:latin typeface="Arial"/>
            </a:endParaRPr>
          </a:p>
        </p:txBody>
      </p:sp>
      <p:sp>
        <p:nvSpPr>
          <p:cNvPr id="444" name="Rechteck 443"/>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45" name="Textfeld 444"/>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Zur Wahl: EPSG:4326   /   EPSG:25832   /   EPSG:3857</a:t>
            </a:r>
            <a:endParaRPr lang="en-US" sz="2350" b="0" strike="noStrike" spc="-1">
              <a:solidFill>
                <a:srgbClr val="000000"/>
              </a:solidFill>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 name="Textfeld 445"/>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Gebiet, Einheit und Zweck zusammen prüfen</a:t>
            </a:r>
            <a:endParaRPr lang="en-US" sz="3190" b="0" strike="noStrike" spc="-1">
              <a:solidFill>
                <a:srgbClr val="000000"/>
              </a:solidFill>
              <a:latin typeface="Arial"/>
            </a:endParaRPr>
          </a:p>
        </p:txBody>
      </p:sp>
      <p:sp>
        <p:nvSpPr>
          <p:cNvPr id="447" name="Textfeld 446"/>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AUFLÖSUNG · CRS AUSWÄHLEN</a:t>
            </a:r>
            <a:endParaRPr lang="en-US" sz="1130" b="0" strike="noStrike" spc="-1">
              <a:solidFill>
                <a:srgbClr val="000000"/>
              </a:solidFill>
              <a:latin typeface="Arial"/>
            </a:endParaRPr>
          </a:p>
        </p:txBody>
      </p:sp>
      <p:sp>
        <p:nvSpPr>
          <p:cNvPr id="448" name="Textfeld 447"/>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449" name="Textfeld 448"/>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23</a:t>
            </a:r>
            <a:endParaRPr lang="en-US" sz="939" b="0" strike="noStrike" spc="-1">
              <a:solidFill>
                <a:srgbClr val="000000"/>
              </a:solidFill>
              <a:latin typeface="Arial"/>
            </a:endParaRPr>
          </a:p>
        </p:txBody>
      </p:sp>
      <p:sp>
        <p:nvSpPr>
          <p:cNvPr id="450" name="Rechteck 449"/>
          <p:cNvSpPr/>
          <p:nvPr/>
        </p:nvSpPr>
        <p:spPr>
          <a:xfrm>
            <a:off x="647640" y="1790640"/>
            <a:ext cx="2720520" cy="80028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51" name="Textfeld 450"/>
          <p:cNvSpPr txBox="1"/>
          <p:nvPr/>
        </p:nvSpPr>
        <p:spPr>
          <a:xfrm>
            <a:off x="784800" y="1920240"/>
            <a:ext cx="2468880" cy="670680"/>
          </a:xfrm>
          <a:prstGeom prst="rect">
            <a:avLst/>
          </a:prstGeom>
          <a:noFill/>
          <a:ln w="0">
            <a:noFill/>
          </a:ln>
        </p:spPr>
        <p:txBody>
          <a:bodyPr lIns="0" tIns="0" rIns="0" bIns="0" anchor="t">
            <a:noAutofit/>
          </a:bodyPr>
          <a:lstStyle/>
          <a:p>
            <a:r>
              <a:rPr lang="en-US" sz="2260" b="1" strike="noStrike" spc="-1">
                <a:solidFill>
                  <a:srgbClr val="FFFFFF"/>
                </a:solidFill>
                <a:latin typeface="Noto Sans"/>
              </a:rPr>
              <a:t>Zweck</a:t>
            </a:r>
            <a:endParaRPr lang="en-US" sz="2260" b="0" strike="noStrike" spc="-1">
              <a:solidFill>
                <a:srgbClr val="000000"/>
              </a:solidFill>
              <a:latin typeface="Arial"/>
            </a:endParaRPr>
          </a:p>
        </p:txBody>
      </p:sp>
      <p:sp>
        <p:nvSpPr>
          <p:cNvPr id="452" name="Rechteck 451"/>
          <p:cNvSpPr/>
          <p:nvPr/>
        </p:nvSpPr>
        <p:spPr>
          <a:xfrm>
            <a:off x="3390840" y="1790640"/>
            <a:ext cx="2949120" cy="80028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53" name="Textfeld 452"/>
          <p:cNvSpPr txBox="1"/>
          <p:nvPr/>
        </p:nvSpPr>
        <p:spPr>
          <a:xfrm>
            <a:off x="3528000" y="1920240"/>
            <a:ext cx="2697480" cy="670680"/>
          </a:xfrm>
          <a:prstGeom prst="rect">
            <a:avLst/>
          </a:prstGeom>
          <a:noFill/>
          <a:ln w="0">
            <a:noFill/>
          </a:ln>
        </p:spPr>
        <p:txBody>
          <a:bodyPr lIns="0" tIns="0" rIns="0" bIns="0" anchor="t">
            <a:noAutofit/>
          </a:bodyPr>
          <a:lstStyle/>
          <a:p>
            <a:r>
              <a:rPr lang="en-US" sz="2260" b="1" strike="noStrike" spc="-1">
                <a:solidFill>
                  <a:srgbClr val="FFFFFF"/>
                </a:solidFill>
                <a:latin typeface="Noto Sans"/>
              </a:rPr>
              <a:t>CRS</a:t>
            </a:r>
            <a:endParaRPr lang="en-US" sz="2260" b="0" strike="noStrike" spc="-1">
              <a:solidFill>
                <a:srgbClr val="000000"/>
              </a:solidFill>
              <a:latin typeface="Arial"/>
            </a:endParaRPr>
          </a:p>
        </p:txBody>
      </p:sp>
      <p:sp>
        <p:nvSpPr>
          <p:cNvPr id="454" name="Rechteck 453"/>
          <p:cNvSpPr/>
          <p:nvPr/>
        </p:nvSpPr>
        <p:spPr>
          <a:xfrm>
            <a:off x="6362640" y="1790640"/>
            <a:ext cx="5158800" cy="800280"/>
          </a:xfrm>
          <a:prstGeom prst="rect">
            <a:avLst/>
          </a:prstGeom>
          <a:solidFill>
            <a:srgbClr val="000000"/>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55" name="Textfeld 454"/>
          <p:cNvSpPr txBox="1"/>
          <p:nvPr/>
        </p:nvSpPr>
        <p:spPr>
          <a:xfrm>
            <a:off x="6499800" y="1920240"/>
            <a:ext cx="4907160" cy="670680"/>
          </a:xfrm>
          <a:prstGeom prst="rect">
            <a:avLst/>
          </a:prstGeom>
          <a:noFill/>
          <a:ln w="0">
            <a:noFill/>
          </a:ln>
        </p:spPr>
        <p:txBody>
          <a:bodyPr lIns="0" tIns="0" rIns="0" bIns="0" anchor="t">
            <a:noAutofit/>
          </a:bodyPr>
          <a:lstStyle/>
          <a:p>
            <a:r>
              <a:rPr lang="en-US" sz="2260" b="1" strike="noStrike" spc="-1">
                <a:solidFill>
                  <a:srgbClr val="FFFFFF"/>
                </a:solidFill>
                <a:latin typeface="Noto Sans"/>
              </a:rPr>
              <a:t>Begründung</a:t>
            </a:r>
            <a:endParaRPr lang="en-US" sz="2260" b="0" strike="noStrike" spc="-1">
              <a:solidFill>
                <a:srgbClr val="000000"/>
              </a:solidFill>
              <a:latin typeface="Arial"/>
            </a:endParaRPr>
          </a:p>
        </p:txBody>
      </p:sp>
      <p:sp>
        <p:nvSpPr>
          <p:cNvPr id="456" name="Rechteck 455"/>
          <p:cNvSpPr/>
          <p:nvPr/>
        </p:nvSpPr>
        <p:spPr>
          <a:xfrm>
            <a:off x="647640" y="2613600"/>
            <a:ext cx="2720520" cy="800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57" name="Textfeld 456"/>
          <p:cNvSpPr txBox="1"/>
          <p:nvPr/>
        </p:nvSpPr>
        <p:spPr>
          <a:xfrm>
            <a:off x="784800" y="2743200"/>
            <a:ext cx="246888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A · Speichern</a:t>
            </a:r>
            <a:endParaRPr lang="en-US" sz="2260" b="0" strike="noStrike" spc="-1">
              <a:solidFill>
                <a:srgbClr val="000000"/>
              </a:solidFill>
              <a:latin typeface="Arial"/>
            </a:endParaRPr>
          </a:p>
        </p:txBody>
      </p:sp>
      <p:sp>
        <p:nvSpPr>
          <p:cNvPr id="458" name="Rechteck 457"/>
          <p:cNvSpPr/>
          <p:nvPr/>
        </p:nvSpPr>
        <p:spPr>
          <a:xfrm>
            <a:off x="3390840" y="2613600"/>
            <a:ext cx="2949120" cy="800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59" name="Textfeld 458"/>
          <p:cNvSpPr txBox="1"/>
          <p:nvPr/>
        </p:nvSpPr>
        <p:spPr>
          <a:xfrm>
            <a:off x="3528000" y="2743200"/>
            <a:ext cx="269748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EPSG:4326</a:t>
            </a:r>
            <a:endParaRPr lang="en-US" sz="2260" b="0" strike="noStrike" spc="-1">
              <a:solidFill>
                <a:srgbClr val="000000"/>
              </a:solidFill>
              <a:latin typeface="Arial"/>
            </a:endParaRPr>
          </a:p>
        </p:txBody>
      </p:sp>
      <p:sp>
        <p:nvSpPr>
          <p:cNvPr id="460" name="Rechteck 459"/>
          <p:cNvSpPr/>
          <p:nvPr/>
        </p:nvSpPr>
        <p:spPr>
          <a:xfrm>
            <a:off x="6362640" y="2613600"/>
            <a:ext cx="5158800" cy="800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61" name="Textfeld 460"/>
          <p:cNvSpPr txBox="1"/>
          <p:nvPr/>
        </p:nvSpPr>
        <p:spPr>
          <a:xfrm>
            <a:off x="6499800" y="2743200"/>
            <a:ext cx="490716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Weltweite Winkelkoordinaten</a:t>
            </a:r>
            <a:endParaRPr lang="en-US" sz="2260" b="0" strike="noStrike" spc="-1">
              <a:solidFill>
                <a:srgbClr val="000000"/>
              </a:solidFill>
              <a:latin typeface="Arial"/>
            </a:endParaRPr>
          </a:p>
        </p:txBody>
      </p:sp>
      <p:sp>
        <p:nvSpPr>
          <p:cNvPr id="462" name="Rechteck 461"/>
          <p:cNvSpPr/>
          <p:nvPr/>
        </p:nvSpPr>
        <p:spPr>
          <a:xfrm>
            <a:off x="647640" y="3436560"/>
            <a:ext cx="2720520" cy="8002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63" name="Textfeld 462"/>
          <p:cNvSpPr txBox="1"/>
          <p:nvPr/>
        </p:nvSpPr>
        <p:spPr>
          <a:xfrm>
            <a:off x="784800" y="3566160"/>
            <a:ext cx="246888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B · Messen</a:t>
            </a:r>
            <a:endParaRPr lang="en-US" sz="2260" b="0" strike="noStrike" spc="-1">
              <a:solidFill>
                <a:srgbClr val="000000"/>
              </a:solidFill>
              <a:latin typeface="Arial"/>
            </a:endParaRPr>
          </a:p>
        </p:txBody>
      </p:sp>
      <p:sp>
        <p:nvSpPr>
          <p:cNvPr id="464" name="Rechteck 463"/>
          <p:cNvSpPr/>
          <p:nvPr/>
        </p:nvSpPr>
        <p:spPr>
          <a:xfrm>
            <a:off x="3390840" y="3436560"/>
            <a:ext cx="2949120" cy="8002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65" name="Textfeld 464"/>
          <p:cNvSpPr txBox="1"/>
          <p:nvPr/>
        </p:nvSpPr>
        <p:spPr>
          <a:xfrm>
            <a:off x="3528000" y="3566160"/>
            <a:ext cx="269748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EPSG:25832</a:t>
            </a:r>
            <a:endParaRPr lang="en-US" sz="2260" b="0" strike="noStrike" spc="-1">
              <a:solidFill>
                <a:srgbClr val="000000"/>
              </a:solidFill>
              <a:latin typeface="Arial"/>
            </a:endParaRPr>
          </a:p>
        </p:txBody>
      </p:sp>
      <p:sp>
        <p:nvSpPr>
          <p:cNvPr id="466" name="Rechteck 465"/>
          <p:cNvSpPr/>
          <p:nvPr/>
        </p:nvSpPr>
        <p:spPr>
          <a:xfrm>
            <a:off x="6362640" y="3436560"/>
            <a:ext cx="5158800" cy="80028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67" name="Textfeld 466"/>
          <p:cNvSpPr txBox="1"/>
          <p:nvPr/>
        </p:nvSpPr>
        <p:spPr>
          <a:xfrm>
            <a:off x="6499800" y="3566160"/>
            <a:ext cx="490716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Passende Zone, Meter</a:t>
            </a:r>
            <a:endParaRPr lang="en-US" sz="2260" b="0" strike="noStrike" spc="-1">
              <a:solidFill>
                <a:srgbClr val="000000"/>
              </a:solidFill>
              <a:latin typeface="Arial"/>
            </a:endParaRPr>
          </a:p>
        </p:txBody>
      </p:sp>
      <p:sp>
        <p:nvSpPr>
          <p:cNvPr id="468" name="Rechteck 467"/>
          <p:cNvSpPr/>
          <p:nvPr/>
        </p:nvSpPr>
        <p:spPr>
          <a:xfrm>
            <a:off x="647640" y="4259520"/>
            <a:ext cx="2720520" cy="800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69" name="Textfeld 468"/>
          <p:cNvSpPr txBox="1"/>
          <p:nvPr/>
        </p:nvSpPr>
        <p:spPr>
          <a:xfrm>
            <a:off x="784800" y="4389120"/>
            <a:ext cx="246888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C · Webkarte</a:t>
            </a:r>
            <a:endParaRPr lang="en-US" sz="2260" b="0" strike="noStrike" spc="-1">
              <a:solidFill>
                <a:srgbClr val="000000"/>
              </a:solidFill>
              <a:latin typeface="Arial"/>
            </a:endParaRPr>
          </a:p>
        </p:txBody>
      </p:sp>
      <p:sp>
        <p:nvSpPr>
          <p:cNvPr id="470" name="Rechteck 469"/>
          <p:cNvSpPr/>
          <p:nvPr/>
        </p:nvSpPr>
        <p:spPr>
          <a:xfrm>
            <a:off x="3390840" y="4259520"/>
            <a:ext cx="2949120" cy="800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71" name="Textfeld 470"/>
          <p:cNvSpPr txBox="1"/>
          <p:nvPr/>
        </p:nvSpPr>
        <p:spPr>
          <a:xfrm>
            <a:off x="3528000" y="4389120"/>
            <a:ext cx="269748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EPSG:3857</a:t>
            </a:r>
            <a:endParaRPr lang="en-US" sz="2260" b="0" strike="noStrike" spc="-1">
              <a:solidFill>
                <a:srgbClr val="000000"/>
              </a:solidFill>
              <a:latin typeface="Arial"/>
            </a:endParaRPr>
          </a:p>
        </p:txBody>
      </p:sp>
      <p:sp>
        <p:nvSpPr>
          <p:cNvPr id="472" name="Rechteck 471"/>
          <p:cNvSpPr/>
          <p:nvPr/>
        </p:nvSpPr>
        <p:spPr>
          <a:xfrm>
            <a:off x="6362640" y="4259520"/>
            <a:ext cx="5158800" cy="80028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73" name="Textfeld 472"/>
          <p:cNvSpPr txBox="1"/>
          <p:nvPr/>
        </p:nvSpPr>
        <p:spPr>
          <a:xfrm>
            <a:off x="6499800" y="4389120"/>
            <a:ext cx="4907160" cy="670680"/>
          </a:xfrm>
          <a:prstGeom prst="rect">
            <a:avLst/>
          </a:prstGeom>
          <a:noFill/>
          <a:ln w="0">
            <a:noFill/>
          </a:ln>
        </p:spPr>
        <p:txBody>
          <a:bodyPr lIns="0" tIns="0" rIns="0" bIns="0" anchor="t">
            <a:noAutofit/>
          </a:bodyPr>
          <a:lstStyle/>
          <a:p>
            <a:r>
              <a:rPr lang="en-US" sz="2260" b="0" strike="noStrike" spc="-1">
                <a:solidFill>
                  <a:srgbClr val="000000"/>
                </a:solidFill>
                <a:latin typeface="Noto Sans"/>
              </a:rPr>
              <a:t>Passend zu den Kartenkacheln</a:t>
            </a:r>
            <a:endParaRPr lang="en-US" sz="2260" b="0" strike="noStrike" spc="-1">
              <a:solidFill>
                <a:srgbClr val="000000"/>
              </a:solidFill>
              <a:latin typeface="Arial"/>
            </a:endParaRPr>
          </a:p>
        </p:txBody>
      </p:sp>
      <p:sp>
        <p:nvSpPr>
          <p:cNvPr id="474" name="Textfeld 473"/>
          <p:cNvSpPr txBox="1"/>
          <p:nvPr/>
        </p:nvSpPr>
        <p:spPr>
          <a:xfrm>
            <a:off x="838080" y="5257800"/>
            <a:ext cx="10591920" cy="723960"/>
          </a:xfrm>
          <a:prstGeom prst="rect">
            <a:avLst/>
          </a:prstGeom>
          <a:noFill/>
          <a:ln w="0">
            <a:noFill/>
          </a:ln>
        </p:spPr>
        <p:txBody>
          <a:bodyPr lIns="0" tIns="0" rIns="0" bIns="0" anchor="t">
            <a:noAutofit/>
          </a:bodyPr>
          <a:lstStyle/>
          <a:p>
            <a:r>
              <a:rPr lang="en-US" sz="2350" b="1" strike="noStrike" spc="-1">
                <a:solidFill>
                  <a:srgbClr val="004899"/>
                </a:solidFill>
                <a:latin typeface="Noto Sans"/>
              </a:rPr>
              <a:t>Webkarte und ausgegebene Positionskoordinaten</a:t>
            </a:r>
            <a:endParaRPr lang="en-US" sz="2350" b="0" strike="noStrike" spc="-1">
              <a:solidFill>
                <a:srgbClr val="000000"/>
              </a:solidFill>
              <a:latin typeface="Arial"/>
            </a:endParaRPr>
          </a:p>
          <a:p>
            <a:r>
              <a:rPr lang="en-US" sz="2350" b="1" strike="noStrike" spc="-1">
                <a:solidFill>
                  <a:srgbClr val="004899"/>
                </a:solidFill>
                <a:latin typeface="Noto Sans"/>
              </a:rPr>
              <a:t>können unterschiedliche CRS verwenden.</a:t>
            </a:r>
            <a:endParaRPr lang="en-US" sz="2350" b="0" strike="noStrike" spc="-1">
              <a:solidFill>
                <a:srgbClr val="000000"/>
              </a:solidFill>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 name="Textfeld 47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Zuweisen und Transformieren unterscheiden</a:t>
            </a:r>
            <a:endParaRPr lang="en-US" sz="3190" b="0" strike="noStrike" spc="-1">
              <a:solidFill>
                <a:srgbClr val="000000"/>
              </a:solidFill>
              <a:latin typeface="Arial"/>
            </a:endParaRPr>
          </a:p>
        </p:txBody>
      </p:sp>
      <p:sp>
        <p:nvSpPr>
          <p:cNvPr id="476" name="Textfeld 47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03 · TYPISCHE FEHLER VERMEIDEN</a:t>
            </a:r>
            <a:endParaRPr lang="en-US" sz="1130" b="0" strike="noStrike" spc="-1">
              <a:solidFill>
                <a:srgbClr val="000000"/>
              </a:solidFill>
              <a:latin typeface="Arial"/>
            </a:endParaRPr>
          </a:p>
        </p:txBody>
      </p:sp>
      <p:sp>
        <p:nvSpPr>
          <p:cNvPr id="477" name="Textfeld 47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478" name="Textfeld 47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24</a:t>
            </a:r>
            <a:endParaRPr lang="en-US" sz="939" b="0" strike="noStrike" spc="-1">
              <a:solidFill>
                <a:srgbClr val="000000"/>
              </a:solidFill>
              <a:latin typeface="Arial"/>
            </a:endParaRPr>
          </a:p>
        </p:txBody>
      </p:sp>
      <p:sp>
        <p:nvSpPr>
          <p:cNvPr id="479" name="Rechteck 478"/>
          <p:cNvSpPr/>
          <p:nvPr/>
        </p:nvSpPr>
        <p:spPr>
          <a:xfrm>
            <a:off x="647640" y="1790640"/>
            <a:ext cx="6324840" cy="156204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80" name="Rechteck 479"/>
          <p:cNvSpPr/>
          <p:nvPr/>
        </p:nvSpPr>
        <p:spPr>
          <a:xfrm>
            <a:off x="647640" y="1790640"/>
            <a:ext cx="53280" cy="156204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81" name="Textfeld 480"/>
          <p:cNvSpPr txBox="1"/>
          <p:nvPr/>
        </p:nvSpPr>
        <p:spPr>
          <a:xfrm>
            <a:off x="853560" y="1973520"/>
            <a:ext cx="591300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CRS zuweisen</a:t>
            </a:r>
            <a:endParaRPr lang="en-US" sz="2540" b="0" strike="noStrike" spc="-1">
              <a:solidFill>
                <a:srgbClr val="000000"/>
              </a:solidFill>
              <a:latin typeface="Arial"/>
            </a:endParaRPr>
          </a:p>
        </p:txBody>
      </p:sp>
      <p:sp>
        <p:nvSpPr>
          <p:cNvPr id="482" name="Textfeld 481"/>
          <p:cNvSpPr txBox="1"/>
          <p:nvPr/>
        </p:nvSpPr>
        <p:spPr>
          <a:xfrm>
            <a:off x="853560" y="2552760"/>
            <a:ext cx="5913000" cy="663120"/>
          </a:xfrm>
          <a:prstGeom prst="rect">
            <a:avLst/>
          </a:prstGeom>
          <a:noFill/>
          <a:ln w="0">
            <a:noFill/>
          </a:ln>
        </p:spPr>
        <p:txBody>
          <a:bodyPr lIns="0" tIns="0" rIns="0" bIns="0" anchor="t">
            <a:noAutofit/>
          </a:bodyPr>
          <a:lstStyle/>
          <a:p>
            <a:r>
              <a:rPr lang="en-US" sz="2350" b="0" strike="noStrike" spc="-1">
                <a:solidFill>
                  <a:srgbClr val="000000"/>
                </a:solidFill>
                <a:latin typeface="Noto Sans"/>
              </a:rPr>
              <a:t>Koordinaten bleiben gleich.</a:t>
            </a:r>
            <a:endParaRPr lang="en-US" sz="2350" b="0" strike="noStrike" spc="-1">
              <a:solidFill>
                <a:srgbClr val="000000"/>
              </a:solidFill>
              <a:latin typeface="Arial"/>
            </a:endParaRPr>
          </a:p>
          <a:p>
            <a:r>
              <a:rPr lang="en-US" sz="2350" b="0" strike="noStrike" spc="-1">
                <a:solidFill>
                  <a:srgbClr val="000000"/>
                </a:solidFill>
                <a:latin typeface="Noto Sans"/>
              </a:rPr>
              <a:t>Die bekannte Interpretation wird ergänzt.</a:t>
            </a:r>
            <a:endParaRPr lang="en-US" sz="2350" b="0" strike="noStrike" spc="-1">
              <a:solidFill>
                <a:srgbClr val="000000"/>
              </a:solidFill>
              <a:latin typeface="Arial"/>
            </a:endParaRPr>
          </a:p>
        </p:txBody>
      </p:sp>
      <p:sp>
        <p:nvSpPr>
          <p:cNvPr id="483" name="Rechteck 482"/>
          <p:cNvSpPr/>
          <p:nvPr/>
        </p:nvSpPr>
        <p:spPr>
          <a:xfrm>
            <a:off x="647640" y="3619440"/>
            <a:ext cx="6324840" cy="156204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84" name="Rechteck 483"/>
          <p:cNvSpPr/>
          <p:nvPr/>
        </p:nvSpPr>
        <p:spPr>
          <a:xfrm>
            <a:off x="647640" y="3619440"/>
            <a:ext cx="53280" cy="156204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85" name="Textfeld 484"/>
          <p:cNvSpPr txBox="1"/>
          <p:nvPr/>
        </p:nvSpPr>
        <p:spPr>
          <a:xfrm>
            <a:off x="853560" y="3802320"/>
            <a:ext cx="591300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Daten transformieren</a:t>
            </a:r>
            <a:endParaRPr lang="en-US" sz="2540" b="0" strike="noStrike" spc="-1">
              <a:solidFill>
                <a:srgbClr val="000000"/>
              </a:solidFill>
              <a:latin typeface="Arial"/>
            </a:endParaRPr>
          </a:p>
        </p:txBody>
      </p:sp>
      <p:sp>
        <p:nvSpPr>
          <p:cNvPr id="486" name="Textfeld 485"/>
          <p:cNvSpPr txBox="1"/>
          <p:nvPr/>
        </p:nvSpPr>
        <p:spPr>
          <a:xfrm>
            <a:off x="853560" y="4381560"/>
            <a:ext cx="5913000" cy="663120"/>
          </a:xfrm>
          <a:prstGeom prst="rect">
            <a:avLst/>
          </a:prstGeom>
          <a:noFill/>
          <a:ln w="0">
            <a:noFill/>
          </a:ln>
        </p:spPr>
        <p:txBody>
          <a:bodyPr lIns="0" tIns="0" rIns="0" bIns="0" anchor="t">
            <a:noAutofit/>
          </a:bodyPr>
          <a:lstStyle/>
          <a:p>
            <a:r>
              <a:rPr lang="en-US" sz="2350" b="0" strike="noStrike" spc="-1">
                <a:solidFill>
                  <a:srgbClr val="000000"/>
                </a:solidFill>
                <a:latin typeface="Noto Sans"/>
              </a:rPr>
              <a:t>Koordinaten werden umgerechnet.</a:t>
            </a:r>
            <a:endParaRPr lang="en-US" sz="2350" b="0" strike="noStrike" spc="-1">
              <a:solidFill>
                <a:srgbClr val="000000"/>
              </a:solidFill>
              <a:latin typeface="Arial"/>
            </a:endParaRPr>
          </a:p>
          <a:p>
            <a:r>
              <a:rPr lang="en-US" sz="2350" b="0" strike="noStrike" spc="-1">
                <a:solidFill>
                  <a:srgbClr val="000000"/>
                </a:solidFill>
                <a:latin typeface="Noto Sans"/>
              </a:rPr>
              <a:t>Der reale Ort bleibt derselbe.</a:t>
            </a:r>
            <a:endParaRPr lang="en-US" sz="2350" b="0" strike="noStrike" spc="-1">
              <a:solidFill>
                <a:srgbClr val="000000"/>
              </a:solidFill>
              <a:latin typeface="Arial"/>
            </a:endParaRPr>
          </a:p>
        </p:txBody>
      </p:sp>
      <p:pic>
        <p:nvPicPr>
          <p:cNvPr id="487" name="Grafik 486" descr="Bekannte WGS-84-Koordinaten ohne CRS-Angabe erhalten EPSG:4326, ohne Zahlenänderung. Transformation nach EPSG:25832 ändert die Zahlen zu 483795 und 5628722 Metern. Bloßes Zuweisen von EPSG:25832 zu Gradwerten ist falsch."/>
          <p:cNvPicPr/>
          <p:nvPr/>
        </p:nvPicPr>
        <p:blipFill>
          <a:blip r:embed="rId3">
            <a:extLst>
              <a:ext uri="{96DAC541-7B7A-43D3-8B79-37D633B846F1}">
                <asvg:svgBlip xmlns:asvg="http://schemas.microsoft.com/office/drawing/2016/SVG/main" r:embed="rId4"/>
              </a:ext>
            </a:extLst>
          </a:blip>
          <a:stretch/>
        </p:blipFill>
        <p:spPr>
          <a:xfrm>
            <a:off x="7925040" y="1600200"/>
            <a:ext cx="3429000" cy="4503600"/>
          </a:xfrm>
          <a:prstGeom prst="rect">
            <a:avLst/>
          </a:prstGeom>
          <a:ln w="0">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 name="Textfeld 487"/>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Was wäre hier der richtige nächste Schritt?</a:t>
            </a:r>
            <a:endParaRPr lang="en-US" sz="3190" b="0" strike="noStrike" spc="-1">
              <a:solidFill>
                <a:srgbClr val="000000"/>
              </a:solidFill>
              <a:latin typeface="Arial"/>
            </a:endParaRPr>
          </a:p>
        </p:txBody>
      </p:sp>
      <p:sp>
        <p:nvSpPr>
          <p:cNvPr id="489" name="Textfeld 488"/>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ABSTIMMUNG · CRS-FEHLER</a:t>
            </a:r>
            <a:endParaRPr lang="en-US" sz="1130" b="0" strike="noStrike" spc="-1">
              <a:solidFill>
                <a:srgbClr val="000000"/>
              </a:solidFill>
              <a:latin typeface="Arial"/>
            </a:endParaRPr>
          </a:p>
        </p:txBody>
      </p:sp>
      <p:sp>
        <p:nvSpPr>
          <p:cNvPr id="490" name="Textfeld 489"/>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491" name="Textfeld 490"/>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25</a:t>
            </a:r>
            <a:endParaRPr lang="en-US" sz="939" b="0" strike="noStrike" spc="-1">
              <a:solidFill>
                <a:srgbClr val="000000"/>
              </a:solidFill>
              <a:latin typeface="Arial"/>
            </a:endParaRPr>
          </a:p>
        </p:txBody>
      </p:sp>
      <p:sp>
        <p:nvSpPr>
          <p:cNvPr id="492" name="Textfeld 491"/>
          <p:cNvSpPr txBox="1"/>
          <p:nvPr/>
        </p:nvSpPr>
        <p:spPr>
          <a:xfrm>
            <a:off x="762120" y="1638360"/>
            <a:ext cx="10668240" cy="1082160"/>
          </a:xfrm>
          <a:prstGeom prst="rect">
            <a:avLst/>
          </a:prstGeom>
          <a:noFill/>
          <a:ln w="0">
            <a:noFill/>
          </a:ln>
        </p:spPr>
        <p:txBody>
          <a:bodyPr lIns="0" tIns="0" rIns="0" bIns="0" anchor="t">
            <a:noAutofit/>
          </a:bodyPr>
          <a:lstStyle/>
          <a:p>
            <a:r>
              <a:rPr lang="en-US" sz="2450" b="1" strike="noStrike" spc="-1">
                <a:solidFill>
                  <a:srgbClr val="000000"/>
                </a:solidFill>
                <a:latin typeface="Noto Sans"/>
              </a:rPr>
              <a:t>Die Quelle nennt WGS 84 und (longitude, latitude).</a:t>
            </a:r>
            <a:endParaRPr lang="en-US" sz="2450" b="0" strike="noStrike" spc="-1">
              <a:solidFill>
                <a:srgbClr val="000000"/>
              </a:solidFill>
              <a:latin typeface="Arial"/>
            </a:endParaRPr>
          </a:p>
          <a:p>
            <a:r>
              <a:rPr lang="en-US" sz="2450" b="1" strike="noStrike" spc="-1">
                <a:solidFill>
                  <a:srgbClr val="000000"/>
                </a:solidFill>
                <a:latin typeface="Noto Sans"/>
              </a:rPr>
              <a:t>Werte: (8.77, 50.81). In der Datei fehlt die CRS-Angabe.</a:t>
            </a:r>
            <a:endParaRPr lang="en-US" sz="2450" b="0" strike="noStrike" spc="-1">
              <a:solidFill>
                <a:srgbClr val="000000"/>
              </a:solidFill>
              <a:latin typeface="Arial"/>
            </a:endParaRPr>
          </a:p>
          <a:p>
            <a:r>
              <a:rPr lang="en-US" sz="2450" b="1" strike="noStrike" spc="-1">
                <a:solidFill>
                  <a:srgbClr val="000000"/>
                </a:solidFill>
                <a:latin typeface="Noto Sans"/>
              </a:rPr>
              <a:t>Ziel: später Entfernungen rund um Marburg berechnen.</a:t>
            </a:r>
            <a:endParaRPr lang="en-US" sz="2450" b="0" strike="noStrike" spc="-1">
              <a:solidFill>
                <a:srgbClr val="000000"/>
              </a:solidFill>
              <a:latin typeface="Arial"/>
            </a:endParaRPr>
          </a:p>
        </p:txBody>
      </p:sp>
      <p:sp>
        <p:nvSpPr>
          <p:cNvPr id="493" name="Ellipse 492"/>
          <p:cNvSpPr/>
          <p:nvPr/>
        </p:nvSpPr>
        <p:spPr>
          <a:xfrm>
            <a:off x="647640" y="304812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94" name="Textfeld 493"/>
          <p:cNvSpPr txBox="1"/>
          <p:nvPr/>
        </p:nvSpPr>
        <p:spPr>
          <a:xfrm>
            <a:off x="647640" y="310896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A</a:t>
            </a:r>
            <a:endParaRPr lang="en-US" sz="2450" b="0" strike="noStrike" spc="-1">
              <a:solidFill>
                <a:srgbClr val="000000"/>
              </a:solidFill>
              <a:latin typeface="Arial"/>
            </a:endParaRPr>
          </a:p>
        </p:txBody>
      </p:sp>
      <p:sp>
        <p:nvSpPr>
          <p:cNvPr id="495" name="Textfeld 494"/>
          <p:cNvSpPr txBox="1"/>
          <p:nvPr/>
        </p:nvSpPr>
        <p:spPr>
          <a:xfrm>
            <a:off x="1371600" y="304812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Direkt UTM zuweisen</a:t>
            </a:r>
            <a:endParaRPr lang="en-US" sz="2720" b="0" strike="noStrike" spc="-1">
              <a:solidFill>
                <a:srgbClr val="000000"/>
              </a:solidFill>
              <a:latin typeface="Arial"/>
            </a:endParaRPr>
          </a:p>
        </p:txBody>
      </p:sp>
      <p:sp>
        <p:nvSpPr>
          <p:cNvPr id="496" name="Textfeld 495"/>
          <p:cNvSpPr txBox="1"/>
          <p:nvPr/>
        </p:nvSpPr>
        <p:spPr>
          <a:xfrm>
            <a:off x="1371600" y="352044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Die Werte sollen schließlich Meter sein.</a:t>
            </a:r>
            <a:endParaRPr lang="en-US" sz="2260" b="0" strike="noStrike" spc="-1">
              <a:solidFill>
                <a:srgbClr val="000000"/>
              </a:solidFill>
              <a:latin typeface="Arial"/>
            </a:endParaRPr>
          </a:p>
        </p:txBody>
      </p:sp>
      <p:sp>
        <p:nvSpPr>
          <p:cNvPr id="497" name="Ellipse 496"/>
          <p:cNvSpPr/>
          <p:nvPr/>
        </p:nvSpPr>
        <p:spPr>
          <a:xfrm>
            <a:off x="647640" y="3840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498" name="Textfeld 497"/>
          <p:cNvSpPr txBox="1"/>
          <p:nvPr/>
        </p:nvSpPr>
        <p:spPr>
          <a:xfrm>
            <a:off x="647640" y="390132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B</a:t>
            </a:r>
            <a:endParaRPr lang="en-US" sz="2450" b="0" strike="noStrike" spc="-1">
              <a:solidFill>
                <a:srgbClr val="000000"/>
              </a:solidFill>
              <a:latin typeface="Arial"/>
            </a:endParaRPr>
          </a:p>
        </p:txBody>
      </p:sp>
      <p:sp>
        <p:nvSpPr>
          <p:cNvPr id="499" name="Textfeld 498"/>
          <p:cNvSpPr txBox="1"/>
          <p:nvPr/>
        </p:nvSpPr>
        <p:spPr>
          <a:xfrm>
            <a:off x="1371600" y="3840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WGS 84 zuweisen, dann nach UTM transformieren</a:t>
            </a:r>
            <a:endParaRPr lang="en-US" sz="2720" b="0" strike="noStrike" spc="-1">
              <a:solidFill>
                <a:srgbClr val="000000"/>
              </a:solidFill>
              <a:latin typeface="Arial"/>
            </a:endParaRPr>
          </a:p>
        </p:txBody>
      </p:sp>
      <p:sp>
        <p:nvSpPr>
          <p:cNvPr id="500" name="Textfeld 499"/>
          <p:cNvSpPr txBox="1"/>
          <p:nvPr/>
        </p:nvSpPr>
        <p:spPr>
          <a:xfrm>
            <a:off x="1371600" y="431280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Zuerst die vorhandenen Werte korrekt interpretieren.</a:t>
            </a:r>
            <a:endParaRPr lang="en-US" sz="2260" b="0" strike="noStrike" spc="-1">
              <a:solidFill>
                <a:srgbClr val="000000"/>
              </a:solidFill>
              <a:latin typeface="Arial"/>
            </a:endParaRPr>
          </a:p>
        </p:txBody>
      </p:sp>
      <p:sp>
        <p:nvSpPr>
          <p:cNvPr id="501" name="Ellipse 500"/>
          <p:cNvSpPr/>
          <p:nvPr/>
        </p:nvSpPr>
        <p:spPr>
          <a:xfrm>
            <a:off x="647640" y="463284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02" name="Textfeld 501"/>
          <p:cNvSpPr txBox="1"/>
          <p:nvPr/>
        </p:nvSpPr>
        <p:spPr>
          <a:xfrm>
            <a:off x="647640" y="469404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C</a:t>
            </a:r>
            <a:endParaRPr lang="en-US" sz="2450" b="0" strike="noStrike" spc="-1">
              <a:solidFill>
                <a:srgbClr val="000000"/>
              </a:solidFill>
              <a:latin typeface="Arial"/>
            </a:endParaRPr>
          </a:p>
        </p:txBody>
      </p:sp>
      <p:sp>
        <p:nvSpPr>
          <p:cNvPr id="503" name="Textfeld 502"/>
          <p:cNvSpPr txBox="1"/>
          <p:nvPr/>
        </p:nvSpPr>
        <p:spPr>
          <a:xfrm>
            <a:off x="1371600" y="463284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Verschiedene CRS ausprobieren</a:t>
            </a:r>
            <a:endParaRPr lang="en-US" sz="2720" b="0" strike="noStrike" spc="-1">
              <a:solidFill>
                <a:srgbClr val="000000"/>
              </a:solidFill>
              <a:latin typeface="Arial"/>
            </a:endParaRPr>
          </a:p>
        </p:txBody>
      </p:sp>
      <p:sp>
        <p:nvSpPr>
          <p:cNvPr id="504" name="Textfeld 503"/>
          <p:cNvSpPr txBox="1"/>
          <p:nvPr/>
        </p:nvSpPr>
        <p:spPr>
          <a:xfrm>
            <a:off x="1371600" y="510552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Bis der Punkt ungefähr richtig aussieht.</a:t>
            </a:r>
            <a:endParaRPr lang="en-US" sz="2260" b="0" strike="noStrike" spc="-1">
              <a:solidFill>
                <a:srgbClr val="000000"/>
              </a:solidFill>
              <a:latin typeface="Arial"/>
            </a:endParaRPr>
          </a:p>
        </p:txBody>
      </p:sp>
      <p:sp>
        <p:nvSpPr>
          <p:cNvPr id="505" name="Rechteck 504"/>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06" name="Textfeld 505"/>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A, B oder C? Welche Begründung überzeugt Sie?</a:t>
            </a:r>
            <a:endParaRPr lang="en-US" sz="2350" b="0" strike="noStrike" spc="-1">
              <a:solidFill>
                <a:srgbClr val="000000"/>
              </a:solidFill>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 name="Textfeld 506"/>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Erst richtig zuweisen, dann umrechnen</a:t>
            </a:r>
            <a:endParaRPr lang="en-US" sz="3190" b="0" strike="noStrike" spc="-1">
              <a:solidFill>
                <a:srgbClr val="000000"/>
              </a:solidFill>
              <a:latin typeface="Arial"/>
            </a:endParaRPr>
          </a:p>
        </p:txBody>
      </p:sp>
      <p:sp>
        <p:nvSpPr>
          <p:cNvPr id="508" name="Textfeld 507"/>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AUFLÖSUNG · CRS-FEHLER</a:t>
            </a:r>
            <a:endParaRPr lang="en-US" sz="1130" b="0" strike="noStrike" spc="-1">
              <a:solidFill>
                <a:srgbClr val="000000"/>
              </a:solidFill>
              <a:latin typeface="Arial"/>
            </a:endParaRPr>
          </a:p>
        </p:txBody>
      </p:sp>
      <p:sp>
        <p:nvSpPr>
          <p:cNvPr id="509" name="Textfeld 508"/>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510" name="Textfeld 509"/>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26</a:t>
            </a:r>
            <a:endParaRPr lang="en-US" sz="939" b="0" strike="noStrike" spc="-1">
              <a:solidFill>
                <a:srgbClr val="000000"/>
              </a:solidFill>
              <a:latin typeface="Arial"/>
            </a:endParaRPr>
          </a:p>
        </p:txBody>
      </p:sp>
      <p:sp>
        <p:nvSpPr>
          <p:cNvPr id="511" name="Ellipse 510"/>
          <p:cNvSpPr/>
          <p:nvPr/>
        </p:nvSpPr>
        <p:spPr>
          <a:xfrm>
            <a:off x="647640" y="1752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12" name="Textfeld 511"/>
          <p:cNvSpPr txBox="1"/>
          <p:nvPr/>
        </p:nvSpPr>
        <p:spPr>
          <a:xfrm>
            <a:off x="647640" y="1813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1</a:t>
            </a:r>
            <a:endParaRPr lang="en-US" sz="2450" b="0" strike="noStrike" spc="-1">
              <a:solidFill>
                <a:srgbClr val="000000"/>
              </a:solidFill>
              <a:latin typeface="Arial"/>
            </a:endParaRPr>
          </a:p>
        </p:txBody>
      </p:sp>
      <p:sp>
        <p:nvSpPr>
          <p:cNvPr id="513" name="Textfeld 512"/>
          <p:cNvSpPr txBox="1"/>
          <p:nvPr/>
        </p:nvSpPr>
        <p:spPr>
          <a:xfrm>
            <a:off x="1371600" y="1752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Quelle prüfen</a:t>
            </a:r>
            <a:endParaRPr lang="en-US" sz="2720" b="0" strike="noStrike" spc="-1">
              <a:solidFill>
                <a:srgbClr val="000000"/>
              </a:solidFill>
              <a:latin typeface="Arial"/>
            </a:endParaRPr>
          </a:p>
        </p:txBody>
      </p:sp>
      <p:sp>
        <p:nvSpPr>
          <p:cNvPr id="514" name="Textfeld 513"/>
          <p:cNvSpPr txBox="1"/>
          <p:nvPr/>
        </p:nvSpPr>
        <p:spPr>
          <a:xfrm>
            <a:off x="1371600" y="2225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WGS 84 und Reihenfolge sind dokumentiert.</a:t>
            </a:r>
            <a:endParaRPr lang="en-US" sz="2260" b="0" strike="noStrike" spc="-1">
              <a:solidFill>
                <a:srgbClr val="000000"/>
              </a:solidFill>
              <a:latin typeface="Arial"/>
            </a:endParaRPr>
          </a:p>
        </p:txBody>
      </p:sp>
      <p:sp>
        <p:nvSpPr>
          <p:cNvPr id="515" name="Ellipse 514"/>
          <p:cNvSpPr/>
          <p:nvPr/>
        </p:nvSpPr>
        <p:spPr>
          <a:xfrm>
            <a:off x="647640" y="2895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16" name="Textfeld 515"/>
          <p:cNvSpPr txBox="1"/>
          <p:nvPr/>
        </p:nvSpPr>
        <p:spPr>
          <a:xfrm>
            <a:off x="647640" y="2956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2</a:t>
            </a:r>
            <a:endParaRPr lang="en-US" sz="2450" b="0" strike="noStrike" spc="-1">
              <a:solidFill>
                <a:srgbClr val="000000"/>
              </a:solidFill>
              <a:latin typeface="Arial"/>
            </a:endParaRPr>
          </a:p>
        </p:txBody>
      </p:sp>
      <p:sp>
        <p:nvSpPr>
          <p:cNvPr id="517" name="Textfeld 516"/>
          <p:cNvSpPr txBox="1"/>
          <p:nvPr/>
        </p:nvSpPr>
        <p:spPr>
          <a:xfrm>
            <a:off x="1371600" y="2895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EPSG:4326 zuweisen</a:t>
            </a:r>
            <a:endParaRPr lang="en-US" sz="2720" b="0" strike="noStrike" spc="-1">
              <a:solidFill>
                <a:srgbClr val="000000"/>
              </a:solidFill>
              <a:latin typeface="Arial"/>
            </a:endParaRPr>
          </a:p>
        </p:txBody>
      </p:sp>
      <p:sp>
        <p:nvSpPr>
          <p:cNvPr id="518" name="Textfeld 517"/>
          <p:cNvSpPr txBox="1"/>
          <p:nvPr/>
        </p:nvSpPr>
        <p:spPr>
          <a:xfrm>
            <a:off x="1371600" y="3368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Die vorhandenen Gradwerte bleiben unverändert.</a:t>
            </a:r>
            <a:endParaRPr lang="en-US" sz="2260" b="0" strike="noStrike" spc="-1">
              <a:solidFill>
                <a:srgbClr val="000000"/>
              </a:solidFill>
              <a:latin typeface="Arial"/>
            </a:endParaRPr>
          </a:p>
        </p:txBody>
      </p:sp>
      <p:sp>
        <p:nvSpPr>
          <p:cNvPr id="519" name="Ellipse 518"/>
          <p:cNvSpPr/>
          <p:nvPr/>
        </p:nvSpPr>
        <p:spPr>
          <a:xfrm>
            <a:off x="647640" y="4038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20" name="Textfeld 519"/>
          <p:cNvSpPr txBox="1"/>
          <p:nvPr/>
        </p:nvSpPr>
        <p:spPr>
          <a:xfrm>
            <a:off x="647640" y="4099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3</a:t>
            </a:r>
            <a:endParaRPr lang="en-US" sz="2450" b="0" strike="noStrike" spc="-1">
              <a:solidFill>
                <a:srgbClr val="000000"/>
              </a:solidFill>
              <a:latin typeface="Arial"/>
            </a:endParaRPr>
          </a:p>
        </p:txBody>
      </p:sp>
      <p:sp>
        <p:nvSpPr>
          <p:cNvPr id="521" name="Textfeld 520"/>
          <p:cNvSpPr txBox="1"/>
          <p:nvPr/>
        </p:nvSpPr>
        <p:spPr>
          <a:xfrm>
            <a:off x="1371600" y="4038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Nach EPSG:25832 transformieren</a:t>
            </a:r>
            <a:endParaRPr lang="en-US" sz="2720" b="0" strike="noStrike" spc="-1">
              <a:solidFill>
                <a:srgbClr val="000000"/>
              </a:solidFill>
              <a:latin typeface="Arial"/>
            </a:endParaRPr>
          </a:p>
        </p:txBody>
      </p:sp>
      <p:sp>
        <p:nvSpPr>
          <p:cNvPr id="522" name="Textfeld 521"/>
          <p:cNvSpPr txBox="1"/>
          <p:nvPr/>
        </p:nvSpPr>
        <p:spPr>
          <a:xfrm>
            <a:off x="1371600" y="4511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Neue Meterwerte, derselbe Ort bei Marburg.</a:t>
            </a:r>
            <a:endParaRPr lang="en-US" sz="2260" b="0" strike="noStrike" spc="-1">
              <a:solidFill>
                <a:srgbClr val="000000"/>
              </a:solidFill>
              <a:latin typeface="Arial"/>
            </a:endParaRPr>
          </a:p>
        </p:txBody>
      </p:sp>
      <p:sp>
        <p:nvSpPr>
          <p:cNvPr id="523" name="Rechteck 522"/>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24" name="Textfeld 523"/>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B ist richtig: Zuweisen ersetzt keine Transformation.</a:t>
            </a:r>
            <a:endParaRPr lang="en-US" sz="2350" b="0" strike="noStrike" spc="-1">
              <a:solidFill>
                <a:srgbClr val="000000"/>
              </a:solidFill>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5" name="Textfeld 52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Exit-Ticket: Was nehmen Sie mit?</a:t>
            </a:r>
            <a:endParaRPr lang="en-US" sz="3190" b="0" strike="noStrike" spc="-1">
              <a:solidFill>
                <a:srgbClr val="000000"/>
              </a:solidFill>
              <a:latin typeface="Arial"/>
            </a:endParaRPr>
          </a:p>
        </p:txBody>
      </p:sp>
      <p:sp>
        <p:nvSpPr>
          <p:cNvPr id="526" name="Textfeld 525"/>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ABSCHLUSS · OHNE NACHSCHLAGEN</a:t>
            </a:r>
            <a:endParaRPr lang="en-US" sz="1130" b="0" strike="noStrike" spc="-1">
              <a:solidFill>
                <a:srgbClr val="000000"/>
              </a:solidFill>
              <a:latin typeface="Arial"/>
            </a:endParaRPr>
          </a:p>
        </p:txBody>
      </p:sp>
      <p:sp>
        <p:nvSpPr>
          <p:cNvPr id="527" name="Textfeld 52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528" name="Textfeld 527"/>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27</a:t>
            </a:r>
            <a:endParaRPr lang="en-US" sz="939" b="0" strike="noStrike" spc="-1">
              <a:solidFill>
                <a:srgbClr val="000000"/>
              </a:solidFill>
              <a:latin typeface="Arial"/>
            </a:endParaRPr>
          </a:p>
        </p:txBody>
      </p:sp>
      <p:sp>
        <p:nvSpPr>
          <p:cNvPr id="529" name="Ellipse 528"/>
          <p:cNvSpPr/>
          <p:nvPr/>
        </p:nvSpPr>
        <p:spPr>
          <a:xfrm>
            <a:off x="647640" y="1752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30" name="Textfeld 529"/>
          <p:cNvSpPr txBox="1"/>
          <p:nvPr/>
        </p:nvSpPr>
        <p:spPr>
          <a:xfrm>
            <a:off x="647640" y="1813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A</a:t>
            </a:r>
            <a:endParaRPr lang="en-US" sz="2450" b="0" strike="noStrike" spc="-1">
              <a:solidFill>
                <a:srgbClr val="000000"/>
              </a:solidFill>
              <a:latin typeface="Arial"/>
            </a:endParaRPr>
          </a:p>
        </p:txBody>
      </p:sp>
      <p:sp>
        <p:nvSpPr>
          <p:cNvPr id="531" name="Textfeld 530"/>
          <p:cNvSpPr txBox="1"/>
          <p:nvPr/>
        </p:nvSpPr>
        <p:spPr>
          <a:xfrm>
            <a:off x="1371600" y="1752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Was fehlt bei (8.77, 50.81)?</a:t>
            </a:r>
            <a:endParaRPr lang="en-US" sz="2720" b="0" strike="noStrike" spc="-1">
              <a:solidFill>
                <a:srgbClr val="000000"/>
              </a:solidFill>
              <a:latin typeface="Arial"/>
            </a:endParaRPr>
          </a:p>
        </p:txBody>
      </p:sp>
      <p:sp>
        <p:nvSpPr>
          <p:cNvPr id="532" name="Textfeld 531"/>
          <p:cNvSpPr txBox="1"/>
          <p:nvPr/>
        </p:nvSpPr>
        <p:spPr>
          <a:xfrm>
            <a:off x="1371600" y="2225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Nennen Sie die nötigen Zusatzangaben.</a:t>
            </a:r>
            <a:endParaRPr lang="en-US" sz="2260" b="0" strike="noStrike" spc="-1">
              <a:solidFill>
                <a:srgbClr val="000000"/>
              </a:solidFill>
              <a:latin typeface="Arial"/>
            </a:endParaRPr>
          </a:p>
        </p:txBody>
      </p:sp>
      <p:sp>
        <p:nvSpPr>
          <p:cNvPr id="533" name="Ellipse 532"/>
          <p:cNvSpPr/>
          <p:nvPr/>
        </p:nvSpPr>
        <p:spPr>
          <a:xfrm>
            <a:off x="647640" y="2895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34" name="Textfeld 533"/>
          <p:cNvSpPr txBox="1"/>
          <p:nvPr/>
        </p:nvSpPr>
        <p:spPr>
          <a:xfrm>
            <a:off x="647640" y="2956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B</a:t>
            </a:r>
            <a:endParaRPr lang="en-US" sz="2450" b="0" strike="noStrike" spc="-1">
              <a:solidFill>
                <a:srgbClr val="000000"/>
              </a:solidFill>
              <a:latin typeface="Arial"/>
            </a:endParaRPr>
          </a:p>
        </p:txBody>
      </p:sp>
      <p:sp>
        <p:nvSpPr>
          <p:cNvPr id="535" name="Textfeld 534"/>
          <p:cNvSpPr txBox="1"/>
          <p:nvPr/>
        </p:nvSpPr>
        <p:spPr>
          <a:xfrm>
            <a:off x="1371600" y="2895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Welches CRS würden Sie für Marburg prüfen?</a:t>
            </a:r>
            <a:endParaRPr lang="en-US" sz="2720" b="0" strike="noStrike" spc="-1">
              <a:solidFill>
                <a:srgbClr val="000000"/>
              </a:solidFill>
              <a:latin typeface="Arial"/>
            </a:endParaRPr>
          </a:p>
        </p:txBody>
      </p:sp>
      <p:sp>
        <p:nvSpPr>
          <p:cNvPr id="536" name="Textfeld 535"/>
          <p:cNvSpPr txBox="1"/>
          <p:nvPr/>
        </p:nvSpPr>
        <p:spPr>
          <a:xfrm>
            <a:off x="1371600" y="3368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Begründen Sie Ihre Wahl für Entfernungsmessungen.</a:t>
            </a:r>
            <a:endParaRPr lang="en-US" sz="2260" b="0" strike="noStrike" spc="-1">
              <a:solidFill>
                <a:srgbClr val="000000"/>
              </a:solidFill>
              <a:latin typeface="Arial"/>
            </a:endParaRPr>
          </a:p>
        </p:txBody>
      </p:sp>
      <p:sp>
        <p:nvSpPr>
          <p:cNvPr id="537" name="Ellipse 536"/>
          <p:cNvSpPr/>
          <p:nvPr/>
        </p:nvSpPr>
        <p:spPr>
          <a:xfrm>
            <a:off x="647640" y="4038480"/>
            <a:ext cx="472320" cy="472320"/>
          </a:xfrm>
          <a:prstGeom prst="ellipse">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38" name="Textfeld 537"/>
          <p:cNvSpPr txBox="1"/>
          <p:nvPr/>
        </p:nvSpPr>
        <p:spPr>
          <a:xfrm>
            <a:off x="647640" y="4099680"/>
            <a:ext cx="472320" cy="365760"/>
          </a:xfrm>
          <a:prstGeom prst="rect">
            <a:avLst/>
          </a:prstGeom>
          <a:noFill/>
          <a:ln w="0">
            <a:noFill/>
          </a:ln>
        </p:spPr>
        <p:txBody>
          <a:bodyPr lIns="0" tIns="0" rIns="0" bIns="0" anchor="t">
            <a:noAutofit/>
          </a:bodyPr>
          <a:lstStyle/>
          <a:p>
            <a:pPr algn="ctr"/>
            <a:r>
              <a:rPr lang="en-US" sz="2450" b="1" strike="noStrike" spc="-1">
                <a:solidFill>
                  <a:srgbClr val="FFFFFF"/>
                </a:solidFill>
                <a:latin typeface="Noto Sans"/>
              </a:rPr>
              <a:t>C</a:t>
            </a:r>
            <a:endParaRPr lang="en-US" sz="2450" b="0" strike="noStrike" spc="-1">
              <a:solidFill>
                <a:srgbClr val="000000"/>
              </a:solidFill>
              <a:latin typeface="Arial"/>
            </a:endParaRPr>
          </a:p>
        </p:txBody>
      </p:sp>
      <p:sp>
        <p:nvSpPr>
          <p:cNvPr id="539" name="Textfeld 538"/>
          <p:cNvSpPr txBox="1"/>
          <p:nvPr/>
        </p:nvSpPr>
        <p:spPr>
          <a:xfrm>
            <a:off x="1371600" y="4038480"/>
            <a:ext cx="9829800" cy="419040"/>
          </a:xfrm>
          <a:prstGeom prst="rect">
            <a:avLst/>
          </a:prstGeom>
          <a:noFill/>
          <a:ln w="0">
            <a:noFill/>
          </a:ln>
        </p:spPr>
        <p:txBody>
          <a:bodyPr lIns="0" tIns="0" rIns="0" bIns="0" anchor="t">
            <a:noAutofit/>
          </a:bodyPr>
          <a:lstStyle/>
          <a:p>
            <a:r>
              <a:rPr lang="en-US" sz="2720" b="1" strike="noStrike" spc="-1">
                <a:solidFill>
                  <a:srgbClr val="000000"/>
                </a:solidFill>
                <a:latin typeface="Noto Sans"/>
              </a:rPr>
              <a:t>Was passiert beim Transformieren?</a:t>
            </a:r>
            <a:endParaRPr lang="en-US" sz="2720" b="0" strike="noStrike" spc="-1">
              <a:solidFill>
                <a:srgbClr val="000000"/>
              </a:solidFill>
              <a:latin typeface="Arial"/>
            </a:endParaRPr>
          </a:p>
        </p:txBody>
      </p:sp>
      <p:sp>
        <p:nvSpPr>
          <p:cNvPr id="540" name="Textfeld 539"/>
          <p:cNvSpPr txBox="1"/>
          <p:nvPr/>
        </p:nvSpPr>
        <p:spPr>
          <a:xfrm>
            <a:off x="1371600" y="4511160"/>
            <a:ext cx="9753840" cy="609480"/>
          </a:xfrm>
          <a:prstGeom prst="rect">
            <a:avLst/>
          </a:prstGeom>
          <a:noFill/>
          <a:ln w="0">
            <a:noFill/>
          </a:ln>
        </p:spPr>
        <p:txBody>
          <a:bodyPr lIns="0" tIns="0" rIns="0" bIns="0" anchor="t">
            <a:noAutofit/>
          </a:bodyPr>
          <a:lstStyle/>
          <a:p>
            <a:r>
              <a:rPr lang="en-US" sz="2260" b="0" strike="noStrike" spc="-1">
                <a:solidFill>
                  <a:srgbClr val="414141"/>
                </a:solidFill>
                <a:latin typeface="Noto Sans"/>
              </a:rPr>
              <a:t>Was ändert sich – und was bleibt gleich?</a:t>
            </a:r>
            <a:endParaRPr lang="en-US" sz="2260" b="0" strike="noStrike" spc="-1">
              <a:solidFill>
                <a:srgbClr val="000000"/>
              </a:solidFill>
              <a:latin typeface="Arial"/>
            </a:endParaRPr>
          </a:p>
        </p:txBody>
      </p:sp>
      <p:sp>
        <p:nvSpPr>
          <p:cNvPr id="541" name="Rechteck 540"/>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42" name="Textfeld 541"/>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Eine Frage auswählen → zu zweit formulieren → gemeinsam sichern</a:t>
            </a:r>
            <a:endParaRPr lang="en-US" sz="2350" b="0" strike="noStrike" spc="-1">
              <a:solidFill>
                <a:srgbClr val="000000"/>
              </a:solidFill>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 name="Textfeld 54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Nachbereitung und nächster Schritt</a:t>
            </a:r>
            <a:endParaRPr lang="en-US" sz="3190" b="0" strike="noStrike" spc="-1">
              <a:solidFill>
                <a:srgbClr val="000000"/>
              </a:solidFill>
              <a:latin typeface="Arial"/>
            </a:endParaRPr>
          </a:p>
        </p:txBody>
      </p:sp>
      <p:sp>
        <p:nvSpPr>
          <p:cNvPr id="544" name="Textfeld 54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ABSCHLUSS · UNIT 09</a:t>
            </a:r>
            <a:endParaRPr lang="en-US" sz="1130" b="0" strike="noStrike" spc="-1">
              <a:solidFill>
                <a:srgbClr val="000000"/>
              </a:solidFill>
              <a:latin typeface="Arial"/>
            </a:endParaRPr>
          </a:p>
        </p:txBody>
      </p:sp>
      <p:sp>
        <p:nvSpPr>
          <p:cNvPr id="545" name="Textfeld 54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546" name="Textfeld 54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28</a:t>
            </a:r>
            <a:endParaRPr lang="en-US" sz="939" b="0" strike="noStrike" spc="-1">
              <a:solidFill>
                <a:srgbClr val="000000"/>
              </a:solidFill>
              <a:latin typeface="Arial"/>
            </a:endParaRPr>
          </a:p>
        </p:txBody>
      </p:sp>
      <p:sp>
        <p:nvSpPr>
          <p:cNvPr id="547" name="Rechteck 546"/>
          <p:cNvSpPr/>
          <p:nvPr/>
        </p:nvSpPr>
        <p:spPr>
          <a:xfrm>
            <a:off x="647640" y="1790640"/>
            <a:ext cx="5295960" cy="320040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48" name="Rechteck 547"/>
          <p:cNvSpPr/>
          <p:nvPr/>
        </p:nvSpPr>
        <p:spPr>
          <a:xfrm>
            <a:off x="647640" y="1790640"/>
            <a:ext cx="53280" cy="320040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49" name="Textfeld 548"/>
          <p:cNvSpPr txBox="1"/>
          <p:nvPr/>
        </p:nvSpPr>
        <p:spPr>
          <a:xfrm>
            <a:off x="853560" y="1973520"/>
            <a:ext cx="488448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Übungsaufgabe: JiTT-Fragen</a:t>
            </a:r>
            <a:endParaRPr lang="en-US" sz="2540" b="0" strike="noStrike" spc="-1">
              <a:solidFill>
                <a:srgbClr val="000000"/>
              </a:solidFill>
              <a:latin typeface="Arial"/>
            </a:endParaRPr>
          </a:p>
        </p:txBody>
      </p:sp>
      <p:sp>
        <p:nvSpPr>
          <p:cNvPr id="550" name="Textfeld 549"/>
          <p:cNvSpPr txBox="1"/>
          <p:nvPr/>
        </p:nvSpPr>
        <p:spPr>
          <a:xfrm>
            <a:off x="853560" y="2735640"/>
            <a:ext cx="4884480" cy="2118240"/>
          </a:xfrm>
          <a:prstGeom prst="rect">
            <a:avLst/>
          </a:prstGeom>
          <a:noFill/>
          <a:ln w="0">
            <a:noFill/>
          </a:ln>
        </p:spPr>
        <p:txBody>
          <a:bodyPr lIns="0" tIns="0" rIns="0" bIns="0" anchor="t">
            <a:noAutofit/>
          </a:bodyPr>
          <a:lstStyle/>
          <a:p>
            <a:r>
              <a:rPr lang="en-US" sz="2350" b="0" strike="noStrike" spc="-1">
                <a:solidFill>
                  <a:srgbClr val="000000"/>
                </a:solidFill>
                <a:latin typeface="Noto Sans"/>
              </a:rPr>
              <a:t>Beantworten Sie die JiTT-Fragen</a:t>
            </a:r>
            <a:endParaRPr lang="en-US" sz="2350" b="0" strike="noStrike" spc="-1">
              <a:solidFill>
                <a:srgbClr val="000000"/>
              </a:solidFill>
              <a:latin typeface="Arial"/>
            </a:endParaRPr>
          </a:p>
          <a:p>
            <a:r>
              <a:rPr lang="en-US" sz="2350" b="0" strike="noStrike" spc="-1">
                <a:solidFill>
                  <a:srgbClr val="000000"/>
                </a:solidFill>
                <a:latin typeface="Noto Sans"/>
              </a:rPr>
              <a:t>zu Unit 09 im ILIAS-Kurs.</a:t>
            </a:r>
            <a:endParaRPr lang="en-US" sz="2350" b="0" strike="noStrike" spc="-1">
              <a:solidFill>
                <a:srgbClr val="000000"/>
              </a:solidFill>
              <a:latin typeface="Arial"/>
            </a:endParaRPr>
          </a:p>
          <a:p>
            <a:endParaRPr lang="en-US" sz="2350" b="0" strike="noStrike" spc="-1">
              <a:solidFill>
                <a:srgbClr val="000000"/>
              </a:solidFill>
              <a:latin typeface="Arial"/>
            </a:endParaRPr>
          </a:p>
          <a:p>
            <a:r>
              <a:rPr lang="en-US" sz="2350" b="0" strike="noStrike" spc="-1">
                <a:solidFill>
                  <a:srgbClr val="000000"/>
                </a:solidFill>
                <a:latin typeface="Noto Sans"/>
              </a:rPr>
              <a:t>Die Fragen und die Frist</a:t>
            </a:r>
            <a:endParaRPr lang="en-US" sz="2350" b="0" strike="noStrike" spc="-1">
              <a:solidFill>
                <a:srgbClr val="000000"/>
              </a:solidFill>
              <a:latin typeface="Arial"/>
            </a:endParaRPr>
          </a:p>
          <a:p>
            <a:r>
              <a:rPr lang="en-US" sz="2350" b="0" strike="noStrike" spc="-1">
                <a:solidFill>
                  <a:srgbClr val="000000"/>
                </a:solidFill>
                <a:latin typeface="Noto Sans"/>
              </a:rPr>
              <a:t>finden Sie in ILIAS.</a:t>
            </a:r>
            <a:endParaRPr lang="en-US" sz="2350" b="0" strike="noStrike" spc="-1">
              <a:solidFill>
                <a:srgbClr val="000000"/>
              </a:solidFill>
              <a:latin typeface="Arial"/>
            </a:endParaRPr>
          </a:p>
        </p:txBody>
      </p:sp>
      <p:sp>
        <p:nvSpPr>
          <p:cNvPr id="551" name="Rechteck 550"/>
          <p:cNvSpPr/>
          <p:nvPr/>
        </p:nvSpPr>
        <p:spPr>
          <a:xfrm>
            <a:off x="6248520" y="1790640"/>
            <a:ext cx="5295960" cy="320040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52" name="Rechteck 551"/>
          <p:cNvSpPr/>
          <p:nvPr/>
        </p:nvSpPr>
        <p:spPr>
          <a:xfrm>
            <a:off x="6248520" y="1790640"/>
            <a:ext cx="53280" cy="320040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53" name="Textfeld 552"/>
          <p:cNvSpPr txBox="1"/>
          <p:nvPr/>
        </p:nvSpPr>
        <p:spPr>
          <a:xfrm>
            <a:off x="6454080" y="1973520"/>
            <a:ext cx="488448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Ausblick: Unit 10</a:t>
            </a:r>
            <a:endParaRPr lang="en-US" sz="2540" b="0" strike="noStrike" spc="-1">
              <a:solidFill>
                <a:srgbClr val="000000"/>
              </a:solidFill>
              <a:latin typeface="Arial"/>
            </a:endParaRPr>
          </a:p>
        </p:txBody>
      </p:sp>
      <p:sp>
        <p:nvSpPr>
          <p:cNvPr id="554" name="Textfeld 553"/>
          <p:cNvSpPr txBox="1"/>
          <p:nvPr/>
        </p:nvSpPr>
        <p:spPr>
          <a:xfrm>
            <a:off x="6454080" y="2735640"/>
            <a:ext cx="4884480" cy="2118240"/>
          </a:xfrm>
          <a:prstGeom prst="rect">
            <a:avLst/>
          </a:prstGeom>
          <a:noFill/>
          <a:ln w="0">
            <a:noFill/>
          </a:ln>
        </p:spPr>
        <p:txBody>
          <a:bodyPr lIns="0" tIns="0" rIns="0" bIns="0" anchor="t">
            <a:noAutofit/>
          </a:bodyPr>
          <a:lstStyle/>
          <a:p>
            <a:r>
              <a:rPr lang="en-US" sz="2540" b="0" strike="noStrike" spc="-1">
                <a:solidFill>
                  <a:srgbClr val="000000"/>
                </a:solidFill>
                <a:latin typeface="Noto Sans"/>
              </a:rPr>
              <a:t>Die Grundlagen in QGIS nutzen.</a:t>
            </a:r>
            <a:endParaRPr lang="en-US" sz="2540" b="0" strike="noStrike" spc="-1">
              <a:solidFill>
                <a:srgbClr val="000000"/>
              </a:solidFill>
              <a:latin typeface="Arial"/>
            </a:endParaRPr>
          </a:p>
          <a:p>
            <a:endParaRPr lang="en-US" sz="2540" b="0" strike="noStrike" spc="-1">
              <a:solidFill>
                <a:srgbClr val="000000"/>
              </a:solidFill>
              <a:latin typeface="Arial"/>
            </a:endParaRPr>
          </a:p>
          <a:p>
            <a:r>
              <a:rPr lang="en-US" sz="2540" b="0" strike="noStrike" spc="-1">
                <a:solidFill>
                  <a:srgbClr val="000000"/>
                </a:solidFill>
                <a:latin typeface="Noto Sans"/>
              </a:rPr>
              <a:t>Das Onlinematerial steht zur freiwilligen Vorbereitung bereit.</a:t>
            </a:r>
            <a:endParaRPr lang="en-US" sz="2540" b="0" strike="noStrike" spc="-1">
              <a:solidFill>
                <a:srgbClr val="000000"/>
              </a:solidFill>
              <a:latin typeface="Arial"/>
            </a:endParaRPr>
          </a:p>
        </p:txBody>
      </p:sp>
      <p:sp>
        <p:nvSpPr>
          <p:cNvPr id="555" name="Textfeld 554"/>
          <p:cNvSpPr txBox="1"/>
          <p:nvPr/>
        </p:nvSpPr>
        <p:spPr>
          <a:xfrm>
            <a:off x="838080" y="5067360"/>
            <a:ext cx="10515600" cy="365760"/>
          </a:xfrm>
          <a:prstGeom prst="rect">
            <a:avLst/>
          </a:prstGeom>
          <a:noFill/>
          <a:ln w="0">
            <a:noFill/>
          </a:ln>
        </p:spPr>
        <p:txBody>
          <a:bodyPr lIns="0" tIns="0" rIns="0" bIns="0" anchor="t">
            <a:noAutofit/>
          </a:bodyPr>
          <a:lstStyle/>
          <a:p>
            <a:r>
              <a:rPr lang="en-US" sz="2160" b="1" strike="noStrike" spc="-1">
                <a:solidFill>
                  <a:srgbClr val="004899"/>
                </a:solidFill>
                <a:latin typeface="Noto Sans"/>
                <a:hlinkClick r:id="rId3"/>
              </a:rPr>
              <a:t>Hinweis zu den JiTT-Fragen: HTML-Lernumgebung → Unit 09</a:t>
            </a:r>
            <a:endParaRPr lang="en-US" sz="2160" b="0" strike="noStrike" spc="-1">
              <a:solidFill>
                <a:srgbClr val="000000"/>
              </a:solidFill>
              <a:latin typeface="Arial"/>
            </a:endParaRPr>
          </a:p>
        </p:txBody>
      </p:sp>
      <p:sp>
        <p:nvSpPr>
          <p:cNvPr id="556" name="Rechteck 555"/>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57" name="Textfeld 556"/>
          <p:cNvSpPr txBox="1"/>
          <p:nvPr/>
        </p:nvSpPr>
        <p:spPr>
          <a:xfrm>
            <a:off x="838080" y="5623560"/>
            <a:ext cx="10515600" cy="442080"/>
          </a:xfrm>
          <a:prstGeom prst="rect">
            <a:avLst/>
          </a:prstGeom>
          <a:noFill/>
          <a:ln w="0">
            <a:noFill/>
          </a:ln>
        </p:spPr>
        <p:txBody>
          <a:bodyPr lIns="0" tIns="0" rIns="0" bIns="0" anchor="t">
            <a:noAutofit/>
          </a:bodyPr>
          <a:lstStyle/>
          <a:p>
            <a:r>
              <a:rPr lang="en-US" sz="2160" b="1" strike="noStrike" spc="-1">
                <a:solidFill>
                  <a:srgbClr val="004899"/>
                </a:solidFill>
                <a:latin typeface="Noto Sans"/>
              </a:rPr>
              <a:t>Die JiTT-Fragen sind Ihre einzige Übungsaufgabe zu Unit 09.</a:t>
            </a:r>
            <a:endParaRPr lang="en-US" sz="2160" b="0" strike="noStrike" spc="-1">
              <a:solidFill>
                <a:srgbClr val="000000"/>
              </a:solidFill>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8" name="Textfeld 557"/>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Dezimalgrad selbst berechnen</a:t>
            </a:r>
            <a:endParaRPr lang="en-US" sz="3190" b="0" strike="noStrike" spc="-1">
              <a:solidFill>
                <a:srgbClr val="000000"/>
              </a:solidFill>
              <a:latin typeface="Arial"/>
            </a:endParaRPr>
          </a:p>
        </p:txBody>
      </p:sp>
      <p:sp>
        <p:nvSpPr>
          <p:cNvPr id="559" name="Textfeld 558"/>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RESERVE · KOORDINATENFORMATE</a:t>
            </a:r>
            <a:endParaRPr lang="en-US" sz="1130" b="0" strike="noStrike" spc="-1">
              <a:solidFill>
                <a:srgbClr val="000000"/>
              </a:solidFill>
              <a:latin typeface="Arial"/>
            </a:endParaRPr>
          </a:p>
        </p:txBody>
      </p:sp>
      <p:sp>
        <p:nvSpPr>
          <p:cNvPr id="560" name="Textfeld 559"/>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561" name="Textfeld 560"/>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29</a:t>
            </a:r>
            <a:endParaRPr lang="en-US" sz="939" b="0" strike="noStrike" spc="-1">
              <a:solidFill>
                <a:srgbClr val="000000"/>
              </a:solidFill>
              <a:latin typeface="Arial"/>
            </a:endParaRPr>
          </a:p>
        </p:txBody>
      </p:sp>
      <p:sp>
        <p:nvSpPr>
          <p:cNvPr id="562" name="Textfeld 561"/>
          <p:cNvSpPr txBox="1"/>
          <p:nvPr/>
        </p:nvSpPr>
        <p:spPr>
          <a:xfrm>
            <a:off x="838080" y="1752480"/>
            <a:ext cx="10515600" cy="762120"/>
          </a:xfrm>
          <a:prstGeom prst="rect">
            <a:avLst/>
          </a:prstGeom>
          <a:noFill/>
          <a:ln w="0">
            <a:noFill/>
          </a:ln>
        </p:spPr>
        <p:txBody>
          <a:bodyPr lIns="0" tIns="0" rIns="0" bIns="0" anchor="t">
            <a:noAutofit/>
          </a:bodyPr>
          <a:lstStyle/>
          <a:p>
            <a:r>
              <a:rPr lang="en-US" sz="2820" b="1" strike="noStrike" spc="-1">
                <a:solidFill>
                  <a:srgbClr val="004899"/>
                </a:solidFill>
                <a:latin typeface="Noto Sans"/>
              </a:rPr>
              <a:t>Dezimalgrad = Grad + Minuten / 60 + Sekunden / 3600</a:t>
            </a:r>
            <a:endParaRPr lang="en-US" sz="2820" b="0" strike="noStrike" spc="-1">
              <a:solidFill>
                <a:srgbClr val="000000"/>
              </a:solidFill>
              <a:latin typeface="Arial"/>
            </a:endParaRPr>
          </a:p>
        </p:txBody>
      </p:sp>
      <p:sp>
        <p:nvSpPr>
          <p:cNvPr id="563" name="Rechteck 562"/>
          <p:cNvSpPr/>
          <p:nvPr/>
        </p:nvSpPr>
        <p:spPr>
          <a:xfrm>
            <a:off x="647640" y="2781360"/>
            <a:ext cx="10896840" cy="1828800"/>
          </a:xfrm>
          <a:prstGeom prst="rect">
            <a:avLst/>
          </a:prstGeom>
          <a:solidFill>
            <a:srgbClr val="FFFFFF"/>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64" name="Rechteck 563"/>
          <p:cNvSpPr/>
          <p:nvPr/>
        </p:nvSpPr>
        <p:spPr>
          <a:xfrm>
            <a:off x="647640" y="2781360"/>
            <a:ext cx="53280" cy="1828800"/>
          </a:xfrm>
          <a:prstGeom prst="rect">
            <a:avLst/>
          </a:prstGeom>
          <a:solidFill>
            <a:srgbClr val="004899"/>
          </a:solidFill>
          <a:ln w="0">
            <a:noFill/>
          </a:ln>
        </p:spPr>
        <p:txBody>
          <a:bodyPr lIns="90000" tIns="45000" rIns="90000" bIns="45000" anchor="ctr" anchorCtr="1">
            <a:noAutofit/>
          </a:bodyPr>
          <a:lstStyle/>
          <a:p>
            <a:endParaRPr lang="en-US" sz="1800" b="0" strike="noStrike" spc="-1">
              <a:solidFill>
                <a:srgbClr val="FFFFFF"/>
              </a:solidFill>
              <a:latin typeface="Arial"/>
            </a:endParaRPr>
          </a:p>
        </p:txBody>
      </p:sp>
      <p:sp>
        <p:nvSpPr>
          <p:cNvPr id="565" name="Textfeld 564"/>
          <p:cNvSpPr txBox="1"/>
          <p:nvPr/>
        </p:nvSpPr>
        <p:spPr>
          <a:xfrm>
            <a:off x="853560" y="2964240"/>
            <a:ext cx="10485360" cy="647640"/>
          </a:xfrm>
          <a:prstGeom prst="rect">
            <a:avLst/>
          </a:prstGeom>
          <a:noFill/>
          <a:ln w="0">
            <a:noFill/>
          </a:ln>
        </p:spPr>
        <p:txBody>
          <a:bodyPr lIns="0" tIns="0" rIns="0" bIns="0" anchor="t">
            <a:noAutofit/>
          </a:bodyPr>
          <a:lstStyle/>
          <a:p>
            <a:r>
              <a:rPr lang="en-US" sz="2540" b="1" strike="noStrike" spc="-1">
                <a:solidFill>
                  <a:srgbClr val="004899"/>
                </a:solidFill>
                <a:latin typeface="Noto Sans"/>
              </a:rPr>
              <a:t>Beispiel: 50° 48′ 36″ N</a:t>
            </a:r>
            <a:endParaRPr lang="en-US" sz="2540" b="0" strike="noStrike" spc="-1">
              <a:solidFill>
                <a:srgbClr val="000000"/>
              </a:solidFill>
              <a:latin typeface="Arial"/>
            </a:endParaRPr>
          </a:p>
        </p:txBody>
      </p:sp>
      <p:sp>
        <p:nvSpPr>
          <p:cNvPr id="566" name="Textfeld 565"/>
          <p:cNvSpPr txBox="1"/>
          <p:nvPr/>
        </p:nvSpPr>
        <p:spPr>
          <a:xfrm>
            <a:off x="853560" y="3726360"/>
            <a:ext cx="10485360" cy="746640"/>
          </a:xfrm>
          <a:prstGeom prst="rect">
            <a:avLst/>
          </a:prstGeom>
          <a:noFill/>
          <a:ln w="0">
            <a:noFill/>
          </a:ln>
        </p:spPr>
        <p:txBody>
          <a:bodyPr lIns="0" tIns="0" rIns="0" bIns="0" anchor="t">
            <a:noAutofit/>
          </a:bodyPr>
          <a:lstStyle/>
          <a:p>
            <a:r>
              <a:rPr lang="en-US" sz="3480" b="0" strike="noStrike" spc="-1">
                <a:solidFill>
                  <a:srgbClr val="000000"/>
                </a:solidFill>
                <a:latin typeface="Noto Sans"/>
              </a:rPr>
              <a:t>50 + 48/60 + 36/3600 = 50,81°</a:t>
            </a:r>
            <a:endParaRPr lang="en-US" sz="3480" b="0" strike="noStrike" spc="-1">
              <a:solidFill>
                <a:srgbClr val="000000"/>
              </a:solidFill>
              <a:latin typeface="Arial"/>
            </a:endParaRPr>
          </a:p>
        </p:txBody>
      </p:sp>
      <p:sp>
        <p:nvSpPr>
          <p:cNvPr id="567" name="Rechteck 566"/>
          <p:cNvSpPr/>
          <p:nvPr/>
        </p:nvSpPr>
        <p:spPr>
          <a:xfrm>
            <a:off x="647640" y="5517000"/>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68" name="Textfeld 567"/>
          <p:cNvSpPr txBox="1"/>
          <p:nvPr/>
        </p:nvSpPr>
        <p:spPr>
          <a:xfrm>
            <a:off x="838080" y="5623560"/>
            <a:ext cx="10515600" cy="442080"/>
          </a:xfrm>
          <a:prstGeom prst="rect">
            <a:avLst/>
          </a:prstGeom>
          <a:noFill/>
          <a:ln w="0">
            <a:noFill/>
          </a:ln>
        </p:spPr>
        <p:txBody>
          <a:bodyPr lIns="0" tIns="0" rIns="0" bIns="0" anchor="t">
            <a:noAutofit/>
          </a:bodyPr>
          <a:lstStyle/>
          <a:p>
            <a:r>
              <a:rPr lang="en-US" sz="2350" b="1" strike="noStrike" spc="-1">
                <a:solidFill>
                  <a:srgbClr val="004899"/>
                </a:solidFill>
                <a:latin typeface="Noto Sans"/>
              </a:rPr>
              <a:t>Probieren Sie: 8° 46′ 12″ E. Passt das ungefähr zu Marburg?</a:t>
            </a:r>
            <a:endParaRPr lang="en-US" sz="2350" b="0" strike="noStrike" spc="-1">
              <a:solidFill>
                <a:srgbClr val="000000"/>
              </a:solidFill>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9" name="Textfeld 568"/>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a:solidFill>
                  <a:srgbClr val="000000"/>
                </a:solidFill>
                <a:latin typeface="Noto Sans"/>
              </a:rPr>
              <a:t>Materialien und fachliche Quellen</a:t>
            </a:r>
            <a:endParaRPr lang="en-US" sz="3190" b="0" strike="noStrike" spc="-1">
              <a:solidFill>
                <a:srgbClr val="000000"/>
              </a:solidFill>
              <a:latin typeface="Arial"/>
            </a:endParaRPr>
          </a:p>
        </p:txBody>
      </p:sp>
      <p:sp>
        <p:nvSpPr>
          <p:cNvPr id="570" name="Textfeld 569"/>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a:solidFill>
                  <a:srgbClr val="004899"/>
                </a:solidFill>
                <a:latin typeface="Noto Sans"/>
              </a:rPr>
              <a:t>RESERVE · ZUM NACHSCHLAGEN</a:t>
            </a:r>
            <a:endParaRPr lang="en-US" sz="1130" b="0" strike="noStrike" spc="-1">
              <a:solidFill>
                <a:srgbClr val="000000"/>
              </a:solidFill>
              <a:latin typeface="Arial"/>
            </a:endParaRPr>
          </a:p>
        </p:txBody>
      </p:sp>
      <p:sp>
        <p:nvSpPr>
          <p:cNvPr id="571" name="Textfeld 570"/>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09</a:t>
            </a:r>
            <a:endParaRPr lang="en-US" sz="939" b="0" strike="noStrike" spc="-1">
              <a:solidFill>
                <a:srgbClr val="000000"/>
              </a:solidFill>
              <a:latin typeface="Arial"/>
            </a:endParaRPr>
          </a:p>
        </p:txBody>
      </p:sp>
      <p:sp>
        <p:nvSpPr>
          <p:cNvPr id="572" name="Textfeld 571"/>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30</a:t>
            </a:r>
            <a:endParaRPr lang="en-US" sz="939" b="0" strike="noStrike" spc="-1">
              <a:solidFill>
                <a:srgbClr val="000000"/>
              </a:solidFill>
              <a:latin typeface="Arial"/>
            </a:endParaRPr>
          </a:p>
        </p:txBody>
      </p:sp>
      <p:sp>
        <p:nvSpPr>
          <p:cNvPr id="573" name="Textfeld 572"/>
          <p:cNvSpPr txBox="1"/>
          <p:nvPr/>
        </p:nvSpPr>
        <p:spPr>
          <a:xfrm>
            <a:off x="838080" y="1691640"/>
            <a:ext cx="10515600" cy="457200"/>
          </a:xfrm>
          <a:prstGeom prst="rect">
            <a:avLst/>
          </a:prstGeom>
          <a:noFill/>
          <a:ln w="0">
            <a:noFill/>
          </a:ln>
        </p:spPr>
        <p:txBody>
          <a:bodyPr lIns="0" tIns="0" rIns="0" bIns="0" anchor="t">
            <a:noAutofit/>
          </a:bodyPr>
          <a:lstStyle/>
          <a:p>
            <a:r>
              <a:rPr lang="en-US" sz="2350" b="1" strike="noStrike" spc="-1">
                <a:solidFill>
                  <a:srgbClr val="004899"/>
                </a:solidFill>
                <a:latin typeface="Noto Sans"/>
                <a:hlinkClick r:id="rId3"/>
              </a:rPr>
              <a:t>GeoMOER · Kursmaterial und JiTT-Hinweis</a:t>
            </a:r>
            <a:endParaRPr lang="en-US" sz="2350" b="0" strike="noStrike" spc="-1">
              <a:solidFill>
                <a:srgbClr val="000000"/>
              </a:solidFill>
              <a:latin typeface="Arial"/>
            </a:endParaRPr>
          </a:p>
        </p:txBody>
      </p:sp>
      <p:sp>
        <p:nvSpPr>
          <p:cNvPr id="574" name="Textfeld 573"/>
          <p:cNvSpPr txBox="1"/>
          <p:nvPr/>
        </p:nvSpPr>
        <p:spPr>
          <a:xfrm>
            <a:off x="838080" y="2232720"/>
            <a:ext cx="10515600" cy="457200"/>
          </a:xfrm>
          <a:prstGeom prst="rect">
            <a:avLst/>
          </a:prstGeom>
          <a:noFill/>
          <a:ln w="0">
            <a:noFill/>
          </a:ln>
        </p:spPr>
        <p:txBody>
          <a:bodyPr lIns="0" tIns="0" rIns="0" bIns="0" anchor="t">
            <a:noAutofit/>
          </a:bodyPr>
          <a:lstStyle/>
          <a:p>
            <a:r>
              <a:rPr lang="en-US" sz="2350" b="1" strike="noStrike" spc="-1">
                <a:solidFill>
                  <a:srgbClr val="004899"/>
                </a:solidFill>
                <a:latin typeface="Noto Sans"/>
                <a:hlinkClick r:id="rId4"/>
              </a:rPr>
              <a:t>PROJ · Achsenreihenfolge / FAQ</a:t>
            </a:r>
            <a:endParaRPr lang="en-US" sz="2350" b="0" strike="noStrike" spc="-1">
              <a:solidFill>
                <a:srgbClr val="000000"/>
              </a:solidFill>
              <a:latin typeface="Arial"/>
            </a:endParaRPr>
          </a:p>
        </p:txBody>
      </p:sp>
      <p:sp>
        <p:nvSpPr>
          <p:cNvPr id="575" name="Textfeld 574"/>
          <p:cNvSpPr txBox="1"/>
          <p:nvPr/>
        </p:nvSpPr>
        <p:spPr>
          <a:xfrm>
            <a:off x="838080" y="2773800"/>
            <a:ext cx="10515600" cy="457200"/>
          </a:xfrm>
          <a:prstGeom prst="rect">
            <a:avLst/>
          </a:prstGeom>
          <a:noFill/>
          <a:ln w="0">
            <a:noFill/>
          </a:ln>
        </p:spPr>
        <p:txBody>
          <a:bodyPr lIns="0" tIns="0" rIns="0" bIns="0" anchor="t">
            <a:noAutofit/>
          </a:bodyPr>
          <a:lstStyle/>
          <a:p>
            <a:r>
              <a:rPr lang="en-US" sz="2350" b="1" strike="noStrike" spc="-1">
                <a:solidFill>
                  <a:srgbClr val="004899"/>
                </a:solidFill>
                <a:latin typeface="Noto Sans"/>
                <a:hlinkClick r:id="rId5"/>
              </a:rPr>
              <a:t>PROJ · WGS 84 und UTM / Quick start</a:t>
            </a:r>
            <a:endParaRPr lang="en-US" sz="2350" b="0" strike="noStrike" spc="-1">
              <a:solidFill>
                <a:srgbClr val="000000"/>
              </a:solidFill>
              <a:latin typeface="Arial"/>
            </a:endParaRPr>
          </a:p>
        </p:txBody>
      </p:sp>
      <p:sp>
        <p:nvSpPr>
          <p:cNvPr id="576" name="Textfeld 575"/>
          <p:cNvSpPr txBox="1"/>
          <p:nvPr/>
        </p:nvSpPr>
        <p:spPr>
          <a:xfrm>
            <a:off x="838080" y="3314880"/>
            <a:ext cx="10515600" cy="457200"/>
          </a:xfrm>
          <a:prstGeom prst="rect">
            <a:avLst/>
          </a:prstGeom>
          <a:noFill/>
          <a:ln w="0">
            <a:noFill/>
          </a:ln>
        </p:spPr>
        <p:txBody>
          <a:bodyPr lIns="0" tIns="0" rIns="0" bIns="0" anchor="t">
            <a:noAutofit/>
          </a:bodyPr>
          <a:lstStyle/>
          <a:p>
            <a:r>
              <a:rPr lang="en-US" sz="2350" b="1" strike="noStrike" spc="-1">
                <a:solidFill>
                  <a:srgbClr val="004899"/>
                </a:solidFill>
                <a:latin typeface="Noto Sans"/>
                <a:hlinkClick r:id="rId6"/>
              </a:rPr>
              <a:t>PROJ · Mercator</a:t>
            </a:r>
            <a:endParaRPr lang="en-US" sz="2350" b="0" strike="noStrike" spc="-1">
              <a:solidFill>
                <a:srgbClr val="000000"/>
              </a:solidFill>
              <a:latin typeface="Arial"/>
            </a:endParaRPr>
          </a:p>
        </p:txBody>
      </p:sp>
      <p:sp>
        <p:nvSpPr>
          <p:cNvPr id="577" name="Textfeld 576"/>
          <p:cNvSpPr txBox="1"/>
          <p:nvPr/>
        </p:nvSpPr>
        <p:spPr>
          <a:xfrm>
            <a:off x="838080" y="3855600"/>
            <a:ext cx="10515600" cy="457200"/>
          </a:xfrm>
          <a:prstGeom prst="rect">
            <a:avLst/>
          </a:prstGeom>
          <a:noFill/>
          <a:ln w="0">
            <a:noFill/>
          </a:ln>
        </p:spPr>
        <p:txBody>
          <a:bodyPr lIns="0" tIns="0" rIns="0" bIns="0" anchor="t">
            <a:noAutofit/>
          </a:bodyPr>
          <a:lstStyle/>
          <a:p>
            <a:r>
              <a:rPr lang="en-US" sz="2350" b="1" strike="noStrike" spc="-1">
                <a:solidFill>
                  <a:srgbClr val="004899"/>
                </a:solidFill>
                <a:latin typeface="Noto Sans"/>
                <a:hlinkClick r:id="rId7"/>
              </a:rPr>
              <a:t>PROJ · Flächentreue Zylinderprojektion</a:t>
            </a:r>
            <a:endParaRPr lang="en-US" sz="2350" b="0" strike="noStrike" spc="-1">
              <a:solidFill>
                <a:srgbClr val="000000"/>
              </a:solidFill>
              <a:latin typeface="Arial"/>
            </a:endParaRPr>
          </a:p>
        </p:txBody>
      </p:sp>
      <p:sp>
        <p:nvSpPr>
          <p:cNvPr id="578" name="Textfeld 577"/>
          <p:cNvSpPr txBox="1"/>
          <p:nvPr/>
        </p:nvSpPr>
        <p:spPr>
          <a:xfrm>
            <a:off x="838080" y="4396680"/>
            <a:ext cx="10515600" cy="457200"/>
          </a:xfrm>
          <a:prstGeom prst="rect">
            <a:avLst/>
          </a:prstGeom>
          <a:noFill/>
          <a:ln w="0">
            <a:noFill/>
          </a:ln>
        </p:spPr>
        <p:txBody>
          <a:bodyPr lIns="0" tIns="0" rIns="0" bIns="0" anchor="t">
            <a:noAutofit/>
          </a:bodyPr>
          <a:lstStyle/>
          <a:p>
            <a:r>
              <a:rPr lang="en-US" sz="2350" b="1" strike="noStrike" spc="-1">
                <a:solidFill>
                  <a:srgbClr val="004899"/>
                </a:solidFill>
                <a:latin typeface="Noto Sans"/>
                <a:hlinkClick r:id="rId8"/>
              </a:rPr>
              <a:t>PROJ · Web Mercator</a:t>
            </a:r>
            <a:endParaRPr lang="en-US" sz="2350" b="0" strike="noStrike" spc="-1">
              <a:solidFill>
                <a:srgbClr val="000000"/>
              </a:solidFill>
              <a:latin typeface="Arial"/>
            </a:endParaRPr>
          </a:p>
        </p:txBody>
      </p:sp>
      <p:sp>
        <p:nvSpPr>
          <p:cNvPr id="579" name="Textfeld 578"/>
          <p:cNvSpPr txBox="1"/>
          <p:nvPr/>
        </p:nvSpPr>
        <p:spPr>
          <a:xfrm>
            <a:off x="838080" y="5151240"/>
            <a:ext cx="10591920" cy="945000"/>
          </a:xfrm>
          <a:prstGeom prst="rect">
            <a:avLst/>
          </a:prstGeom>
          <a:noFill/>
          <a:ln w="0">
            <a:noFill/>
          </a:ln>
        </p:spPr>
        <p:txBody>
          <a:bodyPr lIns="0" tIns="0" rIns="0" bIns="0" anchor="t">
            <a:noAutofit/>
          </a:bodyPr>
          <a:lstStyle/>
          <a:p>
            <a:r>
              <a:rPr lang="en-US" sz="1600" b="0" strike="noStrike" spc="-1">
                <a:solidFill>
                  <a:srgbClr val="414141"/>
                </a:solidFill>
                <a:latin typeface="Noto Sans"/>
              </a:rPr>
              <a:t>Layout: Uni-Marburg-Vorlage · Titel-/Abschlussbild: FB19-Vorlage</a:t>
            </a:r>
            <a:endParaRPr lang="en-US" sz="1600" b="0" strike="noStrike" spc="-1">
              <a:solidFill>
                <a:srgbClr val="000000"/>
              </a:solidFill>
              <a:latin typeface="Arial"/>
            </a:endParaRPr>
          </a:p>
          <a:p>
            <a:r>
              <a:rPr lang="en-US" sz="1600" b="0" strike="noStrike" spc="-1">
                <a:solidFill>
                  <a:srgbClr val="414141"/>
                </a:solidFill>
                <a:latin typeface="Noto Sans"/>
              </a:rPr>
              <a:t>Diagramme: eigene Vektordarstellungen · Kursillustration: KI-generiert</a:t>
            </a:r>
            <a:endParaRPr lang="en-US" sz="1600" b="0" strike="noStrike" spc="-1">
              <a:solidFill>
                <a:srgbClr val="000000"/>
              </a:solidFill>
              <a:latin typeface="Arial"/>
            </a:endParaRPr>
          </a:p>
          <a:p>
            <a:r>
              <a:rPr lang="en-US" sz="1600" b="0" strike="noStrike" spc="-1">
                <a:solidFill>
                  <a:srgbClr val="414141"/>
                </a:solidFill>
                <a:latin typeface="Noto Sans"/>
              </a:rPr>
              <a:t>Fachliche Prüfung: 07.09.2026</a:t>
            </a:r>
            <a:endParaRPr lang="en-US" sz="1600" b="0" strike="noStrike" spc="-1">
              <a:solidFill>
                <a:srgbClr val="000000"/>
              </a:solidFill>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0" name="Rechteck 579"/>
          <p:cNvSpPr/>
          <p:nvPr/>
        </p:nvSpPr>
        <p:spPr>
          <a:xfrm>
            <a:off x="335160" y="335160"/>
            <a:ext cx="6164640" cy="6149520"/>
          </a:xfrm>
          <a:prstGeom prst="rect">
            <a:avLst/>
          </a:prstGeom>
          <a:solidFill>
            <a:srgbClr val="F7DEED"/>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pic>
        <p:nvPicPr>
          <p:cNvPr id="581" name="Grafik 580"/>
          <p:cNvPicPr/>
          <p:nvPr/>
        </p:nvPicPr>
        <p:blipFill>
          <a:blip r:embed="rId3"/>
          <a:stretch/>
        </p:blipFill>
        <p:spPr>
          <a:xfrm>
            <a:off x="6972480" y="2666880"/>
            <a:ext cx="4876920" cy="1671120"/>
          </a:xfrm>
          <a:prstGeom prst="rect">
            <a:avLst/>
          </a:prstGeom>
          <a:ln w="0">
            <a:noFill/>
          </a:ln>
        </p:spPr>
      </p:pic>
      <p:sp>
        <p:nvSpPr>
          <p:cNvPr id="582" name="Textfeld 581"/>
          <p:cNvSpPr txBox="1"/>
          <p:nvPr/>
        </p:nvSpPr>
        <p:spPr>
          <a:xfrm>
            <a:off x="762120" y="2895480"/>
            <a:ext cx="5334120" cy="1905120"/>
          </a:xfrm>
          <a:prstGeom prst="rect">
            <a:avLst/>
          </a:prstGeom>
          <a:noFill/>
          <a:ln w="0">
            <a:noFill/>
          </a:ln>
        </p:spPr>
        <p:txBody>
          <a:bodyPr lIns="0" tIns="0" rIns="0" bIns="0" anchor="t">
            <a:noAutofit/>
          </a:bodyPr>
          <a:lstStyle/>
          <a:p>
            <a:r>
              <a:rPr lang="en-US" sz="3859" b="0" strike="noStrike" spc="-1">
                <a:solidFill>
                  <a:srgbClr val="000000"/>
                </a:solidFill>
                <a:latin typeface="Noto Sans"/>
              </a:rPr>
              <a:t>Vielen Dank für Ihre Aufmerksamkeit</a:t>
            </a:r>
            <a:endParaRPr lang="en-US" sz="3859" b="0" strike="noStrike" spc="-1">
              <a:solidFill>
                <a:srgbClr val="FFFFFF"/>
              </a:solidFill>
              <a:latin typeface="Arial"/>
            </a:endParaRPr>
          </a:p>
        </p:txBody>
      </p:sp>
      <p:sp>
        <p:nvSpPr>
          <p:cNvPr id="583" name="Textfeld 582"/>
          <p:cNvSpPr txBox="1"/>
          <p:nvPr/>
        </p:nvSpPr>
        <p:spPr>
          <a:xfrm>
            <a:off x="1257480" y="5410080"/>
            <a:ext cx="4724280" cy="838080"/>
          </a:xfrm>
          <a:prstGeom prst="rect">
            <a:avLst/>
          </a:prstGeom>
          <a:noFill/>
          <a:ln w="0">
            <a:noFill/>
          </a:ln>
        </p:spPr>
        <p:txBody>
          <a:bodyPr lIns="0" tIns="0" rIns="0" bIns="0" anchor="t">
            <a:noAutofit/>
          </a:bodyPr>
          <a:lstStyle/>
          <a:p>
            <a:r>
              <a:rPr lang="en-US" sz="1690" b="0" strike="noStrike" spc="-1">
                <a:solidFill>
                  <a:srgbClr val="000000"/>
                </a:solidFill>
                <a:latin typeface="Noto Sans"/>
              </a:rPr>
              <a:t>Geodaten · Unit 09</a:t>
            </a:r>
            <a:endParaRPr lang="en-US" sz="1690" b="0" strike="noStrike" spc="-1">
              <a:solidFill>
                <a:srgbClr val="FFFFFF"/>
              </a:solidFill>
              <a:latin typeface="Arial"/>
            </a:endParaRPr>
          </a:p>
          <a:p>
            <a:r>
              <a:rPr lang="en-US" sz="1690" b="0" strike="noStrike" spc="-1">
                <a:solidFill>
                  <a:srgbClr val="000000"/>
                </a:solidFill>
                <a:latin typeface="Noto Sans"/>
              </a:rPr>
              <a:t>Fachbereich 19 · Geographie</a:t>
            </a:r>
            <a:endParaRPr lang="en-US" sz="1690" b="0" strike="noStrike" spc="-1">
              <a:solidFill>
                <a:srgbClr val="FFFFFF"/>
              </a:solidFill>
              <a:latin typeface="Arial"/>
            </a:endParaRPr>
          </a:p>
        </p:txBody>
      </p:sp>
    </p:spTree>
  </p:cSld>
  <p:clrMapOvr>
    <a:masterClrMapping/>
  </p:clrMapOvr>
</p:sld>
</file>

<file path=ppt/theme/theme1.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6749</Words>
  <Application>Microsoft Office PowerPoint</Application>
  <PresentationFormat>Breitbild</PresentationFormat>
  <Paragraphs>759</Paragraphs>
  <Slides>41</Slides>
  <Notes>40</Notes>
  <HiddenSlides>0</HiddenSlides>
  <MMClips>1</MMClips>
  <ScaleCrop>false</ScaleCrop>
  <HeadingPairs>
    <vt:vector size="6" baseType="variant">
      <vt:variant>
        <vt:lpstr>Verwendete Schriftarten</vt:lpstr>
      </vt:variant>
      <vt:variant>
        <vt:i4>7</vt:i4>
      </vt:variant>
      <vt:variant>
        <vt:lpstr>Design</vt:lpstr>
      </vt:variant>
      <vt:variant>
        <vt:i4>16</vt:i4>
      </vt:variant>
      <vt:variant>
        <vt:lpstr>Folientitel</vt:lpstr>
      </vt:variant>
      <vt:variant>
        <vt:i4>41</vt:i4>
      </vt:variant>
    </vt:vector>
  </HeadingPairs>
  <TitlesOfParts>
    <vt:vector size="64" baseType="lpstr">
      <vt:lpstr>Arial</vt:lpstr>
      <vt:lpstr>Calibri</vt:lpstr>
      <vt:lpstr>Inter</vt:lpstr>
      <vt:lpstr>Noto Sans</vt:lpstr>
      <vt:lpstr>Symbol</vt:lpstr>
      <vt:lpstr>Times New Roman</vt:lpstr>
      <vt:lpstr>Wingdings</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Universität Marburg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09 – Geodaten, Koordinaten und Projektionen</dc:title>
  <dc:subject>Geodaten · Unit 09 · Präsenzlehre</dc:subject>
  <dc:creator>GeoMOER</dc:creator>
  <dc:description/>
  <cp:lastModifiedBy>heidrich_loc</cp:lastModifiedBy>
  <cp:revision>36</cp:revision>
  <dcterms:created xsi:type="dcterms:W3CDTF">2025-02-27T00:25:01Z</dcterms:created>
  <dcterms:modified xsi:type="dcterms:W3CDTF">2026-09-18T15:18:17Z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Breitbild</vt:lpwstr>
  </property>
  <property fmtid="{D5CDD505-2E9C-101B-9397-08002B2CF9AE}" pid="3" name="Slides">
    <vt:i4>22</vt:i4>
  </property>
</Properties>
</file>